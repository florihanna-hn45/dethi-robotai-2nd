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9144000" cy="6858000"/>
  <p:notesSz cx="9144000" cy="6858000"/>
  <p:embeddedFontLst>
    <p:embeddedFont>
      <p:font typeface="WVNBTH+Wingdings"/>
      <p:regular r:id="rId71"/>
    </p:embeddedFont>
    <p:embeddedFont>
      <p:font typeface="FKMODS+Cambria Math"/>
      <p:regular r:id="rId72"/>
    </p:embeddedFont>
    <p:embeddedFont>
      <p:font typeface="FVUAOP+Symbol"/>
      <p:regular r:id="rId73"/>
    </p:embeddedFont>
    <p:embeddedFont>
      <p:font typeface="OFJFRU+Cambria"/>
      <p:regular r:id="rId7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42" Type="http://schemas.openxmlformats.org/officeDocument/2006/relationships/slide" Target="slides/slide37.xml" /><Relationship Id="rId43" Type="http://schemas.openxmlformats.org/officeDocument/2006/relationships/slide" Target="slides/slide38.xml" /><Relationship Id="rId44" Type="http://schemas.openxmlformats.org/officeDocument/2006/relationships/slide" Target="slides/slide39.xml" /><Relationship Id="rId45" Type="http://schemas.openxmlformats.org/officeDocument/2006/relationships/slide" Target="slides/slide40.xml" /><Relationship Id="rId46" Type="http://schemas.openxmlformats.org/officeDocument/2006/relationships/slide" Target="slides/slide41.xml" /><Relationship Id="rId47" Type="http://schemas.openxmlformats.org/officeDocument/2006/relationships/slide" Target="slides/slide42.xml" /><Relationship Id="rId48" Type="http://schemas.openxmlformats.org/officeDocument/2006/relationships/slide" Target="slides/slide43.xml" /><Relationship Id="rId49" Type="http://schemas.openxmlformats.org/officeDocument/2006/relationships/slide" Target="slides/slide44.xml" /><Relationship Id="rId5" Type="http://schemas.openxmlformats.org/officeDocument/2006/relationships/slideMaster" Target="slideMasters/slideMaster1.xml" /><Relationship Id="rId50" Type="http://schemas.openxmlformats.org/officeDocument/2006/relationships/slide" Target="slides/slide45.xml" /><Relationship Id="rId51" Type="http://schemas.openxmlformats.org/officeDocument/2006/relationships/slide" Target="slides/slide46.xml" /><Relationship Id="rId52" Type="http://schemas.openxmlformats.org/officeDocument/2006/relationships/slide" Target="slides/slide47.xml" /><Relationship Id="rId53" Type="http://schemas.openxmlformats.org/officeDocument/2006/relationships/slide" Target="slides/slide48.xml" /><Relationship Id="rId54" Type="http://schemas.openxmlformats.org/officeDocument/2006/relationships/slide" Target="slides/slide49.xml" /><Relationship Id="rId55" Type="http://schemas.openxmlformats.org/officeDocument/2006/relationships/slide" Target="slides/slide50.xml" /><Relationship Id="rId56" Type="http://schemas.openxmlformats.org/officeDocument/2006/relationships/slide" Target="slides/slide51.xml" /><Relationship Id="rId57" Type="http://schemas.openxmlformats.org/officeDocument/2006/relationships/slide" Target="slides/slide52.xml" /><Relationship Id="rId58" Type="http://schemas.openxmlformats.org/officeDocument/2006/relationships/slide" Target="slides/slide53.xml" /><Relationship Id="rId59" Type="http://schemas.openxmlformats.org/officeDocument/2006/relationships/slide" Target="slides/slide54.xml" /><Relationship Id="rId6" Type="http://schemas.openxmlformats.org/officeDocument/2006/relationships/slide" Target="slides/slide1.xml" /><Relationship Id="rId60" Type="http://schemas.openxmlformats.org/officeDocument/2006/relationships/slide" Target="slides/slide55.xml" /><Relationship Id="rId61" Type="http://schemas.openxmlformats.org/officeDocument/2006/relationships/slide" Target="slides/slide56.xml" /><Relationship Id="rId62" Type="http://schemas.openxmlformats.org/officeDocument/2006/relationships/slide" Target="slides/slide57.xml" /><Relationship Id="rId63" Type="http://schemas.openxmlformats.org/officeDocument/2006/relationships/slide" Target="slides/slide58.xml" /><Relationship Id="rId64" Type="http://schemas.openxmlformats.org/officeDocument/2006/relationships/slide" Target="slides/slide59.xml" /><Relationship Id="rId65" Type="http://schemas.openxmlformats.org/officeDocument/2006/relationships/slide" Target="slides/slide60.xml" /><Relationship Id="rId66" Type="http://schemas.openxmlformats.org/officeDocument/2006/relationships/slide" Target="slides/slide61.xml" /><Relationship Id="rId67" Type="http://schemas.openxmlformats.org/officeDocument/2006/relationships/slide" Target="slides/slide62.xml" /><Relationship Id="rId68" Type="http://schemas.openxmlformats.org/officeDocument/2006/relationships/slide" Target="slides/slide63.xml" /><Relationship Id="rId69" Type="http://schemas.openxmlformats.org/officeDocument/2006/relationships/slide" Target="slides/slide64.xml" /><Relationship Id="rId7" Type="http://schemas.openxmlformats.org/officeDocument/2006/relationships/slide" Target="slides/slide2.xml" /><Relationship Id="rId70" Type="http://schemas.openxmlformats.org/officeDocument/2006/relationships/slide" Target="slides/slide65.xml" /><Relationship Id="rId71" Type="http://schemas.openxmlformats.org/officeDocument/2006/relationships/font" Target="fonts/font1.fntdata" /><Relationship Id="rId72" Type="http://schemas.openxmlformats.org/officeDocument/2006/relationships/font" Target="fonts/font2.fntdata" /><Relationship Id="rId73" Type="http://schemas.openxmlformats.org/officeDocument/2006/relationships/font" Target="fonts/font3.fntdata" /><Relationship Id="rId74" Type="http://schemas.openxmlformats.org/officeDocument/2006/relationships/font" Target="fonts/font4.fntdata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6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7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8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9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0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1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2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3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4.pn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5.png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6.png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7.png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8.png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9.png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0.png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1.png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2.png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3.png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4.png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5.png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6.png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7.png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8.png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9.png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0.png" /></Relationships>
</file>

<file path=ppt/slides/_rels/slide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1.png" /></Relationships>
</file>

<file path=ppt/slides/_rels/slide6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2.png" /></Relationships>
</file>

<file path=ppt/slides/_rels/slide6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3.png" /></Relationships>
</file>

<file path=ppt/slides/_rels/slide6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4.png" /></Relationships>
</file>

<file path=ppt/slides/_rels/slide6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5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0428" y="140515"/>
            <a:ext cx="440747" cy="2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898989"/>
                </a:solidFill>
                <a:latin typeface="Calibri"/>
                <a:cs typeface="Calibri"/>
              </a:rPr>
              <a:t>NHH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18753" y="140515"/>
            <a:ext cx="345465" cy="2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898989"/>
                </a:solidFill>
                <a:latin typeface="Calibri"/>
                <a:cs typeface="Calibri"/>
              </a:rPr>
              <a:t>6.1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0123" y="3429698"/>
            <a:ext cx="3469041" cy="4926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0e4d3c"/>
                </a:solidFill>
                <a:latin typeface="Arial"/>
                <a:cs typeface="Arial"/>
              </a:rPr>
              <a:t>Nguyễn</a:t>
            </a:r>
            <a:r>
              <a:rPr dirty="0" sz="3200" spc="-24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e4d3c"/>
                </a:solidFill>
                <a:latin typeface="Arial"/>
                <a:cs typeface="Arial"/>
              </a:rPr>
              <a:t>Hữu</a:t>
            </a:r>
            <a:r>
              <a:rPr dirty="0" sz="3200" spc="-14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e4d3c"/>
                </a:solidFill>
                <a:latin typeface="Arial"/>
                <a:cs typeface="Arial"/>
              </a:rPr>
              <a:t>Hào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845393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Nguyên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làm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4" b="1">
                <a:solidFill>
                  <a:srgbClr val="c00000"/>
                </a:solidFill>
                <a:latin typeface="Arial"/>
                <a:cs typeface="Arial"/>
              </a:rPr>
              <a:t>việc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5584" y="1495108"/>
            <a:ext cx="8613987" cy="1116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8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8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 spc="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cơ</a:t>
            </a:r>
            <a:r>
              <a:rPr dirty="0" sz="1800" spc="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cấu</a:t>
            </a:r>
            <a:r>
              <a:rPr dirty="0" sz="1800" spc="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 spc="8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loại</a:t>
            </a:r>
            <a:r>
              <a:rPr dirty="0" sz="18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</a:t>
            </a:r>
            <a:r>
              <a:rPr dirty="0" sz="18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dung</a:t>
            </a:r>
            <a:r>
              <a:rPr dirty="0" sz="1800" spc="8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 spc="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8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1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 spc="18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một</a:t>
            </a:r>
            <a:r>
              <a:rPr dirty="0" sz="1800" spc="1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 spc="18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spc="1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0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xác</a:t>
            </a:r>
            <a:r>
              <a:rPr dirty="0" sz="1800" spc="2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định</a:t>
            </a:r>
            <a:r>
              <a:rPr dirty="0" sz="1800" spc="19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nhờ</a:t>
            </a:r>
            <a:r>
              <a:rPr dirty="0" sz="1800" spc="1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sự</a:t>
            </a:r>
            <a:r>
              <a:rPr dirty="0" sz="1800" spc="1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9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19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trực</a:t>
            </a:r>
            <a:r>
              <a:rPr dirty="0" sz="1800" spc="1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 spc="18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 spc="1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khâu</a:t>
            </a:r>
            <a:r>
              <a:rPr dirty="0" sz="1800" spc="19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</a:p>
          <a:p>
            <a:pPr marL="286512" marR="0">
              <a:lnSpc>
                <a:spcPts val="2010"/>
              </a:lnSpc>
              <a:spcBef>
                <a:spcPts val="123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gọi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2806002"/>
            <a:ext cx="8612997" cy="11165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2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2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 spc="2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thể</a:t>
            </a:r>
            <a:r>
              <a:rPr dirty="0" sz="1800" spc="27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27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2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quay</a:t>
            </a:r>
            <a:r>
              <a:rPr dirty="0" sz="1800" spc="2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 spc="27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hai</a:t>
            </a:r>
            <a:r>
              <a:rPr dirty="0" sz="1800" spc="28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27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song</a:t>
            </a:r>
            <a:r>
              <a:rPr dirty="0" sz="1800" spc="2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song,</a:t>
            </a:r>
            <a:r>
              <a:rPr dirty="0" sz="1800" spc="2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giao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nhau,</a:t>
            </a:r>
            <a:r>
              <a:rPr dirty="0" sz="1800" spc="1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chéo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nhau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hay</a:t>
            </a:r>
            <a:r>
              <a:rPr dirty="0" sz="1800" spc="1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biến</a:t>
            </a:r>
            <a:r>
              <a:rPr dirty="0" sz="1800" spc="1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1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quay</a:t>
            </a:r>
            <a:r>
              <a:rPr dirty="0" sz="1800" spc="10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thành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1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tịnh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tiến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hoặc</a:t>
            </a:r>
          </a:p>
          <a:p>
            <a:pPr marL="286512" marR="0">
              <a:lnSpc>
                <a:spcPts val="2013"/>
              </a:lnSpc>
              <a:spcBef>
                <a:spcPts val="122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5584" y="1495108"/>
            <a:ext cx="861403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6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000000"/>
                </a:solidFill>
                <a:latin typeface="Arial"/>
                <a:cs typeface="Arial"/>
              </a:rPr>
              <a:t>vị</a:t>
            </a:r>
            <a:r>
              <a:rPr dirty="0" sz="1800" spc="9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 spc="5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 spc="48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5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 spc="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 spc="47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5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4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4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phẳng</a:t>
            </a:r>
            <a:r>
              <a:rPr dirty="0" sz="1800" spc="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4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096" y="1906588"/>
            <a:ext cx="64810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44570" y="6026519"/>
            <a:ext cx="220754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phẳng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5584" y="1495108"/>
            <a:ext cx="861403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6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000000"/>
                </a:solidFill>
                <a:latin typeface="Arial"/>
                <a:cs typeface="Arial"/>
              </a:rPr>
              <a:t>vị</a:t>
            </a:r>
            <a:r>
              <a:rPr dirty="0" sz="1800" spc="9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 spc="5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 spc="48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5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 spc="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 spc="47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5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4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4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phẳng</a:t>
            </a:r>
            <a:r>
              <a:rPr dirty="0" sz="1800" spc="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4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096" y="1906588"/>
            <a:ext cx="64810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04032" y="5639118"/>
            <a:ext cx="269035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180425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495108"/>
            <a:ext cx="83293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ngoài,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35352" y="4864037"/>
            <a:ext cx="3474910" cy="13233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</a:t>
            </a:r>
          </a:p>
          <a:p>
            <a:pPr marL="68326" marR="0">
              <a:lnSpc>
                <a:spcPts val="2010"/>
              </a:lnSpc>
              <a:spcBef>
                <a:spcPts val="609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180425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495108"/>
            <a:ext cx="737205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hình</a:t>
            </a:r>
            <a:r>
              <a:rPr dirty="0" sz="1800" spc="-2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BR:</a:t>
            </a:r>
            <a:r>
              <a:rPr dirty="0" sz="1800" spc="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(nón).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9429" y="4807014"/>
            <a:ext cx="184064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97575" y="4807014"/>
            <a:ext cx="194237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5584" y="1495108"/>
            <a:ext cx="861551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6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 spc="7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bố</a:t>
            </a:r>
            <a:r>
              <a:rPr dirty="0" sz="1800" spc="67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 spc="6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7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 spc="7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BR:</a:t>
            </a:r>
            <a:r>
              <a:rPr dirty="0" sz="1800" spc="7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5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thẳng,</a:t>
            </a:r>
            <a:r>
              <a:rPr dirty="0" sz="1800" spc="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6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6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nghiêng,</a:t>
            </a:r>
            <a:r>
              <a:rPr dirty="0" sz="1800" spc="6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096" y="1906588"/>
            <a:ext cx="390305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chữ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69">
                <a:solidFill>
                  <a:srgbClr val="000000"/>
                </a:solidFill>
                <a:latin typeface="Arial"/>
                <a:cs typeface="Arial"/>
              </a:rPr>
              <a:t>V,</a:t>
            </a:r>
            <a:r>
              <a:rPr dirty="0" sz="1800" spc="1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40736" y="5241989"/>
            <a:ext cx="1575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859782" y="5241989"/>
            <a:ext cx="137106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chữ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0404" y="5276152"/>
            <a:ext cx="133315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14972" y="5267897"/>
            <a:ext cx="125634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180425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Phân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loại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495108"/>
            <a:ext cx="709438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hình</a:t>
            </a:r>
            <a:r>
              <a:rPr dirty="0" sz="1800" spc="-2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BR:</a:t>
            </a:r>
            <a:r>
              <a:rPr dirty="0" sz="1800" spc="2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34763" y="4262057"/>
            <a:ext cx="161296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48207" y="4631500"/>
            <a:ext cx="92738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1739" y="5226368"/>
            <a:ext cx="861325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7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biên</a:t>
            </a:r>
            <a:r>
              <a:rPr dirty="0" sz="1800" spc="6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8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răng:</a:t>
            </a:r>
            <a:r>
              <a:rPr dirty="0" sz="1800" spc="77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6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thân</a:t>
            </a:r>
            <a:r>
              <a:rPr dirty="0" sz="1800" spc="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khai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7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Xicloit,</a:t>
            </a:r>
            <a:r>
              <a:rPr dirty="0" sz="1800" spc="8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251" y="5637623"/>
            <a:ext cx="140781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Novicov.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63889" y="137921"/>
            <a:ext cx="40091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5584" y="1038416"/>
            <a:ext cx="4747655" cy="750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496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Ưu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nhược</a:t>
            </a:r>
            <a:r>
              <a:rPr dirty="0" sz="1800" spc="-2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dirty="0" sz="1800" spc="7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phạm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c00000"/>
                </a:solidFill>
                <a:latin typeface="Arial"/>
                <a:cs typeface="Arial"/>
              </a:rPr>
              <a:t>vi</a:t>
            </a:r>
            <a:r>
              <a:rPr dirty="0" sz="1800" spc="7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dirty="0" sz="1800" spc="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</a:p>
          <a:p>
            <a:pPr marL="0" marR="0">
              <a:lnSpc>
                <a:spcPts val="2010"/>
              </a:lnSpc>
              <a:spcBef>
                <a:spcPts val="1585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Ưu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982788"/>
            <a:ext cx="6286280" cy="1269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thước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nhỏ,</a:t>
            </a:r>
            <a:r>
              <a:rPr dirty="0" sz="1800" spc="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khả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năng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mang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 marL="0" marR="0">
              <a:lnSpc>
                <a:spcPts val="2010"/>
              </a:lnSpc>
              <a:spcBef>
                <a:spcPts val="18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 spc="-3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hiện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trượt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trơn</a:t>
            </a:r>
          </a:p>
          <a:p>
            <a:pPr marL="0" marR="0">
              <a:lnSpc>
                <a:spcPts val="2010"/>
              </a:lnSpc>
              <a:spcBef>
                <a:spcPts val="18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cao: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0,97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0,99.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5584" y="3446082"/>
            <a:ext cx="4505258" cy="7814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việc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cao,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</a:p>
          <a:p>
            <a:pPr marL="0" marR="0">
              <a:lnSpc>
                <a:spcPts val="2010"/>
              </a:lnSpc>
              <a:spcBef>
                <a:spcPts val="18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22">
                <a:solidFill>
                  <a:srgbClr val="000000"/>
                </a:solidFill>
                <a:latin typeface="Arial"/>
                <a:cs typeface="Arial"/>
              </a:rPr>
              <a:t>Tuổi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thọ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cao,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việc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cậy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1739" y="4442143"/>
            <a:ext cx="187144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Nhược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1739" y="4929823"/>
            <a:ext cx="4131599" cy="12691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phức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tạp</a:t>
            </a:r>
          </a:p>
          <a:p>
            <a:pPr marL="0" marR="0">
              <a:lnSpc>
                <a:spcPts val="2010"/>
              </a:lnSpc>
              <a:spcBef>
                <a:spcPts val="18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Đòi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hỏi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xác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</a:t>
            </a:r>
          </a:p>
          <a:p>
            <a:pPr marL="0" marR="0">
              <a:lnSpc>
                <a:spcPts val="2010"/>
              </a:lnSpc>
              <a:spcBef>
                <a:spcPts val="18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nhiều</a:t>
            </a:r>
            <a:r>
              <a:rPr dirty="0" sz="1800" spc="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ồn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3935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niệm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473515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6.1.3.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Ưu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nhược</a:t>
            </a:r>
            <a:r>
              <a:rPr dirty="0" sz="1800" spc="-2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dirty="0" sz="1800" spc="7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phạm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c00000"/>
                </a:solidFill>
                <a:latin typeface="Arial"/>
                <a:cs typeface="Arial"/>
              </a:rPr>
              <a:t>vi</a:t>
            </a:r>
            <a:r>
              <a:rPr dirty="0" sz="1800" spc="7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dirty="0" sz="1800" spc="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495108"/>
            <a:ext cx="229452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Phạm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1" b="1">
                <a:solidFill>
                  <a:srgbClr val="000000"/>
                </a:solidFill>
                <a:latin typeface="Arial"/>
                <a:cs typeface="Arial"/>
              </a:rPr>
              <a:t>vi</a:t>
            </a:r>
            <a:r>
              <a:rPr dirty="0" sz="1800" spc="8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sử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dụng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5584" y="1982788"/>
            <a:ext cx="8614639" cy="1116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sử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3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rãi</a:t>
            </a:r>
            <a:r>
              <a:rPr dirty="0" sz="1800" spc="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 spc="3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ngành</a:t>
            </a:r>
            <a:r>
              <a:rPr dirty="0" sz="1800" spc="3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 spc="3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7">
                <a:solidFill>
                  <a:srgbClr val="000000"/>
                </a:solidFill>
                <a:latin typeface="Arial"/>
                <a:cs typeface="Arial"/>
              </a:rPr>
              <a:t>máy.</a:t>
            </a:r>
            <a:r>
              <a:rPr dirty="0" sz="1800" spc="8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 spc="5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đó,</a:t>
            </a:r>
            <a:r>
              <a:rPr dirty="0" sz="1800" spc="4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</a:p>
          <a:p>
            <a:pPr marL="0" marR="0">
              <a:lnSpc>
                <a:spcPts val="2010"/>
              </a:lnSpc>
              <a:spcBef>
                <a:spcPts val="12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1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 spc="14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  <a:r>
              <a:rPr dirty="0" sz="1800" spc="14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15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sử</a:t>
            </a:r>
            <a:r>
              <a:rPr dirty="0" sz="1800" spc="14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1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4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rãi</a:t>
            </a:r>
            <a:r>
              <a:rPr dirty="0" sz="1800" spc="1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nhất,</a:t>
            </a:r>
            <a:r>
              <a:rPr dirty="0" sz="1800" spc="1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4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còn</a:t>
            </a:r>
            <a:r>
              <a:rPr dirty="0" sz="1800" spc="13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</a:t>
            </a:r>
            <a:r>
              <a:rPr dirty="0" sz="1800" spc="13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sử</a:t>
            </a:r>
            <a:r>
              <a:rPr dirty="0" sz="1800" spc="13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1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tùy</a:t>
            </a:r>
          </a:p>
          <a:p>
            <a:pPr marL="0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cấu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000000"/>
                </a:solidFill>
                <a:latin typeface="Arial"/>
                <a:cs typeface="Arial"/>
              </a:rPr>
              <a:t>máy.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78545" y="137921"/>
            <a:ext cx="49943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-25">
                <a:solidFill>
                  <a:srgbClr val="898989"/>
                </a:solidFill>
                <a:latin typeface="Arial"/>
                <a:cs typeface="Arial"/>
              </a:rPr>
              <a:t>6.11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306135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9112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4" y="1495108"/>
            <a:ext cx="32409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Biên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-3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Thân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khai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306135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9112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01082" y="1495108"/>
            <a:ext cx="3142537" cy="32603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Biên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-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khai</a:t>
            </a:r>
          </a:p>
          <a:p>
            <a:pPr marL="0" marR="0">
              <a:lnSpc>
                <a:spcPts val="2010"/>
              </a:lnSpc>
              <a:spcBef>
                <a:spcPts val="18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đỉnh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a</a:t>
            </a:r>
          </a:p>
          <a:p>
            <a:pPr marL="0" marR="0">
              <a:lnSpc>
                <a:spcPts val="2010"/>
              </a:lnSpc>
              <a:spcBef>
                <a:spcPts val="1514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f</a:t>
            </a:r>
          </a:p>
          <a:p>
            <a:pPr marL="0" marR="0">
              <a:lnSpc>
                <a:spcPts val="2010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f</a:t>
            </a:r>
          </a:p>
          <a:p>
            <a:pPr marL="0" marR="0">
              <a:lnSpc>
                <a:spcPts val="2010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sở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  <a:p>
            <a:pPr marL="0" marR="0">
              <a:lnSpc>
                <a:spcPts val="2010"/>
              </a:lnSpc>
              <a:spcBef>
                <a:spcPts val="1514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</a:p>
          <a:p>
            <a:pPr marL="0" marR="0">
              <a:lnSpc>
                <a:spcPts val="2010"/>
              </a:lnSpc>
              <a:spcBef>
                <a:spcPts val="18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26285" y="1843447"/>
            <a:ext cx="27970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01082" y="4909376"/>
            <a:ext cx="2513127" cy="781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rãnh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  <a:p>
            <a:pPr marL="0" marR="0">
              <a:lnSpc>
                <a:spcPts val="2010"/>
              </a:lnSpc>
              <a:spcBef>
                <a:spcPts val="1515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Bước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60859" y="5872839"/>
            <a:ext cx="541015" cy="3492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67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 spc="196">
                <a:solidFill>
                  <a:srgbClr val="000000"/>
                </a:solidFill>
                <a:latin typeface="FVUAOP+Symbol"/>
                <a:cs typeface="FVUAOP+Symbol"/>
              </a:rPr>
              <a:t>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25429" y="6034793"/>
            <a:ext cx="1424669" cy="3492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p</a:t>
            </a:r>
            <a:r>
              <a:rPr dirty="0" sz="2000" spc="1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s</a:t>
            </a:r>
            <a:r>
              <a:rPr dirty="0" sz="2000" spc="87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25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2000" spc="83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49676" y="6260154"/>
            <a:ext cx="202137" cy="185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94167" y="6260154"/>
            <a:ext cx="202137" cy="185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00557" y="6294280"/>
            <a:ext cx="267668" cy="291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3916465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thẳng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306135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9112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98846" y="1371002"/>
            <a:ext cx="313208" cy="65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861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p</a:t>
            </a:r>
          </a:p>
          <a:p>
            <a:pPr marL="0" marR="0">
              <a:lnSpc>
                <a:spcPts val="2444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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92866" y="1475554"/>
            <a:ext cx="291491" cy="3485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5137" y="1531049"/>
            <a:ext cx="4159979" cy="2936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hóa):</a:t>
            </a:r>
            <a:r>
              <a:rPr dirty="0" sz="1800" spc="37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184842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06290" y="1916875"/>
            <a:ext cx="288167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β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06290" y="2404279"/>
            <a:ext cx="1854376" cy="3343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Bước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pháp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p</a:t>
            </a:r>
            <a:r>
              <a:rPr dirty="0" sz="1800" baseline="-24833" i="1">
                <a:solidFill>
                  <a:srgbClr val="00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06290" y="2892616"/>
            <a:ext cx="1938451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Bước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ngang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p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94927" y="3690945"/>
            <a:ext cx="382832" cy="6796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55" spc="57">
                <a:solidFill>
                  <a:srgbClr val="000000"/>
                </a:solidFill>
                <a:latin typeface="FKMODS+Cambria Math"/>
                <a:cs typeface="FKMODS+Cambria Math"/>
              </a:rPr>
              <a:t>p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34928" marR="0">
              <a:lnSpc>
                <a:spcPts val="2390"/>
              </a:lnSpc>
              <a:spcBef>
                <a:spcPts val="128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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06290" y="3820080"/>
            <a:ext cx="2854274" cy="349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pháp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spc="16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68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97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9541" y="3993070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0475" y="4045360"/>
            <a:ext cx="234388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30533" y="4676253"/>
            <a:ext cx="293340" cy="291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04716" y="4807366"/>
            <a:ext cx="291484" cy="348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06290" y="4843590"/>
            <a:ext cx="225832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ngang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spc="-17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67436" y="4844124"/>
            <a:ext cx="202114" cy="1851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39614" y="4864775"/>
            <a:ext cx="402528" cy="353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86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1750" baseline="-33442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06033" y="4968960"/>
            <a:ext cx="194741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52745" y="5009395"/>
            <a:ext cx="291484" cy="348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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49612" y="5430697"/>
            <a:ext cx="674807" cy="68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9124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9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0" marR="0">
              <a:lnSpc>
                <a:spcPts val="2390"/>
              </a:lnSpc>
              <a:spcBef>
                <a:spcPts val="128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78529" y="5559803"/>
            <a:ext cx="656559" cy="3490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77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78943" y="5785067"/>
            <a:ext cx="202101" cy="18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70967" y="6204522"/>
            <a:ext cx="6146736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pháp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1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hóa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giống</a:t>
            </a:r>
            <a:r>
              <a:rPr dirty="0" sz="1800" spc="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như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184842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6.2.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học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6.2.2.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  <a:r>
              <a:rPr dirty="0" sz="1800" spc="-1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27435" y="1580837"/>
            <a:ext cx="674858" cy="6801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661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1750" baseline="-33430" spc="-7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  <a:p>
            <a:pPr marL="0" marR="0">
              <a:lnSpc>
                <a:spcPts val="2443"/>
              </a:lnSpc>
              <a:spcBef>
                <a:spcPts val="178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98238" y="1709944"/>
            <a:ext cx="980776" cy="3490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77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1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  <a:p>
            <a:pPr marL="237347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21432" y="1709944"/>
            <a:ext cx="291449" cy="3484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7271" y="1738948"/>
            <a:ext cx="27582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21776" y="1935205"/>
            <a:ext cx="202098" cy="1851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57701" y="2670606"/>
            <a:ext cx="693334" cy="3487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15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7271" y="2714562"/>
            <a:ext cx="4108673" cy="305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đỉnh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27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37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3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09">
                <a:solidFill>
                  <a:srgbClr val="000000"/>
                </a:solidFill>
                <a:latin typeface="FKMODS+Cambria Math"/>
                <a:cs typeface="FKMODS+Cambria Math"/>
              </a:rPr>
              <a:t>2m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88204" y="2896011"/>
            <a:ext cx="224218" cy="185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74987" y="2896011"/>
            <a:ext cx="234488" cy="185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271" y="3189905"/>
            <a:ext cx="3788250" cy="3487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chân:</a:t>
            </a:r>
            <a:r>
              <a:rPr dirty="0" sz="1800" spc="27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15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174438" y="3247356"/>
            <a:ext cx="1599603" cy="291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47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2,</a:t>
            </a:r>
            <a:r>
              <a:rPr dirty="0" sz="2000" spc="-3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52">
                <a:solidFill>
                  <a:srgbClr val="000000"/>
                </a:solidFill>
                <a:latin typeface="FKMODS+Cambria Math"/>
                <a:cs typeface="FKMODS+Cambria Math"/>
              </a:rPr>
              <a:t>5m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33588" y="3415312"/>
            <a:ext cx="196929" cy="185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22775" y="3415312"/>
            <a:ext cx="234491" cy="185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08183" y="3862076"/>
            <a:ext cx="1064132" cy="439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4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500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54174" y="3958364"/>
            <a:ext cx="1187779" cy="2918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144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234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294716" y="3900937"/>
            <a:ext cx="291553" cy="348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036928" y="3994876"/>
            <a:ext cx="363358" cy="2918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385777" y="4087145"/>
            <a:ext cx="1064139" cy="439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4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500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830951" y="4125999"/>
            <a:ext cx="291553" cy="348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482447" y="4125999"/>
            <a:ext cx="1156772" cy="34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89668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 spc="29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234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766088" y="4126269"/>
            <a:ext cx="234427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141936" y="4126269"/>
            <a:ext cx="233781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613825" y="4126269"/>
            <a:ext cx="233781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7271" y="4177856"/>
            <a:ext cx="2492251" cy="2973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18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237356" y="4162789"/>
            <a:ext cx="202133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832980" y="4328036"/>
            <a:ext cx="820373" cy="34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619537" y="4351339"/>
            <a:ext cx="233781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091427" y="4351339"/>
            <a:ext cx="233781" cy="185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126612" y="4385463"/>
            <a:ext cx="292791" cy="2918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5174716" cy="1343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Quy</a:t>
            </a:r>
            <a:r>
              <a:rPr dirty="0" sz="1800" spc="-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tắc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xác</a:t>
            </a:r>
            <a:r>
              <a:rPr dirty="0" sz="1800" spc="1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chiều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ăn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khớp</a:t>
            </a:r>
          </a:p>
          <a:p>
            <a:pPr marL="67055" marR="0">
              <a:lnSpc>
                <a:spcPts val="2010"/>
              </a:lnSpc>
              <a:spcBef>
                <a:spcPts val="186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</a:t>
            </a:r>
            <a:r>
              <a:rPr dirty="0" sz="1800" spc="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4618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750" baseline="-34618" spc="62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Luôn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</a:p>
          <a:p>
            <a:pPr marL="67055" marR="0">
              <a:lnSpc>
                <a:spcPts val="2010"/>
              </a:lnSpc>
              <a:spcBef>
                <a:spcPts val="133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7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7045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750" baseline="-37045" spc="30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2506663"/>
            <a:ext cx="7306972" cy="781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Ngược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(chống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sự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quay)</a:t>
            </a:r>
          </a:p>
          <a:p>
            <a:pPr marL="0" marR="0">
              <a:lnSpc>
                <a:spcPts val="2010"/>
              </a:lnSpc>
              <a:spcBef>
                <a:spcPts val="18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Cùng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3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137" y="3482404"/>
            <a:ext cx="209071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dọc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20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66973" y="3511057"/>
            <a:ext cx="288434" cy="291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99027" y="3678970"/>
            <a:ext cx="224153" cy="1851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5137" y="3970084"/>
            <a:ext cx="562109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việc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5137" y="4448825"/>
            <a:ext cx="7332382" cy="3530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Ngược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25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-33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29006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1750" baseline="-29006" spc="39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2900" y="5090478"/>
            <a:ext cx="860245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Muốn</a:t>
            </a:r>
            <a:r>
              <a:rPr dirty="0" sz="1800" spc="3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xác</a:t>
            </a:r>
            <a:r>
              <a:rPr dirty="0" sz="1800" spc="30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định</a:t>
            </a:r>
            <a:r>
              <a:rPr dirty="0" sz="1800" spc="28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30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3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spc="28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2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2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tác</a:t>
            </a:r>
            <a:r>
              <a:rPr dirty="0" sz="1800" spc="28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3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dirty="0" sz="1800" spc="29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</a:t>
            </a:r>
            <a:r>
              <a:rPr dirty="0" sz="1800" spc="29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 spc="29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3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3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9716" y="5501958"/>
            <a:ext cx="57745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động,</a:t>
            </a:r>
            <a:r>
              <a:rPr dirty="0" sz="18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quay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599497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25711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 spc="-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8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93400" y="2049326"/>
            <a:ext cx="473428" cy="352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-193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91070" y="2139593"/>
            <a:ext cx="709676" cy="439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8927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70205" y="2178433"/>
            <a:ext cx="1212583" cy="349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3296" y="2211007"/>
            <a:ext cx="145591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95217" y="2403644"/>
            <a:ext cx="316267" cy="1850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546881" y="2403644"/>
            <a:ext cx="318264" cy="1850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31888" y="2437784"/>
            <a:ext cx="388503" cy="352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76710" y="3244058"/>
            <a:ext cx="861026" cy="3485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8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58157" y="3301470"/>
            <a:ext cx="288427" cy="2917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627493" y="3205204"/>
            <a:ext cx="1609927" cy="439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17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 spc="117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701368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12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3296" y="3299756"/>
            <a:ext cx="2484862" cy="354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tâm:</a:t>
            </a:r>
            <a:r>
              <a:rPr dirty="0" sz="1800" spc="1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325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750" baseline="-33325" spc="-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 baseline="-33325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194807" y="3469358"/>
            <a:ext cx="325128" cy="1851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752625" y="3469358"/>
            <a:ext cx="316458" cy="1851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84865" y="4096475"/>
            <a:ext cx="288423" cy="291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967822" y="4188734"/>
            <a:ext cx="709695" cy="439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8902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588790" y="4227581"/>
            <a:ext cx="868128" cy="348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9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70551" y="4284996"/>
            <a:ext cx="288423" cy="291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63296" y="4252024"/>
            <a:ext cx="179652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khớp: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09880" y="4264355"/>
            <a:ext cx="316315" cy="185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193548" y="4284996"/>
            <a:ext cx="466702" cy="3530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42" spc="116">
                <a:solidFill>
                  <a:srgbClr val="000000"/>
                </a:solidFill>
                <a:latin typeface="FKMODS+Cambria Math"/>
                <a:cs typeface="FKMODS+Cambria Math"/>
              </a:rPr>
              <a:t>n1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371366" y="4429610"/>
            <a:ext cx="671861" cy="349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907050" y="4452884"/>
            <a:ext cx="332195" cy="185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 spc="133">
                <a:solidFill>
                  <a:srgbClr val="000000"/>
                </a:solidFill>
                <a:latin typeface="FKMODS+Cambria Math"/>
                <a:cs typeface="FKMODS+Cambria Math"/>
              </a:rPr>
              <a:t>n2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63296" y="5117656"/>
            <a:ext cx="5683005" cy="1116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 spc="29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2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 baseline="-24666" spc="2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(Nmm)</a:t>
            </a:r>
            <a:r>
              <a:rPr dirty="0" sz="1800" spc="2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 spc="28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 spc="27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men</a:t>
            </a:r>
            <a:r>
              <a:rPr dirty="0" sz="1800" spc="2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xoắn</a:t>
            </a:r>
            <a:r>
              <a:rPr dirty="0" sz="1800" spc="2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 spc="2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27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</a:p>
          <a:p>
            <a:pPr marL="0" marR="0">
              <a:lnSpc>
                <a:spcPts val="2013"/>
              </a:lnSpc>
              <a:spcBef>
                <a:spcPts val="90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 spc="4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động,</a:t>
            </a:r>
            <a:r>
              <a:rPr dirty="0" sz="1800" spc="45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799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 baseline="-24799" spc="4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(mm)</a:t>
            </a:r>
            <a:r>
              <a:rPr dirty="0" sz="1800" spc="44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4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 spc="43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4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4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4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</a:p>
          <a:p>
            <a:pPr marL="0" marR="0">
              <a:lnSpc>
                <a:spcPts val="2010"/>
              </a:lnSpc>
              <a:spcBef>
                <a:spcPts val="96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động,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dirty="0" sz="1800" baseline="3000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2633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406966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Phương,</a:t>
            </a:r>
            <a:r>
              <a:rPr dirty="0" sz="1800" spc="-2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chiều,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đặt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22664" y="4643071"/>
            <a:ext cx="386217" cy="291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W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62027" y="4826459"/>
            <a:ext cx="386217" cy="291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77086" y="6362408"/>
            <a:ext cx="635983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lên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2633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406966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Phương,</a:t>
            </a:r>
            <a:r>
              <a:rPr dirty="0" sz="1800" spc="-2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chiều,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đặt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29564" y="1724632"/>
            <a:ext cx="618069" cy="3601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 spc="264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dirty="0" sz="2050" spc="259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5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06343" y="1853098"/>
            <a:ext cx="277690" cy="32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53627" y="3025093"/>
            <a:ext cx="255499" cy="3256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71254" y="3253115"/>
            <a:ext cx="349608" cy="353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44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14957" y="3385517"/>
            <a:ext cx="386217" cy="291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W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282743" y="4312034"/>
            <a:ext cx="266075" cy="302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37026" y="4522043"/>
            <a:ext cx="410248" cy="593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5066" marR="0">
              <a:lnSpc>
                <a:spcPts val="22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  <a:p>
            <a:pPr marL="0" marR="0">
              <a:lnSpc>
                <a:spcPts val="2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19199" y="5848896"/>
            <a:ext cx="277690" cy="32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0339" y="6252710"/>
            <a:ext cx="3264549" cy="3340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chuẩn: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baseline="-25029" i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baseline="-25029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2633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406966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Phương,</a:t>
            </a:r>
            <a:r>
              <a:rPr dirty="0" sz="1800" spc="-2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chiều,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đặt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52487" y="2448453"/>
            <a:ext cx="259863" cy="33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93246" y="2555581"/>
            <a:ext cx="288335" cy="291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29803" y="2723463"/>
            <a:ext cx="323047" cy="18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 spc="-2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43399" y="2729359"/>
            <a:ext cx="251357" cy="31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004369" y="3010977"/>
            <a:ext cx="270463" cy="285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81671" y="3044335"/>
            <a:ext cx="443234" cy="3530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3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16706" y="3141743"/>
            <a:ext cx="251357" cy="31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46874" y="3314184"/>
            <a:ext cx="288466" cy="2918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378958" y="3482106"/>
            <a:ext cx="323025" cy="185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41">
                <a:solidFill>
                  <a:srgbClr val="000000"/>
                </a:solidFill>
                <a:latin typeface="FKMODS+Cambria Math"/>
                <a:cs typeface="FKMODS+Cambria Math"/>
              </a:rPr>
              <a:t>a2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73695" y="3604730"/>
            <a:ext cx="248842" cy="239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849078" y="4113828"/>
            <a:ext cx="259863" cy="33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49800" y="4408035"/>
            <a:ext cx="453136" cy="353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3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43" spc="126">
                <a:solidFill>
                  <a:srgbClr val="000000"/>
                </a:solidFill>
                <a:latin typeface="FKMODS+Cambria Math"/>
                <a:cs typeface="FKMODS+Cambria Math"/>
              </a:rPr>
              <a:t>a1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531702" y="4426028"/>
            <a:ext cx="259863" cy="33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5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438010" y="4732546"/>
            <a:ext cx="441246" cy="3530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2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95657" y="4991134"/>
            <a:ext cx="251357" cy="31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MT Extra"/>
                <a:cs typeface="MT Extra"/>
              </a:rPr>
              <a:t>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694558" y="5287536"/>
            <a:ext cx="461591" cy="3529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4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 spc="-1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85670" y="5559957"/>
            <a:ext cx="248842" cy="239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873818" y="5878014"/>
            <a:ext cx="261118" cy="2656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555115" y="6362408"/>
            <a:ext cx="627045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lên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cặp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2633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406966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Phương,</a:t>
            </a:r>
            <a:r>
              <a:rPr dirty="0" sz="1800" spc="-2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chiều,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đặt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7036" y="3623793"/>
            <a:ext cx="248831" cy="2398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38763" y="5579482"/>
            <a:ext cx="248831" cy="2398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55115" y="6362408"/>
            <a:ext cx="627045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lên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cặp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2633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7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dirty="0" sz="1800" spc="-28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trong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25711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 spc="-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 spc="18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lực: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8381" y="1935788"/>
            <a:ext cx="473428" cy="352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-193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66051" y="2026055"/>
            <a:ext cx="709675" cy="439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8927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45186" y="2064895"/>
            <a:ext cx="1212583" cy="349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3296" y="2096707"/>
            <a:ext cx="145591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70198" y="2290106"/>
            <a:ext cx="316267" cy="1850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521862" y="2290106"/>
            <a:ext cx="318264" cy="1850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6869" y="2324246"/>
            <a:ext cx="388503" cy="352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87036" y="2863822"/>
            <a:ext cx="854725" cy="3485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8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768477" y="2921233"/>
            <a:ext cx="288425" cy="291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31470" y="2824967"/>
            <a:ext cx="1673594" cy="439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17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 spc="123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83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725295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2000" spc="17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3296" y="2919667"/>
            <a:ext cx="2195189" cy="354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dọc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trục:</a:t>
            </a:r>
            <a:r>
              <a:rPr dirty="0" sz="1800" spc="44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-33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360" spc="126">
                <a:solidFill>
                  <a:srgbClr val="000000"/>
                </a:solidFill>
                <a:latin typeface="FKMODS+Cambria Math"/>
                <a:cs typeface="FKMODS+Cambria Math"/>
              </a:rPr>
              <a:t>a1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900800" y="3089120"/>
            <a:ext cx="323137" cy="1851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42">
                <a:solidFill>
                  <a:srgbClr val="000000"/>
                </a:solidFill>
                <a:latin typeface="FKMODS+Cambria Math"/>
                <a:cs typeface="FKMODS+Cambria Math"/>
              </a:rPr>
              <a:t>a2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456702" y="3089120"/>
            <a:ext cx="316377" cy="1851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3296" y="3662236"/>
            <a:ext cx="209005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90337" y="4015067"/>
            <a:ext cx="1013180" cy="349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17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1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536937" y="4164736"/>
            <a:ext cx="710523" cy="439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9726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00735" y="4188497"/>
            <a:ext cx="2017752" cy="3641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50882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67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 spc="187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=</a:t>
            </a:r>
          </a:p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8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13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24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615358" y="4240339"/>
            <a:ext cx="316298" cy="185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363514" y="4240339"/>
            <a:ext cx="234383" cy="185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12587" y="4260971"/>
            <a:ext cx="459564" cy="3529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39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750" baseline="-33439" spc="-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 baseline="-3343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82229" y="4260971"/>
            <a:ext cx="288379" cy="2917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713802" y="4405574"/>
            <a:ext cx="674867" cy="3491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918920" y="4428840"/>
            <a:ext cx="325153" cy="185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160640" y="4428840"/>
            <a:ext cx="234383" cy="185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676491" y="4947986"/>
            <a:ext cx="674855" cy="6821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7486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55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0" marR="0">
              <a:lnSpc>
                <a:spcPts val="2406"/>
              </a:lnSpc>
              <a:spcBef>
                <a:spcPts val="143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280746" y="5040257"/>
            <a:ext cx="709981" cy="4398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9169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216065" y="5064019"/>
            <a:ext cx="584975" cy="364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3000" baseline="5933" spc="-116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=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807395" y="5776114"/>
            <a:ext cx="214991" cy="3484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314596" y="5821997"/>
            <a:ext cx="1243814" cy="682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4802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0" marR="0">
              <a:lnSpc>
                <a:spcPts val="1996"/>
              </a:lnSpc>
              <a:spcBef>
                <a:spcPts val="595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 spc="12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383377" marR="0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2000" spc="27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612136" y="5848578"/>
            <a:ext cx="288345" cy="2916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593080" y="5914234"/>
            <a:ext cx="709898" cy="4397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9124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,</a:t>
            </a:r>
            <a:r>
              <a:rPr dirty="0" sz="2000" spc="13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629087" y="5953074"/>
            <a:ext cx="868085" cy="3484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9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810850" y="6010465"/>
            <a:ext cx="288345" cy="2916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097894" y="6010465"/>
            <a:ext cx="341659" cy="2916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=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91947" y="5996953"/>
            <a:ext cx="2208546" cy="366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khớp:</a:t>
            </a:r>
            <a:r>
              <a:rPr dirty="0" sz="1800" spc="2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8472" spc="117">
                <a:solidFill>
                  <a:srgbClr val="000000"/>
                </a:solidFill>
                <a:latin typeface="FKMODS+Cambria Math"/>
                <a:cs typeface="FKMODS+Cambria Math"/>
              </a:rPr>
              <a:t>n1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411709" y="6155038"/>
            <a:ext cx="671783" cy="3490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947378" y="6178294"/>
            <a:ext cx="332150" cy="1850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 spc="133">
                <a:solidFill>
                  <a:srgbClr val="000000"/>
                </a:solidFill>
                <a:latin typeface="FKMODS+Cambria Math"/>
                <a:cs typeface="FKMODS+Cambria Math"/>
              </a:rPr>
              <a:t>n2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943513" y="6380252"/>
            <a:ext cx="234366" cy="1850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419073" y="6380252"/>
            <a:ext cx="234366" cy="1850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6043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7947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483170"/>
            <a:ext cx="2940626" cy="3493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tính:</a:t>
            </a:r>
            <a:r>
              <a:rPr dirty="0" sz="1800" spc="24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16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31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165">
                <a:solidFill>
                  <a:srgbClr val="000000"/>
                </a:solidFill>
                <a:latin typeface="FVUAOP+Symbol"/>
                <a:cs typeface="FVUAOP+Symbol"/>
              </a:rPr>
              <a:t>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30257" y="1708567"/>
            <a:ext cx="252462" cy="185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97226" y="1708567"/>
            <a:ext cx="316838" cy="185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1">
                <a:solidFill>
                  <a:srgbClr val="000000"/>
                </a:solidFill>
                <a:latin typeface="FKMODS+Cambria Math"/>
                <a:cs typeface="FKMODS+Cambria Math"/>
              </a:rPr>
              <a:t>dn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3296" y="2044637"/>
            <a:ext cx="8044599" cy="797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9936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dn</a:t>
            </a:r>
            <a:r>
              <a:rPr dirty="0" sz="1800" baseline="-24666" spc="-187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nghĩa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(cho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trước)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tính,</a:t>
            </a:r>
          </a:p>
          <a:p>
            <a:pPr marL="0" marR="0">
              <a:lnSpc>
                <a:spcPts val="2010"/>
              </a:lnSpc>
              <a:spcBef>
                <a:spcPts val="169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98904" y="2547949"/>
            <a:ext cx="1374273" cy="3492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91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7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8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  <a:p>
            <a:pPr marL="277011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64448" y="2740012"/>
            <a:ext cx="233073" cy="218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852961" y="2773301"/>
            <a:ext cx="226469" cy="1851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55386" y="2740012"/>
            <a:ext cx="245131" cy="218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9645" y="3157770"/>
            <a:ext cx="7260791" cy="745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tập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6.4)</a:t>
            </a:r>
          </a:p>
          <a:p>
            <a:pPr marL="0" marR="0">
              <a:lnSpc>
                <a:spcPts val="2010"/>
              </a:lnSpc>
              <a:spcBef>
                <a:spcPts val="91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v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(bảng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6.5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6.6)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9645" y="3981260"/>
            <a:ext cx="8028390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baseline="-24666" spc="-16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xét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đến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sự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phân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đôi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15137" y="4392740"/>
            <a:ext cx="67344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28">
                <a:solidFill>
                  <a:srgbClr val="000000"/>
                </a:solidFill>
                <a:latin typeface="Arial"/>
                <a:cs typeface="Arial"/>
              </a:rPr>
              <a:t>6.11)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799907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799907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799907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799907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6.3.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6.3.4.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6.29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37093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6.4.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phá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hỏng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spc="14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tiêu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43963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6.4.1.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hỏng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320741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Gãy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137" y="2018983"/>
            <a:ext cx="7873018" cy="781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Tróc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mỏi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sát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  <a:p>
            <a:pPr marL="0" marR="0">
              <a:lnSpc>
                <a:spcPts val="2010"/>
              </a:lnSpc>
              <a:spcBef>
                <a:spcPts val="18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Mòn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Xảy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hở,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bôi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kém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5137" y="2994343"/>
            <a:ext cx="827751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Xảy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chịu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việc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5137" y="3482404"/>
            <a:ext cx="846916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Biến</a:t>
            </a:r>
            <a:r>
              <a:rPr dirty="0" sz="18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dẻo</a:t>
            </a:r>
            <a:r>
              <a:rPr dirty="0" sz="1800" spc="1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1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Xảy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 spc="10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 spc="10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dirty="0" sz="1800" spc="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thép</a:t>
            </a:r>
            <a:r>
              <a:rPr dirty="0" sz="1800" spc="10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mềm,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chịu</a:t>
            </a:r>
            <a:r>
              <a:rPr dirty="0" sz="1800" spc="1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1649" y="3893884"/>
            <a:ext cx="273993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thấp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5137" y="4381564"/>
            <a:ext cx="665725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Bong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Xảy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370970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6.4.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dạng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phá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hỏng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dirty="0" sz="1800" spc="14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tiêu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55378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6.4.2.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chỉ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tiêu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137" y="1531049"/>
            <a:ext cx="3391749" cy="22448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kín,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bôi</a:t>
            </a:r>
            <a:r>
              <a:rPr dirty="0" sz="1800" spc="-2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trơn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tốt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0" marR="0">
              <a:lnSpc>
                <a:spcPts val="2010"/>
              </a:lnSpc>
              <a:spcBef>
                <a:spcPts val="18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</a:p>
          <a:p>
            <a:pPr marL="0" marR="0">
              <a:lnSpc>
                <a:spcPts val="2010"/>
              </a:lnSpc>
              <a:spcBef>
                <a:spcPts val="18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</a:p>
          <a:p>
            <a:pPr marL="0" marR="0">
              <a:lnSpc>
                <a:spcPts val="2010"/>
              </a:lnSpc>
              <a:spcBef>
                <a:spcPts val="18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1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hở,</a:t>
            </a:r>
            <a:r>
              <a:rPr dirty="0" sz="1800" spc="-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bôi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trơn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kém</a:t>
            </a:r>
          </a:p>
          <a:p>
            <a:pPr marL="0" marR="0">
              <a:lnSpc>
                <a:spcPts val="2010"/>
              </a:lnSpc>
              <a:spcBef>
                <a:spcPts val="188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137" y="3970084"/>
            <a:ext cx="341000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5564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2900" y="1556747"/>
            <a:ext cx="3252063" cy="4628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21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kiện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bền:</a:t>
            </a:r>
            <a:r>
              <a:rPr dirty="0" sz="1800" spc="3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3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78">
                <a:solidFill>
                  <a:srgbClr val="000000"/>
                </a:solidFill>
                <a:latin typeface="FVUAOP+Symbol"/>
                <a:cs typeface="FVUAOP+Symbol"/>
              </a:rPr>
              <a:t></a:t>
            </a:r>
            <a:r>
              <a:rPr dirty="0" sz="2000" spc="13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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94357" y="1795511"/>
            <a:ext cx="253259" cy="185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69074" y="1795511"/>
            <a:ext cx="253259" cy="185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7706" y="2046653"/>
            <a:ext cx="434791" cy="680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731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0" spc="75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 spc="21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2900" y="2175795"/>
            <a:ext cx="5325760" cy="3485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21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Hetz:</a:t>
            </a:r>
            <a:r>
              <a:rPr dirty="0" sz="1800" spc="95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55476" y="2175795"/>
            <a:ext cx="291528" cy="3485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41191" y="2233216"/>
            <a:ext cx="288681" cy="29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38001" y="2401125"/>
            <a:ext cx="253282" cy="18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07069" y="2401125"/>
            <a:ext cx="272224" cy="18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6648" y="2857818"/>
            <a:ext cx="4768427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đó: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q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pháp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tuyến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50543" y="3269298"/>
            <a:ext cx="549424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ρ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50543" y="3680778"/>
            <a:ext cx="4085040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spc="-1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xét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đến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253824" y="4147696"/>
            <a:ext cx="673228" cy="3530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8" spc="-68">
                <a:solidFill>
                  <a:srgbClr val="000000"/>
                </a:solidFill>
                <a:latin typeface="FKMODS+Cambria Math"/>
                <a:cs typeface="FKMODS+Cambria Math"/>
              </a:rPr>
              <a:t>2E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8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798737" y="4315591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771498" y="4276836"/>
            <a:ext cx="291498" cy="348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17271" y="4300792"/>
            <a:ext cx="402682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21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xét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đến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369467" y="4334249"/>
            <a:ext cx="288652" cy="2917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35366" y="4502143"/>
            <a:ext cx="272200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142190" y="4485615"/>
            <a:ext cx="3016282" cy="466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5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17346">
                <a:solidFill>
                  <a:srgbClr val="000000"/>
                </a:solidFill>
                <a:latin typeface="FVUAOP+Symbol"/>
                <a:cs typeface="FVUAOP+Symbol"/>
              </a:rPr>
              <a:t></a:t>
            </a:r>
            <a:r>
              <a:rPr dirty="0" sz="3000" baseline="17346" spc="-2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500" baseline="38282">
                <a:solidFill>
                  <a:srgbClr val="000000"/>
                </a:solidFill>
                <a:latin typeface="FVUAOP+Symbol"/>
                <a:cs typeface="FVUAOP+Symbol"/>
              </a:rPr>
              <a:t></a:t>
            </a:r>
            <a:r>
              <a:rPr dirty="0" sz="3000" baseline="38282" spc="15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750" spc="19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baseline="17346">
                <a:solidFill>
                  <a:srgbClr val="000000"/>
                </a:solidFill>
                <a:latin typeface="FVUAOP+Symbol"/>
                <a:cs typeface="FVUAOP+Symbol"/>
              </a:rPr>
              <a:t></a:t>
            </a:r>
            <a:r>
              <a:rPr dirty="0" sz="3000" baseline="17346" spc="3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2750" spc="30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750" spc="19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baseline="17345">
                <a:solidFill>
                  <a:srgbClr val="000000"/>
                </a:solidFill>
                <a:latin typeface="FVUAOP+Symbol"/>
                <a:cs typeface="FVUAOP+Symbol"/>
              </a:rPr>
              <a:t></a:t>
            </a:r>
            <a:r>
              <a:rPr dirty="0" sz="3000" baseline="17345" spc="3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50" spc="-185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4500" baseline="27842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002601" y="4538794"/>
            <a:ext cx="291498" cy="348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603522" y="4538795"/>
            <a:ext cx="291498" cy="348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780079" y="4596208"/>
            <a:ext cx="675732" cy="2917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2000" spc="142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338770" y="4538795"/>
            <a:ext cx="291498" cy="348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356616" y="4564855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693287" y="4564855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346973" y="4596208"/>
            <a:ext cx="772164" cy="4316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2000" spc="142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908802" y="4679303"/>
            <a:ext cx="249669" cy="348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613669" y="4764102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335472" y="4764102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947675" y="4764102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7671829" y="4764102"/>
            <a:ext cx="233749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75132" y="5242602"/>
            <a:ext cx="7495683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spc="17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spc="663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đàn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hồi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27532" y="5367972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192072" y="5367972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75132" y="5654663"/>
            <a:ext cx="641328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μ</a:t>
            </a:r>
            <a:r>
              <a:rPr dirty="0" sz="1800" spc="17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μ</a:t>
            </a:r>
            <a:r>
              <a:rPr dirty="0" sz="1800" spc="66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Poisson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cặp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00100" y="5780033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37208" y="5780033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61772" y="6195378"/>
            <a:ext cx="83735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4">
                <a:solidFill>
                  <a:srgbClr val="000000"/>
                </a:solidFill>
                <a:latin typeface="Arial"/>
                <a:cs typeface="Arial"/>
              </a:rPr>
              <a:t>cặp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4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-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9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7">
                <a:solidFill>
                  <a:srgbClr val="000000"/>
                </a:solidFill>
                <a:latin typeface="Arial"/>
                <a:cs typeface="Arial"/>
              </a:rPr>
              <a:t>thép:</a:t>
            </a:r>
            <a:r>
              <a:rPr dirty="0" sz="1800" spc="-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spc="579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-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spc="579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-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1">
                <a:solidFill>
                  <a:srgbClr val="000000"/>
                </a:solidFill>
                <a:latin typeface="Arial"/>
                <a:cs typeface="Arial"/>
              </a:rPr>
              <a:t>210000</a:t>
            </a:r>
            <a:r>
              <a:rPr dirty="0" sz="1800" spc="4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MPa;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μ</a:t>
            </a:r>
            <a:r>
              <a:rPr dirty="0" sz="1800" spc="11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-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μ</a:t>
            </a:r>
            <a:r>
              <a:rPr dirty="0" sz="1800" spc="59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-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7">
                <a:solidFill>
                  <a:srgbClr val="000000"/>
                </a:solidFill>
                <a:latin typeface="Arial"/>
                <a:cs typeface="Arial"/>
              </a:rPr>
              <a:t>0,3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7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92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-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1">
                <a:solidFill>
                  <a:srgbClr val="000000"/>
                </a:solidFill>
                <a:latin typeface="Arial"/>
                <a:cs typeface="Arial"/>
              </a:rPr>
              <a:t>275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MPa</a:t>
            </a:r>
            <a:r>
              <a:rPr dirty="0" sz="1800" baseline="29999" spc="-20">
                <a:solidFill>
                  <a:srgbClr val="000000"/>
                </a:solidFill>
                <a:latin typeface="Arial"/>
                <a:cs typeface="Arial"/>
              </a:rPr>
              <a:t>1/2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382390" y="6320748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860927" y="6320748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689981" y="6320748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6081649" y="6320748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7217410" y="6320748"/>
            <a:ext cx="279350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11664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  <a:p>
            <a:pPr marL="3560229" marR="0">
              <a:lnSpc>
                <a:spcPts val="1996"/>
              </a:lnSpc>
              <a:spcBef>
                <a:spcPts val="1354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238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261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01137" y="1570375"/>
            <a:ext cx="1275842" cy="5504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3744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6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19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25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2900" y="1630109"/>
            <a:ext cx="351781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21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96820" y="1997585"/>
            <a:ext cx="233713" cy="1850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28217" y="1997585"/>
            <a:ext cx="233713" cy="1850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3173" y="2416112"/>
            <a:ext cx="729423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ρ</a:t>
            </a:r>
            <a:r>
              <a:rPr dirty="0" sz="1800" spc="173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ρ</a:t>
            </a:r>
            <a:r>
              <a:rPr dirty="0" sz="1800" spc="653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khai.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4237" y="254148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75613" y="254148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3173" y="2827973"/>
            <a:ext cx="629923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Lấy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dấu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“+”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ngoài,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lấy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dấu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“–”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3492" y="3472741"/>
            <a:ext cx="924707" cy="349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6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46956" y="3659291"/>
            <a:ext cx="593949" cy="3485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7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98261" y="3698041"/>
            <a:ext cx="23375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7056" y="3884593"/>
            <a:ext cx="23375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83231" y="3918718"/>
            <a:ext cx="292742" cy="291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321195" y="3956502"/>
            <a:ext cx="841463" cy="43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32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175929" y="4052740"/>
            <a:ext cx="895179" cy="291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 spc="2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06149" y="3995333"/>
            <a:ext cx="291474" cy="348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96497" y="4115864"/>
            <a:ext cx="292711" cy="2917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928277" y="4220386"/>
            <a:ext cx="291474" cy="348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94506" y="4422398"/>
            <a:ext cx="1483470" cy="3491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17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1">
                <a:solidFill>
                  <a:srgbClr val="000000"/>
                </a:solidFill>
                <a:latin typeface="FKMODS+Cambria Math"/>
                <a:cs typeface="FKMODS+Cambria Math"/>
              </a:rPr>
              <a:t>ud</a:t>
            </a:r>
            <a:r>
              <a:rPr dirty="0" sz="2000" spc="67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43072" y="4475787"/>
            <a:ext cx="924334" cy="349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65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046956" y="4662338"/>
            <a:ext cx="593538" cy="3485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7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408121" y="4647689"/>
            <a:ext cx="233738" cy="185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699862" y="4701087"/>
            <a:ext cx="23375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89045" y="4887639"/>
            <a:ext cx="23375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882819" y="4921764"/>
            <a:ext cx="292742" cy="291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252" cy="1149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  <a:p>
            <a:pPr marL="3066057" marR="0">
              <a:lnSpc>
                <a:spcPts val="1996"/>
              </a:lnSpc>
              <a:spcBef>
                <a:spcPts val="792"/>
              </a:spcBef>
              <a:spcAft>
                <a:spcPts val="0"/>
              </a:spcAft>
            </a:pPr>
            <a:r>
              <a:rPr dirty="0" sz="4500" baseline="58137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146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4500" baseline="58137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900" y="1517159"/>
            <a:ext cx="3155459" cy="3490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21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trọng:</a:t>
            </a:r>
            <a:r>
              <a:rPr dirty="0" sz="1800" spc="55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2000" spc="104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43150" y="1555861"/>
            <a:ext cx="253203" cy="185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28352" y="1742362"/>
            <a:ext cx="234347" cy="185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93125" y="1944321"/>
            <a:ext cx="253203" cy="185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9629" y="1994258"/>
            <a:ext cx="288404" cy="2917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5114" y="2182779"/>
            <a:ext cx="370908" cy="3530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42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80191" y="2125368"/>
            <a:ext cx="291498" cy="348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4606" y="2182051"/>
            <a:ext cx="160975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24634" y="2162132"/>
            <a:ext cx="316308" cy="18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86146" y="2327396"/>
            <a:ext cx="671812" cy="3491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3000" baseline="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23260" y="2893505"/>
            <a:ext cx="2737168" cy="3534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-14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 baseline="-36949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750" baseline="-36949" spc="9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3784" y="3414713"/>
            <a:ext cx="7492059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đôi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xác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định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thực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9368" y="3582358"/>
            <a:ext cx="253308" cy="1852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46689" y="4146371"/>
            <a:ext cx="290989" cy="2915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347778" y="4178662"/>
            <a:ext cx="292647" cy="291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4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527973" y="4121278"/>
            <a:ext cx="435838" cy="348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59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76755" y="4250883"/>
            <a:ext cx="291360" cy="3483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965183" y="4309753"/>
            <a:ext cx="291411" cy="348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70632" y="4339400"/>
            <a:ext cx="46744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824438" y="4346476"/>
            <a:ext cx="224098" cy="185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29816" y="4367137"/>
            <a:ext cx="288566" cy="291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59227" y="4476055"/>
            <a:ext cx="253170" cy="1850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176494" y="4497477"/>
            <a:ext cx="233676" cy="1850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795726" y="4501683"/>
            <a:ext cx="216856" cy="217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982788" y="4528870"/>
            <a:ext cx="288517" cy="2915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574010" y="4569079"/>
            <a:ext cx="292647" cy="291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148711" y="4663408"/>
            <a:ext cx="216833" cy="2179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189634" y="4951404"/>
            <a:ext cx="3797049" cy="3493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răng,</a:t>
            </a:r>
            <a:r>
              <a:rPr dirty="0" sz="1800" spc="3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  <a:r>
              <a:rPr dirty="0" sz="2000" spc="135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1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156174" y="4951404"/>
            <a:ext cx="291636" cy="3487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507425" y="5176806"/>
            <a:ext cx="314488" cy="1852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848335" y="5176806"/>
            <a:ext cx="233839" cy="1852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217980" y="5569929"/>
            <a:ext cx="549425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  <a:r>
              <a:rPr dirty="0" sz="1800" spc="652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ngang,</a:t>
            </a:r>
            <a:r>
              <a:rPr dirty="0" sz="1800" spc="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  <a:r>
              <a:rPr dirty="0" sz="1800" spc="100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1,2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1,9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318514" y="569529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284597" y="569529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690857" y="6006612"/>
            <a:ext cx="261551" cy="3840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78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  <a:p>
            <a:pPr marL="0" marR="0">
              <a:lnSpc>
                <a:spcPts val="1417"/>
              </a:lnSpc>
              <a:spcBef>
                <a:spcPts val="148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860952" y="6037956"/>
            <a:ext cx="952058" cy="291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9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658948" y="6169083"/>
            <a:ext cx="291536" cy="3486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100674" y="6205873"/>
            <a:ext cx="233771" cy="1851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382078" y="6205873"/>
            <a:ext cx="253289" cy="1851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331920" y="6226507"/>
            <a:ext cx="382838" cy="353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8" spc="75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855808" y="6371132"/>
            <a:ext cx="1091417" cy="4104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  <a:r>
              <a:rPr dirty="0" sz="1750" baseline="-3343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1750" baseline="-33439" spc="1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0486" y="1598117"/>
            <a:ext cx="1543573" cy="439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2120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32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88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5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07561" y="1636952"/>
            <a:ext cx="291453" cy="348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41118" y="1681236"/>
            <a:ext cx="292684" cy="2916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76254" y="1730858"/>
            <a:ext cx="924300" cy="291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10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9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07367" y="1785752"/>
            <a:ext cx="291447" cy="3484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78147" y="1861943"/>
            <a:ext cx="683576" cy="348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3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78374" y="1865417"/>
            <a:ext cx="216873" cy="218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60228" y="1862180"/>
            <a:ext cx="233726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141615" y="1862181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98920" y="1843147"/>
            <a:ext cx="1713700" cy="3672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7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  <a:r>
              <a:rPr dirty="0" sz="2000" spc="16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42900" y="1896787"/>
            <a:ext cx="2424012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642153" y="1898690"/>
            <a:ext cx="272166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69589" y="1898690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296580" y="1962731"/>
            <a:ext cx="689383" cy="348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285940" y="1987735"/>
            <a:ext cx="767406" cy="3490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0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3000" baseline="0" spc="-32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3000" baseline="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689892" y="2010994"/>
            <a:ext cx="253228" cy="185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052762" y="2087188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60103" y="2087188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97733" y="2121326"/>
            <a:ext cx="388513" cy="352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2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158807" y="2121327"/>
            <a:ext cx="431002" cy="291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bu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471270" y="2909920"/>
            <a:ext cx="1248168" cy="4373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3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550" spc="7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957010" y="3005531"/>
            <a:ext cx="671193" cy="713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10697" marR="0">
              <a:lnSpc>
                <a:spcPts val="1985"/>
              </a:lnSpc>
              <a:spcBef>
                <a:spcPts val="130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70636" y="2941777"/>
            <a:ext cx="1451807" cy="439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0389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2000" spc="1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88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5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679607" y="2995434"/>
            <a:ext cx="291155" cy="291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038761" y="3099979"/>
            <a:ext cx="326308" cy="348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485577" y="3099978"/>
            <a:ext cx="291526" cy="348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829272" y="3171698"/>
            <a:ext cx="759331" cy="346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8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667866" y="3172253"/>
            <a:ext cx="304006" cy="184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703185" y="3189415"/>
            <a:ext cx="39383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561409" y="3205608"/>
            <a:ext cx="1078903" cy="349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709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7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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37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818666" y="3205846"/>
            <a:ext cx="233711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100056" y="3205846"/>
            <a:ext cx="253215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380990" y="3251010"/>
            <a:ext cx="5056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235963" y="3325311"/>
            <a:ext cx="304575" cy="18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535311" y="3377281"/>
            <a:ext cx="233711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025861" y="3395488"/>
            <a:ext cx="313727" cy="184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689529" y="3359433"/>
            <a:ext cx="276178" cy="291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716187" y="3430856"/>
            <a:ext cx="233711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253533" y="3430856"/>
            <a:ext cx="233855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683046" y="3452280"/>
            <a:ext cx="233711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691687" y="3484180"/>
            <a:ext cx="1134633" cy="361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6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7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136958" y="3555071"/>
            <a:ext cx="941970" cy="391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888913" y="3722910"/>
            <a:ext cx="314235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4400388" y="3722910"/>
            <a:ext cx="253215" cy="185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42900" y="4267772"/>
            <a:ext cx="8103680" cy="7452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thuộc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vào: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BR.</a:t>
            </a:r>
          </a:p>
          <a:p>
            <a:pPr marL="0" marR="0">
              <a:lnSpc>
                <a:spcPts val="2010"/>
              </a:lnSpc>
              <a:spcBef>
                <a:spcPts val="912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75,6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điều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kiện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sau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thỏa: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800404" y="5090858"/>
            <a:ext cx="7633877" cy="7051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Cặp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hay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dirty="0" sz="1800" baseline="30166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).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4819" i="1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dirty="0" sz="1800" baseline="-24819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1,76</a:t>
            </a:r>
          </a:p>
          <a:p>
            <a:pPr marL="0" marR="0">
              <a:lnSpc>
                <a:spcPts val="2010"/>
              </a:lnSpc>
              <a:spcBef>
                <a:spcPts val="9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  <a:r>
              <a:rPr dirty="0" sz="1800" spc="52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1,2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527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0,96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580642" y="5627938"/>
            <a:ext cx="239315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α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745359" y="5627938"/>
            <a:ext cx="219372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800404" y="5914048"/>
            <a:ext cx="5101893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Vật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thép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5392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5392" spc="-1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275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MPa</a:t>
            </a: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1/2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5564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0851" y="1646558"/>
            <a:ext cx="543695" cy="353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8" spc="-2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8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30259" y="1814452"/>
            <a:ext cx="25326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49855" y="1736857"/>
            <a:ext cx="1597243" cy="439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63567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 spc="19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</a:t>
            </a:r>
          </a:p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2000" spc="1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50</a:t>
            </a:r>
            <a:r>
              <a:rPr dirty="0" sz="2000" spc="2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2900" y="1896787"/>
            <a:ext cx="2281632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42473" y="1971637"/>
            <a:ext cx="233750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50119" y="2022439"/>
            <a:ext cx="233750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81759" y="2054328"/>
            <a:ext cx="1111689" cy="362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4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04040" y="2125244"/>
            <a:ext cx="942036" cy="39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79004" y="2293138"/>
            <a:ext cx="304554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167359" y="2293138"/>
            <a:ext cx="25326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86160" y="2819683"/>
            <a:ext cx="917142" cy="3493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2000" spc="8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07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2">
                <a:solidFill>
                  <a:srgbClr val="000000"/>
                </a:solidFill>
                <a:latin typeface="FKMODS+Cambria Math"/>
                <a:cs typeface="FKMODS+Cambria Math"/>
              </a:rPr>
              <a:t>uT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42900" y="2857818"/>
            <a:ext cx="4222661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men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xoắn</a:t>
            </a:r>
            <a:r>
              <a:rPr dirty="0" sz="1800" spc="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36141" y="3045099"/>
            <a:ext cx="233855" cy="185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48791" y="3045099"/>
            <a:ext cx="233855" cy="1852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2900" y="3384868"/>
            <a:ext cx="8587894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Times New Roman"/>
                <a:cs typeface="Times New Roman"/>
              </a:rPr>
              <a:t>ψ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ba</a:t>
            </a:r>
            <a:r>
              <a:rPr dirty="0" sz="1800" baseline="-24666" spc="48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dãy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chuẩn: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0,1;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0,125;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0,16;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0,2;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0,25;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0,315;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0,4;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0,5;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0,63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hoặc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2900" y="3796072"/>
            <a:ext cx="229788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6.15.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5564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0851" y="1646558"/>
            <a:ext cx="543695" cy="353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8" spc="-2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8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30259" y="1814452"/>
            <a:ext cx="25326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49855" y="1736857"/>
            <a:ext cx="1597243" cy="439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63567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 spc="19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</a:t>
            </a:r>
          </a:p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2000" spc="1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50</a:t>
            </a:r>
            <a:r>
              <a:rPr dirty="0" sz="2000" spc="2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2900" y="1896787"/>
            <a:ext cx="2281632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42473" y="1971637"/>
            <a:ext cx="233750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50119" y="2022439"/>
            <a:ext cx="233750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81759" y="2054328"/>
            <a:ext cx="1111689" cy="362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4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04040" y="2125244"/>
            <a:ext cx="942036" cy="39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79004" y="2293138"/>
            <a:ext cx="304554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167359" y="2293138"/>
            <a:ext cx="253262" cy="185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2900" y="2857818"/>
            <a:ext cx="852877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hộp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chuẩn,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họn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dãy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42900" y="3269298"/>
            <a:ext cx="234509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(Dãy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ưu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tiên):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2900" y="4801912"/>
            <a:ext cx="5987990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hộp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họn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dãy: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55649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99792" y="1422627"/>
            <a:ext cx="235861" cy="439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12899" y="1422627"/>
            <a:ext cx="892605" cy="439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</a:t>
            </a:r>
            <a:r>
              <a:rPr dirty="0" sz="2000" spc="35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14083" y="1461482"/>
            <a:ext cx="291526" cy="348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9793" y="1518895"/>
            <a:ext cx="3405718" cy="3059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đun:</a:t>
            </a:r>
            <a:r>
              <a:rPr dirty="0" sz="1800" spc="10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23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0,01</a:t>
            </a:r>
            <a:r>
              <a:rPr dirty="0" sz="2000" spc="113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0,02</a:t>
            </a:r>
            <a:r>
              <a:rPr dirty="0" sz="2000" spc="2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9793" y="2025714"/>
            <a:ext cx="594125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Sau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dãy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77516" y="2373647"/>
            <a:ext cx="1085999" cy="7306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1797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67">
                <a:solidFill>
                  <a:srgbClr val="000000"/>
                </a:solidFill>
                <a:latin typeface="FKMODS+Cambria Math"/>
                <a:cs typeface="FKMODS+Cambria Math"/>
              </a:rPr>
              <a:t>2a</a:t>
            </a:r>
          </a:p>
          <a:p>
            <a:pPr marL="244488" marR="0">
              <a:lnSpc>
                <a:spcPts val="3164"/>
              </a:lnSpc>
              <a:spcBef>
                <a:spcPts val="291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32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529453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42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71529" y="2478176"/>
            <a:ext cx="291520" cy="3485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49495" y="2478176"/>
            <a:ext cx="1067472" cy="3492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;</a:t>
            </a:r>
            <a:r>
              <a:rPr dirty="0" sz="2000" spc="5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230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1">
                <a:solidFill>
                  <a:srgbClr val="000000"/>
                </a:solidFill>
                <a:latin typeface="FKMODS+Cambria Math"/>
                <a:cs typeface="FKMODS+Cambria Math"/>
              </a:rPr>
              <a:t>uz</a:t>
            </a:r>
          </a:p>
          <a:p>
            <a:pPr marL="495741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2900" y="2535595"/>
            <a:ext cx="2796995" cy="304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hai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BR:</a:t>
            </a:r>
            <a:r>
              <a:rPr dirty="0" sz="1800" spc="8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09182" y="2703494"/>
            <a:ext cx="233761" cy="185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85165" y="2703495"/>
            <a:ext cx="233761" cy="185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86733" y="2703495"/>
            <a:ext cx="233761" cy="185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2900" y="3289745"/>
            <a:ext cx="828002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2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6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thiểu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17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tránh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lẹm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răng.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Sau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15466" y="3415115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40078" y="3415115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2900" y="3701479"/>
            <a:ext cx="821421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2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6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858010" y="382684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182622" y="382684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42900" y="4112959"/>
            <a:ext cx="187123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spc="1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d</a:t>
            </a:r>
            <a:r>
              <a:rPr dirty="0" sz="1800" spc="167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269796" y="423832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912874" y="4238329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113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9793" y="1445382"/>
            <a:ext cx="2839072" cy="379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áp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244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-3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269">
                <a:solidFill>
                  <a:srgbClr val="000000"/>
                </a:solidFill>
                <a:latin typeface="FVUAOP+Symbol"/>
                <a:cs typeface="FVUAOP+Symbol"/>
              </a:rPr>
              <a:t>=</a:t>
            </a:r>
            <a:r>
              <a:rPr dirty="0" sz="2000" spc="-20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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74033" y="1892440"/>
            <a:ext cx="593099" cy="363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44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-3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57397" y="1907521"/>
            <a:ext cx="1027882" cy="3490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28</a:t>
            </a:r>
            <a:r>
              <a:rPr dirty="0" sz="2000" spc="20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30</a:t>
            </a:r>
          </a:p>
          <a:p>
            <a:pPr marL="43220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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36805" y="1933575"/>
            <a:ext cx="230372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29331" y="1933575"/>
            <a:ext cx="230372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8640" y="1978470"/>
            <a:ext cx="196515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Thường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trị: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9793" y="2440877"/>
            <a:ext cx="284351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toán: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23978" y="2866158"/>
            <a:ext cx="1033553" cy="3494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2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226">
                <a:solidFill>
                  <a:srgbClr val="000000"/>
                </a:solidFill>
                <a:latin typeface="FVUAOP+Symbol"/>
                <a:cs typeface="FVUAOP+Symbol"/>
              </a:rPr>
              <a:t>=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98586" y="3091579"/>
            <a:ext cx="231345" cy="185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38659" y="3058269"/>
            <a:ext cx="241115" cy="2182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3173" y="3505772"/>
            <a:ext cx="270109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nghĩa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17271" y="3916976"/>
            <a:ext cx="4366344" cy="1174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85902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baseline="-24666" spc="-15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tập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lý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thuyết</a:t>
            </a:r>
          </a:p>
          <a:p>
            <a:pPr marL="0" marR="0">
              <a:lnSpc>
                <a:spcPts val="2013"/>
              </a:lnSpc>
              <a:spcBef>
                <a:spcPts val="1094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pháp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tuyến</a:t>
            </a:r>
            <a:r>
              <a:rPr dirty="0" sz="1800" spc="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đặt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đỉnh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răng:</a:t>
            </a:r>
          </a:p>
          <a:p>
            <a:pPr marL="1832289" marR="0">
              <a:lnSpc>
                <a:spcPts val="2444"/>
              </a:lnSpc>
              <a:spcBef>
                <a:spcPts val="674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4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 spc="245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1466" y="4915709"/>
            <a:ext cx="385953" cy="363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50">
                <a:solidFill>
                  <a:srgbClr val="000000"/>
                </a:solidFill>
                <a:latin typeface="FVUAOP+Symbol"/>
                <a:cs typeface="FVUAOP+Symbol"/>
              </a:rPr>
              <a:t>=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45905" y="4915709"/>
            <a:ext cx="593138" cy="363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45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-3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374587" y="4967559"/>
            <a:ext cx="20212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6196" y="4988205"/>
            <a:ext cx="1257797" cy="2917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19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6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08319" y="5132821"/>
            <a:ext cx="671886" cy="349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61221" y="5156089"/>
            <a:ext cx="20212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244243" y="5156089"/>
            <a:ext cx="234407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43513" y="5681670"/>
            <a:ext cx="991310" cy="3642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4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 spc="244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9766" y="5870192"/>
            <a:ext cx="1244196" cy="3642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5246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-1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34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6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39885" y="5870192"/>
            <a:ext cx="593144" cy="3636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44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-3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68527" y="5922049"/>
            <a:ext cx="202125" cy="1851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388374" y="6087304"/>
            <a:ext cx="671876" cy="3491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76287" y="6110578"/>
            <a:ext cx="213175" cy="1851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266018" y="6110578"/>
            <a:ext cx="234414" cy="1851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6.39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113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07429" y="1278468"/>
            <a:ext cx="484060" cy="3642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81">
                <a:solidFill>
                  <a:srgbClr val="000000"/>
                </a:solidFill>
                <a:latin typeface="FVUAOP+Symbol"/>
                <a:cs typeface="FVUAOP+Symbol"/>
              </a:rPr>
              <a:t>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41604" y="1280465"/>
            <a:ext cx="410274" cy="3642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2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9793" y="1482099"/>
            <a:ext cx="5666874" cy="34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danh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nghĩa</a:t>
            </a:r>
            <a:r>
              <a:rPr dirty="0" sz="1800" spc="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răng:</a:t>
            </a:r>
            <a:r>
              <a:rPr dirty="0" sz="1800" spc="12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2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269">
                <a:solidFill>
                  <a:srgbClr val="000000"/>
                </a:solidFill>
                <a:latin typeface="FVUAOP+Symbol"/>
                <a:cs typeface="FVUAOP+Symbol"/>
              </a:rPr>
              <a:t>=</a:t>
            </a:r>
            <a:r>
              <a:rPr dirty="0" sz="2000" spc="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193">
                <a:solidFill>
                  <a:srgbClr val="000000"/>
                </a:solidFill>
                <a:latin typeface="FVUAOP+Symbol"/>
                <a:cs typeface="FVUAOP+Symbol"/>
              </a:rPr>
              <a:t>−</a:t>
            </a:r>
            <a:r>
              <a:rPr dirty="0" sz="2000" spc="9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44651" y="1482099"/>
            <a:ext cx="291540" cy="34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32434" y="1518893"/>
            <a:ext cx="202127" cy="1851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78110" y="1520866"/>
            <a:ext cx="213178" cy="1851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014125" y="1707417"/>
            <a:ext cx="233557" cy="1851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26853" y="1707417"/>
            <a:ext cx="234418" cy="1851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972912" y="1741532"/>
            <a:ext cx="385992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W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92794" y="1741532"/>
            <a:ext cx="310356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48640" y="2185480"/>
            <a:ext cx="771729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spc="1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spc="67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lần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lượt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nén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sinh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5800" y="231085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39850" y="231085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44394" y="2555009"/>
            <a:ext cx="418119" cy="34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0" spc="11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50767" y="2581038"/>
            <a:ext cx="233757" cy="1851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250337" y="2716935"/>
            <a:ext cx="291497" cy="348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8640" y="2748725"/>
            <a:ext cx="441758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W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men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cản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diện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nguy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hiểm,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897919" y="2774346"/>
            <a:ext cx="385919" cy="2917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W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586454" y="2976374"/>
            <a:ext cx="292734" cy="2917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6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40476" y="3200259"/>
            <a:ext cx="4052302" cy="368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2000" spc="5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1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11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7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diện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diện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nguy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hiểm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34012" y="3670366"/>
            <a:ext cx="6484237" cy="3496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52">
                <a:solidFill>
                  <a:srgbClr val="000000"/>
                </a:solidFill>
                <a:latin typeface="FKMODS+Cambria Math"/>
                <a:cs typeface="FKMODS+Cambria Math"/>
              </a:rPr>
              <a:t>b,</a:t>
            </a:r>
            <a:r>
              <a:rPr dirty="0" sz="2000" spc="-25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5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lần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lượt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diện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nguy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hiểm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47039" y="4133660"/>
            <a:ext cx="252553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tay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đòn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143976" y="4563819"/>
            <a:ext cx="1741867" cy="3643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8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57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152">
                <a:solidFill>
                  <a:srgbClr val="000000"/>
                </a:solidFill>
                <a:latin typeface="FKMODS+Cambria Math"/>
                <a:cs typeface="FKMODS+Cambria Math"/>
              </a:rPr>
              <a:t>m;</a:t>
            </a:r>
            <a:r>
              <a:rPr dirty="0" sz="2000" spc="28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2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-1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38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22122" y="4605273"/>
            <a:ext cx="4441736" cy="351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dirty="0" sz="1800" spc="149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-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bậc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nhất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nên: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467989" y="5107467"/>
            <a:ext cx="249687" cy="3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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846599" y="5107467"/>
            <a:ext cx="249687" cy="3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866698" y="5261864"/>
            <a:ext cx="1293788" cy="441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37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</a:t>
            </a:r>
            <a:r>
              <a:rPr dirty="0" sz="2000" spc="24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524536" y="5261864"/>
            <a:ext cx="406058" cy="3636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42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465590" y="5261864"/>
            <a:ext cx="630697" cy="441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40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2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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690263" y="5334371"/>
            <a:ext cx="982252" cy="2917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6</a:t>
            </a:r>
            <a:r>
              <a:rPr dirty="0" sz="2000" spc="218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133390" y="5334371"/>
            <a:ext cx="475882" cy="2917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2881" y="5438908"/>
            <a:ext cx="945549" cy="3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Vậy:</a:t>
            </a:r>
            <a:r>
              <a:rPr dirty="0" sz="1800" spc="97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664669" y="5438908"/>
            <a:ext cx="291523" cy="3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836891" y="5438908"/>
            <a:ext cx="291523" cy="3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991726" y="5475697"/>
            <a:ext cx="202120" cy="18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275508" y="5475697"/>
            <a:ext cx="231249" cy="18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964063" y="5496328"/>
            <a:ext cx="311946" cy="2917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67989" y="5602837"/>
            <a:ext cx="592470" cy="4795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</a:t>
            </a:r>
            <a:r>
              <a:rPr dirty="0" sz="2000" spc="3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-1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554697" y="5602837"/>
            <a:ext cx="1541589" cy="3873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1905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0" marR="0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19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-1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24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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467809" y="5664230"/>
            <a:ext cx="231249" cy="185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157349" y="5630946"/>
            <a:ext cx="241006" cy="218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955596" y="5685664"/>
            <a:ext cx="1747212" cy="449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4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0791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  <a:r>
              <a:rPr dirty="0" sz="3000" baseline="50791" spc="179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10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 spc="-216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1750" baseline="68043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1750" baseline="68043" spc="63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467989" y="5814799"/>
            <a:ext cx="346974" cy="3914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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4846599" y="5814799"/>
            <a:ext cx="346974" cy="3914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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113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66734" y="1292799"/>
            <a:ext cx="249682" cy="3485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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45195" y="1292799"/>
            <a:ext cx="249682" cy="3485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66734" y="1447197"/>
            <a:ext cx="2628143" cy="873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</a:t>
            </a:r>
            <a:r>
              <a:rPr dirty="0" sz="2000" spc="4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6</a:t>
            </a:r>
            <a:r>
              <a:rPr dirty="0" sz="2000" spc="46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7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 spc="243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20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28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 spc="240">
                <a:solidFill>
                  <a:srgbClr val="000000"/>
                </a:solidFill>
                <a:latin typeface="FVUAOP+Symbol"/>
                <a:cs typeface="FVUAOP+Symbol"/>
              </a:rPr>
              <a:t></a:t>
            </a:r>
            <a:r>
              <a:rPr dirty="0" sz="2000" spc="2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</a:t>
            </a:r>
          </a:p>
          <a:p>
            <a:pPr marL="121050" marR="0">
              <a:lnSpc>
                <a:spcPts val="3164"/>
              </a:lnSpc>
              <a:spcBef>
                <a:spcPts val="157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10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 spc="-216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  <a:r>
              <a:rPr dirty="0" sz="1750" baseline="68043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1750" baseline="68043" spc="63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3000" baseline="3907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69091" y="1624240"/>
            <a:ext cx="291516" cy="3485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35556" y="1624240"/>
            <a:ext cx="291516" cy="3485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62676" y="1681659"/>
            <a:ext cx="311937" cy="2917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9793" y="1675194"/>
            <a:ext cx="2573692" cy="3595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răng:</a:t>
            </a:r>
            <a:r>
              <a:rPr dirty="0" sz="1800" spc="75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1750" baseline="-35532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66734" y="1788170"/>
            <a:ext cx="592446" cy="4795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</a:t>
            </a:r>
            <a:r>
              <a:rPr dirty="0" sz="2000" spc="3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-1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53361" y="1788170"/>
            <a:ext cx="1541516" cy="387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1637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0" marR="0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19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-1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</a:t>
            </a:r>
            <a:r>
              <a:rPr dirty="0" sz="2000" spc="24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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755952" y="1816276"/>
            <a:ext cx="241001" cy="21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66734" y="2000133"/>
            <a:ext cx="346964" cy="3914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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45195" y="2000133"/>
            <a:ext cx="346964" cy="3914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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48640" y="2425637"/>
            <a:ext cx="4741071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ngoài: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4,6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8640" y="2837117"/>
            <a:ext cx="4702819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trong: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3,5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22122" y="3275140"/>
            <a:ext cx="8040052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thể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như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sau: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274762" y="3907534"/>
            <a:ext cx="1495290" cy="2918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7">
                <a:solidFill>
                  <a:srgbClr val="000000"/>
                </a:solidFill>
                <a:latin typeface="FKMODS+Cambria Math"/>
                <a:cs typeface="FKMODS+Cambria Math"/>
              </a:rPr>
              <a:t>13,2</a:t>
            </a:r>
            <a:r>
              <a:rPr dirty="0" sz="2000" spc="14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35">
                <a:solidFill>
                  <a:srgbClr val="000000"/>
                </a:solidFill>
                <a:latin typeface="FKMODS+Cambria Math"/>
                <a:cs typeface="FKMODS+Cambria Math"/>
              </a:rPr>
              <a:t>27,9x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176518" y="3911537"/>
            <a:ext cx="2221493" cy="5678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  <a:p>
            <a:pPr marL="0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33435" y="4012057"/>
            <a:ext cx="1161133" cy="349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251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3,</a:t>
            </a:r>
            <a:r>
              <a:rPr dirty="0" sz="2000" spc="-30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47</a:t>
            </a:r>
          </a:p>
          <a:p>
            <a:pPr marL="342866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082012" y="4012057"/>
            <a:ext cx="291571" cy="3486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806740" y="4012057"/>
            <a:ext cx="291571" cy="3486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726471" y="4012057"/>
            <a:ext cx="1070221" cy="349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9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0,092x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691557" y="4038155"/>
            <a:ext cx="233792" cy="185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179469" y="4237422"/>
            <a:ext cx="231280" cy="185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434704" y="4271546"/>
            <a:ext cx="267674" cy="2918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257360" y="4271546"/>
            <a:ext cx="267674" cy="2918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113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444181"/>
            <a:ext cx="413236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08573" y="1921736"/>
            <a:ext cx="786902" cy="2917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4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62858" y="2052845"/>
            <a:ext cx="662990" cy="348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2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94843" y="2039362"/>
            <a:ext cx="866462" cy="4628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  <a:p>
            <a:pPr marL="197662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54642" y="2089612"/>
            <a:ext cx="23125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97827" y="2089612"/>
            <a:ext cx="202121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81420" y="2089612"/>
            <a:ext cx="23125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37479" y="2278142"/>
            <a:ext cx="23125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56031" y="2278142"/>
            <a:ext cx="231250" cy="185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743536" y="2312286"/>
            <a:ext cx="502199" cy="2917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7212" y="2785555"/>
            <a:ext cx="845447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spc="738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toán,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spc="73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spc="143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spc="83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9917" y="2910925"/>
            <a:ext cx="245492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638677" y="2910925"/>
            <a:ext cx="245492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144645" y="2910925"/>
            <a:ext cx="719632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dirty="0" sz="1200" spc="138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Fv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827524" y="3142977"/>
            <a:ext cx="291466" cy="348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005113" y="3197416"/>
            <a:ext cx="2453104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52">
                <a:solidFill>
                  <a:srgbClr val="000000"/>
                </a:solidFill>
                <a:latin typeface="FKMODS+Cambria Math"/>
                <a:cs typeface="FKMODS+Cambria Math"/>
              </a:rPr>
              <a:t>1,4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K</a:t>
            </a:r>
            <a:r>
              <a:rPr dirty="0" sz="1800" baseline="-27060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 baseline="-27060" i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dirty="0" sz="1800" baseline="-2706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28">
                <a:solidFill>
                  <a:srgbClr val="000000"/>
                </a:solidFill>
                <a:latin typeface="Arial"/>
                <a:cs typeface="Arial"/>
              </a:rPr>
              <a:t>6.11.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07212" y="3197416"/>
            <a:ext cx="2248448" cy="29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thể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sơ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65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750" baseline="3260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  <a:r>
              <a:rPr dirty="0" sz="1750" baseline="32600" spc="2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36">
                <a:solidFill>
                  <a:srgbClr val="000000"/>
                </a:solidFill>
                <a:latin typeface="FKMODS+Cambria Math"/>
                <a:cs typeface="FKMODS+Cambria Math"/>
              </a:rPr>
              <a:t>2K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541416" y="3368226"/>
            <a:ext cx="305233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Fv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857051" y="3798235"/>
            <a:ext cx="442834" cy="2916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537214" y="3798235"/>
            <a:ext cx="473407" cy="352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93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1750" baseline="-3342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69813" y="3854600"/>
            <a:ext cx="291164" cy="2918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655070" y="3927340"/>
            <a:ext cx="291432" cy="3484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279279" y="3927340"/>
            <a:ext cx="291432" cy="3484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341144" y="3959130"/>
            <a:ext cx="786455" cy="3486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0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96739" y="3966055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285239" y="3984729"/>
            <a:ext cx="441262" cy="352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43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538398" y="4184478"/>
            <a:ext cx="355111" cy="1851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895542" y="4186693"/>
            <a:ext cx="1067815" cy="3529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1750" baseline="-33430" spc="253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mz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042037" y="4218612"/>
            <a:ext cx="363331" cy="2918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832459" y="4354515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598688" y="5113522"/>
            <a:ext cx="907930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254786" y="5113522"/>
            <a:ext cx="907215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91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798219" y="5242622"/>
            <a:ext cx="572417" cy="349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10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6738460" y="5242622"/>
            <a:ext cx="291445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838384" y="5281360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6119772" y="5281360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356216" y="5281360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7494479" y="5281360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775621" y="5281360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8012066" y="5281360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42900" y="5309680"/>
            <a:ext cx="446368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uốn: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286760" y="5396433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6946033" y="5396433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7275024" y="5490877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457805" y="5522237"/>
            <a:ext cx="267569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650670" y="5451354"/>
            <a:ext cx="1138708" cy="36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8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7117077" y="5522237"/>
            <a:ext cx="267569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7328095" y="5451354"/>
            <a:ext cx="1113626" cy="36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6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6120960" y="5565633"/>
            <a:ext cx="668419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773304" y="5565633"/>
            <a:ext cx="668418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594718" y="5690075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847919" y="5690075"/>
            <a:ext cx="35497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6384400" y="5690075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7253991" y="5690075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7525650" y="5690075"/>
            <a:ext cx="314247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8037018" y="5690075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847039" y="6132247"/>
            <a:ext cx="2573385" cy="363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1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000000"/>
                </a:solidFill>
                <a:latin typeface="Times New Roman"/>
                <a:cs typeface="Times New Roman"/>
              </a:rPr>
              <a:t>ψ</a:t>
            </a:r>
            <a:r>
              <a:rPr dirty="0" sz="2050" baseline="-27144" i="1">
                <a:solidFill>
                  <a:srgbClr val="000000"/>
                </a:solidFill>
                <a:latin typeface="Arial"/>
                <a:cs typeface="Arial"/>
              </a:rPr>
              <a:t>bd</a:t>
            </a:r>
            <a:r>
              <a:rPr dirty="0" sz="2050" baseline="-27144" spc="-41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6.16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252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11324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6.5.2.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0154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6.5.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1200" y="1258253"/>
            <a:ext cx="131468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Tóm</a:t>
            </a:r>
            <a:r>
              <a:rPr dirty="0" sz="1800" spc="-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lại: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663891"/>
            <a:ext cx="333047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kín,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bôi</a:t>
            </a:r>
            <a:r>
              <a:rPr dirty="0" sz="1800" spc="-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trơn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tốt: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56146" y="2190124"/>
            <a:ext cx="543688" cy="3530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8" spc="-2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8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85574" y="2358016"/>
            <a:ext cx="253256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09037" y="2280424"/>
            <a:ext cx="1505073" cy="4398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63582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2000" spc="15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50</a:t>
            </a:r>
            <a:r>
              <a:rPr dirty="0" sz="2000" spc="24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06692" y="2319264"/>
            <a:ext cx="291491" cy="348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4495" y="2349056"/>
            <a:ext cx="213340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spc="358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12264" y="2474426"/>
            <a:ext cx="262458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97732" y="2515200"/>
            <a:ext cx="233745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905444" y="2566003"/>
            <a:ext cx="233745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37048" y="2611398"/>
            <a:ext cx="816409" cy="348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1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359336" y="2597896"/>
            <a:ext cx="689415" cy="348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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359336" y="2668810"/>
            <a:ext cx="942052" cy="3919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134305" y="2836702"/>
            <a:ext cx="304545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22778" y="2836702"/>
            <a:ext cx="253256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73644" y="3251657"/>
            <a:ext cx="786386" cy="2913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4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2900" y="3382377"/>
            <a:ext cx="2890590" cy="3639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</a:t>
            </a:r>
            <a:r>
              <a:rPr dirty="0" sz="18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baseline="-24515" i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dirty="0" sz="1800" spc="2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99557" y="3382377"/>
            <a:ext cx="291391" cy="3480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59193" y="3382377"/>
            <a:ext cx="291391" cy="3480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556695" y="3368928"/>
            <a:ext cx="693896" cy="4620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79">
                <a:solidFill>
                  <a:srgbClr val="000000"/>
                </a:solidFill>
                <a:latin typeface="FVUAOP+Symbol"/>
                <a:cs typeface="FVUAOP+Symbol"/>
              </a:rPr>
              <a:t></a:t>
            </a:r>
            <a:r>
              <a:rPr dirty="0" sz="1750" baseline="-38651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8651" spc="35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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19595" y="3419173"/>
            <a:ext cx="231186" cy="184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862582" y="3419173"/>
            <a:ext cx="202080" cy="184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145944" y="3419173"/>
            <a:ext cx="231186" cy="184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102852" y="3607217"/>
            <a:ext cx="231186" cy="184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08416" y="3641201"/>
            <a:ext cx="501914" cy="2913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11200" y="4013645"/>
            <a:ext cx="379544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16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hở,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bôi</a:t>
            </a:r>
            <a:r>
              <a:rPr dirty="0" sz="1800" spc="-1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trơn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kém: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196483" y="4604823"/>
            <a:ext cx="907930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852582" y="4604823"/>
            <a:ext cx="907215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91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676986" y="4733923"/>
            <a:ext cx="291445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336255" y="4733923"/>
            <a:ext cx="291445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04495" y="4759516"/>
            <a:ext cx="211664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spc="22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436179" y="4772661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717567" y="4772661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954011" y="4772661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092273" y="4772661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373416" y="4772661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5609861" y="4772661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396014" y="4791318"/>
            <a:ext cx="363194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112264" y="4884886"/>
            <a:ext cx="245492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i="1">
                <a:solidFill>
                  <a:srgbClr val="000000"/>
                </a:solidFill>
                <a:latin typeface="Arial"/>
                <a:cs typeface="Arial"/>
              </a:rPr>
              <a:t>F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884555" y="4887734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4543829" y="4887734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872819" y="4982178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055600" y="5013539"/>
            <a:ext cx="267569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3248465" y="4942655"/>
            <a:ext cx="1138708" cy="36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8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4714872" y="5013539"/>
            <a:ext cx="267569" cy="2916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925890" y="4942655"/>
            <a:ext cx="1113627" cy="3619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6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3718756" y="5056934"/>
            <a:ext cx="668418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5371098" y="5056934"/>
            <a:ext cx="668418" cy="3484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192513" y="5181377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3445714" y="5181377"/>
            <a:ext cx="35497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982195" y="5181377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851786" y="5181377"/>
            <a:ext cx="23371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123446" y="5181377"/>
            <a:ext cx="314247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5634813" y="5181377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4670042" y="5609339"/>
            <a:ext cx="1543036" cy="4392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1849" marR="0">
              <a:lnSpc>
                <a:spcPts val="3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32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88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5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5656736" y="5648098"/>
            <a:ext cx="291400" cy="3481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526250" y="5741869"/>
            <a:ext cx="924002" cy="291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105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91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2928375" y="5872662"/>
            <a:ext cx="683371" cy="3481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3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4328062" y="5876210"/>
            <a:ext cx="216848" cy="2178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909691" y="5873005"/>
            <a:ext cx="233695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190970" y="5873005"/>
            <a:ext cx="253194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6147905" y="5859199"/>
            <a:ext cx="886760" cy="462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  <a:p>
            <a:pPr marL="197583" marR="0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342900" y="5896065"/>
            <a:ext cx="2654947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</a:t>
            </a:r>
            <a:r>
              <a:rPr dirty="0" sz="18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σ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3692086" y="5909444"/>
            <a:ext cx="272120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4019395" y="5909444"/>
            <a:ext cx="253194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3102922" y="6097585"/>
            <a:ext cx="253194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6608911" y="6097585"/>
            <a:ext cx="253194" cy="18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3847605" y="6131596"/>
            <a:ext cx="388422" cy="352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365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5208155" y="6131596"/>
            <a:ext cx="430894" cy="291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bu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849789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6.6.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nghiêng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chữ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687118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6.6.1.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đặc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  <a:r>
              <a:rPr dirty="0" sz="1800" spc="22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răng</a:t>
            </a:r>
            <a:r>
              <a:rPr dirty="0" sz="1800" spc="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nghiêng,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chữ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465136"/>
            <a:ext cx="400347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êm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1200" y="1826324"/>
            <a:ext cx="731546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200" y="2237804"/>
            <a:ext cx="8013380" cy="7050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Thay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</a:t>
            </a:r>
          </a:p>
          <a:p>
            <a:pPr marL="0" marR="0">
              <a:lnSpc>
                <a:spcPts val="2013"/>
              </a:lnSpc>
              <a:spcBef>
                <a:spcPts val="127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nằm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1200" y="3103436"/>
            <a:ext cx="739346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2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64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36313" y="322880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860925" y="322880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17045" y="3556694"/>
            <a:ext cx="2860651" cy="349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295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9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2000" spc="19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384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90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45187" y="3743188"/>
            <a:ext cx="661293" cy="349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38996" y="3743188"/>
            <a:ext cx="291434" cy="348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35218" y="3743188"/>
            <a:ext cx="291434" cy="348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30933" y="3743188"/>
            <a:ext cx="471093" cy="349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5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56752" y="3781904"/>
            <a:ext cx="23371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80917" y="3781904"/>
            <a:ext cx="23371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79314" y="3781904"/>
            <a:ext cx="23371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70187" y="3968406"/>
            <a:ext cx="316266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38688" y="3968406"/>
            <a:ext cx="31823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55537" y="4002542"/>
            <a:ext cx="388492" cy="352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222365" y="4002542"/>
            <a:ext cx="583209" cy="352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6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2650" baseline="-33430" spc="-8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418841" y="4002542"/>
            <a:ext cx="583209" cy="352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6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2650" baseline="-33430" spc="-8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75357" y="4170364"/>
            <a:ext cx="23371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874048" y="4170364"/>
            <a:ext cx="233719" cy="185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849983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6.6.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nghiêng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chữ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01090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6.6.2.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552004"/>
            <a:ext cx="8535239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 spc="-1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thế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đương: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Sử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dụng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thức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tính</a:t>
            </a:r>
            <a:r>
              <a:rPr dirty="0" sz="1800" spc="-1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toán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nhưng</a:t>
            </a:r>
            <a:r>
              <a:rPr dirty="0" sz="1800" spc="14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thông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</a:t>
            </a:r>
            <a:r>
              <a:rPr dirty="0" sz="1800" spc="13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vào.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1200" y="2374964"/>
            <a:ext cx="288946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61127" y="2721928"/>
            <a:ext cx="337409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tự</a:t>
            </a:r>
            <a:r>
              <a:rPr dirty="0" sz="180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5277" y="3013684"/>
            <a:ext cx="924300" cy="2916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10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9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99510" y="2880944"/>
            <a:ext cx="1543572" cy="439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2120" marR="0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32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88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5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86585" y="2919779"/>
            <a:ext cx="291453" cy="348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57171" y="3144770"/>
            <a:ext cx="683576" cy="348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3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57398" y="3148244"/>
            <a:ext cx="216873" cy="218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39252" y="3145007"/>
            <a:ext cx="233726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20639" y="3145007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977943" y="3131282"/>
            <a:ext cx="887044" cy="462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7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  <a:p>
            <a:pPr marL="197660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61127" y="3133408"/>
            <a:ext cx="3428697" cy="11164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1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n</a:t>
            </a:r>
          </a:p>
          <a:p>
            <a:pPr marL="0" marR="0">
              <a:lnSpc>
                <a:spcPts val="2010"/>
              </a:lnSpc>
              <a:spcBef>
                <a:spcPts val="9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chuẩn.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Sau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thước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yếu</a:t>
            </a:r>
            <a:r>
              <a:rPr dirty="0" sz="1800" spc="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21177" y="3181516"/>
            <a:ext cx="272166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848613" y="3181516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31785" y="3370014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39127" y="3370014"/>
            <a:ext cx="253233" cy="18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6757" y="3404153"/>
            <a:ext cx="388513" cy="352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9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2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37831" y="3404153"/>
            <a:ext cx="431002" cy="291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bu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27115" y="4143023"/>
            <a:ext cx="820090" cy="7129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  <a:p>
            <a:pPr marL="30958" marR="0">
              <a:lnSpc>
                <a:spcPts val="2443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 spc="-32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575314" y="4155970"/>
            <a:ext cx="366924" cy="7166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106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0" marR="0">
              <a:lnSpc>
                <a:spcPts val="2444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000" spc="81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  <a:r>
              <a:rPr dirty="0" sz="1750" baseline="-33437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865402" y="4260487"/>
            <a:ext cx="626802" cy="410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51" spc="231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  <a:r>
              <a:rPr dirty="0" sz="1150" spc="5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baseline="58151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9066" y="4304932"/>
            <a:ext cx="674837" cy="3490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150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17718" y="4291445"/>
            <a:ext cx="887032" cy="462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78">
                <a:solidFill>
                  <a:srgbClr val="000000"/>
                </a:solidFill>
                <a:latin typeface="FVUAOP+Symbol"/>
                <a:cs typeface="FVUAOP+Symbol"/>
              </a:rPr>
              <a:t></a:t>
            </a:r>
            <a:r>
              <a:rPr dirty="0" sz="1750" baseline="-33434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750" baseline="-33434" spc="34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768">
                <a:solidFill>
                  <a:srgbClr val="000000"/>
                </a:solidFill>
                <a:latin typeface="FVUAOP+Symbol"/>
                <a:cs typeface="FVUAOP+Symbol"/>
              </a:rPr>
              <a:t>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461127" y="4368102"/>
            <a:ext cx="326246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thỏa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mãn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điều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kiện.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934975" y="4530170"/>
            <a:ext cx="253226" cy="1850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521607" y="4999601"/>
            <a:ext cx="370982" cy="3232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8</a:t>
            </a:r>
            <a:r>
              <a:rPr dirty="0" sz="2650" baseline="45022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820499" y="4973510"/>
            <a:ext cx="710788" cy="3487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2000" spc="1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421030" y="4999601"/>
            <a:ext cx="2653155" cy="3232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1">
                <a:solidFill>
                  <a:srgbClr val="000000"/>
                </a:solidFill>
                <a:latin typeface="FKMODS+Cambria Math"/>
                <a:cs typeface="FKMODS+Cambria Math"/>
              </a:rPr>
              <a:t>20</a:t>
            </a:r>
            <a:r>
              <a:rPr dirty="0" sz="2650" baseline="45022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  <a:r>
              <a:rPr dirty="0" sz="2650" baseline="45022" spc="3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700" baseline="45022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2700" baseline="45022" spc="-2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baseline="45022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2700" baseline="45022" spc="-25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baseline="45022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2700" baseline="45022" spc="-24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700" baseline="45022">
                <a:solidFill>
                  <a:srgbClr val="0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42900" y="5045393"/>
            <a:ext cx="236947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kế: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466563" y="5495877"/>
            <a:ext cx="505879" cy="3233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3">
                <a:solidFill>
                  <a:srgbClr val="000000"/>
                </a:solidFill>
                <a:latin typeface="FKMODS+Cambria Math"/>
                <a:cs typeface="FKMODS+Cambria Math"/>
              </a:rPr>
              <a:t>30</a:t>
            </a:r>
            <a:r>
              <a:rPr dirty="0" sz="2650" baseline="45022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900302" y="5469769"/>
            <a:ext cx="710739" cy="348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2000" spc="1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08831" y="5495877"/>
            <a:ext cx="2502401" cy="3315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2">
                <a:solidFill>
                  <a:srgbClr val="000000"/>
                </a:solidFill>
                <a:latin typeface="FKMODS+Cambria Math"/>
                <a:cs typeface="FKMODS+Cambria Math"/>
              </a:rPr>
              <a:t>40</a:t>
            </a:r>
            <a:r>
              <a:rPr dirty="0" sz="2650" baseline="49339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  <a:r>
              <a:rPr dirty="0" sz="2650" baseline="49339" spc="6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chữ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679288" y="5596745"/>
            <a:ext cx="543693" cy="3530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8" spc="-2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8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108715" y="5764637"/>
            <a:ext cx="253257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24306" y="5687045"/>
            <a:ext cx="1512964" cy="439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71502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600" spc="7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</a:t>
            </a:r>
            <a:r>
              <a:rPr dirty="0" sz="2000" spc="9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a</a:t>
            </a:r>
            <a:r>
              <a:rPr dirty="0" sz="2000" spc="1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43</a:t>
            </a:r>
            <a:r>
              <a:rPr dirty="0" sz="2000" spc="21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44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220891" y="5921822"/>
            <a:ext cx="233746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328580" y="5972624"/>
            <a:ext cx="233746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360195" y="6004517"/>
            <a:ext cx="1111684" cy="3620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4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782472" y="6075431"/>
            <a:ext cx="942039" cy="3919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557454" y="6243324"/>
            <a:ext cx="304547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ba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045933" y="6243324"/>
            <a:ext cx="253257" cy="185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849983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6.6.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nghiêng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chữ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5661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6.6.3.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552004"/>
            <a:ext cx="8535239" cy="11164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 spc="-1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thế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đương: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Sử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dụng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thức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tính</a:t>
            </a:r>
            <a:r>
              <a:rPr dirty="0" sz="1800" spc="-1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toán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nhưng</a:t>
            </a:r>
            <a:r>
              <a:rPr dirty="0" sz="1800" spc="14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thông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</a:t>
            </a:r>
            <a:r>
              <a:rPr dirty="0" sz="1800" spc="13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vào.</a:t>
            </a:r>
          </a:p>
          <a:p>
            <a:pPr marL="0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62967" y="2985888"/>
            <a:ext cx="1268992" cy="2918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4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6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17266" y="3144796"/>
            <a:ext cx="663011" cy="3486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2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92523" y="3131313"/>
            <a:ext cx="866475" cy="462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  <a:p>
            <a:pPr marL="197665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9027" y="3153797"/>
            <a:ext cx="231262" cy="1851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52102" y="3153798"/>
            <a:ext cx="202128" cy="1851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35738" y="3153798"/>
            <a:ext cx="231262" cy="1851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72618" y="3120510"/>
            <a:ext cx="216910" cy="218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90903" y="3120510"/>
            <a:ext cx="233056" cy="218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91895" y="3370145"/>
            <a:ext cx="231262" cy="1851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553725" y="3370145"/>
            <a:ext cx="231262" cy="1851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64617" y="3404269"/>
            <a:ext cx="585272" cy="3530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  <a:r>
              <a:rPr dirty="0" sz="1750" baseline="-33439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34259" y="3946847"/>
            <a:ext cx="366873" cy="7164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10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0" marR="0">
              <a:lnSpc>
                <a:spcPts val="2443"/>
              </a:lnSpc>
              <a:spcBef>
                <a:spcPts val="466"/>
              </a:spcBef>
              <a:spcAft>
                <a:spcPts val="0"/>
              </a:spcAft>
            </a:pPr>
            <a:r>
              <a:rPr dirty="0" sz="2000" spc="82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  <a:r>
              <a:rPr dirty="0" sz="1750" baseline="-33433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16714" y="4051348"/>
            <a:ext cx="606925" cy="4099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47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  <a:r>
              <a:rPr dirty="0" sz="1150" spc="5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baseline="58147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18488" y="4153472"/>
            <a:ext cx="500881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xét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đến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ảnh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hưởng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ngang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23326" y="4880006"/>
            <a:ext cx="291466" cy="3484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99551" y="4906056"/>
            <a:ext cx="230363" cy="1851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11238" y="5041949"/>
            <a:ext cx="986061" cy="4100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81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1750" baseline="-33435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  <a:r>
              <a:rPr dirty="0" sz="1750" baseline="-33435" spc="3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83054" y="5095304"/>
            <a:ext cx="497475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xét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đến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ảnh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hưởng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94344" y="5288645"/>
            <a:ext cx="644718" cy="323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0">
                <a:solidFill>
                  <a:srgbClr val="000000"/>
                </a:solidFill>
                <a:latin typeface="FKMODS+Cambria Math"/>
                <a:cs typeface="FKMODS+Cambria Math"/>
              </a:rPr>
              <a:t>140</a:t>
            </a:r>
            <a:r>
              <a:rPr dirty="0" sz="1750" baseline="45003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752646" y="5906695"/>
            <a:ext cx="1491263" cy="2916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7">
                <a:solidFill>
                  <a:srgbClr val="000000"/>
                </a:solidFill>
                <a:latin typeface="FKMODS+Cambria Math"/>
                <a:cs typeface="FKMODS+Cambria Math"/>
              </a:rPr>
              <a:t>13,2</a:t>
            </a:r>
            <a:r>
              <a:rPr dirty="0" sz="2000" spc="146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35">
                <a:solidFill>
                  <a:srgbClr val="000000"/>
                </a:solidFill>
                <a:latin typeface="FKMODS+Cambria Math"/>
                <a:cs typeface="FKMODS+Cambria Math"/>
              </a:rPr>
              <a:t>27,9x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11251" y="6011185"/>
            <a:ext cx="1161246" cy="3490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251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3,</a:t>
            </a:r>
            <a:r>
              <a:rPr dirty="0" sz="2000" spc="-3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47</a:t>
            </a:r>
          </a:p>
          <a:p>
            <a:pPr marL="342893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560038" y="6011185"/>
            <a:ext cx="291457" cy="3484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284935" y="6011185"/>
            <a:ext cx="291457" cy="3484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200621" y="6011185"/>
            <a:ext cx="291457" cy="3484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376880" y="6037237"/>
            <a:ext cx="5543330" cy="343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0,092x</a:t>
            </a:r>
            <a:r>
              <a:rPr dirty="0" sz="2000" spc="-7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 baseline="49124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1750" baseline="49124" spc="60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57286" y="6236430"/>
            <a:ext cx="231218" cy="1851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831207" y="6270563"/>
            <a:ext cx="413888" cy="3529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45" spc="113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td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649945" y="6270563"/>
            <a:ext cx="413565" cy="3529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1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750" baseline="-33433">
                <a:solidFill>
                  <a:srgbClr val="000000"/>
                </a:solidFill>
                <a:latin typeface="FKMODS+Cambria Math"/>
                <a:cs typeface="FKMODS+Cambria Math"/>
              </a:rPr>
              <a:t>td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4849983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6.6.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nghiêng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chữ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5661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6.6.3.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552004"/>
            <a:ext cx="8535239" cy="11164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 spc="-1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thế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nghiêng</a:t>
            </a:r>
            <a:r>
              <a:rPr dirty="0" sz="1800" spc="26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bằng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đương: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Sử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dụng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thức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tính</a:t>
            </a:r>
            <a:r>
              <a:rPr dirty="0" sz="1800" spc="-1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toán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nhưng</a:t>
            </a:r>
            <a:r>
              <a:rPr dirty="0" sz="1800" spc="14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thay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thông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đương</a:t>
            </a:r>
            <a:r>
              <a:rPr dirty="0" sz="1800" spc="13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vào.</a:t>
            </a:r>
          </a:p>
          <a:p>
            <a:pPr marL="0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14372" y="3012056"/>
            <a:ext cx="1353253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27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6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27395" y="3012056"/>
            <a:ext cx="1352046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9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9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27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6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39691" y="3170967"/>
            <a:ext cx="291531" cy="3485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47269" y="3312933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54085" y="3179964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35484" y="3179964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71942" y="3179964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08592" y="3146677"/>
            <a:ext cx="216910" cy="218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26680" y="3146677"/>
            <a:ext cx="233055" cy="218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52714" y="3170967"/>
            <a:ext cx="291531" cy="3485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260297" y="3312933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67113" y="3179964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948231" y="3179964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184689" y="3179964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421338" y="3146677"/>
            <a:ext cx="216910" cy="218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639426" y="3146677"/>
            <a:ext cx="233055" cy="218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49152" y="3228388"/>
            <a:ext cx="446368" cy="353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3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95344" y="3450678"/>
            <a:ext cx="267641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88218" y="3379749"/>
            <a:ext cx="1138812" cy="362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8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9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511543" y="3450678"/>
            <a:ext cx="267641" cy="2917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722596" y="3379749"/>
            <a:ext cx="1113715" cy="362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6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9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669498" y="3419313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58543" y="3494074"/>
            <a:ext cx="668487" cy="3485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167824" y="3494074"/>
            <a:ext cx="668487" cy="3485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832263" y="3618579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085490" y="3618579"/>
            <a:ext cx="355115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621893" y="3618579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648462" y="3618579"/>
            <a:ext cx="233773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919987" y="3618579"/>
            <a:ext cx="314356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431406" y="3618580"/>
            <a:ext cx="231261" cy="185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11251" y="4129570"/>
            <a:ext cx="786483" cy="348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0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83897" y="4185857"/>
            <a:ext cx="321478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3">
                <a:solidFill>
                  <a:srgbClr val="000000"/>
                </a:solidFill>
                <a:latin typeface="FKMODS+Cambria Math"/>
                <a:cs typeface="FKMODS+Cambria Math"/>
              </a:rPr>
              <a:t>15</a:t>
            </a:r>
            <a:r>
              <a:rPr dirty="0" sz="2000" spc="20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3">
                <a:solidFill>
                  <a:srgbClr val="000000"/>
                </a:solidFill>
                <a:latin typeface="FKMODS+Cambria Math"/>
                <a:cs typeface="FKMODS+Cambria Math"/>
              </a:rPr>
              <a:t>40</a:t>
            </a:r>
            <a:r>
              <a:rPr dirty="0" sz="2000" spc="15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608124" y="4129570"/>
            <a:ext cx="291623" cy="348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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455343" y="4155696"/>
            <a:ext cx="230448" cy="1852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059743" y="4155696"/>
            <a:ext cx="230448" cy="1852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708483" y="4354952"/>
            <a:ext cx="355239" cy="1852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23089" y="4636307"/>
            <a:ext cx="786484" cy="348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0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195749" y="4692968"/>
            <a:ext cx="300723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3">
                <a:solidFill>
                  <a:srgbClr val="000000"/>
                </a:solidFill>
                <a:latin typeface="FKMODS+Cambria Math"/>
                <a:cs typeface="FKMODS+Cambria Math"/>
              </a:rPr>
              <a:t>30</a:t>
            </a:r>
            <a:r>
              <a:rPr dirty="0" sz="2000" spc="206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13">
                <a:solidFill>
                  <a:srgbClr val="000000"/>
                </a:solidFill>
                <a:latin typeface="FKMODS+Cambria Math"/>
                <a:cs typeface="FKMODS+Cambria Math"/>
              </a:rPr>
              <a:t>60</a:t>
            </a:r>
            <a:r>
              <a:rPr dirty="0" sz="2000" spc="147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đối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chữ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623961" y="4636307"/>
            <a:ext cx="291614" cy="348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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471166" y="4662430"/>
            <a:ext cx="230443" cy="185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067635" y="4662430"/>
            <a:ext cx="230443" cy="185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720325" y="4861685"/>
            <a:ext cx="355227" cy="1852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bm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36378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6.7.1.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Đặc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552004"/>
            <a:ext cx="701508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dụng:</a:t>
            </a:r>
            <a:r>
              <a:rPr dirty="0" sz="1800" spc="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Dùng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hai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nhau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1200" y="2039684"/>
            <a:ext cx="8663061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lắp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ráp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tạp.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ổ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khăn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giao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nhau,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dọc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cấu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ổ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200" y="2939225"/>
            <a:ext cx="7296415" cy="781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Cùng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thước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khối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lượng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trụ.</a:t>
            </a:r>
          </a:p>
          <a:p>
            <a:pPr marL="0" marR="0">
              <a:lnSpc>
                <a:spcPts val="2010"/>
              </a:lnSpc>
              <a:spcBef>
                <a:spcPts val="18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gồm: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Răng</a:t>
            </a:r>
            <a:r>
              <a:rPr dirty="0" sz="1800" spc="17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nghiêng,</a:t>
            </a:r>
            <a:r>
              <a:rPr dirty="0" sz="1800" spc="3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cung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tròn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1200" y="3914585"/>
            <a:ext cx="863532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Lắp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ráp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đơn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giản,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thấp: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v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≤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m/s,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712" y="4326319"/>
            <a:ext cx="203140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u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1200" y="4813999"/>
            <a:ext cx="857230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cung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tròn: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êm,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ít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ồn,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khả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7712" y="5225479"/>
            <a:ext cx="296825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chuyển</a:t>
            </a:r>
            <a:r>
              <a:rPr dirty="0" sz="18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ở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cao.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3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6.49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1917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8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25313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200" y="1552004"/>
            <a:ext cx="338026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9009" y="1916450"/>
            <a:ext cx="2439493" cy="3494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3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27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6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;</a:t>
            </a:r>
            <a:r>
              <a:rPr dirty="0" sz="2000" spc="13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3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27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1403" y="2141872"/>
            <a:ext cx="323172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42">
                <a:solidFill>
                  <a:srgbClr val="000000"/>
                </a:solidFill>
                <a:latin typeface="FKMODS+Cambria Math"/>
                <a:cs typeface="FKMODS+Cambria Math"/>
              </a:rPr>
              <a:t>e1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73870" y="2141872"/>
            <a:ext cx="224163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7504" y="2141872"/>
            <a:ext cx="233861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13100" y="2141872"/>
            <a:ext cx="324937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1150" spc="-9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55127" y="2141872"/>
            <a:ext cx="224163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90673" y="2141872"/>
            <a:ext cx="233861" cy="185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173" y="2478977"/>
            <a:ext cx="3232591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1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3173" y="2890457"/>
            <a:ext cx="220793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dãy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51739" y="3351340"/>
            <a:ext cx="385072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0109" y="3715532"/>
            <a:ext cx="2572986" cy="3494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4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38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61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;</a:t>
            </a:r>
            <a:r>
              <a:rPr dirty="0" sz="2000" spc="13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38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59254" y="3940953"/>
            <a:ext cx="369192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54393" y="3940953"/>
            <a:ext cx="234508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95356" y="3940953"/>
            <a:ext cx="233861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07456" y="3940953"/>
            <a:ext cx="371252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25">
                <a:solidFill>
                  <a:srgbClr val="000000"/>
                </a:solidFill>
                <a:latin typeface="FKMODS+Cambria Math"/>
                <a:cs typeface="FKMODS+Cambria Math"/>
              </a:rPr>
              <a:t>m2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002301" y="3940953"/>
            <a:ext cx="234508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245176" y="3940953"/>
            <a:ext cx="233861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9010" y="4278186"/>
            <a:ext cx="3144351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1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baseline="-24666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9041" y="4794187"/>
            <a:ext cx="175469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truyền: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15644" y="5281563"/>
            <a:ext cx="810055" cy="2936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2000" spc="251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350430" y="5283536"/>
            <a:ext cx="530384" cy="3528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6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23">
                <a:solidFill>
                  <a:srgbClr val="000000"/>
                </a:solidFill>
                <a:latin typeface="FKMODS+Cambria Math"/>
                <a:cs typeface="FKMODS+Cambria Math"/>
              </a:rPr>
              <a:t>m2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033217" y="5283536"/>
            <a:ext cx="267911" cy="6800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3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  <a:p>
            <a:pPr marL="0" marR="0">
              <a:lnSpc>
                <a:spcPts val="1996"/>
              </a:lnSpc>
              <a:spcBef>
                <a:spcPts val="1062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92160" y="5412644"/>
            <a:ext cx="508923" cy="349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1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216040" y="5412644"/>
            <a:ext cx="809128" cy="550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22009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  <a:r>
              <a:rPr dirty="0" sz="2000" spc="250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156103" y="5412644"/>
            <a:ext cx="291418" cy="3484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827096" y="5412644"/>
            <a:ext cx="291418" cy="3484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355745" y="5451351"/>
            <a:ext cx="233709" cy="1850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884802" y="5449378"/>
            <a:ext cx="325401" cy="5755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6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1150" spc="-9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  <a:p>
            <a:pPr marL="0" marR="0">
              <a:lnSpc>
                <a:spcPts val="1157"/>
              </a:lnSpc>
              <a:spcBef>
                <a:spcPts val="1866"/>
              </a:spcBef>
              <a:spcAft>
                <a:spcPts val="0"/>
              </a:spcAft>
            </a:pPr>
            <a:r>
              <a:rPr dirty="0" sz="1150" spc="141">
                <a:solidFill>
                  <a:srgbClr val="000000"/>
                </a:solidFill>
                <a:latin typeface="FKMODS+Cambria Math"/>
                <a:cs typeface="FKMODS+Cambria Math"/>
              </a:rPr>
              <a:t>e1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170498" y="5451352"/>
            <a:ext cx="236023" cy="5735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13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  <a:p>
            <a:pPr marL="0" marR="0">
              <a:lnSpc>
                <a:spcPts val="1157"/>
              </a:lnSpc>
              <a:spcBef>
                <a:spcPts val="1851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350319" y="5671994"/>
            <a:ext cx="528474" cy="352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47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 spc="108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358130" y="5839812"/>
            <a:ext cx="233709" cy="1850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325313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6.7.2.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hình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học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9041" y="1554742"/>
            <a:ext cx="1949058" cy="353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21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côn: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000000"/>
                </a:solidFill>
                <a:latin typeface="Times New Roman"/>
                <a:cs typeface="Times New Roman"/>
              </a:rPr>
              <a:t>δ</a:t>
            </a:r>
            <a:r>
              <a:rPr dirty="0" sz="1800" baseline="-24178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 spc="-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000000"/>
                </a:solidFill>
                <a:latin typeface="Times New Roman"/>
                <a:cs typeface="Times New Roman"/>
              </a:rPr>
              <a:t>δ</a:t>
            </a:r>
            <a:r>
              <a:rPr dirty="0" sz="1800" baseline="-24178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9624" y="1979738"/>
            <a:ext cx="1048391" cy="348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7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259">
                <a:solidFill>
                  <a:srgbClr val="000000"/>
                </a:solidFill>
                <a:latin typeface="FVUAOP+Symbol"/>
                <a:cs typeface="FVUAOP+Symbol"/>
              </a:rPr>
              <a:t>+</a:t>
            </a:r>
            <a:r>
              <a:rPr dirty="0" sz="2000" spc="5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02147" y="2005851"/>
            <a:ext cx="2797818" cy="3279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3">
                <a:solidFill>
                  <a:srgbClr val="000000"/>
                </a:solidFill>
                <a:latin typeface="FKMODS+Cambria Math"/>
                <a:cs typeface="FKMODS+Cambria Math"/>
              </a:rPr>
              <a:t>90</a:t>
            </a:r>
            <a:r>
              <a:rPr dirty="0" sz="1750" baseline="49394">
                <a:solidFill>
                  <a:srgbClr val="000000"/>
                </a:solidFill>
                <a:latin typeface="FKMODS+Cambria Math"/>
                <a:cs typeface="FKMODS+Cambria Math"/>
              </a:rPr>
              <a:t>o</a:t>
            </a:r>
            <a:r>
              <a:rPr dirty="0" sz="1750" baseline="49394" spc="101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vuông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4542" y="2205107"/>
            <a:ext cx="233807" cy="185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6485" y="2205107"/>
            <a:ext cx="233807" cy="1851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30328" y="2526462"/>
            <a:ext cx="528167" cy="352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4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13316" y="2526462"/>
            <a:ext cx="267554" cy="2916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50228" y="2694280"/>
            <a:ext cx="233714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40733" y="2551070"/>
            <a:ext cx="292663" cy="2916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75486" y="2655568"/>
            <a:ext cx="952206" cy="349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31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8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07043" y="2655568"/>
            <a:ext cx="291426" cy="348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32164" y="2655568"/>
            <a:ext cx="291426" cy="348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73948" y="2880781"/>
            <a:ext cx="233714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30328" y="2914920"/>
            <a:ext cx="1480337" cy="35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44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750" baseline="-33430" spc="124">
                <a:solidFill>
                  <a:srgbClr val="000000"/>
                </a:solidFill>
                <a:latin typeface="FKMODS+Cambria Math"/>
                <a:cs typeface="FKMODS+Cambria Math"/>
              </a:rPr>
              <a:t>m2</a:t>
            </a:r>
            <a:r>
              <a:rPr dirty="0" sz="1750" baseline="-33430" spc="203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26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52613" y="3082740"/>
            <a:ext cx="233714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83133" y="3439351"/>
            <a:ext cx="245543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56038" y="3876527"/>
            <a:ext cx="758569" cy="682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2955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9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42">
                <a:solidFill>
                  <a:srgbClr val="000000"/>
                </a:solidFill>
                <a:latin typeface="FKMODS+Cambria Math"/>
                <a:cs typeface="FKMODS+Cambria Math"/>
              </a:rPr>
              <a:t>e1</a:t>
            </a:r>
          </a:p>
          <a:p>
            <a:pPr marL="0" marR="0">
              <a:lnSpc>
                <a:spcPts val="2405"/>
              </a:lnSpc>
              <a:spcBef>
                <a:spcPts val="143"/>
              </a:spcBef>
              <a:spcAft>
                <a:spcPts val="0"/>
              </a:spcAft>
            </a:pPr>
            <a:r>
              <a:rPr dirty="0" sz="2000" spc="37">
                <a:solidFill>
                  <a:srgbClr val="000000"/>
                </a:solidFill>
                <a:latin typeface="FKMODS+Cambria Math"/>
                <a:cs typeface="FKMODS+Cambria Math"/>
              </a:rPr>
              <a:t>2sin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54035" y="4007606"/>
            <a:ext cx="291430" cy="3484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54152" y="4007606"/>
            <a:ext cx="291430" cy="3484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136277" y="4007606"/>
            <a:ext cx="1578682" cy="349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0">
                <a:solidFill>
                  <a:srgbClr val="000000"/>
                </a:solidFill>
                <a:latin typeface="FKMODS+Cambria Math"/>
                <a:cs typeface="FKMODS+Cambria Math"/>
              </a:rPr>
              <a:t>0,5m</a:t>
            </a:r>
            <a:r>
              <a:rPr dirty="0" sz="2000" spc="18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249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  <a:p>
            <a:pPr marL="1131098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117697" y="4033624"/>
            <a:ext cx="233717" cy="1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587161" y="4033624"/>
            <a:ext cx="252787" cy="384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07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  <a:p>
            <a:pPr marL="0" marR="0">
              <a:lnSpc>
                <a:spcPts val="1157"/>
              </a:lnSpc>
              <a:spcBef>
                <a:spcPts val="361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21084" y="4064995"/>
            <a:ext cx="385549" cy="3529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3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750" baseline="-33432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670044" y="4232822"/>
            <a:ext cx="224036" cy="1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096652" y="4232822"/>
            <a:ext cx="233717" cy="1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771952" y="4434780"/>
            <a:ext cx="233717" cy="1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09041" y="4799372"/>
            <a:ext cx="292828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dài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84709" y="5239054"/>
            <a:ext cx="758617" cy="680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6778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4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  <a:p>
            <a:pPr marL="0" marR="0">
              <a:lnSpc>
                <a:spcPts val="2390"/>
              </a:lnSpc>
              <a:spcBef>
                <a:spcPts val="128"/>
              </a:spcBef>
              <a:spcAft>
                <a:spcPts val="0"/>
              </a:spcAft>
            </a:pPr>
            <a:r>
              <a:rPr dirty="0" sz="2000" spc="37">
                <a:solidFill>
                  <a:srgbClr val="000000"/>
                </a:solidFill>
                <a:latin typeface="FKMODS+Cambria Math"/>
                <a:cs typeface="FKMODS+Cambria Math"/>
              </a:rPr>
              <a:t>2sin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96903" y="5368160"/>
            <a:ext cx="677220" cy="3490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2000" spc="135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983043" y="5368160"/>
            <a:ext cx="1325411" cy="3490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FKMODS+Cambria Math"/>
                <a:cs typeface="FKMODS+Cambria Math"/>
              </a:rPr>
              <a:t>0,5m</a:t>
            </a:r>
            <a:r>
              <a:rPr dirty="0" sz="2000" spc="221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349431" y="5368160"/>
            <a:ext cx="447417" cy="3490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 spc="-1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199382" y="5394176"/>
            <a:ext cx="233715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687975" y="5394176"/>
            <a:ext cx="233715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65181" y="5593374"/>
            <a:ext cx="274587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705634" y="5593374"/>
            <a:ext cx="274587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178346" y="5593374"/>
            <a:ext cx="233715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3668912" y="5593374"/>
            <a:ext cx="233715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800702" y="5795332"/>
            <a:ext cx="233715" cy="1850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081" y="1038416"/>
            <a:ext cx="2643849" cy="11875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6.7.3.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lực</a:t>
            </a:r>
            <a:r>
              <a:rPr dirty="0" sz="1800" spc="-16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dụng</a:t>
            </a:r>
          </a:p>
          <a:p>
            <a:pPr marL="60959" marR="0">
              <a:lnSpc>
                <a:spcPts val="2010"/>
              </a:lnSpc>
              <a:spcBef>
                <a:spcPts val="132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chủ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động:</a:t>
            </a:r>
          </a:p>
          <a:p>
            <a:pPr marL="2026518" marR="0">
              <a:lnSpc>
                <a:spcPts val="1996"/>
              </a:lnSpc>
              <a:spcBef>
                <a:spcPts val="1277"/>
              </a:spcBef>
              <a:spcAft>
                <a:spcPts val="0"/>
              </a:spcAft>
            </a:pPr>
            <a:r>
              <a:rPr dirty="0" sz="2000" spc="-193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1750" baseline="-33429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49157" y="2002186"/>
            <a:ext cx="291389" cy="348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041" y="2045250"/>
            <a:ext cx="1811495" cy="367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vòng:</a:t>
            </a:r>
            <a:r>
              <a:rPr dirty="0" sz="1800" spc="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-89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8616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750" baseline="-3861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750" baseline="-38616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43245" y="2261532"/>
            <a:ext cx="528176" cy="3528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9" spc="144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3133" y="2857818"/>
            <a:ext cx="208730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hướng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09361" y="2846720"/>
            <a:ext cx="291680" cy="348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91102" y="2846720"/>
            <a:ext cx="1471467" cy="349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5402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27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  <a:p>
            <a:pPr marL="0" marR="0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3000" spc="5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 spc="122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21259" y="2904178"/>
            <a:ext cx="459656" cy="3532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71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 spc="-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23147" y="3072144"/>
            <a:ext cx="233864" cy="1852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9421" y="3072144"/>
            <a:ext cx="233864" cy="1852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9041" y="3491884"/>
            <a:ext cx="3811219" cy="410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dọc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trục:</a:t>
            </a:r>
            <a:r>
              <a:rPr dirty="0" sz="1800" spc="35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 spc="-33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367" spc="126">
                <a:solidFill>
                  <a:srgbClr val="000000"/>
                </a:solidFill>
                <a:latin typeface="FKMODS+Cambria Math"/>
                <a:cs typeface="FKMODS+Cambria Math"/>
              </a:rPr>
              <a:t>a1</a:t>
            </a:r>
            <a:r>
              <a:rPr dirty="0" sz="1750" baseline="-33367" spc="169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17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1">
                <a:solidFill>
                  <a:srgbClr val="000000"/>
                </a:solidFill>
                <a:latin typeface="FKMODS+Cambria Math"/>
                <a:cs typeface="FKMODS+Cambria Math"/>
              </a:rPr>
              <a:t>tan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-1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39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19319" y="3491884"/>
            <a:ext cx="291675" cy="34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826108" y="3717306"/>
            <a:ext cx="316298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077118" y="3717306"/>
            <a:ext cx="233861" cy="185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9041" y="4237927"/>
            <a:ext cx="197670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động: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1200" y="4740968"/>
            <a:ext cx="839791" cy="349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3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36219" y="4966368"/>
            <a:ext cx="318359" cy="1852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87480" y="4966368"/>
            <a:ext cx="316365" cy="1852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1202" y="5328739"/>
            <a:ext cx="857996" cy="349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53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47704" y="5554152"/>
            <a:ext cx="325118" cy="185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 spc="-1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98088" y="5554152"/>
            <a:ext cx="335825" cy="773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673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26">
                <a:solidFill>
                  <a:srgbClr val="000000"/>
                </a:solidFill>
                <a:latin typeface="FKMODS+Cambria Math"/>
                <a:cs typeface="FKMODS+Cambria Math"/>
              </a:rPr>
              <a:t>a1</a:t>
            </a:r>
          </a:p>
          <a:p>
            <a:pPr marL="0" marR="0">
              <a:lnSpc>
                <a:spcPts val="1158"/>
              </a:lnSpc>
              <a:spcBef>
                <a:spcPts val="3426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150" spc="-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98502" y="5917422"/>
            <a:ext cx="851640" cy="349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8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30645" y="6142835"/>
            <a:ext cx="323129" cy="185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41">
                <a:solidFill>
                  <a:srgbClr val="000000"/>
                </a:solidFill>
                <a:latin typeface="FKMODS+Cambria Math"/>
                <a:cs typeface="FKMODS+Cambria Math"/>
              </a:rPr>
              <a:t>a2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9041" y="1461834"/>
            <a:ext cx="259918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tính: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89429" y="1952186"/>
            <a:ext cx="1756497" cy="3492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56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76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51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041" y="1990027"/>
            <a:ext cx="348474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87059" y="2177541"/>
            <a:ext cx="253317" cy="185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83725" y="2144251"/>
            <a:ext cx="369016" cy="218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150" spc="2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23690" y="2177541"/>
            <a:ext cx="327461" cy="185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Hv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31463" y="2144251"/>
            <a:ext cx="367934" cy="218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150" spc="-7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501393" y="2558739"/>
            <a:ext cx="1691816" cy="3492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40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6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133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7271" y="2596579"/>
            <a:ext cx="307943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99037" y="2784094"/>
            <a:ext cx="231281" cy="185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75118" y="2750804"/>
            <a:ext cx="348347" cy="218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3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94500" y="2784094"/>
            <a:ext cx="305354" cy="185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Fv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79338" y="2750804"/>
            <a:ext cx="347161" cy="218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-6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3877" y="3059837"/>
            <a:ext cx="1660588" cy="3494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235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218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1520" y="3251945"/>
            <a:ext cx="367453" cy="2185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150" spc="-8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17665" y="3251945"/>
            <a:ext cx="346813" cy="2185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-7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6.7.4.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truyền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9041" y="1461834"/>
            <a:ext cx="259918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❖</a:t>
            </a:r>
            <a:r>
              <a:rPr dirty="0" sz="1800" spc="2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tính: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59302" y="5600492"/>
            <a:ext cx="291473" cy="348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37102" y="5657890"/>
            <a:ext cx="1091748" cy="2916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113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31">
                <a:solidFill>
                  <a:srgbClr val="000000"/>
                </a:solidFill>
                <a:latin typeface="FKMODS+Cambria Math"/>
                <a:cs typeface="FKMODS+Cambria Math"/>
              </a:rPr>
              <a:t>1,5</a:t>
            </a:r>
            <a:r>
              <a:rPr dirty="0" sz="2000" spc="3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13049" y="5551747"/>
            <a:ext cx="1665467" cy="4586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11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</a:t>
            </a:r>
            <a:r>
              <a:rPr dirty="0" sz="2000" spc="24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  <a:r>
              <a:rPr dirty="0" sz="2700" spc="31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8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93394" y="5657891"/>
            <a:ext cx="292710" cy="2916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1655" y="5657890"/>
            <a:ext cx="1931447" cy="2963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gần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đúng:</a:t>
            </a:r>
            <a:r>
              <a:rPr dirty="0" sz="1800" spc="1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8858" y="5792474"/>
            <a:ext cx="348107" cy="2183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3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714616" y="5792474"/>
            <a:ext cx="368737" cy="2183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150" spc="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6.7.5.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đặc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khi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9041" y="1461834"/>
            <a:ext cx="385072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5454" y="1841613"/>
            <a:ext cx="235852" cy="4398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59676" y="1841613"/>
            <a:ext cx="647429" cy="449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3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196932" marR="0">
              <a:lnSpc>
                <a:spcPts val="6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27298" y="1880468"/>
            <a:ext cx="1928820" cy="349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4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1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4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57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32">
                <a:solidFill>
                  <a:srgbClr val="000000"/>
                </a:solidFill>
                <a:latin typeface="FKMODS+Cambria Math"/>
                <a:cs typeface="FKMODS+Cambria Math"/>
              </a:rPr>
              <a:t>0,5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6432" y="2105762"/>
            <a:ext cx="369107" cy="1851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10189" y="2105762"/>
            <a:ext cx="323216" cy="1851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43">
                <a:solidFill>
                  <a:srgbClr val="000000"/>
                </a:solidFill>
                <a:latin typeface="FKMODS+Cambria Math"/>
                <a:cs typeface="FKMODS+Cambria Math"/>
              </a:rPr>
              <a:t>e1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24646" y="2504045"/>
            <a:ext cx="235852" cy="4398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58891" y="2504045"/>
            <a:ext cx="647422" cy="449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3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196982" marR="0">
              <a:lnSpc>
                <a:spcPts val="6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27298" y="2542900"/>
            <a:ext cx="1928028" cy="349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4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1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204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57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32">
                <a:solidFill>
                  <a:srgbClr val="000000"/>
                </a:solidFill>
                <a:latin typeface="FKMODS+Cambria Math"/>
                <a:cs typeface="FKMODS+Cambria Math"/>
              </a:rPr>
              <a:t>0,5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6432" y="2768194"/>
            <a:ext cx="371096" cy="1851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25">
                <a:solidFill>
                  <a:srgbClr val="000000"/>
                </a:solidFill>
                <a:latin typeface="FKMODS+Cambria Math"/>
                <a:cs typeface="FKMODS+Cambria Math"/>
              </a:rPr>
              <a:t>m2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709748" y="2768194"/>
            <a:ext cx="325250" cy="1851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  <a:r>
              <a:rPr dirty="0" sz="1150" spc="-9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76317" y="3100505"/>
            <a:ext cx="291049" cy="291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69860" y="3205001"/>
            <a:ext cx="740291" cy="3484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6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32204" y="3265361"/>
            <a:ext cx="359423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7114" y="3430227"/>
            <a:ext cx="304402" cy="1850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20735" y="3464372"/>
            <a:ext cx="385567" cy="352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30">
                <a:solidFill>
                  <a:srgbClr val="000000"/>
                </a:solidFill>
                <a:latin typeface="FKMODS+Cambria Math"/>
                <a:cs typeface="FKMODS+Cambria Math"/>
              </a:rPr>
              <a:t>R</a:t>
            </a:r>
            <a:r>
              <a:rPr dirty="0" sz="1750" baseline="-33433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9041" y="4009962"/>
            <a:ext cx="706758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Mối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giữa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ngoài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94408" y="4395820"/>
            <a:ext cx="235863" cy="439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28580" y="4395820"/>
            <a:ext cx="647379" cy="4493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13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  <a:p>
            <a:pPr marL="196972" marR="0">
              <a:lnSpc>
                <a:spcPts val="6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39195" y="4434675"/>
            <a:ext cx="1885704" cy="3491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1277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127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56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32">
                <a:solidFill>
                  <a:srgbClr val="000000"/>
                </a:solidFill>
                <a:latin typeface="FKMODS+Cambria Math"/>
                <a:cs typeface="FKMODS+Cambria Math"/>
              </a:rPr>
              <a:t>0,5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151105" y="4659979"/>
            <a:ext cx="274674" cy="1851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759367" y="4659979"/>
            <a:ext cx="224085" cy="1851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17271" y="5064316"/>
            <a:ext cx="501384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đương: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528559" y="5562539"/>
            <a:ext cx="641116" cy="680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605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4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  <a:p>
            <a:pPr marL="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 spc="2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932328" y="5562539"/>
            <a:ext cx="641116" cy="680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605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5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  <a:p>
            <a:pPr marL="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 spc="2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818772" y="5562539"/>
            <a:ext cx="613249" cy="680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2117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7" spc="145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  <a:p>
            <a:pPr marL="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 spc="3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913817" y="5691641"/>
            <a:ext cx="700224" cy="3490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6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177046" y="5691641"/>
            <a:ext cx="840765" cy="3490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;</a:t>
            </a:r>
            <a:r>
              <a:rPr dirty="0" sz="2000" spc="14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66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612814" y="5691641"/>
            <a:ext cx="291441" cy="3484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054710" y="5916863"/>
            <a:ext cx="339294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459202" y="5916863"/>
            <a:ext cx="341290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  <a:r>
              <a:rPr dirty="0" sz="1150" spc="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027021" y="6118821"/>
            <a:ext cx="233723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433005" y="6118821"/>
            <a:ext cx="233723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289697" y="6118821"/>
            <a:ext cx="233723" cy="1850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11642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6.7.5.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Các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đặc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điểm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khi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</a:p>
          <a:p>
            <a:pPr marL="66141" marR="0">
              <a:lnSpc>
                <a:spcPts val="2010"/>
              </a:lnSpc>
              <a:spcBef>
                <a:spcPts val="137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 spc="-3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3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9910" y="1886308"/>
            <a:ext cx="267575" cy="2916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47084" y="1888290"/>
            <a:ext cx="770292" cy="7414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85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750" baseline="-33433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1750" baseline="-33433" spc="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0" marR="0">
              <a:lnSpc>
                <a:spcPts val="1996"/>
              </a:lnSpc>
              <a:spcBef>
                <a:spcPts val="579"/>
              </a:spcBef>
              <a:spcAft>
                <a:spcPts val="0"/>
              </a:spcAft>
            </a:pPr>
            <a:r>
              <a:rPr dirty="0" sz="3000" spc="168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750" baseline="-33434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1750" baseline="-33434" spc="10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73003" y="1785499"/>
            <a:ext cx="1635978" cy="394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4786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24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</a:t>
            </a:r>
            <a:r>
              <a:rPr dirty="0" sz="2000" spc="27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8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</a:t>
            </a:r>
            <a:r>
              <a:rPr dirty="0" sz="1750" baseline="67806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3914" y="2017395"/>
            <a:ext cx="291451" cy="3484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40847" y="2017395"/>
            <a:ext cx="291451" cy="3484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90090" y="2017395"/>
            <a:ext cx="435812" cy="389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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76816" y="2017395"/>
            <a:ext cx="549232" cy="389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</a:t>
            </a:r>
            <a:r>
              <a:rPr dirty="0" sz="2000" spc="7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01100" y="2074791"/>
            <a:ext cx="292317" cy="2916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52957" y="2054139"/>
            <a:ext cx="34128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  <a:r>
              <a:rPr dirty="0" sz="1150" spc="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07875" y="2056136"/>
            <a:ext cx="23372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519392" y="2056137"/>
            <a:ext cx="23372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67018" y="2043441"/>
            <a:ext cx="23372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5203" y="2074791"/>
            <a:ext cx="357387" cy="3529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73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1750" baseline="-33436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373392" y="2219373"/>
            <a:ext cx="1553061" cy="43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47615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</a:p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24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</a:t>
            </a:r>
            <a:r>
              <a:rPr dirty="0" sz="2000" spc="27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</a:t>
            </a:r>
            <a:r>
              <a:rPr dirty="0" sz="2000" spc="8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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29910" y="2276769"/>
            <a:ext cx="462335" cy="352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46" spc="6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v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10007" y="2444617"/>
            <a:ext cx="23372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521084" y="2444617"/>
            <a:ext cx="233725" cy="185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17271" y="2834323"/>
            <a:ext cx="229121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phân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bố: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17271" y="3322003"/>
            <a:ext cx="442550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phân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3783" y="3733207"/>
            <a:ext cx="180253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17271" y="4221544"/>
            <a:ext cx="4506887" cy="11164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</a:p>
          <a:p>
            <a:pPr marL="286512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dọc</a:t>
            </a:r>
            <a:r>
              <a:rPr dirty="0" sz="1800" spc="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rộng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vành</a:t>
            </a:r>
          </a:p>
          <a:p>
            <a:pPr marL="286512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lớn: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480108" y="5445182"/>
            <a:ext cx="459265" cy="349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27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3000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444736" y="5504582"/>
            <a:ext cx="382808" cy="6796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9" spc="75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7065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986051" y="5502586"/>
            <a:ext cx="567088" cy="3529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55" spc="94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max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04231" y="5633684"/>
            <a:ext cx="637923" cy="3485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0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791972" y="5633684"/>
            <a:ext cx="291479" cy="3485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799086" y="5670457"/>
            <a:ext cx="397452" cy="1851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min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384480" y="5835689"/>
            <a:ext cx="434737" cy="349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21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069723" y="5858958"/>
            <a:ext cx="233527" cy="1851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11642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6.7.6.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  <a:p>
            <a:pPr marL="66141" marR="0">
              <a:lnSpc>
                <a:spcPts val="2010"/>
              </a:lnSpc>
              <a:spcBef>
                <a:spcPts val="137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đương: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87340" y="1951370"/>
            <a:ext cx="780819" cy="349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229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316338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53242" y="1977442"/>
            <a:ext cx="233749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1241" y="2008784"/>
            <a:ext cx="292743" cy="2917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6391" y="2008784"/>
            <a:ext cx="292743" cy="2917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43028" y="2113312"/>
            <a:ext cx="291505" cy="3485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09249" y="2315329"/>
            <a:ext cx="2022486" cy="3491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  <a:r>
              <a:rPr dirty="0" sz="2000" spc="17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2000" spc="17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7">
                <a:solidFill>
                  <a:srgbClr val="000000"/>
                </a:solidFill>
                <a:latin typeface="FKMODS+Cambria Math"/>
                <a:cs typeface="FKMODS+Cambria Math"/>
              </a:rPr>
              <a:t>sin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  <a:r>
              <a:rPr dirty="0" sz="2000" spc="25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96277" y="2540648"/>
            <a:ext cx="369089" cy="18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7271" y="2834323"/>
            <a:ext cx="331671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Cường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trọng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phân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bố: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2317" y="3259400"/>
            <a:ext cx="953159" cy="3491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2000" spc="235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25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42360" y="3316817"/>
            <a:ext cx="848865" cy="68232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9301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85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750" baseline="-33439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750" baseline="-33439" spc="3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  <a:p>
            <a:pPr marL="0" marR="0">
              <a:lnSpc>
                <a:spcPts val="244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</a:t>
            </a:r>
            <a:r>
              <a:rPr dirty="0" sz="2000" spc="-14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88236" y="3447921"/>
            <a:ext cx="291525" cy="348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48281" y="3447921"/>
            <a:ext cx="291525" cy="348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33110" y="3484699"/>
            <a:ext cx="417476" cy="1851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max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95319" y="3484699"/>
            <a:ext cx="397547" cy="1851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min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30889" y="3484699"/>
            <a:ext cx="253292" cy="1851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7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61215" y="3505338"/>
            <a:ext cx="382864" cy="353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0" spc="75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68060" y="3707366"/>
            <a:ext cx="292762" cy="29177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567374" y="4396534"/>
            <a:ext cx="434791" cy="680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731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60" spc="75">
                <a:solidFill>
                  <a:srgbClr val="000000"/>
                </a:solidFill>
                <a:latin typeface="FKMODS+Cambria Math"/>
                <a:cs typeface="FKMODS+Cambria Math"/>
              </a:rPr>
              <a:t>q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n</a:t>
            </a:r>
          </a:p>
          <a:p>
            <a:pPr marL="0" marR="0">
              <a:lnSpc>
                <a:spcPts val="2390"/>
              </a:lnSpc>
              <a:spcBef>
                <a:spcPts val="127"/>
              </a:spcBef>
              <a:spcAft>
                <a:spcPts val="0"/>
              </a:spcAft>
            </a:pPr>
            <a:r>
              <a:rPr dirty="0" sz="2000" spc="21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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04469" y="4525676"/>
            <a:ext cx="2353857" cy="348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Hetz:</a:t>
            </a:r>
            <a:r>
              <a:rPr dirty="0" sz="1800" spc="2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845144" y="4525676"/>
            <a:ext cx="291528" cy="3485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30859" y="4583097"/>
            <a:ext cx="288681" cy="29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627669" y="4751005"/>
            <a:ext cx="253282" cy="18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196737" y="4751005"/>
            <a:ext cx="272224" cy="18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11642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6.7.6.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tiếp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xúc</a:t>
            </a:r>
          </a:p>
          <a:p>
            <a:pPr marL="66141" marR="0">
              <a:lnSpc>
                <a:spcPts val="2010"/>
              </a:lnSpc>
              <a:spcBef>
                <a:spcPts val="137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5793" y="2095034"/>
            <a:ext cx="1618378" cy="3492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6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234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230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  <a:p>
            <a:pPr marL="1153358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+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18738" y="2121091"/>
            <a:ext cx="233774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1777" y="2281584"/>
            <a:ext cx="1502384" cy="3492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3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-1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91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106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83891" y="2268099"/>
            <a:ext cx="887103" cy="462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  <a:p>
            <a:pPr marL="197654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55511" y="2320357"/>
            <a:ext cx="233774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36893" y="2320357"/>
            <a:ext cx="253293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6422" y="2506915"/>
            <a:ext cx="253293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75461" y="2506915"/>
            <a:ext cx="253293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84083" y="2506915"/>
            <a:ext cx="272237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11772" y="2473627"/>
            <a:ext cx="216911" cy="2180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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44696" y="2506915"/>
            <a:ext cx="253293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86452" y="2528347"/>
            <a:ext cx="1264774" cy="3231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49309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0,</a:t>
            </a:r>
            <a:r>
              <a:rPr dirty="0" sz="2000" spc="-33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69">
                <a:solidFill>
                  <a:srgbClr val="000000"/>
                </a:solidFill>
                <a:latin typeface="FKMODS+Cambria Math"/>
                <a:cs typeface="FKMODS+Cambria Math"/>
              </a:rPr>
              <a:t>85d</a:t>
            </a:r>
            <a:r>
              <a:rPr dirty="0" sz="2000" spc="143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bu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309166" y="2727616"/>
            <a:ext cx="369118" cy="1851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 spc="109">
                <a:solidFill>
                  <a:srgbClr val="000000"/>
                </a:solidFill>
                <a:latin typeface="FKMODS+Cambria Math"/>
                <a:cs typeface="FKMODS+Cambria Math"/>
              </a:rPr>
              <a:t>m1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1376" y="3121216"/>
            <a:ext cx="236917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40714" y="3747906"/>
            <a:ext cx="543659" cy="3529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aseline="58150" spc="-2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  <a:r>
              <a:rPr dirty="0" sz="1150" spc="23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4500" baseline="5815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570112" y="3882506"/>
            <a:ext cx="368745" cy="2183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  <a:r>
              <a:rPr dirty="0" sz="1150" spc="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35785" y="3906793"/>
            <a:ext cx="700709" cy="3491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5727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4">
                <a:solidFill>
                  <a:srgbClr val="000000"/>
                </a:solidFill>
                <a:latin typeface="FKMODS+Cambria Math"/>
                <a:cs typeface="FKMODS+Cambria Math"/>
              </a:rPr>
              <a:t>95</a:t>
            </a:r>
          </a:p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  <a:r>
              <a:rPr dirty="0" sz="2000" spc="22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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31777" y="3964195"/>
            <a:ext cx="475423" cy="352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58134" spc="91">
                <a:solidFill>
                  <a:srgbClr val="000000"/>
                </a:solidFill>
                <a:latin typeface="FKMODS+Cambria Math"/>
                <a:cs typeface="FKMODS+Cambria Math"/>
              </a:rPr>
              <a:t>d</a:t>
            </a:r>
            <a:r>
              <a:rPr dirty="0" sz="1150" spc="142">
                <a:solidFill>
                  <a:srgbClr val="000000"/>
                </a:solidFill>
                <a:latin typeface="FKMODS+Cambria Math"/>
                <a:cs typeface="FKMODS+Cambria Math"/>
              </a:rPr>
              <a:t>e1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31483" y="4094355"/>
            <a:ext cx="233728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91845" y="4162803"/>
            <a:ext cx="235819" cy="4398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637583" y="4162803"/>
            <a:ext cx="235819" cy="4398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720130" y="4153489"/>
            <a:ext cx="233728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905168" y="4156255"/>
            <a:ext cx="233728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998567" y="4201640"/>
            <a:ext cx="1422837" cy="3491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0,</a:t>
            </a:r>
            <a:r>
              <a:rPr dirty="0" sz="2000" spc="-33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85</a:t>
            </a:r>
            <a:r>
              <a:rPr dirty="0" sz="2000" spc="301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5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49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31">
                <a:solidFill>
                  <a:srgbClr val="000000"/>
                </a:solidFill>
                <a:latin typeface="FKMODS+Cambria Math"/>
                <a:cs typeface="FKMODS+Cambria Math"/>
              </a:rPr>
              <a:t>0,5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226043" y="4188151"/>
            <a:ext cx="1822397" cy="3619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7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  <a:r>
              <a:rPr dirty="0" sz="2000" spc="24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11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166206" y="4259042"/>
            <a:ext cx="882234" cy="3918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u</a:t>
            </a:r>
            <a:r>
              <a:rPr dirty="0" sz="2000" spc="-2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423288" y="4426916"/>
            <a:ext cx="304442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008893" y="4426916"/>
            <a:ext cx="304442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622258" y="4426916"/>
            <a:ext cx="253235" cy="185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H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48081" y="4866197"/>
            <a:ext cx="738143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Lưu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ý: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50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36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53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như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577973" y="4991566"/>
            <a:ext cx="279350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M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72689" y="4991566"/>
            <a:ext cx="262458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H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349117" y="4991566"/>
            <a:ext cx="220340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ε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48081" y="5353600"/>
            <a:ext cx="8336430" cy="745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Dựa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răng,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</a:p>
          <a:p>
            <a:pPr marL="286511" marR="0">
              <a:lnSpc>
                <a:spcPts val="2010"/>
              </a:lnSpc>
              <a:spcBef>
                <a:spcPts val="128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tính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mô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đun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mút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theo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chuẩn.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5472111" cy="74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6.7.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bộ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truyền</a:t>
            </a:r>
            <a:r>
              <a:rPr dirty="0" sz="1800" spc="23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côn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(nón)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thẳng</a:t>
            </a:r>
          </a:p>
          <a:p>
            <a:pPr marL="5181" marR="0">
              <a:lnSpc>
                <a:spcPts val="2010"/>
              </a:lnSpc>
              <a:spcBef>
                <a:spcPts val="1508"/>
              </a:spcBef>
              <a:spcAft>
                <a:spcPts val="0"/>
              </a:spcAft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6.7.7.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Tính</a:t>
            </a:r>
            <a:r>
              <a:rPr dirty="0" sz="1800" spc="-21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theo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độ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bền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uốn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9041" y="1461834"/>
            <a:ext cx="292535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kiểm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nghiệm: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97914" y="2106527"/>
            <a:ext cx="786574" cy="2916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  <a:r>
              <a:rPr dirty="0" sz="2000" spc="49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2000" spc="146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57404" y="2237605"/>
            <a:ext cx="662879" cy="3484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  <a:r>
              <a:rPr dirty="0" sz="2000" spc="12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78915" y="2224117"/>
            <a:ext cx="866326" cy="361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</a:t>
            </a:r>
            <a:r>
              <a:rPr dirty="0" sz="20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8">
                <a:solidFill>
                  <a:srgbClr val="000000"/>
                </a:solidFill>
                <a:latin typeface="FVUAOP+Symbol"/>
                <a:cs typeface="FVUAOP+Symbol"/>
              </a:rPr>
              <a:t></a:t>
            </a:r>
            <a:r>
              <a:rPr dirty="0" sz="2000" spc="9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3966" y="2274346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87167" y="2274346"/>
            <a:ext cx="202094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0754" y="2274346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76542" y="2338382"/>
            <a:ext cx="668698" cy="3484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32022" y="2462822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740058" y="2462822"/>
            <a:ext cx="231208" cy="185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30856" y="2496959"/>
            <a:ext cx="1088906" cy="3529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000000"/>
                </a:solidFill>
                <a:latin typeface="FKMODS+Cambria Math"/>
                <a:cs typeface="FKMODS+Cambria Math"/>
              </a:rPr>
              <a:t>0,</a:t>
            </a:r>
            <a:r>
              <a:rPr dirty="0" sz="2000" spc="-33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-52">
                <a:solidFill>
                  <a:srgbClr val="000000"/>
                </a:solidFill>
                <a:latin typeface="FKMODS+Cambria Math"/>
                <a:cs typeface="FKMODS+Cambria Math"/>
              </a:rPr>
              <a:t>85bm</a:t>
            </a:r>
            <a:r>
              <a:rPr dirty="0" sz="1750" baseline="-3343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1376" y="3121216"/>
            <a:ext cx="236917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thiết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kế: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424659" y="3680838"/>
            <a:ext cx="907983" cy="2917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97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85">
                <a:solidFill>
                  <a:srgbClr val="000000"/>
                </a:solidFill>
                <a:latin typeface="FKMODS+Cambria Math"/>
                <a:cs typeface="FKMODS+Cambria Math"/>
              </a:rPr>
              <a:t>2T</a:t>
            </a:r>
            <a:r>
              <a:rPr dirty="0" sz="2000" spc="582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K</a:t>
            </a:r>
            <a:r>
              <a:rPr dirty="0" sz="2000" spc="568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69321" y="3809975"/>
            <a:ext cx="668135" cy="349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m</a:t>
            </a:r>
            <a:r>
              <a:rPr dirty="0" sz="2000" spc="860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64381" y="3848734"/>
            <a:ext cx="233754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945753" y="3848734"/>
            <a:ext cx="231243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182281" y="3848734"/>
            <a:ext cx="348463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  <a:r>
              <a:rPr dirty="0" sz="1150" spc="3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53512" y="4009493"/>
            <a:ext cx="233754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3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74494" y="4035287"/>
            <a:ext cx="224069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74735" y="4066043"/>
            <a:ext cx="235843" cy="439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(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20483" y="4066043"/>
            <a:ext cx="235843" cy="439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000000"/>
                </a:solidFill>
                <a:latin typeface="FVUAOP+Symbol"/>
                <a:cs typeface="FVUAOP+Symbol"/>
              </a:rPr>
              <a:t>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303036" y="4056722"/>
            <a:ext cx="233754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420591" y="4104882"/>
            <a:ext cx="2584051" cy="4493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0,</a:t>
            </a:r>
            <a:r>
              <a:rPr dirty="0" sz="2000" spc="-334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85</a:t>
            </a:r>
            <a:r>
              <a:rPr dirty="0" sz="2000" spc="2329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z</a:t>
            </a:r>
            <a:r>
              <a:rPr dirty="0" sz="2000" spc="813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</a:t>
            </a:r>
            <a:r>
              <a:rPr dirty="0" sz="2000" spc="20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</a:t>
            </a:r>
            <a:r>
              <a:rPr dirty="0" sz="2000" spc="3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  <a:r>
              <a:rPr dirty="0" sz="2000" spc="-155">
                <a:solidFill>
                  <a:srgbClr val="000000"/>
                </a:solidFill>
                <a:latin typeface="FKMODS+Cambria Math"/>
                <a:cs typeface="FKMODS+Cambria Math"/>
              </a:rPr>
              <a:t> </a:t>
            </a:r>
            <a:r>
              <a:rPr dirty="0" sz="2000" spc="251">
                <a:solidFill>
                  <a:srgbClr val="000000"/>
                </a:solidFill>
                <a:latin typeface="FVUAOP+Symbol"/>
                <a:cs typeface="FVUAOP+Symbol"/>
              </a:rPr>
              <a:t>−</a:t>
            </a:r>
            <a:r>
              <a:rPr dirty="0" sz="2000" spc="32">
                <a:solidFill>
                  <a:srgbClr val="000000"/>
                </a:solidFill>
                <a:latin typeface="FKMODS+Cambria Math"/>
                <a:cs typeface="FKMODS+Cambria Math"/>
              </a:rPr>
              <a:t>0,5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864285" y="4104882"/>
            <a:ext cx="326284" cy="348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534203" y="4091387"/>
            <a:ext cx="668768" cy="348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</a:t>
            </a:r>
            <a:r>
              <a:rPr dirty="0" sz="2000" spc="20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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622901" y="4104882"/>
            <a:ext cx="305245" cy="348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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808602" y="4104882"/>
            <a:ext cx="326284" cy="348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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061527" y="4330194"/>
            <a:ext cx="314320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bd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396486" y="4330194"/>
            <a:ext cx="233754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1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797630" y="4330194"/>
            <a:ext cx="231243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F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005955" y="4330194"/>
            <a:ext cx="304492" cy="185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50">
                <a:solidFill>
                  <a:srgbClr val="000000"/>
                </a:solidFill>
                <a:latin typeface="FKMODS+Cambria Math"/>
                <a:cs typeface="FKMODS+Cambria Math"/>
              </a:rPr>
              <a:t>be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6.59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3848946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6.8.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Vật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liệu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ứng</a:t>
            </a:r>
            <a:r>
              <a:rPr dirty="0" sz="1800" spc="-1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suất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cho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phép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9041" y="1461834"/>
            <a:ext cx="230943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Sinh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viên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đọc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tài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liệu!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970291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6.9.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chỉnh</a:t>
            </a:r>
            <a:r>
              <a:rPr dirty="0" sz="1800" spc="-1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900" y="1068896"/>
            <a:ext cx="829329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BR:</a:t>
            </a:r>
            <a:r>
              <a:rPr dirty="0" sz="1800" spc="2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dùng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đoạn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khai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cơ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sở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cũ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cạnh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rang,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9716" y="1480757"/>
            <a:ext cx="451953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nhờ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thiện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chất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lượng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2900" y="1968437"/>
            <a:ext cx="377677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dụng</a:t>
            </a:r>
            <a:r>
              <a:rPr dirty="0" sz="1800" spc="-1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BR: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2900" y="2456117"/>
            <a:ext cx="6544243" cy="2244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Khắc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phục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min</a:t>
            </a:r>
          </a:p>
          <a:p>
            <a:pPr marL="0" marR="0">
              <a:lnSpc>
                <a:spcPts val="2013"/>
              </a:lnSpc>
              <a:spcBef>
                <a:spcPts val="151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đáy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</a:p>
          <a:p>
            <a:pPr marL="0" marR="0">
              <a:lnSpc>
                <a:spcPts val="2010"/>
              </a:lnSpc>
              <a:spcBef>
                <a:spcPts val="188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kính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cong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tâm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</a:p>
          <a:p>
            <a:pPr marL="0" marR="0">
              <a:lnSpc>
                <a:spcPts val="2010"/>
              </a:lnSpc>
              <a:spcBef>
                <a:spcPts val="18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Đảm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bảo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trước.</a:t>
            </a:r>
          </a:p>
          <a:p>
            <a:pPr marL="0" marR="0">
              <a:lnSpc>
                <a:spcPts val="2013"/>
              </a:lnSpc>
              <a:spcBef>
                <a:spcPts val="187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 spc="19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0565" y="4966123"/>
            <a:ext cx="480347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1: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7077" y="5378260"/>
            <a:ext cx="431128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bình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đường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0565" y="5865889"/>
            <a:ext cx="474318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trí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2: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một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7077" y="6277369"/>
            <a:ext cx="3782732" cy="33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baseline="-24666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gọi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chỉnh.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97048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6.9.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chỉnh</a:t>
            </a:r>
            <a:r>
              <a:rPr dirty="0" sz="1800" spc="-1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900" y="1068896"/>
            <a:ext cx="534748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dương</a:t>
            </a:r>
            <a:r>
              <a:rPr dirty="0" sz="1800" spc="-3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2" b="1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7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âm: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5948" y="1525588"/>
            <a:ext cx="5557583" cy="15281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6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dương</a:t>
            </a:r>
            <a:r>
              <a:rPr dirty="0" sz="1800" spc="5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(+x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dirty="0" sz="1800" spc="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 spc="6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6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7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tăng,</a:t>
            </a:r>
          </a:p>
          <a:p>
            <a:pPr marL="286512" marR="0">
              <a:lnSpc>
                <a:spcPts val="2010"/>
              </a:lnSpc>
              <a:spcBef>
                <a:spcPts val="913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đỉnh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nhọn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59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5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6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âm</a:t>
            </a:r>
            <a:r>
              <a:rPr dirty="0" sz="1800" spc="59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(-x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dirty="0" sz="1800" spc="59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 spc="5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59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58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thay</a:t>
            </a:r>
            <a:r>
              <a:rPr dirty="0" sz="1800" spc="5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</a:t>
            </a:r>
          </a:p>
          <a:p>
            <a:pPr marL="286512" marR="0">
              <a:lnSpc>
                <a:spcPts val="2010"/>
              </a:lnSpc>
              <a:spcBef>
                <a:spcPts val="9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ngược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lại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7271" y="3769424"/>
            <a:ext cx="414680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2" b="1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7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góc: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7271" y="4180904"/>
            <a:ext cx="8571468" cy="705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đều:</a:t>
            </a:r>
            <a:r>
              <a:rPr dirty="0" sz="1800" spc="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Thực</a:t>
            </a:r>
            <a:r>
              <a:rPr dirty="0" sz="1800" spc="-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thu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</a:p>
          <a:p>
            <a:pPr marL="286512" marR="0">
              <a:lnSpc>
                <a:spcPts val="2010"/>
              </a:lnSpc>
              <a:spcBef>
                <a:spcPts val="128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dẫn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dẫn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độ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1779" y="5004245"/>
            <a:ext cx="724759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dương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(x</a:t>
            </a:r>
            <a:r>
              <a:rPr dirty="0" sz="1800" spc="6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&gt;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0),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âm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(x</a:t>
            </a:r>
            <a:r>
              <a:rPr dirty="0" sz="1800" spc="6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0)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75558" y="5129615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10806" y="5129615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1779" y="5415700"/>
            <a:ext cx="312972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 spc="-3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chỉnh: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17292" y="55410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76016" y="55410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1779" y="5827180"/>
            <a:ext cx="8394306" cy="7052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đổi,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đổi.</a:t>
            </a:r>
          </a:p>
          <a:p>
            <a:pPr marL="0" marR="0">
              <a:lnSpc>
                <a:spcPts val="2010"/>
              </a:lnSpc>
              <a:spcBef>
                <a:spcPts val="1281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nhưng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đổi.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97048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6.9.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chỉnh</a:t>
            </a:r>
            <a:r>
              <a:rPr dirty="0" sz="1800" spc="-1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7271" y="1132015"/>
            <a:ext cx="4146805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42" b="1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7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góc: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-1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góc: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1779" y="1954975"/>
            <a:ext cx="3830993" cy="7050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Cả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dương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nên:</a:t>
            </a:r>
          </a:p>
          <a:p>
            <a:pPr marL="0" marR="0">
              <a:lnSpc>
                <a:spcPts val="2013"/>
              </a:lnSpc>
              <a:spcBef>
                <a:spcPts val="127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 spc="-3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dirty="0" sz="1800" spc="-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chỉnh: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&gt;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17292" y="249220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76016" y="249220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7271" y="2778316"/>
            <a:ext cx="8325418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508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p/2,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nhau.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1779" y="3601276"/>
            <a:ext cx="321057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hơn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1779" y="4013010"/>
            <a:ext cx="5081736" cy="704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Khoảng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lên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970485" cy="7342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6.9.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chỉnh</a:t>
            </a:r>
            <a:r>
              <a:rPr dirty="0" sz="1800" spc="-1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</a:p>
          <a:p>
            <a:pPr marL="74371" marR="0">
              <a:lnSpc>
                <a:spcPts val="2010"/>
              </a:lnSpc>
              <a:spcBef>
                <a:spcPts val="145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Một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spc="1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chú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ý: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7271" y="1443292"/>
            <a:ext cx="8538295" cy="745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10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dương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1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sức</a:t>
            </a:r>
            <a:r>
              <a:rPr dirty="0" sz="1800" spc="9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uốn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(vì</a:t>
            </a:r>
            <a:r>
              <a:rPr dirty="0" sz="1800" spc="10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 spc="1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 spc="1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lên),</a:t>
            </a:r>
            <a:r>
              <a:rPr dirty="0" sz="1800" spc="1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tránh</a:t>
            </a:r>
            <a:r>
              <a:rPr dirty="0" sz="18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1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hiện</a:t>
            </a:r>
          </a:p>
          <a:p>
            <a:pPr marL="286512" marR="0">
              <a:lnSpc>
                <a:spcPts val="2013"/>
              </a:lnSpc>
              <a:spcBef>
                <a:spcPts val="127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tượng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(Z</a:t>
            </a:r>
            <a:r>
              <a:rPr dirty="0" sz="1800" baseline="-24777">
                <a:solidFill>
                  <a:srgbClr val="000000"/>
                </a:solidFill>
                <a:latin typeface="Arial"/>
                <a:cs typeface="Arial"/>
              </a:rPr>
              <a:t>min</a:t>
            </a:r>
            <a:r>
              <a:rPr dirty="0" sz="1800" baseline="-24777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hoặc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8)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7271" y="2266506"/>
            <a:ext cx="771830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sức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bền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ứng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lệ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sin2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α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01261" y="2761879"/>
            <a:ext cx="820079" cy="7069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OFJFRU+Cambria"/>
                <a:cs typeface="OFJFRU+Cambria"/>
              </a:rPr>
              <a:t>2cos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</a:t>
            </a:r>
          </a:p>
          <a:p>
            <a:pPr marL="30951" marR="0">
              <a:lnSpc>
                <a:spcPts val="2444"/>
              </a:lnSpc>
              <a:spcBef>
                <a:spcPts val="367"/>
              </a:spcBef>
              <a:spcAft>
                <a:spcPts val="0"/>
              </a:spcAft>
            </a:pPr>
            <a:r>
              <a:rPr dirty="0" sz="4500" baseline="0">
                <a:solidFill>
                  <a:srgbClr val="000000"/>
                </a:solidFill>
                <a:latin typeface="OFJFRU+Cambria"/>
                <a:cs typeface="OFJFRU+Cambria"/>
              </a:rPr>
              <a:t>sin</a:t>
            </a:r>
            <a:r>
              <a:rPr dirty="0" sz="3000" baseline="0" spc="-6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500" baseline="0">
                <a:solidFill>
                  <a:srgbClr val="000000"/>
                </a:solidFill>
                <a:latin typeface="OFJFRU+Cambria"/>
                <a:cs typeface="OFJFRU+Cambria"/>
              </a:rPr>
              <a:t>2</a:t>
            </a:r>
            <a:r>
              <a:rPr dirty="0" sz="2000">
                <a:solidFill>
                  <a:srgbClr val="000000"/>
                </a:solidFill>
                <a:latin typeface="FVUAOP+Symbol"/>
                <a:cs typeface="FVUAOP+Symbol"/>
              </a:rPr>
              <a:t>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01227" y="2922036"/>
            <a:ext cx="621679" cy="3933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aseline="46463" spc="119" i="1">
                <a:solidFill>
                  <a:srgbClr val="000000"/>
                </a:solidFill>
                <a:latin typeface="Cambria"/>
                <a:cs typeface="Cambria"/>
              </a:rPr>
              <a:t>Z</a:t>
            </a:r>
            <a:r>
              <a:rPr dirty="0" sz="1150" i="1">
                <a:solidFill>
                  <a:srgbClr val="000000"/>
                </a:solidFill>
                <a:latin typeface="Cambria"/>
                <a:cs typeface="Cambria"/>
              </a:rPr>
              <a:t>H</a:t>
            </a:r>
            <a:r>
              <a:rPr dirty="0" sz="1150" spc="399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baseline="46463">
                <a:solidFill>
                  <a:srgbClr val="000000"/>
                </a:solidFill>
                <a:latin typeface="FVUAOP+Symbol"/>
                <a:cs typeface="FVUAOP+Symbol"/>
              </a:rPr>
              <a:t>=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7271" y="3501200"/>
            <a:ext cx="8537762" cy="23512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508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Nếu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30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’,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khả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năng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thêm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20%.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3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3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nhỏ</a:t>
            </a:r>
            <a:r>
              <a:rPr dirty="0" sz="1800" spc="3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 spc="3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 spc="3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 spc="3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 spc="3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spc="3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3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lớn,</a:t>
            </a:r>
            <a:r>
              <a:rPr dirty="0" sz="1800" spc="33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việc</a:t>
            </a:r>
            <a:r>
              <a:rPr dirty="0" sz="1800" spc="32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32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3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ít</a:t>
            </a:r>
            <a:r>
              <a:rPr dirty="0" sz="1800" spc="3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hiệu</a:t>
            </a:r>
            <a:r>
              <a:rPr dirty="0" sz="1800" spc="32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quả</a:t>
            </a:r>
            <a:r>
              <a:rPr dirty="0" sz="1800" spc="3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hoặc</a:t>
            </a:r>
          </a:p>
          <a:p>
            <a:pPr marL="286512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9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hiệu</a:t>
            </a:r>
            <a:r>
              <a:rPr dirty="0" sz="1800" spc="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quả</a:t>
            </a:r>
            <a:r>
              <a:rPr dirty="0" sz="18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dạng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ít</a:t>
            </a:r>
            <a:r>
              <a:rPr dirty="0" sz="18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thay</a:t>
            </a:r>
            <a:r>
              <a:rPr dirty="0" sz="1800" spc="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đó</a:t>
            </a:r>
            <a:r>
              <a:rPr dirty="0" sz="18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để</a:t>
            </a:r>
            <a:r>
              <a:rPr dirty="0" sz="18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tăng</a:t>
            </a:r>
            <a:r>
              <a:rPr dirty="0" sz="1800" spc="10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khả</a:t>
            </a:r>
            <a:r>
              <a:rPr dirty="0" sz="1800" spc="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năng</a:t>
            </a:r>
            <a:r>
              <a:rPr dirty="0" sz="1800" spc="10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tải,</a:t>
            </a:r>
            <a:r>
              <a:rPr dirty="0" sz="1800" spc="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người</a:t>
            </a:r>
          </a:p>
          <a:p>
            <a:pPr marL="286512" marR="0">
              <a:lnSpc>
                <a:spcPts val="2010"/>
              </a:lnSpc>
              <a:spcBef>
                <a:spcPts val="122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ta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cắt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tiêu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chuẩn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profin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lớn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26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 baseline="29999" spc="-15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28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).</a:t>
            </a:r>
          </a:p>
          <a:p>
            <a:pPr marL="0" marR="0">
              <a:lnSpc>
                <a:spcPts val="2010"/>
              </a:lnSpc>
              <a:spcBef>
                <a:spcPts val="128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 spc="1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7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1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 spc="1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 spc="1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 spc="17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spc="1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trùng</a:t>
            </a:r>
            <a:r>
              <a:rPr dirty="0" sz="1800" spc="17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16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  <a:r>
              <a:rPr dirty="0" sz="1800" spc="173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  <a:r>
              <a:rPr dirty="0" sz="1800" spc="1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</a:t>
            </a:r>
            <a:r>
              <a:rPr dirty="0" sz="1800" spc="17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giảm</a:t>
            </a:r>
            <a:r>
              <a:rPr dirty="0" sz="1800" spc="18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khả</a:t>
            </a:r>
            <a:r>
              <a:rPr dirty="0" sz="1800" spc="16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năng</a:t>
            </a:r>
            <a:r>
              <a:rPr dirty="0" sz="1800" spc="17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tải</a:t>
            </a:r>
            <a:r>
              <a:rPr dirty="0" sz="1800" spc="16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spc="15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</a:p>
          <a:p>
            <a:pPr marL="286512" marR="0">
              <a:lnSpc>
                <a:spcPts val="2010"/>
              </a:lnSpc>
              <a:spcBef>
                <a:spcPts val="122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nghiêng,</a:t>
            </a:r>
            <a:r>
              <a:rPr dirty="0" sz="1800" spc="3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chiều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dài</a:t>
            </a:r>
            <a:r>
              <a:rPr dirty="0" sz="1800" spc="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tiếp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xúc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tỷ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000000"/>
                </a:solidFill>
                <a:latin typeface="Arial"/>
                <a:cs typeface="Arial"/>
              </a:rPr>
              <a:t>ε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7271" y="5970436"/>
            <a:ext cx="8535783" cy="7050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2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2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làm</a:t>
            </a:r>
            <a:r>
              <a:rPr dirty="0" sz="1800" spc="27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thay</a:t>
            </a:r>
            <a:r>
              <a:rPr dirty="0" sz="1800" spc="2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đổi</a:t>
            </a:r>
            <a:r>
              <a:rPr dirty="0" sz="1800" spc="26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vận</a:t>
            </a:r>
            <a:r>
              <a:rPr dirty="0" sz="1800" spc="2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tốc</a:t>
            </a:r>
            <a:r>
              <a:rPr dirty="0" sz="1800" spc="26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trượt</a:t>
            </a:r>
            <a:r>
              <a:rPr dirty="0" sz="1800" spc="2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nên</a:t>
            </a:r>
            <a:r>
              <a:rPr dirty="0" sz="1800" spc="26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chống</a:t>
            </a:r>
            <a:r>
              <a:rPr dirty="0" sz="1800" spc="2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mòn</a:t>
            </a:r>
            <a:r>
              <a:rPr dirty="0" sz="1800" spc="26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răng,</a:t>
            </a:r>
            <a:r>
              <a:rPr dirty="0" sz="1800" spc="26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khắc</a:t>
            </a:r>
            <a:r>
              <a:rPr dirty="0" sz="1800" spc="27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phục</a:t>
            </a:r>
            <a:r>
              <a:rPr dirty="0" sz="1800" spc="2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dính,</a:t>
            </a:r>
          </a:p>
          <a:p>
            <a:pPr marL="286512" marR="0">
              <a:lnSpc>
                <a:spcPts val="2013"/>
              </a:lnSpc>
              <a:spcBef>
                <a:spcPts val="127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xước</a:t>
            </a:r>
            <a:r>
              <a:rPr dirty="0" sz="1800" spc="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5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970485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6.9.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dịch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chỉnh</a:t>
            </a:r>
            <a:r>
              <a:rPr dirty="0" sz="1800" spc="-1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7271" y="1031812"/>
            <a:ext cx="3828083" cy="15684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800" spc="112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Một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 spc="11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chú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ý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(tiếp)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0" marR="0">
              <a:lnSpc>
                <a:spcPts val="2010"/>
              </a:lnSpc>
              <a:spcBef>
                <a:spcPts val="127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WVNBTH+Wingdings"/>
                <a:cs typeface="WVNBTH+Wingdings"/>
              </a:rPr>
              <a:t>✓</a:t>
            </a:r>
            <a:r>
              <a:rPr dirty="0" sz="1800" spc="3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Chọn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316992" marR="0">
              <a:lnSpc>
                <a:spcPts val="2013"/>
              </a:lnSpc>
              <a:spcBef>
                <a:spcPts val="1226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4777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 baseline="-2477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≥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30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thì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</a:p>
          <a:p>
            <a:pPr marL="316992" marR="0">
              <a:lnSpc>
                <a:spcPts val="2010"/>
              </a:lnSpc>
              <a:spcBef>
                <a:spcPts val="912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 baseline="-2466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30: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2279" y="2677986"/>
            <a:ext cx="798798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5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5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&gt;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60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dao: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0,03(30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);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1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9083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84020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85383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00493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99781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49005" y="280335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2279" y="3089466"/>
            <a:ext cx="5086032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5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5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60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chỉnh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99083" y="321483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84020" y="3214836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89176" y="3501200"/>
            <a:ext cx="385628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0,03(30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);</a:t>
            </a:r>
            <a:r>
              <a:rPr dirty="0" sz="1800" spc="-1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0,03(30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01951" y="36265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17062" y="36265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816350" y="36265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31206" y="362657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48207" y="3912680"/>
            <a:ext cx="471874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Tổng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hệ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dịch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dao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hạn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chế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bởi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trị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89176" y="4324160"/>
            <a:ext cx="5664463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3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≤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1,8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0,03(Z</a:t>
            </a:r>
            <a:r>
              <a:rPr dirty="0" sz="1800" spc="67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30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(Z</a:t>
            </a:r>
            <a:r>
              <a:rPr dirty="0" sz="1800" spc="65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901951" y="4449530"/>
            <a:ext cx="194741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319528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778252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348226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832858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143879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26987" y="4449530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776984" y="4735640"/>
            <a:ext cx="179744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32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dirty="0" sz="1800" spc="66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≤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0,9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072126" y="4735640"/>
            <a:ext cx="444624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khi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936615" y="4735640"/>
            <a:ext cx="152616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(Z</a:t>
            </a:r>
            <a:r>
              <a:rPr dirty="0" sz="1800" spc="65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17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dirty="0" sz="18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889760" y="4860734"/>
            <a:ext cx="194826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307336" y="4860734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766060" y="4860734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6153023" y="4860734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637655" y="4860734"/>
            <a:ext cx="237327" cy="2086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0025" y="113962"/>
            <a:ext cx="6354800" cy="3786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CHƯƠNG</a:t>
            </a:r>
            <a:r>
              <a:rPr dirty="0" sz="2400" spc="1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–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TRUYỀN</a:t>
            </a:r>
            <a:r>
              <a:rPr dirty="0" sz="2400" spc="2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ĐỘNG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BÁNH</a:t>
            </a:r>
            <a:r>
              <a:rPr dirty="0" sz="2400" spc="29" b="1">
                <a:solidFill>
                  <a:srgbClr val="0e4d3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e4d3c"/>
                </a:solidFill>
                <a:latin typeface="Arial"/>
                <a:cs typeface="Arial"/>
              </a:rPr>
              <a:t>RĂNG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416" y="137921"/>
            <a:ext cx="538705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NHH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4829" y="137921"/>
            <a:ext cx="499978" cy="2373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898989"/>
                </a:solidFill>
                <a:latin typeface="Arial"/>
                <a:cs typeface="Arial"/>
              </a:rPr>
              <a:t>6.65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900" y="591100"/>
            <a:ext cx="2424930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6.10.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Ví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dụ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dirty="0" sz="1800" spc="86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Bài</a:t>
            </a:r>
            <a:r>
              <a:rPr dirty="0" sz="18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tập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7271" y="1031812"/>
            <a:ext cx="8538146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Ví</a:t>
            </a:r>
            <a:r>
              <a:rPr dirty="0" sz="1800" spc="104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dụ</a:t>
            </a:r>
            <a:r>
              <a:rPr dirty="0" sz="1800" spc="112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3.1.</a:t>
            </a:r>
            <a:r>
              <a:rPr dirty="0" sz="1800" spc="93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Bộ</a:t>
            </a:r>
            <a:r>
              <a:rPr dirty="0" sz="18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truyền</a:t>
            </a:r>
            <a:r>
              <a:rPr dirty="0" sz="1800" spc="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BR</a:t>
            </a:r>
            <a:r>
              <a:rPr dirty="0" sz="1800" spc="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</a:t>
            </a:r>
            <a:r>
              <a:rPr dirty="0" sz="1800" spc="9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răng</a:t>
            </a:r>
            <a:r>
              <a:rPr dirty="0" sz="1800" spc="8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thẳng</a:t>
            </a:r>
            <a:r>
              <a:rPr dirty="0" sz="1800" spc="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dirty="0" sz="18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góc</a:t>
            </a:r>
            <a:r>
              <a:rPr dirty="0" sz="1800" spc="9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9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</a:t>
            </a:r>
            <a:r>
              <a:rPr dirty="0" sz="1800" spc="97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α</a:t>
            </a:r>
            <a:r>
              <a:rPr dirty="0" sz="1800" spc="9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dirty="0" sz="1800" baseline="29999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;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7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16,</a:t>
            </a:r>
            <a:r>
              <a:rPr dirty="0" sz="1800" spc="109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75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10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11">
                <a:solidFill>
                  <a:srgbClr val="000000"/>
                </a:solidFill>
                <a:latin typeface="Arial"/>
                <a:cs typeface="Arial"/>
              </a:rPr>
              <a:t>18,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16775" y="115718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17713" y="115718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7271" y="1443292"/>
            <a:ext cx="8536239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dirty="0" sz="1800" spc="6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72;</a:t>
            </a:r>
            <a:r>
              <a:rPr dirty="0" sz="1800" spc="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3.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Bánh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quay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dirty="0" sz="1800" spc="68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1725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v/p;</a:t>
            </a:r>
            <a:r>
              <a:rPr dirty="0" sz="1800" spc="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công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suất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P</a:t>
            </a:r>
            <a:r>
              <a:rPr dirty="0" sz="1800" spc="6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dirty="0" sz="1800" spc="2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3,4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kW.</a:t>
            </a:r>
            <a:r>
              <a:rPr dirty="0" sz="1800" spc="2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Xác</a:t>
            </a:r>
            <a:r>
              <a:rPr dirty="0" sz="1800" spc="18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định</a:t>
            </a:r>
            <a:r>
              <a:rPr dirty="0" sz="18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số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7479" y="156866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52926" y="156866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16675" y="1568662"/>
            <a:ext cx="237157" cy="208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7271" y="1854496"/>
            <a:ext cx="4149999" cy="2938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vòng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quay</a:t>
            </a:r>
            <a:r>
              <a:rPr dirty="0" sz="1800" spc="1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dirty="0" sz="1800" spc="13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trục</a:t>
            </a:r>
            <a:r>
              <a:rPr dirty="0" sz="1800" spc="-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lực</a:t>
            </a:r>
            <a:r>
              <a:rPr dirty="0" sz="1800" spc="12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ăn</a:t>
            </a:r>
            <a:r>
              <a:rPr dirty="0" sz="1800" spc="16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00"/>
                </a:solidFill>
                <a:latin typeface="Arial"/>
                <a:cs typeface="Arial"/>
              </a:rPr>
              <a:t>khớp.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doc2pdf</dc:creator>
  <cp:lastModifiedBy>doc2pdf</cp:lastModifiedBy>
  <cp:revision>1</cp:revision>
  <dcterms:modified xsi:type="dcterms:W3CDTF">2025-10-11T06:28:27+00:00</dcterms:modified>
</cp:coreProperties>
</file>