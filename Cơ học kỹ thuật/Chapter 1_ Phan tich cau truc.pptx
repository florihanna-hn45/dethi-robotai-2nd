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91" r:id="rId3"/>
    <p:sldId id="292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93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94" r:id="rId23"/>
    <p:sldId id="295" r:id="rId24"/>
    <p:sldId id="296" r:id="rId25"/>
    <p:sldId id="297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85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0D4D3B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0D4D3B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0D4D3B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0D4D3B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38858" y="118110"/>
            <a:ext cx="6066282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0D4D3B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7949" y="2609215"/>
            <a:ext cx="4304665" cy="2083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image" Target="../media/image10.jpg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17" Type="http://schemas.openxmlformats.org/officeDocument/2006/relationships/image" Target="../media/image61.png"/><Relationship Id="rId2" Type="http://schemas.openxmlformats.org/officeDocument/2006/relationships/image" Target="../media/image46.png"/><Relationship Id="rId16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5" Type="http://schemas.openxmlformats.org/officeDocument/2006/relationships/image" Target="../media/image5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17" Type="http://schemas.openxmlformats.org/officeDocument/2006/relationships/image" Target="../media/image77.png"/><Relationship Id="rId2" Type="http://schemas.openxmlformats.org/officeDocument/2006/relationships/image" Target="../media/image62.jpg"/><Relationship Id="rId16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5" Type="http://schemas.openxmlformats.org/officeDocument/2006/relationships/image" Target="../media/image75.jp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Relationship Id="rId14" Type="http://schemas.openxmlformats.org/officeDocument/2006/relationships/image" Target="../media/image7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g"/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g"/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g"/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jp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g"/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102.png"/><Relationship Id="rId18" Type="http://schemas.openxmlformats.org/officeDocument/2006/relationships/image" Target="../media/image107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12" Type="http://schemas.openxmlformats.org/officeDocument/2006/relationships/image" Target="../media/image101.png"/><Relationship Id="rId17" Type="http://schemas.openxmlformats.org/officeDocument/2006/relationships/image" Target="../media/image106.png"/><Relationship Id="rId2" Type="http://schemas.openxmlformats.org/officeDocument/2006/relationships/image" Target="../media/image91.png"/><Relationship Id="rId16" Type="http://schemas.openxmlformats.org/officeDocument/2006/relationships/image" Target="../media/image10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5.png"/><Relationship Id="rId11" Type="http://schemas.openxmlformats.org/officeDocument/2006/relationships/image" Target="../media/image100.png"/><Relationship Id="rId5" Type="http://schemas.openxmlformats.org/officeDocument/2006/relationships/image" Target="../media/image94.png"/><Relationship Id="rId15" Type="http://schemas.openxmlformats.org/officeDocument/2006/relationships/image" Target="../media/image104.png"/><Relationship Id="rId10" Type="http://schemas.openxmlformats.org/officeDocument/2006/relationships/image" Target="../media/image99.png"/><Relationship Id="rId19" Type="http://schemas.openxmlformats.org/officeDocument/2006/relationships/image" Target="../media/image108.png"/><Relationship Id="rId4" Type="http://schemas.openxmlformats.org/officeDocument/2006/relationships/image" Target="../media/image93.png"/><Relationship Id="rId9" Type="http://schemas.openxmlformats.org/officeDocument/2006/relationships/image" Target="../media/image98.png"/><Relationship Id="rId14" Type="http://schemas.openxmlformats.org/officeDocument/2006/relationships/image" Target="../media/image10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7" Type="http://schemas.openxmlformats.org/officeDocument/2006/relationships/image" Target="../media/image116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13" Type="http://schemas.openxmlformats.org/officeDocument/2006/relationships/image" Target="../media/image131.png"/><Relationship Id="rId18" Type="http://schemas.openxmlformats.org/officeDocument/2006/relationships/image" Target="../media/image136.png"/><Relationship Id="rId3" Type="http://schemas.openxmlformats.org/officeDocument/2006/relationships/image" Target="../media/image121.png"/><Relationship Id="rId21" Type="http://schemas.openxmlformats.org/officeDocument/2006/relationships/image" Target="../media/image139.png"/><Relationship Id="rId7" Type="http://schemas.openxmlformats.org/officeDocument/2006/relationships/image" Target="../media/image125.png"/><Relationship Id="rId12" Type="http://schemas.openxmlformats.org/officeDocument/2006/relationships/image" Target="../media/image130.png"/><Relationship Id="rId17" Type="http://schemas.openxmlformats.org/officeDocument/2006/relationships/image" Target="../media/image135.png"/><Relationship Id="rId2" Type="http://schemas.openxmlformats.org/officeDocument/2006/relationships/image" Target="../media/image120.png"/><Relationship Id="rId16" Type="http://schemas.openxmlformats.org/officeDocument/2006/relationships/image" Target="../media/image134.png"/><Relationship Id="rId20" Type="http://schemas.openxmlformats.org/officeDocument/2006/relationships/image" Target="../media/image1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png"/><Relationship Id="rId11" Type="http://schemas.openxmlformats.org/officeDocument/2006/relationships/image" Target="../media/image129.png"/><Relationship Id="rId5" Type="http://schemas.openxmlformats.org/officeDocument/2006/relationships/image" Target="../media/image123.png"/><Relationship Id="rId15" Type="http://schemas.openxmlformats.org/officeDocument/2006/relationships/image" Target="../media/image133.png"/><Relationship Id="rId10" Type="http://schemas.openxmlformats.org/officeDocument/2006/relationships/image" Target="../media/image128.png"/><Relationship Id="rId19" Type="http://schemas.openxmlformats.org/officeDocument/2006/relationships/image" Target="../media/image137.png"/><Relationship Id="rId4" Type="http://schemas.openxmlformats.org/officeDocument/2006/relationships/image" Target="../media/image122.png"/><Relationship Id="rId9" Type="http://schemas.openxmlformats.org/officeDocument/2006/relationships/image" Target="../media/image127.png"/><Relationship Id="rId14" Type="http://schemas.openxmlformats.org/officeDocument/2006/relationships/image" Target="../media/image132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3" Type="http://schemas.openxmlformats.org/officeDocument/2006/relationships/image" Target="../media/image140.png"/><Relationship Id="rId7" Type="http://schemas.openxmlformats.org/officeDocument/2006/relationships/image" Target="../media/image144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.png"/><Relationship Id="rId11" Type="http://schemas.openxmlformats.org/officeDocument/2006/relationships/image" Target="../media/image148.png"/><Relationship Id="rId5" Type="http://schemas.openxmlformats.org/officeDocument/2006/relationships/image" Target="../media/image142.png"/><Relationship Id="rId10" Type="http://schemas.openxmlformats.org/officeDocument/2006/relationships/image" Target="../media/image147.png"/><Relationship Id="rId4" Type="http://schemas.openxmlformats.org/officeDocument/2006/relationships/image" Target="../media/image141.png"/><Relationship Id="rId9" Type="http://schemas.openxmlformats.org/officeDocument/2006/relationships/image" Target="../media/image14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13" Type="http://schemas.openxmlformats.org/officeDocument/2006/relationships/image" Target="../media/image160.png"/><Relationship Id="rId3" Type="http://schemas.openxmlformats.org/officeDocument/2006/relationships/image" Target="../media/image154.png"/><Relationship Id="rId7" Type="http://schemas.openxmlformats.org/officeDocument/2006/relationships/image" Target="../media/image123.png"/><Relationship Id="rId12" Type="http://schemas.openxmlformats.org/officeDocument/2006/relationships/image" Target="../media/image159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6.png"/><Relationship Id="rId11" Type="http://schemas.openxmlformats.org/officeDocument/2006/relationships/image" Target="../media/image135.png"/><Relationship Id="rId5" Type="http://schemas.openxmlformats.org/officeDocument/2006/relationships/image" Target="../media/image127.png"/><Relationship Id="rId10" Type="http://schemas.openxmlformats.org/officeDocument/2006/relationships/image" Target="../media/image126.png"/><Relationship Id="rId4" Type="http://schemas.openxmlformats.org/officeDocument/2006/relationships/image" Target="../media/image155.png"/><Relationship Id="rId9" Type="http://schemas.openxmlformats.org/officeDocument/2006/relationships/image" Target="../media/image158.png"/><Relationship Id="rId14" Type="http://schemas.openxmlformats.org/officeDocument/2006/relationships/image" Target="../media/image129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png"/><Relationship Id="rId13" Type="http://schemas.openxmlformats.org/officeDocument/2006/relationships/image" Target="../media/image172.png"/><Relationship Id="rId18" Type="http://schemas.openxmlformats.org/officeDocument/2006/relationships/image" Target="../media/image177.png"/><Relationship Id="rId26" Type="http://schemas.openxmlformats.org/officeDocument/2006/relationships/image" Target="../media/image185.png"/><Relationship Id="rId3" Type="http://schemas.openxmlformats.org/officeDocument/2006/relationships/image" Target="../media/image162.png"/><Relationship Id="rId21" Type="http://schemas.openxmlformats.org/officeDocument/2006/relationships/image" Target="../media/image180.png"/><Relationship Id="rId7" Type="http://schemas.openxmlformats.org/officeDocument/2006/relationships/image" Target="../media/image166.png"/><Relationship Id="rId12" Type="http://schemas.openxmlformats.org/officeDocument/2006/relationships/image" Target="../media/image171.png"/><Relationship Id="rId17" Type="http://schemas.openxmlformats.org/officeDocument/2006/relationships/image" Target="../media/image176.png"/><Relationship Id="rId25" Type="http://schemas.openxmlformats.org/officeDocument/2006/relationships/image" Target="../media/image184.png"/><Relationship Id="rId2" Type="http://schemas.openxmlformats.org/officeDocument/2006/relationships/image" Target="../media/image161.png"/><Relationship Id="rId16" Type="http://schemas.openxmlformats.org/officeDocument/2006/relationships/image" Target="../media/image175.png"/><Relationship Id="rId20" Type="http://schemas.openxmlformats.org/officeDocument/2006/relationships/image" Target="../media/image1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5.png"/><Relationship Id="rId11" Type="http://schemas.openxmlformats.org/officeDocument/2006/relationships/image" Target="../media/image170.png"/><Relationship Id="rId24" Type="http://schemas.openxmlformats.org/officeDocument/2006/relationships/image" Target="../media/image183.png"/><Relationship Id="rId5" Type="http://schemas.openxmlformats.org/officeDocument/2006/relationships/image" Target="../media/image164.png"/><Relationship Id="rId15" Type="http://schemas.openxmlformats.org/officeDocument/2006/relationships/image" Target="../media/image174.png"/><Relationship Id="rId23" Type="http://schemas.openxmlformats.org/officeDocument/2006/relationships/image" Target="../media/image182.png"/><Relationship Id="rId28" Type="http://schemas.openxmlformats.org/officeDocument/2006/relationships/image" Target="../media/image187.png"/><Relationship Id="rId10" Type="http://schemas.openxmlformats.org/officeDocument/2006/relationships/image" Target="../media/image169.png"/><Relationship Id="rId19" Type="http://schemas.openxmlformats.org/officeDocument/2006/relationships/image" Target="../media/image178.png"/><Relationship Id="rId4" Type="http://schemas.openxmlformats.org/officeDocument/2006/relationships/image" Target="../media/image163.png"/><Relationship Id="rId9" Type="http://schemas.openxmlformats.org/officeDocument/2006/relationships/image" Target="../media/image168.png"/><Relationship Id="rId14" Type="http://schemas.openxmlformats.org/officeDocument/2006/relationships/image" Target="../media/image173.png"/><Relationship Id="rId22" Type="http://schemas.openxmlformats.org/officeDocument/2006/relationships/image" Target="../media/image181.png"/><Relationship Id="rId27" Type="http://schemas.openxmlformats.org/officeDocument/2006/relationships/image" Target="../media/image186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png"/><Relationship Id="rId13" Type="http://schemas.openxmlformats.org/officeDocument/2006/relationships/image" Target="../media/image195.png"/><Relationship Id="rId18" Type="http://schemas.openxmlformats.org/officeDocument/2006/relationships/image" Target="../media/image198.png"/><Relationship Id="rId3" Type="http://schemas.openxmlformats.org/officeDocument/2006/relationships/image" Target="../media/image128.png"/><Relationship Id="rId7" Type="http://schemas.openxmlformats.org/officeDocument/2006/relationships/image" Target="../media/image139.png"/><Relationship Id="rId12" Type="http://schemas.openxmlformats.org/officeDocument/2006/relationships/image" Target="../media/image194.png"/><Relationship Id="rId17" Type="http://schemas.openxmlformats.org/officeDocument/2006/relationships/image" Target="../media/image129.png"/><Relationship Id="rId2" Type="http://schemas.openxmlformats.org/officeDocument/2006/relationships/image" Target="../media/image188.png"/><Relationship Id="rId16" Type="http://schemas.openxmlformats.org/officeDocument/2006/relationships/image" Target="../media/image135.png"/><Relationship Id="rId20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11" Type="http://schemas.openxmlformats.org/officeDocument/2006/relationships/image" Target="../media/image193.png"/><Relationship Id="rId5" Type="http://schemas.openxmlformats.org/officeDocument/2006/relationships/image" Target="../media/image189.png"/><Relationship Id="rId15" Type="http://schemas.openxmlformats.org/officeDocument/2006/relationships/image" Target="../media/image197.png"/><Relationship Id="rId10" Type="http://schemas.openxmlformats.org/officeDocument/2006/relationships/image" Target="../media/image134.png"/><Relationship Id="rId19" Type="http://schemas.openxmlformats.org/officeDocument/2006/relationships/image" Target="../media/image199.png"/><Relationship Id="rId4" Type="http://schemas.openxmlformats.org/officeDocument/2006/relationships/image" Target="../media/image132.png"/><Relationship Id="rId9" Type="http://schemas.openxmlformats.org/officeDocument/2006/relationships/image" Target="../media/image192.png"/><Relationship Id="rId14" Type="http://schemas.openxmlformats.org/officeDocument/2006/relationships/image" Target="../media/image196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png"/><Relationship Id="rId13" Type="http://schemas.openxmlformats.org/officeDocument/2006/relationships/image" Target="../media/image128.png"/><Relationship Id="rId3" Type="http://schemas.openxmlformats.org/officeDocument/2006/relationships/image" Target="../media/image126.png"/><Relationship Id="rId7" Type="http://schemas.openxmlformats.org/officeDocument/2006/relationships/image" Target="../media/image204.png"/><Relationship Id="rId12" Type="http://schemas.openxmlformats.org/officeDocument/2006/relationships/image" Target="../media/image135.png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3.png"/><Relationship Id="rId11" Type="http://schemas.openxmlformats.org/officeDocument/2006/relationships/image" Target="../media/image132.png"/><Relationship Id="rId5" Type="http://schemas.openxmlformats.org/officeDocument/2006/relationships/image" Target="../media/image129.png"/><Relationship Id="rId10" Type="http://schemas.openxmlformats.org/officeDocument/2006/relationships/image" Target="../media/image207.png"/><Relationship Id="rId4" Type="http://schemas.openxmlformats.org/officeDocument/2006/relationships/image" Target="../media/image202.png"/><Relationship Id="rId9" Type="http://schemas.openxmlformats.org/officeDocument/2006/relationships/image" Target="../media/image206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png"/><Relationship Id="rId13" Type="http://schemas.openxmlformats.org/officeDocument/2006/relationships/image" Target="../media/image219.png"/><Relationship Id="rId18" Type="http://schemas.openxmlformats.org/officeDocument/2006/relationships/image" Target="../media/image224.png"/><Relationship Id="rId3" Type="http://schemas.openxmlformats.org/officeDocument/2006/relationships/image" Target="../media/image209.png"/><Relationship Id="rId21" Type="http://schemas.openxmlformats.org/officeDocument/2006/relationships/image" Target="../media/image227.png"/><Relationship Id="rId7" Type="http://schemas.openxmlformats.org/officeDocument/2006/relationships/image" Target="../media/image213.png"/><Relationship Id="rId12" Type="http://schemas.openxmlformats.org/officeDocument/2006/relationships/image" Target="../media/image218.png"/><Relationship Id="rId17" Type="http://schemas.openxmlformats.org/officeDocument/2006/relationships/image" Target="../media/image223.png"/><Relationship Id="rId25" Type="http://schemas.openxmlformats.org/officeDocument/2006/relationships/image" Target="../media/image231.png"/><Relationship Id="rId2" Type="http://schemas.openxmlformats.org/officeDocument/2006/relationships/image" Target="../media/image208.png"/><Relationship Id="rId16" Type="http://schemas.openxmlformats.org/officeDocument/2006/relationships/image" Target="../media/image222.png"/><Relationship Id="rId20" Type="http://schemas.openxmlformats.org/officeDocument/2006/relationships/image" Target="../media/image2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2.png"/><Relationship Id="rId11" Type="http://schemas.openxmlformats.org/officeDocument/2006/relationships/image" Target="../media/image217.png"/><Relationship Id="rId24" Type="http://schemas.openxmlformats.org/officeDocument/2006/relationships/image" Target="../media/image230.png"/><Relationship Id="rId5" Type="http://schemas.openxmlformats.org/officeDocument/2006/relationships/image" Target="../media/image211.png"/><Relationship Id="rId15" Type="http://schemas.openxmlformats.org/officeDocument/2006/relationships/image" Target="../media/image221.png"/><Relationship Id="rId23" Type="http://schemas.openxmlformats.org/officeDocument/2006/relationships/image" Target="../media/image229.png"/><Relationship Id="rId10" Type="http://schemas.openxmlformats.org/officeDocument/2006/relationships/image" Target="../media/image216.png"/><Relationship Id="rId19" Type="http://schemas.openxmlformats.org/officeDocument/2006/relationships/image" Target="../media/image225.png"/><Relationship Id="rId4" Type="http://schemas.openxmlformats.org/officeDocument/2006/relationships/image" Target="../media/image210.png"/><Relationship Id="rId9" Type="http://schemas.openxmlformats.org/officeDocument/2006/relationships/image" Target="../media/image215.png"/><Relationship Id="rId14" Type="http://schemas.openxmlformats.org/officeDocument/2006/relationships/image" Target="../media/image220.png"/><Relationship Id="rId22" Type="http://schemas.openxmlformats.org/officeDocument/2006/relationships/image" Target="../media/image22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3.jpg"/><Relationship Id="rId2" Type="http://schemas.openxmlformats.org/officeDocument/2006/relationships/image" Target="../media/image23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5.jpg"/><Relationship Id="rId4" Type="http://schemas.openxmlformats.org/officeDocument/2006/relationships/image" Target="../media/image234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7.png"/><Relationship Id="rId2" Type="http://schemas.openxmlformats.org/officeDocument/2006/relationships/image" Target="../media/image236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9.jpg"/><Relationship Id="rId2" Type="http://schemas.openxmlformats.org/officeDocument/2006/relationships/image" Target="../media/image23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1.jpg"/><Relationship Id="rId4" Type="http://schemas.openxmlformats.org/officeDocument/2006/relationships/image" Target="../media/image240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jpg"/><Relationship Id="rId7" Type="http://schemas.openxmlformats.org/officeDocument/2006/relationships/image" Target="../media/image247.jpg"/><Relationship Id="rId2" Type="http://schemas.openxmlformats.org/officeDocument/2006/relationships/image" Target="../media/image24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6.jpg"/><Relationship Id="rId5" Type="http://schemas.openxmlformats.org/officeDocument/2006/relationships/image" Target="../media/image245.jpg"/><Relationship Id="rId4" Type="http://schemas.openxmlformats.org/officeDocument/2006/relationships/image" Target="../media/image24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8806053" y="120522"/>
            <a:ext cx="219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1.1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EF7E02-EF4D-45F4-B1BA-A794D61C8615}"/>
              </a:ext>
            </a:extLst>
          </p:cNvPr>
          <p:cNvSpPr txBox="1"/>
          <p:nvPr/>
        </p:nvSpPr>
        <p:spPr>
          <a:xfrm>
            <a:off x="1676400" y="2505670"/>
            <a:ext cx="64008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4400" b="1" i="0" dirty="0">
                <a:solidFill>
                  <a:srgbClr val="000000"/>
                </a:solidFill>
                <a:effectLst/>
                <a:latin typeface="CIDFont+F2"/>
              </a:rPr>
              <a:t>CƠ HỌC KỸ THUẬT ROBOT</a:t>
            </a:r>
            <a:r>
              <a:rPr lang="vi-VN" sz="4400" dirty="0"/>
              <a:t> </a:t>
            </a:r>
            <a:br>
              <a:rPr lang="vi-VN" dirty="0"/>
            </a:b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1BAD9B-3180-8103-8E00-04443AF3D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09" y="533400"/>
            <a:ext cx="8763000" cy="17885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86978D-1ECC-0F51-9878-E7DE14657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54" y="2935898"/>
            <a:ext cx="8743709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246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D2D00B-5B1A-A1B7-397D-185D8835C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371600"/>
            <a:ext cx="8610600" cy="37839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F6FB2D-0056-526A-5E20-C8BEF596A0F3}"/>
              </a:ext>
            </a:extLst>
          </p:cNvPr>
          <p:cNvSpPr txBox="1"/>
          <p:nvPr/>
        </p:nvSpPr>
        <p:spPr>
          <a:xfrm>
            <a:off x="1600200" y="457200"/>
            <a:ext cx="64008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000000"/>
                </a:solidFill>
                <a:latin typeface="CIDFont+F2"/>
              </a:rPr>
              <a:t>ĐÁNH GIÁ HỌC PHẦN</a:t>
            </a:r>
            <a:br>
              <a:rPr lang="vi-V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831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7217" y="218948"/>
            <a:ext cx="378332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Arial"/>
                <a:cs typeface="Arial"/>
              </a:rPr>
              <a:t>GIỚI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THIỆU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MÔN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HỌC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2933" y="1447800"/>
            <a:ext cx="7938134" cy="2850524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7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Nội</a:t>
            </a:r>
            <a:r>
              <a:rPr sz="1700" b="1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7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dung</a:t>
            </a:r>
            <a:r>
              <a:rPr sz="1700" b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7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môn </a:t>
            </a:r>
            <a:r>
              <a:rPr sz="17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học:</a:t>
            </a:r>
            <a:endParaRPr sz="1700" dirty="0">
              <a:latin typeface="Arial"/>
              <a:cs typeface="Arial"/>
            </a:endParaRPr>
          </a:p>
          <a:p>
            <a:pPr marL="241300" marR="5080">
              <a:lnSpc>
                <a:spcPct val="110000"/>
              </a:lnSpc>
              <a:spcBef>
                <a:spcPts val="600"/>
              </a:spcBef>
            </a:pPr>
            <a:r>
              <a:rPr sz="1700" dirty="0">
                <a:latin typeface="Arial"/>
                <a:cs typeface="Arial"/>
              </a:rPr>
              <a:t>Cung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cấp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các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kiến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thức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kiến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thức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cơ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bản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về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cơ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cấu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và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máy,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cách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giải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quyết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các </a:t>
            </a:r>
            <a:r>
              <a:rPr sz="1700" dirty="0">
                <a:latin typeface="Arial"/>
                <a:cs typeface="Arial"/>
              </a:rPr>
              <a:t>bài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toán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về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động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học,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động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lực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học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của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các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cơ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cấu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và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máy.</a:t>
            </a:r>
            <a:endParaRPr sz="1700" dirty="0">
              <a:latin typeface="Arial"/>
              <a:cs typeface="Arial"/>
            </a:endParaRPr>
          </a:p>
          <a:p>
            <a:pPr marR="5576570" algn="ctr">
              <a:lnSpc>
                <a:spcPct val="100000"/>
              </a:lnSpc>
              <a:spcBef>
                <a:spcPts val="805"/>
              </a:spcBef>
            </a:pPr>
            <a:r>
              <a:rPr sz="17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Phương</a:t>
            </a:r>
            <a:r>
              <a:rPr sz="1700" b="1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7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pháp</a:t>
            </a:r>
            <a:r>
              <a:rPr sz="17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7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học</a:t>
            </a:r>
            <a:r>
              <a:rPr sz="17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7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tập</a:t>
            </a:r>
            <a:r>
              <a:rPr sz="1700" b="1" spc="-20" dirty="0">
                <a:latin typeface="Arial"/>
                <a:cs typeface="Arial"/>
              </a:rPr>
              <a:t>:</a:t>
            </a:r>
            <a:endParaRPr sz="1700" dirty="0">
              <a:latin typeface="Arial"/>
              <a:cs typeface="Arial"/>
            </a:endParaRPr>
          </a:p>
          <a:p>
            <a:pPr marL="130810" marR="5582920" indent="-130810" algn="ctr">
              <a:lnSpc>
                <a:spcPct val="100000"/>
              </a:lnSpc>
              <a:spcBef>
                <a:spcPts val="805"/>
              </a:spcBef>
              <a:buChar char="-"/>
              <a:tabLst>
                <a:tab pos="130810" algn="l"/>
              </a:tabLst>
            </a:pPr>
            <a:r>
              <a:rPr sz="1700" dirty="0">
                <a:latin typeface="Arial"/>
                <a:cs typeface="Arial"/>
              </a:rPr>
              <a:t>Có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tài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liệu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học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tập</a:t>
            </a:r>
            <a:endParaRPr sz="1700" dirty="0">
              <a:latin typeface="Arial"/>
              <a:cs typeface="Arial"/>
            </a:endParaRPr>
          </a:p>
          <a:p>
            <a:pPr marL="372110" indent="-130810">
              <a:lnSpc>
                <a:spcPct val="100000"/>
              </a:lnSpc>
              <a:spcBef>
                <a:spcPts val="805"/>
              </a:spcBef>
              <a:buChar char="-"/>
              <a:tabLst>
                <a:tab pos="372110" algn="l"/>
              </a:tabLst>
            </a:pPr>
            <a:r>
              <a:rPr sz="1700" dirty="0">
                <a:latin typeface="Arial"/>
                <a:cs typeface="Arial"/>
              </a:rPr>
              <a:t>Tham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gia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đầy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đủ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các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buổi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học</a:t>
            </a:r>
            <a:endParaRPr sz="1700" dirty="0">
              <a:latin typeface="Arial"/>
              <a:cs typeface="Arial"/>
            </a:endParaRPr>
          </a:p>
          <a:p>
            <a:pPr marL="372110" indent="-130810">
              <a:lnSpc>
                <a:spcPct val="100000"/>
              </a:lnSpc>
              <a:spcBef>
                <a:spcPts val="805"/>
              </a:spcBef>
              <a:buChar char="-"/>
              <a:tabLst>
                <a:tab pos="372110" algn="l"/>
              </a:tabLst>
            </a:pPr>
            <a:r>
              <a:rPr sz="1700" dirty="0">
                <a:latin typeface="Arial"/>
                <a:cs typeface="Arial"/>
              </a:rPr>
              <a:t>Làm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đầy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đủ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các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bài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tập (tự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làm)</a:t>
            </a:r>
            <a:endParaRPr sz="1700" dirty="0">
              <a:latin typeface="Arial"/>
              <a:cs typeface="Arial"/>
            </a:endParaRPr>
          </a:p>
          <a:p>
            <a:pPr marL="372110" indent="-130810">
              <a:lnSpc>
                <a:spcPct val="100000"/>
              </a:lnSpc>
              <a:spcBef>
                <a:spcPts val="805"/>
              </a:spcBef>
              <a:buChar char="-"/>
              <a:tabLst>
                <a:tab pos="372110" algn="l"/>
              </a:tabLst>
            </a:pPr>
            <a:r>
              <a:rPr sz="1700" dirty="0">
                <a:latin typeface="Arial"/>
                <a:cs typeface="Arial"/>
              </a:rPr>
              <a:t>Chủ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động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trong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học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tập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và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ôn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tập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các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dạng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bài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toán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trong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 err="1">
                <a:latin typeface="Arial"/>
                <a:cs typeface="Arial"/>
              </a:rPr>
              <a:t>môn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-25" dirty="0" err="1">
                <a:latin typeface="Arial"/>
                <a:cs typeface="Arial"/>
              </a:rPr>
              <a:t>học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06053" y="120522"/>
            <a:ext cx="219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1.2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7217" y="218948"/>
            <a:ext cx="378332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Arial"/>
                <a:cs typeface="Arial"/>
              </a:rPr>
              <a:t>GIỚI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THIỆU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MÔN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HỌC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06053" y="120522"/>
            <a:ext cx="219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1.3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BC0B32-1E0D-2548-AB0F-6203AEBAE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28" y="1163321"/>
            <a:ext cx="8729853" cy="23726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0200" y="594486"/>
            <a:ext cx="8629650" cy="5615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5930" lvl="1" indent="-443230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Font typeface="Arial"/>
              <a:buAutoNum type="arabicPeriod"/>
              <a:tabLst>
                <a:tab pos="455930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Nội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dung</a:t>
            </a:r>
            <a:r>
              <a:rPr sz="18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và</a:t>
            </a:r>
            <a:r>
              <a:rPr sz="1800" b="1" spc="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mục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đích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của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phân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tích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cấu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trúc:</a:t>
            </a:r>
            <a:endParaRPr sz="1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975"/>
              </a:spcBef>
              <a:buClr>
                <a:srgbClr val="FF0000"/>
              </a:buClr>
              <a:buFont typeface="Arial"/>
              <a:buAutoNum type="arabicPeriod"/>
            </a:pPr>
            <a:endParaRPr sz="1800">
              <a:latin typeface="Arial"/>
              <a:cs typeface="Arial"/>
            </a:endParaRPr>
          </a:p>
          <a:p>
            <a:pPr marL="303530" lvl="2" indent="-285750">
              <a:lnSpc>
                <a:spcPct val="100000"/>
              </a:lnSpc>
              <a:spcBef>
                <a:spcPts val="5"/>
              </a:spcBef>
              <a:buFont typeface="Wingdings"/>
              <a:buChar char=""/>
              <a:tabLst>
                <a:tab pos="303530" algn="l"/>
              </a:tabLst>
            </a:pPr>
            <a:r>
              <a:rPr sz="1800" b="1" dirty="0">
                <a:solidFill>
                  <a:srgbClr val="33339A"/>
                </a:solidFill>
                <a:latin typeface="Arial"/>
                <a:cs typeface="Arial"/>
              </a:rPr>
              <a:t>Nội</a:t>
            </a:r>
            <a:r>
              <a:rPr sz="1800" b="1" spc="-35" dirty="0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3339A"/>
                </a:solidFill>
                <a:latin typeface="Arial"/>
                <a:cs typeface="Arial"/>
              </a:rPr>
              <a:t>dung:</a:t>
            </a:r>
            <a:endParaRPr sz="1800">
              <a:latin typeface="Arial"/>
              <a:cs typeface="Arial"/>
            </a:endParaRPr>
          </a:p>
          <a:p>
            <a:pPr marL="304165" indent="-286385">
              <a:lnSpc>
                <a:spcPct val="100000"/>
              </a:lnSpc>
              <a:spcBef>
                <a:spcPts val="1080"/>
              </a:spcBef>
              <a:buChar char="•"/>
              <a:tabLst>
                <a:tab pos="304165" algn="l"/>
              </a:tabLst>
            </a:pPr>
            <a:r>
              <a:rPr sz="1800" dirty="0">
                <a:latin typeface="Arial"/>
                <a:cs typeface="Arial"/>
              </a:rPr>
              <a:t>Khảo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sát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cơ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điều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kiện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để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cơ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có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chuyển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động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xác </a:t>
            </a:r>
            <a:r>
              <a:rPr sz="1800" spc="-10" dirty="0">
                <a:latin typeface="Arial"/>
                <a:cs typeface="Arial"/>
              </a:rPr>
              <a:t>định;</a:t>
            </a:r>
            <a:endParaRPr sz="1800">
              <a:latin typeface="Arial"/>
              <a:cs typeface="Arial"/>
            </a:endParaRPr>
          </a:p>
          <a:p>
            <a:pPr marL="304165" indent="-286385">
              <a:lnSpc>
                <a:spcPct val="100000"/>
              </a:lnSpc>
              <a:spcBef>
                <a:spcPts val="1080"/>
              </a:spcBef>
              <a:buChar char="•"/>
              <a:tabLst>
                <a:tab pos="304165" algn="l"/>
              </a:tabLst>
            </a:pPr>
            <a:r>
              <a:rPr sz="1800" dirty="0">
                <a:latin typeface="Arial"/>
                <a:cs typeface="Arial"/>
              </a:rPr>
              <a:t>Phân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loại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cơ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theo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đặc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trưng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trúc;</a:t>
            </a:r>
            <a:endParaRPr sz="1800">
              <a:latin typeface="Arial"/>
              <a:cs typeface="Arial"/>
            </a:endParaRPr>
          </a:p>
          <a:p>
            <a:pPr marL="304165" indent="-286385">
              <a:lnSpc>
                <a:spcPct val="100000"/>
              </a:lnSpc>
              <a:spcBef>
                <a:spcPts val="1080"/>
              </a:spcBef>
              <a:buChar char="•"/>
              <a:tabLst>
                <a:tab pos="304165" algn="l"/>
              </a:tabLst>
            </a:pPr>
            <a:r>
              <a:rPr sz="1800" dirty="0">
                <a:latin typeface="Arial"/>
                <a:cs typeface="Arial"/>
              </a:rPr>
              <a:t>Nghiên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cứu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nguyên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lý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tạo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thành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cơ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cấu;</a:t>
            </a:r>
            <a:endParaRPr sz="1800">
              <a:latin typeface="Arial"/>
              <a:cs typeface="Arial"/>
            </a:endParaRPr>
          </a:p>
          <a:p>
            <a:pPr marL="304165" indent="-286385">
              <a:lnSpc>
                <a:spcPct val="100000"/>
              </a:lnSpc>
              <a:spcBef>
                <a:spcPts val="1080"/>
              </a:spcBef>
              <a:buChar char="•"/>
              <a:tabLst>
                <a:tab pos="304165" algn="l"/>
              </a:tabLst>
            </a:pPr>
            <a:r>
              <a:rPr sz="1800" dirty="0">
                <a:latin typeface="Arial"/>
                <a:cs typeface="Arial"/>
              </a:rPr>
              <a:t>Xây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dựng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lược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đồ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cơ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cấu.</a:t>
            </a:r>
            <a:endParaRPr sz="1800">
              <a:latin typeface="Arial"/>
              <a:cs typeface="Arial"/>
            </a:endParaRPr>
          </a:p>
          <a:p>
            <a:pPr marL="367665" indent="-349885" algn="just">
              <a:lnSpc>
                <a:spcPct val="100000"/>
              </a:lnSpc>
              <a:spcBef>
                <a:spcPts val="1080"/>
              </a:spcBef>
              <a:buFont typeface="Wingdings"/>
              <a:buChar char=""/>
              <a:tabLst>
                <a:tab pos="367665" algn="l"/>
              </a:tabLst>
            </a:pPr>
            <a:r>
              <a:rPr sz="1800" b="1" dirty="0">
                <a:solidFill>
                  <a:srgbClr val="33339A"/>
                </a:solidFill>
                <a:latin typeface="Arial"/>
                <a:cs typeface="Arial"/>
              </a:rPr>
              <a:t>Mục</a:t>
            </a:r>
            <a:r>
              <a:rPr sz="1800" b="1" spc="-30" dirty="0">
                <a:solidFill>
                  <a:srgbClr val="33339A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33339A"/>
                </a:solidFill>
                <a:latin typeface="Arial"/>
                <a:cs typeface="Arial"/>
              </a:rPr>
              <a:t>đích</a:t>
            </a:r>
            <a:endParaRPr sz="1800">
              <a:latin typeface="Arial"/>
              <a:cs typeface="Arial"/>
            </a:endParaRPr>
          </a:p>
          <a:p>
            <a:pPr marL="304165" marR="6350" indent="-287020" algn="just">
              <a:lnSpc>
                <a:spcPts val="3240"/>
              </a:lnSpc>
              <a:spcBef>
                <a:spcPts val="290"/>
              </a:spcBef>
              <a:buChar char="•"/>
              <a:tabLst>
                <a:tab pos="304165" algn="l"/>
              </a:tabLst>
            </a:pPr>
            <a:r>
              <a:rPr sz="1800" dirty="0">
                <a:latin typeface="Arial"/>
                <a:cs typeface="Arial"/>
              </a:rPr>
              <a:t>Biết</a:t>
            </a:r>
            <a:r>
              <a:rPr sz="1800" spc="1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nguyên</a:t>
            </a:r>
            <a:r>
              <a:rPr sz="1800" spc="1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lý</a:t>
            </a:r>
            <a:r>
              <a:rPr sz="1800" spc="1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hình</a:t>
            </a:r>
            <a:r>
              <a:rPr sz="1800" spc="1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thành</a:t>
            </a:r>
            <a:r>
              <a:rPr sz="1800" spc="1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và</a:t>
            </a:r>
            <a:r>
              <a:rPr sz="1800" spc="1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khả</a:t>
            </a:r>
            <a:r>
              <a:rPr sz="1800" spc="1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năng</a:t>
            </a:r>
            <a:r>
              <a:rPr sz="1800" spc="1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chuyển</a:t>
            </a:r>
            <a:r>
              <a:rPr sz="1800" spc="1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động</a:t>
            </a:r>
            <a:r>
              <a:rPr sz="1800" spc="1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1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cơ</a:t>
            </a:r>
            <a:r>
              <a:rPr sz="1800" spc="1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</a:t>
            </a:r>
            <a:r>
              <a:rPr sz="1800" spc="1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từ</a:t>
            </a:r>
            <a:r>
              <a:rPr sz="1800" spc="1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đó</a:t>
            </a:r>
            <a:r>
              <a:rPr sz="1800" spc="1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xác</a:t>
            </a:r>
            <a:r>
              <a:rPr sz="1800" spc="16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định </a:t>
            </a:r>
            <a:r>
              <a:rPr sz="1800" dirty="0">
                <a:latin typeface="Arial"/>
                <a:cs typeface="Arial"/>
              </a:rPr>
              <a:t>được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tính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công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nghệ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và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khả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năng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ứng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dụng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cơ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cấu.</a:t>
            </a:r>
            <a:endParaRPr sz="1800">
              <a:latin typeface="Arial"/>
              <a:cs typeface="Arial"/>
            </a:endParaRPr>
          </a:p>
          <a:p>
            <a:pPr marL="304165" marR="5080" indent="-287020" algn="just">
              <a:lnSpc>
                <a:spcPts val="3240"/>
              </a:lnSpc>
              <a:buChar char="•"/>
              <a:tabLst>
                <a:tab pos="304165" algn="l"/>
              </a:tabLst>
            </a:pPr>
            <a:r>
              <a:rPr sz="1800" dirty="0">
                <a:latin typeface="Arial"/>
                <a:cs typeface="Arial"/>
              </a:rPr>
              <a:t>Vì</a:t>
            </a:r>
            <a:r>
              <a:rPr sz="1800" spc="1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các</a:t>
            </a:r>
            <a:r>
              <a:rPr sz="1800" spc="1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tính</a:t>
            </a:r>
            <a:r>
              <a:rPr sz="1800" spc="1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chất</a:t>
            </a:r>
            <a:r>
              <a:rPr sz="1800" spc="1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động</a:t>
            </a:r>
            <a:r>
              <a:rPr sz="1800" spc="1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học,</a:t>
            </a:r>
            <a:r>
              <a:rPr sz="1800" spc="1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động</a:t>
            </a:r>
            <a:r>
              <a:rPr sz="1800" spc="1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lực</a:t>
            </a:r>
            <a:r>
              <a:rPr sz="1800" spc="1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học</a:t>
            </a:r>
            <a:r>
              <a:rPr sz="1800" spc="1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1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cơ</a:t>
            </a:r>
            <a:r>
              <a:rPr sz="1800" spc="1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</a:t>
            </a:r>
            <a:r>
              <a:rPr sz="1800" spc="1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và</a:t>
            </a:r>
            <a:r>
              <a:rPr sz="1800" spc="1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máy</a:t>
            </a:r>
            <a:r>
              <a:rPr sz="1800" spc="1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phụ</a:t>
            </a:r>
            <a:r>
              <a:rPr sz="1800" spc="1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thuộc</a:t>
            </a:r>
            <a:r>
              <a:rPr sz="1800" spc="1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vào</a:t>
            </a:r>
            <a:r>
              <a:rPr sz="1800" spc="15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cấu </a:t>
            </a:r>
            <a:r>
              <a:rPr sz="1800" dirty="0">
                <a:latin typeface="Arial"/>
                <a:cs typeface="Arial"/>
              </a:rPr>
              <a:t>trúc</a:t>
            </a:r>
            <a:r>
              <a:rPr sz="1800" spc="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1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chúng,</a:t>
            </a:r>
            <a:r>
              <a:rPr sz="1800" spc="1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do</a:t>
            </a:r>
            <a:r>
              <a:rPr sz="1800" spc="1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đó</a:t>
            </a:r>
            <a:r>
              <a:rPr sz="1800" spc="1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từ</a:t>
            </a:r>
            <a:r>
              <a:rPr sz="1800" spc="1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kết</a:t>
            </a:r>
            <a:r>
              <a:rPr sz="1800" spc="1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quả</a:t>
            </a:r>
            <a:r>
              <a:rPr sz="1800" spc="1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phân</a:t>
            </a:r>
            <a:r>
              <a:rPr sz="1800" spc="1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tích</a:t>
            </a:r>
            <a:r>
              <a:rPr sz="1800" spc="1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</a:t>
            </a:r>
            <a:r>
              <a:rPr sz="1800" spc="1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trúc</a:t>
            </a:r>
            <a:r>
              <a:rPr sz="1800" spc="1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</a:t>
            </a:r>
            <a:r>
              <a:rPr sz="1800" spc="1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chọn</a:t>
            </a:r>
            <a:r>
              <a:rPr sz="1800" spc="1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được</a:t>
            </a:r>
            <a:r>
              <a:rPr sz="1800" spc="1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phương</a:t>
            </a:r>
            <a:r>
              <a:rPr sz="1800" spc="12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pháp </a:t>
            </a:r>
            <a:r>
              <a:rPr sz="1800" dirty="0">
                <a:latin typeface="Arial"/>
                <a:cs typeface="Arial"/>
              </a:rPr>
              <a:t>nghiên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cứu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động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học,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động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lực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học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đối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với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từng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loại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cơ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và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máy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một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cách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hợp</a:t>
            </a:r>
            <a:endParaRPr sz="1800">
              <a:latin typeface="Arial"/>
              <a:cs typeface="Arial"/>
            </a:endParaRPr>
          </a:p>
          <a:p>
            <a:pPr marL="304165">
              <a:lnSpc>
                <a:spcPct val="100000"/>
              </a:lnSpc>
              <a:spcBef>
                <a:spcPts val="795"/>
              </a:spcBef>
            </a:pPr>
            <a:r>
              <a:rPr sz="1800" spc="-25" dirty="0">
                <a:latin typeface="Arial"/>
                <a:cs typeface="Arial"/>
              </a:rPr>
              <a:t>lý.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06053" y="120522"/>
            <a:ext cx="219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1.4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40" dirty="0"/>
              <a:t> </a:t>
            </a:r>
            <a:r>
              <a:rPr dirty="0"/>
              <a:t>1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TÍCH</a:t>
            </a:r>
            <a:r>
              <a:rPr spc="-60" dirty="0"/>
              <a:t> </a:t>
            </a:r>
            <a:r>
              <a:rPr dirty="0"/>
              <a:t>CẤU</a:t>
            </a:r>
            <a:r>
              <a:rPr spc="-70" dirty="0"/>
              <a:t> </a:t>
            </a:r>
            <a:r>
              <a:rPr dirty="0"/>
              <a:t>TRÚC</a:t>
            </a:r>
            <a:r>
              <a:rPr spc="-55" dirty="0"/>
              <a:t> </a:t>
            </a:r>
            <a:r>
              <a:rPr dirty="0"/>
              <a:t>CƠ</a:t>
            </a:r>
            <a:r>
              <a:rPr spc="-50" dirty="0"/>
              <a:t> </a:t>
            </a:r>
            <a:r>
              <a:rPr spc="-25" dirty="0"/>
              <a:t>CẤU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1523" y="1556766"/>
            <a:ext cx="8709025" cy="4434840"/>
            <a:chOff x="251523" y="1556766"/>
            <a:chExt cx="8709025" cy="44348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8407" y="1590700"/>
              <a:ext cx="4171949" cy="440053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693157" y="1586865"/>
              <a:ext cx="959485" cy="287020"/>
            </a:xfrm>
            <a:custGeom>
              <a:avLst/>
              <a:gdLst/>
              <a:ahLst/>
              <a:cxnLst/>
              <a:rect l="l" t="t" r="r" b="b"/>
              <a:pathLst>
                <a:path w="959485" h="287019">
                  <a:moveTo>
                    <a:pt x="959027" y="0"/>
                  </a:moveTo>
                  <a:lnTo>
                    <a:pt x="0" y="0"/>
                  </a:lnTo>
                  <a:lnTo>
                    <a:pt x="0" y="286638"/>
                  </a:lnTo>
                  <a:lnTo>
                    <a:pt x="959027" y="286638"/>
                  </a:lnTo>
                  <a:lnTo>
                    <a:pt x="9590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693157" y="1586865"/>
              <a:ext cx="959485" cy="287020"/>
            </a:xfrm>
            <a:custGeom>
              <a:avLst/>
              <a:gdLst/>
              <a:ahLst/>
              <a:cxnLst/>
              <a:rect l="l" t="t" r="r" b="b"/>
              <a:pathLst>
                <a:path w="959485" h="287019">
                  <a:moveTo>
                    <a:pt x="0" y="286638"/>
                  </a:moveTo>
                  <a:lnTo>
                    <a:pt x="959027" y="286638"/>
                  </a:lnTo>
                  <a:lnTo>
                    <a:pt x="959027" y="0"/>
                  </a:lnTo>
                  <a:lnTo>
                    <a:pt x="0" y="0"/>
                  </a:lnTo>
                  <a:lnTo>
                    <a:pt x="0" y="286638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1523" y="1556766"/>
              <a:ext cx="4824730" cy="1287780"/>
            </a:xfrm>
            <a:custGeom>
              <a:avLst/>
              <a:gdLst/>
              <a:ahLst/>
              <a:cxnLst/>
              <a:rect l="l" t="t" r="r" b="b"/>
              <a:pathLst>
                <a:path w="4824730" h="1287780">
                  <a:moveTo>
                    <a:pt x="4824476" y="0"/>
                  </a:moveTo>
                  <a:lnTo>
                    <a:pt x="0" y="0"/>
                  </a:lnTo>
                  <a:lnTo>
                    <a:pt x="0" y="1287526"/>
                  </a:lnTo>
                  <a:lnTo>
                    <a:pt x="4824476" y="1287526"/>
                  </a:lnTo>
                  <a:lnTo>
                    <a:pt x="48244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30200" y="477138"/>
            <a:ext cx="4665980" cy="419608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455930" lvl="1" indent="-443230">
              <a:lnSpc>
                <a:spcPct val="100000"/>
              </a:lnSpc>
              <a:spcBef>
                <a:spcPts val="1010"/>
              </a:spcBef>
              <a:buClr>
                <a:srgbClr val="FF0000"/>
              </a:buClr>
              <a:buFont typeface="Arial"/>
              <a:buAutoNum type="arabicPeriod" startAt="2"/>
              <a:tabLst>
                <a:tab pos="455930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Các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khái</a:t>
            </a:r>
            <a:r>
              <a:rPr sz="18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niệm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và</a:t>
            </a:r>
            <a:r>
              <a:rPr sz="1800" b="1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định</a:t>
            </a:r>
            <a:r>
              <a:rPr sz="18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nghĩa</a:t>
            </a:r>
            <a:r>
              <a:rPr sz="18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cơ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bản</a:t>
            </a:r>
            <a:endParaRPr sz="1800">
              <a:latin typeface="Arial"/>
              <a:cs typeface="Arial"/>
            </a:endParaRPr>
          </a:p>
          <a:p>
            <a:pPr marL="645160" lvl="2" indent="-632460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645160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Chi</a:t>
            </a:r>
            <a:r>
              <a:rPr sz="18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tiết</a:t>
            </a:r>
            <a:r>
              <a:rPr sz="18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máy</a:t>
            </a:r>
            <a:endParaRPr sz="180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Font typeface="Arial"/>
              <a:buAutoNum type="arabicPeriod"/>
            </a:pPr>
            <a:endParaRPr sz="1800">
              <a:latin typeface="Arial"/>
              <a:cs typeface="Arial"/>
            </a:endParaRPr>
          </a:p>
          <a:p>
            <a:pPr marL="12700" marR="5080" algn="just">
              <a:lnSpc>
                <a:spcPct val="150000"/>
              </a:lnSpc>
            </a:pPr>
            <a:r>
              <a:rPr sz="1800" dirty="0">
                <a:latin typeface="Arial"/>
                <a:cs typeface="Arial"/>
              </a:rPr>
              <a:t>Máy</a:t>
            </a:r>
            <a:r>
              <a:rPr sz="1800" spc="2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có</a:t>
            </a:r>
            <a:r>
              <a:rPr sz="1800" spc="2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thể</a:t>
            </a:r>
            <a:r>
              <a:rPr sz="1800" spc="2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tháo</a:t>
            </a:r>
            <a:r>
              <a:rPr sz="1800" spc="2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rời</a:t>
            </a:r>
            <a:r>
              <a:rPr sz="1800" spc="2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ra</a:t>
            </a:r>
            <a:r>
              <a:rPr sz="1800" spc="2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thành</a:t>
            </a:r>
            <a:r>
              <a:rPr sz="1800" spc="2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nhiều</a:t>
            </a:r>
            <a:r>
              <a:rPr sz="1800" spc="2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bộ</a:t>
            </a:r>
            <a:r>
              <a:rPr sz="1800" spc="21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phận </a:t>
            </a:r>
            <a:r>
              <a:rPr sz="1800" dirty="0">
                <a:latin typeface="Arial"/>
                <a:cs typeface="Arial"/>
              </a:rPr>
              <a:t>khác</a:t>
            </a:r>
            <a:r>
              <a:rPr sz="1800" spc="4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nhau,</a:t>
            </a:r>
            <a:r>
              <a:rPr sz="1800" spc="4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bộ</a:t>
            </a:r>
            <a:r>
              <a:rPr sz="1800" spc="4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phận</a:t>
            </a:r>
            <a:r>
              <a:rPr sz="1800" spc="4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hoàn</a:t>
            </a:r>
            <a:r>
              <a:rPr sz="1800" spc="4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chỉnh</a:t>
            </a:r>
            <a:r>
              <a:rPr sz="1800" spc="409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không</a:t>
            </a:r>
            <a:r>
              <a:rPr sz="1800" spc="42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thể </a:t>
            </a:r>
            <a:r>
              <a:rPr sz="1800" dirty="0">
                <a:latin typeface="Arial"/>
                <a:cs typeface="Arial"/>
              </a:rPr>
              <a:t>tháo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rời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được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nữa gọi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chi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tiết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máy.</a:t>
            </a:r>
            <a:endParaRPr sz="1800">
              <a:latin typeface="Arial"/>
              <a:cs typeface="Arial"/>
            </a:endParaRPr>
          </a:p>
          <a:p>
            <a:pPr marL="299085" marR="1021080" lvl="3" indent="-287020">
              <a:lnSpc>
                <a:spcPct val="150000"/>
              </a:lnSpc>
              <a:spcBef>
                <a:spcPts val="1400"/>
              </a:spcBef>
              <a:buClr>
                <a:srgbClr val="1D9A78"/>
              </a:buClr>
              <a:buChar char="•"/>
              <a:tabLst>
                <a:tab pos="299085" algn="l"/>
              </a:tabLst>
            </a:pPr>
            <a:r>
              <a:rPr sz="1800" dirty="0">
                <a:latin typeface="Arial"/>
                <a:cs typeface="Arial"/>
              </a:rPr>
              <a:t>Cơ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hay máy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do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nhiều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chi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tiết </a:t>
            </a:r>
            <a:r>
              <a:rPr sz="1800" dirty="0">
                <a:latin typeface="Arial"/>
                <a:cs typeface="Arial"/>
              </a:rPr>
              <a:t>ghép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thành.</a:t>
            </a:r>
            <a:endParaRPr sz="1800">
              <a:latin typeface="Arial"/>
              <a:cs typeface="Arial"/>
            </a:endParaRPr>
          </a:p>
          <a:p>
            <a:pPr marL="299085" lvl="3" indent="-286385">
              <a:lnSpc>
                <a:spcPct val="100000"/>
              </a:lnSpc>
              <a:spcBef>
                <a:spcPts val="1515"/>
              </a:spcBef>
              <a:buClr>
                <a:srgbClr val="1D9A78"/>
              </a:buClr>
              <a:buChar char="•"/>
              <a:tabLst>
                <a:tab pos="299085" algn="l"/>
              </a:tabLst>
            </a:pPr>
            <a:r>
              <a:rPr sz="1800" dirty="0">
                <a:latin typeface="Arial"/>
                <a:cs typeface="Arial"/>
              </a:rPr>
              <a:t>Các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chi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tiết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máy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được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nối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động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hoặc</a:t>
            </a:r>
            <a:endParaRPr sz="1800">
              <a:latin typeface="Arial"/>
              <a:cs typeface="Arial"/>
            </a:endParaRPr>
          </a:p>
          <a:p>
            <a:pPr marL="299085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Arial"/>
                <a:cs typeface="Arial"/>
              </a:rPr>
              <a:t>nối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cứng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với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nhau.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06053" y="120522"/>
            <a:ext cx="219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1.5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544192" y="118110"/>
            <a:ext cx="60553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40" dirty="0"/>
              <a:t> </a:t>
            </a:r>
            <a:r>
              <a:rPr dirty="0"/>
              <a:t>1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TÍCH</a:t>
            </a:r>
            <a:r>
              <a:rPr spc="-60" dirty="0"/>
              <a:t> </a:t>
            </a:r>
            <a:r>
              <a:rPr dirty="0"/>
              <a:t>CẤU</a:t>
            </a:r>
            <a:r>
              <a:rPr spc="-70" dirty="0"/>
              <a:t> </a:t>
            </a:r>
            <a:r>
              <a:rPr dirty="0"/>
              <a:t>TRÚC</a:t>
            </a:r>
            <a:r>
              <a:rPr spc="-55" dirty="0"/>
              <a:t> </a:t>
            </a:r>
            <a:r>
              <a:rPr dirty="0"/>
              <a:t>CƠ</a:t>
            </a:r>
            <a:r>
              <a:rPr spc="-50" dirty="0"/>
              <a:t> </a:t>
            </a:r>
            <a:r>
              <a:rPr spc="-25" dirty="0"/>
              <a:t>CẤU</a:t>
            </a:r>
          </a:p>
        </p:txBody>
      </p:sp>
      <p:sp>
        <p:nvSpPr>
          <p:cNvPr id="10" name="object 10"/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0200" y="766698"/>
            <a:ext cx="4364355" cy="345186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455930" lvl="1" indent="-443230" algn="just">
              <a:lnSpc>
                <a:spcPct val="100000"/>
              </a:lnSpc>
              <a:spcBef>
                <a:spcPts val="1010"/>
              </a:spcBef>
              <a:buClr>
                <a:srgbClr val="FF0000"/>
              </a:buClr>
              <a:buFont typeface="Arial"/>
              <a:buAutoNum type="arabicPeriod" startAt="2"/>
              <a:tabLst>
                <a:tab pos="455930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Các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khái</a:t>
            </a:r>
            <a:r>
              <a:rPr sz="18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niệm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và</a:t>
            </a:r>
            <a:r>
              <a:rPr sz="1800" b="1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định</a:t>
            </a:r>
            <a:r>
              <a:rPr sz="18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nghĩa</a:t>
            </a:r>
            <a:r>
              <a:rPr sz="18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cơ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bản</a:t>
            </a:r>
            <a:endParaRPr sz="1800">
              <a:latin typeface="Arial"/>
              <a:cs typeface="Arial"/>
            </a:endParaRPr>
          </a:p>
          <a:p>
            <a:pPr marL="645160" lvl="2" indent="-632460" algn="just">
              <a:lnSpc>
                <a:spcPct val="100000"/>
              </a:lnSpc>
              <a:spcBef>
                <a:spcPts val="915"/>
              </a:spcBef>
              <a:buAutoNum type="arabicPeriod" startAt="2"/>
              <a:tabLst>
                <a:tab pos="645160" algn="l"/>
              </a:tabLst>
            </a:pP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Khâu</a:t>
            </a:r>
            <a:endParaRPr sz="1800">
              <a:latin typeface="Arial"/>
              <a:cs typeface="Arial"/>
            </a:endParaRPr>
          </a:p>
          <a:p>
            <a:pPr marL="12700" marR="62865" algn="just">
              <a:lnSpc>
                <a:spcPct val="150000"/>
              </a:lnSpc>
              <a:spcBef>
                <a:spcPts val="955"/>
              </a:spcBef>
            </a:pPr>
            <a:r>
              <a:rPr sz="1800" dirty="0">
                <a:latin typeface="Arial"/>
                <a:cs typeface="Arial"/>
              </a:rPr>
              <a:t>Máy</a:t>
            </a:r>
            <a:r>
              <a:rPr sz="1800" spc="40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gồm</a:t>
            </a:r>
            <a:r>
              <a:rPr sz="1800" spc="50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nhiều</a:t>
            </a:r>
            <a:r>
              <a:rPr sz="1800" spc="45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bộ</a:t>
            </a:r>
            <a:r>
              <a:rPr sz="1800" spc="40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phận</a:t>
            </a:r>
            <a:r>
              <a:rPr sz="1800" spc="45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chuyển</a:t>
            </a:r>
            <a:r>
              <a:rPr sz="1800" spc="40" dirty="0">
                <a:latin typeface="Arial"/>
                <a:cs typeface="Arial"/>
              </a:rPr>
              <a:t>  </a:t>
            </a:r>
            <a:r>
              <a:rPr sz="1800" spc="-20" dirty="0">
                <a:latin typeface="Arial"/>
                <a:cs typeface="Arial"/>
              </a:rPr>
              <a:t>động </a:t>
            </a:r>
            <a:r>
              <a:rPr sz="1800" dirty="0">
                <a:latin typeface="Arial"/>
                <a:cs typeface="Arial"/>
              </a:rPr>
              <a:t>tương</a:t>
            </a:r>
            <a:r>
              <a:rPr sz="1800" spc="1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đối</a:t>
            </a:r>
            <a:r>
              <a:rPr sz="1800" spc="1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với</a:t>
            </a:r>
            <a:r>
              <a:rPr sz="1800" spc="1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nhau.</a:t>
            </a:r>
            <a:r>
              <a:rPr sz="1800" spc="1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Mỗi</a:t>
            </a:r>
            <a:r>
              <a:rPr sz="1800" spc="1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bộ</a:t>
            </a:r>
            <a:r>
              <a:rPr sz="1800" spc="1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phận</a:t>
            </a:r>
            <a:r>
              <a:rPr sz="1800" spc="16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chuyển </a:t>
            </a:r>
            <a:r>
              <a:rPr sz="1800" dirty="0">
                <a:latin typeface="Arial"/>
                <a:cs typeface="Arial"/>
              </a:rPr>
              <a:t>động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riêng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biệt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được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gọi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một</a:t>
            </a:r>
            <a:r>
              <a:rPr sz="1800" spc="-10" dirty="0">
                <a:latin typeface="Arial"/>
                <a:cs typeface="Arial"/>
              </a:rPr>
              <a:t> khâu.</a:t>
            </a:r>
            <a:endParaRPr sz="1800">
              <a:latin typeface="Arial"/>
              <a:cs typeface="Arial"/>
            </a:endParaRPr>
          </a:p>
          <a:p>
            <a:pPr marL="299085" marR="60960" lvl="3" indent="-287020" algn="just">
              <a:lnSpc>
                <a:spcPct val="150100"/>
              </a:lnSpc>
              <a:spcBef>
                <a:spcPts val="425"/>
              </a:spcBef>
              <a:buClr>
                <a:srgbClr val="1D9A78"/>
              </a:buClr>
              <a:buChar char="•"/>
              <a:tabLst>
                <a:tab pos="299085" algn="l"/>
              </a:tabLst>
            </a:pPr>
            <a:r>
              <a:rPr sz="1800" dirty="0">
                <a:latin typeface="Arial"/>
                <a:cs typeface="Arial"/>
              </a:rPr>
              <a:t>Khâu</a:t>
            </a:r>
            <a:r>
              <a:rPr sz="1800" spc="28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có</a:t>
            </a:r>
            <a:r>
              <a:rPr sz="1800" spc="3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thể</a:t>
            </a:r>
            <a:r>
              <a:rPr sz="1800" spc="3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3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một</a:t>
            </a:r>
            <a:r>
              <a:rPr sz="1800" spc="3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chi</a:t>
            </a:r>
            <a:r>
              <a:rPr sz="1800" spc="3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tiết</a:t>
            </a:r>
            <a:r>
              <a:rPr sz="1800" spc="2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máy</a:t>
            </a:r>
            <a:r>
              <a:rPr sz="1800" spc="28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hoặc </a:t>
            </a:r>
            <a:r>
              <a:rPr sz="1800" dirty="0">
                <a:latin typeface="Arial"/>
                <a:cs typeface="Arial"/>
              </a:rPr>
              <a:t>nhiều</a:t>
            </a:r>
            <a:r>
              <a:rPr sz="1800" spc="4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chi</a:t>
            </a:r>
            <a:r>
              <a:rPr sz="1800" spc="4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tiết</a:t>
            </a:r>
            <a:r>
              <a:rPr sz="1800" spc="4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máy</a:t>
            </a:r>
            <a:r>
              <a:rPr sz="1800" spc="409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ghép</a:t>
            </a:r>
            <a:r>
              <a:rPr sz="1800" spc="4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cứng</a:t>
            </a:r>
            <a:r>
              <a:rPr sz="1800" spc="4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lại</a:t>
            </a:r>
            <a:r>
              <a:rPr sz="1800" spc="42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với </a:t>
            </a:r>
            <a:r>
              <a:rPr sz="1800" spc="-10" dirty="0">
                <a:latin typeface="Arial"/>
                <a:cs typeface="Arial"/>
              </a:rPr>
              <a:t>nhau.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92451" y="1052677"/>
            <a:ext cx="3780673" cy="488289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806053" y="120522"/>
            <a:ext cx="219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1.6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30" dirty="0"/>
              <a:t> </a:t>
            </a:r>
            <a:r>
              <a:rPr dirty="0"/>
              <a:t>1</a:t>
            </a:r>
            <a:r>
              <a:rPr spc="-45" dirty="0"/>
              <a:t> </a:t>
            </a:r>
            <a:r>
              <a:rPr dirty="0"/>
              <a:t>–</a:t>
            </a:r>
            <a:r>
              <a:rPr spc="-50" dirty="0"/>
              <a:t> </a:t>
            </a:r>
            <a:r>
              <a:rPr dirty="0"/>
              <a:t>PHÂN</a:t>
            </a:r>
            <a:r>
              <a:rPr spc="-40" dirty="0"/>
              <a:t> </a:t>
            </a:r>
            <a:r>
              <a:rPr dirty="0"/>
              <a:t>TÍCH</a:t>
            </a:r>
            <a:r>
              <a:rPr spc="-45" dirty="0"/>
              <a:t> </a:t>
            </a:r>
            <a:r>
              <a:rPr dirty="0"/>
              <a:t>CẤU</a:t>
            </a:r>
            <a:r>
              <a:rPr spc="-55" dirty="0"/>
              <a:t> </a:t>
            </a:r>
            <a:r>
              <a:rPr dirty="0"/>
              <a:t>TRÚC</a:t>
            </a:r>
            <a:r>
              <a:rPr spc="-45" dirty="0"/>
              <a:t> </a:t>
            </a:r>
            <a:r>
              <a:rPr dirty="0"/>
              <a:t>CƠ</a:t>
            </a:r>
            <a:r>
              <a:rPr spc="-45" dirty="0"/>
              <a:t> </a:t>
            </a:r>
            <a:r>
              <a:rPr spc="-25" dirty="0"/>
              <a:t>CẤU</a:t>
            </a:r>
          </a:p>
        </p:txBody>
      </p:sp>
      <p:sp>
        <p:nvSpPr>
          <p:cNvPr id="6" name="object 6"/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2100" y="477138"/>
            <a:ext cx="8620125" cy="276606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493395" lvl="1" indent="-442595">
              <a:lnSpc>
                <a:spcPct val="100000"/>
              </a:lnSpc>
              <a:spcBef>
                <a:spcPts val="1010"/>
              </a:spcBef>
              <a:buClr>
                <a:srgbClr val="FF0000"/>
              </a:buClr>
              <a:buFont typeface="Arial"/>
              <a:buAutoNum type="arabicPeriod" startAt="2"/>
              <a:tabLst>
                <a:tab pos="493395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Các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khái</a:t>
            </a:r>
            <a:r>
              <a:rPr sz="18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niệm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và</a:t>
            </a:r>
            <a:r>
              <a:rPr sz="1800" b="1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định</a:t>
            </a:r>
            <a:r>
              <a:rPr sz="18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nghĩa</a:t>
            </a:r>
            <a:r>
              <a:rPr sz="18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cơ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bản</a:t>
            </a:r>
            <a:endParaRPr sz="1800">
              <a:latin typeface="Arial"/>
              <a:cs typeface="Arial"/>
            </a:endParaRPr>
          </a:p>
          <a:p>
            <a:pPr marL="683260" lvl="2" indent="-632460">
              <a:lnSpc>
                <a:spcPct val="100000"/>
              </a:lnSpc>
              <a:spcBef>
                <a:spcPts val="915"/>
              </a:spcBef>
              <a:buAutoNum type="arabicPeriod" startAt="3"/>
              <a:tabLst>
                <a:tab pos="683260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Bậc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tự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do</a:t>
            </a:r>
            <a:endParaRPr sz="1800">
              <a:latin typeface="Arial"/>
              <a:cs typeface="Arial"/>
            </a:endParaRPr>
          </a:p>
          <a:p>
            <a:pPr marL="50800" marR="211454">
              <a:lnSpc>
                <a:spcPct val="150000"/>
              </a:lnSpc>
              <a:spcBef>
                <a:spcPts val="1610"/>
              </a:spcBef>
            </a:pPr>
            <a:r>
              <a:rPr sz="1800" dirty="0">
                <a:latin typeface="Arial"/>
                <a:cs typeface="Arial"/>
              </a:rPr>
              <a:t>Số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khả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năng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chuyển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động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độc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lập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một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vật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hay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một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cơ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gắn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với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một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hệ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quy </a:t>
            </a:r>
            <a:r>
              <a:rPr sz="1800" dirty="0">
                <a:latin typeface="Arial"/>
                <a:cs typeface="Arial"/>
              </a:rPr>
              <a:t>chiếu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cho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trước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được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gọi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bậc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tự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do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vật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hay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cơ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đó.</a:t>
            </a:r>
            <a:endParaRPr sz="1800">
              <a:latin typeface="Arial"/>
              <a:cs typeface="Arial"/>
            </a:endParaRPr>
          </a:p>
          <a:p>
            <a:pPr marL="337185" lvl="3" indent="-286385">
              <a:lnSpc>
                <a:spcPct val="100000"/>
              </a:lnSpc>
              <a:spcBef>
                <a:spcPts val="1510"/>
              </a:spcBef>
              <a:buClr>
                <a:srgbClr val="1D9A78"/>
              </a:buClr>
              <a:buChar char="•"/>
              <a:tabLst>
                <a:tab pos="337185" algn="l"/>
              </a:tabLst>
            </a:pPr>
            <a:r>
              <a:rPr sz="1800" dirty="0">
                <a:latin typeface="Arial"/>
                <a:cs typeface="Arial"/>
              </a:rPr>
              <a:t>Một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vật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tự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do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trong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hệ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quy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chiếu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phẳng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i="1" spc="-10" dirty="0">
                <a:latin typeface="Arial"/>
                <a:cs typeface="Arial"/>
              </a:rPr>
              <a:t>x-</a:t>
            </a:r>
            <a:r>
              <a:rPr sz="1800" i="1" dirty="0">
                <a:latin typeface="Arial"/>
                <a:cs typeface="Arial"/>
              </a:rPr>
              <a:t>y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có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3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BTD: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T</a:t>
            </a:r>
            <a:r>
              <a:rPr sz="1800" i="1" baseline="-20833" dirty="0">
                <a:latin typeface="Arial"/>
                <a:cs typeface="Arial"/>
              </a:rPr>
              <a:t>x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T</a:t>
            </a:r>
            <a:r>
              <a:rPr sz="1800" i="1" baseline="-20833" dirty="0">
                <a:latin typeface="Arial"/>
                <a:cs typeface="Arial"/>
              </a:rPr>
              <a:t>y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i="1" spc="-25" dirty="0">
                <a:latin typeface="Arial"/>
                <a:cs typeface="Arial"/>
              </a:rPr>
              <a:t>Q</a:t>
            </a:r>
            <a:r>
              <a:rPr sz="1800" i="1" spc="-37" baseline="-20833" dirty="0">
                <a:latin typeface="Arial"/>
                <a:cs typeface="Arial"/>
              </a:rPr>
              <a:t>z</a:t>
            </a:r>
            <a:endParaRPr sz="1800" baseline="-20833">
              <a:latin typeface="Arial"/>
              <a:cs typeface="Arial"/>
            </a:endParaRPr>
          </a:p>
          <a:p>
            <a:pPr marL="337185" lvl="3" indent="-286385">
              <a:lnSpc>
                <a:spcPct val="100000"/>
              </a:lnSpc>
              <a:spcBef>
                <a:spcPts val="1510"/>
              </a:spcBef>
              <a:buClr>
                <a:srgbClr val="1D9A78"/>
              </a:buClr>
              <a:buChar char="•"/>
              <a:tabLst>
                <a:tab pos="337185" algn="l"/>
              </a:tabLst>
            </a:pPr>
            <a:r>
              <a:rPr sz="1800" dirty="0">
                <a:latin typeface="Arial"/>
                <a:cs typeface="Arial"/>
              </a:rPr>
              <a:t>Một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vật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tự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do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trong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hệ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quy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chiếu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không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gian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i="1" spc="-10" dirty="0">
                <a:latin typeface="Arial"/>
                <a:cs typeface="Arial"/>
              </a:rPr>
              <a:t>x-y-</a:t>
            </a:r>
            <a:r>
              <a:rPr sz="1800" i="1" dirty="0">
                <a:latin typeface="Arial"/>
                <a:cs typeface="Arial"/>
              </a:rPr>
              <a:t>z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có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6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BTD: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T</a:t>
            </a:r>
            <a:r>
              <a:rPr sz="1800" i="1" baseline="-20833" dirty="0">
                <a:latin typeface="Arial"/>
                <a:cs typeface="Arial"/>
              </a:rPr>
              <a:t>x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T</a:t>
            </a:r>
            <a:r>
              <a:rPr sz="1800" i="1" baseline="-20833" dirty="0">
                <a:latin typeface="Arial"/>
                <a:cs typeface="Arial"/>
              </a:rPr>
              <a:t>y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T</a:t>
            </a:r>
            <a:r>
              <a:rPr sz="1800" i="1" baseline="-20833" dirty="0">
                <a:latin typeface="Arial"/>
                <a:cs typeface="Arial"/>
              </a:rPr>
              <a:t>z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Q</a:t>
            </a:r>
            <a:r>
              <a:rPr sz="1800" i="1" baseline="-20833" dirty="0">
                <a:latin typeface="Arial"/>
                <a:cs typeface="Arial"/>
              </a:rPr>
              <a:t>x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Q</a:t>
            </a:r>
            <a:r>
              <a:rPr sz="1800" i="1" baseline="-20833" dirty="0">
                <a:latin typeface="Arial"/>
                <a:cs typeface="Arial"/>
              </a:rPr>
              <a:t>y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i="1" spc="-25" dirty="0">
                <a:latin typeface="Arial"/>
                <a:cs typeface="Arial"/>
              </a:rPr>
              <a:t>Q</a:t>
            </a:r>
            <a:r>
              <a:rPr sz="1800" i="1" spc="-37" baseline="-20833" dirty="0">
                <a:latin typeface="Arial"/>
                <a:cs typeface="Arial"/>
              </a:rPr>
              <a:t>z</a:t>
            </a:r>
            <a:endParaRPr sz="1800" baseline="-20833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0224" y="3933063"/>
            <a:ext cx="1952180" cy="195214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665122" y="5788221"/>
            <a:ext cx="23241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0" dirty="0">
                <a:latin typeface="Cambria Math"/>
                <a:cs typeface="Cambria Math"/>
              </a:rPr>
              <a:t>x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33700" y="4835097"/>
            <a:ext cx="23812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0" dirty="0">
                <a:latin typeface="Cambria Math"/>
                <a:cs typeface="Cambria Math"/>
              </a:rPr>
              <a:t>y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33612" y="3566800"/>
            <a:ext cx="22479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0" dirty="0">
                <a:latin typeface="Cambria Math"/>
                <a:cs typeface="Cambria Math"/>
              </a:rPr>
              <a:t>z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42489" y="4435567"/>
            <a:ext cx="325120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900" spc="-620" dirty="0">
                <a:latin typeface="Cambria Math"/>
                <a:cs typeface="Cambria Math"/>
              </a:rPr>
              <a:t>T</a:t>
            </a:r>
            <a:r>
              <a:rPr sz="1650" spc="-82" baseline="-22727" dirty="0">
                <a:latin typeface="Cambria Math"/>
                <a:cs typeface="Cambria Math"/>
              </a:rPr>
              <a:t>z</a:t>
            </a:r>
            <a:endParaRPr sz="1650" baseline="-22727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63824" y="5502988"/>
            <a:ext cx="1339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50" dirty="0">
                <a:latin typeface="Cambria Math"/>
                <a:cs typeface="Cambria Math"/>
              </a:rPr>
              <a:t>x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15502" y="5342910"/>
            <a:ext cx="236854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spc="-50" dirty="0">
                <a:latin typeface="Cambria Math"/>
                <a:cs typeface="Cambria Math"/>
              </a:rPr>
              <a:t>T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75170" y="5326765"/>
            <a:ext cx="13652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50" dirty="0">
                <a:latin typeface="Cambria Math"/>
                <a:cs typeface="Cambria Math"/>
              </a:rPr>
              <a:t>y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18971" y="5166704"/>
            <a:ext cx="236854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spc="-50" dirty="0">
                <a:latin typeface="Cambria Math"/>
                <a:cs typeface="Cambria Math"/>
              </a:rPr>
              <a:t>T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956147" y="5490290"/>
            <a:ext cx="13652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50" dirty="0">
                <a:latin typeface="Cambria Math"/>
                <a:cs typeface="Cambria Math"/>
              </a:rPr>
              <a:t>y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78753" y="5330239"/>
            <a:ext cx="250190" cy="3136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spc="-50" dirty="0">
                <a:latin typeface="Cambria Math"/>
                <a:cs typeface="Cambria Math"/>
              </a:rPr>
              <a:t>Q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32726" y="5590580"/>
            <a:ext cx="353695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900" spc="-305" dirty="0">
                <a:latin typeface="Cambria Math"/>
                <a:cs typeface="Cambria Math"/>
              </a:rPr>
              <a:t>Q</a:t>
            </a:r>
            <a:r>
              <a:rPr sz="1650" spc="-457" baseline="-22727" dirty="0">
                <a:latin typeface="Cambria Math"/>
                <a:cs typeface="Cambria Math"/>
              </a:rPr>
              <a:t>x</a:t>
            </a:r>
            <a:endParaRPr sz="1650" baseline="-22727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06429" y="3917263"/>
            <a:ext cx="346075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900" spc="-570" dirty="0">
                <a:latin typeface="Cambria Math"/>
                <a:cs typeface="Cambria Math"/>
              </a:rPr>
              <a:t>Q</a:t>
            </a:r>
            <a:r>
              <a:rPr sz="1650" spc="-89" baseline="-22727" dirty="0">
                <a:latin typeface="Cambria Math"/>
                <a:cs typeface="Cambria Math"/>
              </a:rPr>
              <a:t>z</a:t>
            </a:r>
            <a:endParaRPr sz="1650" baseline="-22727">
              <a:latin typeface="Cambria Math"/>
              <a:cs typeface="Cambria Math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293494" y="4078922"/>
            <a:ext cx="1486535" cy="1270635"/>
            <a:chOff x="1293494" y="4078922"/>
            <a:chExt cx="1486535" cy="1270635"/>
          </a:xfrm>
        </p:grpSpPr>
        <p:sp>
          <p:nvSpPr>
            <p:cNvPr id="17" name="object 17"/>
            <p:cNvSpPr/>
            <p:nvPr/>
          </p:nvSpPr>
          <p:spPr>
            <a:xfrm>
              <a:off x="1403603" y="4086859"/>
              <a:ext cx="1368425" cy="1152525"/>
            </a:xfrm>
            <a:custGeom>
              <a:avLst/>
              <a:gdLst/>
              <a:ahLst/>
              <a:cxnLst/>
              <a:rect l="l" t="t" r="r" b="b"/>
              <a:pathLst>
                <a:path w="1368425" h="1152525">
                  <a:moveTo>
                    <a:pt x="0" y="0"/>
                  </a:moveTo>
                  <a:lnTo>
                    <a:pt x="0" y="1152143"/>
                  </a:lnTo>
                </a:path>
                <a:path w="1368425" h="1152525">
                  <a:moveTo>
                    <a:pt x="0" y="1152143"/>
                  </a:moveTo>
                  <a:lnTo>
                    <a:pt x="1368171" y="1152143"/>
                  </a:lnTo>
                </a:path>
              </a:pathLst>
            </a:custGeom>
            <a:ln w="15875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93495" y="4149089"/>
              <a:ext cx="1190625" cy="1200150"/>
            </a:xfrm>
            <a:custGeom>
              <a:avLst/>
              <a:gdLst/>
              <a:ahLst/>
              <a:cxnLst/>
              <a:rect l="l" t="t" r="r" b="b"/>
              <a:pathLst>
                <a:path w="1190625" h="1200150">
                  <a:moveTo>
                    <a:pt x="76200" y="127000"/>
                  </a:moveTo>
                  <a:lnTo>
                    <a:pt x="72390" y="114300"/>
                  </a:lnTo>
                  <a:lnTo>
                    <a:pt x="38100" y="0"/>
                  </a:lnTo>
                  <a:lnTo>
                    <a:pt x="0" y="127000"/>
                  </a:lnTo>
                  <a:lnTo>
                    <a:pt x="28575" y="127000"/>
                  </a:lnTo>
                  <a:lnTo>
                    <a:pt x="28575" y="665099"/>
                  </a:lnTo>
                  <a:lnTo>
                    <a:pt x="0" y="665099"/>
                  </a:lnTo>
                  <a:lnTo>
                    <a:pt x="38100" y="792099"/>
                  </a:lnTo>
                  <a:lnTo>
                    <a:pt x="72390" y="677799"/>
                  </a:lnTo>
                  <a:lnTo>
                    <a:pt x="76200" y="665099"/>
                  </a:lnTo>
                  <a:lnTo>
                    <a:pt x="47625" y="665099"/>
                  </a:lnTo>
                  <a:lnTo>
                    <a:pt x="47625" y="127000"/>
                  </a:lnTo>
                  <a:lnTo>
                    <a:pt x="76200" y="127000"/>
                  </a:lnTo>
                  <a:close/>
                </a:path>
                <a:path w="1190625" h="1200150">
                  <a:moveTo>
                    <a:pt x="1190244" y="1161923"/>
                  </a:moveTo>
                  <a:lnTo>
                    <a:pt x="1158494" y="1152398"/>
                  </a:lnTo>
                  <a:lnTo>
                    <a:pt x="1063244" y="1123823"/>
                  </a:lnTo>
                  <a:lnTo>
                    <a:pt x="1063244" y="1152398"/>
                  </a:lnTo>
                  <a:lnTo>
                    <a:pt x="525145" y="1152398"/>
                  </a:lnTo>
                  <a:lnTo>
                    <a:pt x="525145" y="1123823"/>
                  </a:lnTo>
                  <a:lnTo>
                    <a:pt x="398145" y="1161923"/>
                  </a:lnTo>
                  <a:lnTo>
                    <a:pt x="525145" y="1200023"/>
                  </a:lnTo>
                  <a:lnTo>
                    <a:pt x="525145" y="1171448"/>
                  </a:lnTo>
                  <a:lnTo>
                    <a:pt x="1063244" y="1171448"/>
                  </a:lnTo>
                  <a:lnTo>
                    <a:pt x="1063244" y="1200023"/>
                  </a:lnTo>
                  <a:lnTo>
                    <a:pt x="1158494" y="1171448"/>
                  </a:lnTo>
                  <a:lnTo>
                    <a:pt x="1190244" y="116192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790350" y="5020924"/>
            <a:ext cx="23241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0" dirty="0">
                <a:latin typeface="Cambria Math"/>
                <a:cs typeface="Cambria Math"/>
              </a:rPr>
              <a:t>x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91676" y="3688922"/>
            <a:ext cx="23812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0" dirty="0">
                <a:latin typeface="Cambria Math"/>
                <a:cs typeface="Cambria Math"/>
              </a:rPr>
              <a:t>y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89609" y="4429850"/>
            <a:ext cx="343535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900" spc="-290" dirty="0">
                <a:latin typeface="Cambria Math"/>
                <a:cs typeface="Cambria Math"/>
              </a:rPr>
              <a:t>T</a:t>
            </a:r>
            <a:r>
              <a:rPr sz="1650" spc="-434" baseline="-22727" dirty="0">
                <a:latin typeface="Cambria Math"/>
                <a:cs typeface="Cambria Math"/>
              </a:rPr>
              <a:t>y</a:t>
            </a:r>
            <a:endParaRPr sz="1650" baseline="-22727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14215" y="5276235"/>
            <a:ext cx="332740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900" spc="-595" dirty="0">
                <a:latin typeface="Cambria Math"/>
                <a:cs typeface="Cambria Math"/>
              </a:rPr>
              <a:t>T</a:t>
            </a:r>
            <a:r>
              <a:rPr sz="1650" spc="-97" baseline="-22727" dirty="0">
                <a:latin typeface="Cambria Math"/>
                <a:cs typeface="Cambria Math"/>
              </a:rPr>
              <a:t>x</a:t>
            </a:r>
            <a:endParaRPr sz="1650" baseline="-22727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178229" y="5003800"/>
            <a:ext cx="487045" cy="434340"/>
          </a:xfrm>
          <a:custGeom>
            <a:avLst/>
            <a:gdLst/>
            <a:ahLst/>
            <a:cxnLst/>
            <a:rect l="l" t="t" r="r" b="b"/>
            <a:pathLst>
              <a:path w="487044" h="434339">
                <a:moveTo>
                  <a:pt x="47794" y="385898"/>
                </a:moveTo>
                <a:lnTo>
                  <a:pt x="26708" y="407034"/>
                </a:lnTo>
                <a:lnTo>
                  <a:pt x="107518" y="433959"/>
                </a:lnTo>
                <a:lnTo>
                  <a:pt x="94566" y="395097"/>
                </a:lnTo>
                <a:lnTo>
                  <a:pt x="55206" y="395097"/>
                </a:lnTo>
                <a:lnTo>
                  <a:pt x="47794" y="385898"/>
                </a:lnTo>
                <a:close/>
              </a:path>
              <a:path w="487044" h="434339">
                <a:moveTo>
                  <a:pt x="418668" y="332359"/>
                </a:moveTo>
                <a:lnTo>
                  <a:pt x="401523" y="415797"/>
                </a:lnTo>
                <a:lnTo>
                  <a:pt x="478612" y="379475"/>
                </a:lnTo>
                <a:lnTo>
                  <a:pt x="468271" y="371347"/>
                </a:lnTo>
                <a:lnTo>
                  <a:pt x="448827" y="371347"/>
                </a:lnTo>
                <a:lnTo>
                  <a:pt x="432892" y="360553"/>
                </a:lnTo>
                <a:lnTo>
                  <a:pt x="440442" y="349473"/>
                </a:lnTo>
                <a:lnTo>
                  <a:pt x="418668" y="332359"/>
                </a:lnTo>
                <a:close/>
              </a:path>
              <a:path w="487044" h="434339">
                <a:moveTo>
                  <a:pt x="61353" y="372307"/>
                </a:moveTo>
                <a:lnTo>
                  <a:pt x="47794" y="385898"/>
                </a:lnTo>
                <a:lnTo>
                  <a:pt x="55206" y="395097"/>
                </a:lnTo>
                <a:lnTo>
                  <a:pt x="70027" y="383031"/>
                </a:lnTo>
                <a:lnTo>
                  <a:pt x="61353" y="372307"/>
                </a:lnTo>
                <a:close/>
              </a:path>
              <a:path w="487044" h="434339">
                <a:moveTo>
                  <a:pt x="80556" y="353059"/>
                </a:moveTo>
                <a:lnTo>
                  <a:pt x="61353" y="372307"/>
                </a:lnTo>
                <a:lnTo>
                  <a:pt x="70027" y="383031"/>
                </a:lnTo>
                <a:lnTo>
                  <a:pt x="55206" y="395097"/>
                </a:lnTo>
                <a:lnTo>
                  <a:pt x="94566" y="395097"/>
                </a:lnTo>
                <a:lnTo>
                  <a:pt x="80556" y="353059"/>
                </a:lnTo>
                <a:close/>
              </a:path>
              <a:path w="487044" h="434339">
                <a:moveTo>
                  <a:pt x="249885" y="0"/>
                </a:moveTo>
                <a:lnTo>
                  <a:pt x="203276" y="3175"/>
                </a:lnTo>
                <a:lnTo>
                  <a:pt x="158191" y="15367"/>
                </a:lnTo>
                <a:lnTo>
                  <a:pt x="115900" y="35941"/>
                </a:lnTo>
                <a:lnTo>
                  <a:pt x="77724" y="64897"/>
                </a:lnTo>
                <a:lnTo>
                  <a:pt x="45275" y="101854"/>
                </a:lnTo>
                <a:lnTo>
                  <a:pt x="20688" y="144906"/>
                </a:lnTo>
                <a:lnTo>
                  <a:pt x="5753" y="190245"/>
                </a:lnTo>
                <a:lnTo>
                  <a:pt x="0" y="236981"/>
                </a:lnTo>
                <a:lnTo>
                  <a:pt x="457" y="258572"/>
                </a:lnTo>
                <a:lnTo>
                  <a:pt x="8229" y="306450"/>
                </a:lnTo>
                <a:lnTo>
                  <a:pt x="24587" y="350393"/>
                </a:lnTo>
                <a:lnTo>
                  <a:pt x="47794" y="385898"/>
                </a:lnTo>
                <a:lnTo>
                  <a:pt x="61353" y="372307"/>
                </a:lnTo>
                <a:lnTo>
                  <a:pt x="52564" y="361441"/>
                </a:lnTo>
                <a:lnTo>
                  <a:pt x="52374" y="361441"/>
                </a:lnTo>
                <a:lnTo>
                  <a:pt x="52278" y="361265"/>
                </a:lnTo>
                <a:lnTo>
                  <a:pt x="51434" y="360044"/>
                </a:lnTo>
                <a:lnTo>
                  <a:pt x="51609" y="360044"/>
                </a:lnTo>
                <a:lnTo>
                  <a:pt x="41516" y="341630"/>
                </a:lnTo>
                <a:lnTo>
                  <a:pt x="38614" y="334772"/>
                </a:lnTo>
                <a:lnTo>
                  <a:pt x="32956" y="321691"/>
                </a:lnTo>
                <a:lnTo>
                  <a:pt x="32327" y="319531"/>
                </a:lnTo>
                <a:lnTo>
                  <a:pt x="26645" y="301483"/>
                </a:lnTo>
                <a:lnTo>
                  <a:pt x="26530" y="301116"/>
                </a:lnTo>
                <a:lnTo>
                  <a:pt x="25575" y="296544"/>
                </a:lnTo>
                <a:lnTo>
                  <a:pt x="22189" y="280924"/>
                </a:lnTo>
                <a:lnTo>
                  <a:pt x="22071" y="280380"/>
                </a:lnTo>
                <a:lnTo>
                  <a:pt x="21996" y="280034"/>
                </a:lnTo>
                <a:lnTo>
                  <a:pt x="20999" y="271399"/>
                </a:lnTo>
                <a:lnTo>
                  <a:pt x="19681" y="260350"/>
                </a:lnTo>
                <a:lnTo>
                  <a:pt x="19575" y="259461"/>
                </a:lnTo>
                <a:lnTo>
                  <a:pt x="19469" y="258572"/>
                </a:lnTo>
                <a:lnTo>
                  <a:pt x="19330" y="249809"/>
                </a:lnTo>
                <a:lnTo>
                  <a:pt x="19081" y="237871"/>
                </a:lnTo>
                <a:lnTo>
                  <a:pt x="19062" y="236981"/>
                </a:lnTo>
                <a:lnTo>
                  <a:pt x="19720" y="228425"/>
                </a:lnTo>
                <a:lnTo>
                  <a:pt x="20589" y="216407"/>
                </a:lnTo>
                <a:lnTo>
                  <a:pt x="20662" y="215392"/>
                </a:lnTo>
                <a:lnTo>
                  <a:pt x="21024" y="213613"/>
                </a:lnTo>
                <a:lnTo>
                  <a:pt x="24291" y="194944"/>
                </a:lnTo>
                <a:lnTo>
                  <a:pt x="24374" y="194472"/>
                </a:lnTo>
                <a:lnTo>
                  <a:pt x="24447" y="194056"/>
                </a:lnTo>
                <a:lnTo>
                  <a:pt x="25540" y="190245"/>
                </a:lnTo>
                <a:lnTo>
                  <a:pt x="30095" y="173736"/>
                </a:lnTo>
                <a:lnTo>
                  <a:pt x="30216" y="173293"/>
                </a:lnTo>
                <a:lnTo>
                  <a:pt x="30340" y="172847"/>
                </a:lnTo>
                <a:lnTo>
                  <a:pt x="33190" y="165507"/>
                </a:lnTo>
                <a:lnTo>
                  <a:pt x="38341" y="152019"/>
                </a:lnTo>
                <a:lnTo>
                  <a:pt x="41629" y="145287"/>
                </a:lnTo>
                <a:lnTo>
                  <a:pt x="43542" y="141299"/>
                </a:lnTo>
                <a:lnTo>
                  <a:pt x="48685" y="131722"/>
                </a:lnTo>
                <a:lnTo>
                  <a:pt x="54343" y="122427"/>
                </a:lnTo>
                <a:lnTo>
                  <a:pt x="60864" y="112894"/>
                </a:lnTo>
                <a:lnTo>
                  <a:pt x="60968" y="112741"/>
                </a:lnTo>
                <a:lnTo>
                  <a:pt x="75298" y="94614"/>
                </a:lnTo>
                <a:lnTo>
                  <a:pt x="78814" y="91097"/>
                </a:lnTo>
                <a:lnTo>
                  <a:pt x="91046" y="78486"/>
                </a:lnTo>
                <a:lnTo>
                  <a:pt x="91998" y="77724"/>
                </a:lnTo>
                <a:lnTo>
                  <a:pt x="108026" y="64262"/>
                </a:lnTo>
                <a:lnTo>
                  <a:pt x="108198" y="64262"/>
                </a:lnTo>
                <a:lnTo>
                  <a:pt x="126314" y="51943"/>
                </a:lnTo>
                <a:lnTo>
                  <a:pt x="126463" y="51943"/>
                </a:lnTo>
                <a:lnTo>
                  <a:pt x="145364" y="41401"/>
                </a:lnTo>
                <a:lnTo>
                  <a:pt x="145658" y="41401"/>
                </a:lnTo>
                <a:lnTo>
                  <a:pt x="164584" y="33274"/>
                </a:lnTo>
                <a:lnTo>
                  <a:pt x="164414" y="33274"/>
                </a:lnTo>
                <a:lnTo>
                  <a:pt x="185750" y="26416"/>
                </a:lnTo>
                <a:lnTo>
                  <a:pt x="186055" y="26416"/>
                </a:lnTo>
                <a:lnTo>
                  <a:pt x="206361" y="22098"/>
                </a:lnTo>
                <a:lnTo>
                  <a:pt x="206066" y="22098"/>
                </a:lnTo>
                <a:lnTo>
                  <a:pt x="228296" y="19430"/>
                </a:lnTo>
                <a:lnTo>
                  <a:pt x="227417" y="19430"/>
                </a:lnTo>
                <a:lnTo>
                  <a:pt x="249173" y="19062"/>
                </a:lnTo>
                <a:lnTo>
                  <a:pt x="337694" y="19062"/>
                </a:lnTo>
                <a:lnTo>
                  <a:pt x="319481" y="12064"/>
                </a:lnTo>
                <a:lnTo>
                  <a:pt x="296621" y="5714"/>
                </a:lnTo>
                <a:lnTo>
                  <a:pt x="273253" y="1650"/>
                </a:lnTo>
                <a:lnTo>
                  <a:pt x="249885" y="0"/>
                </a:lnTo>
                <a:close/>
              </a:path>
              <a:path w="487044" h="434339">
                <a:moveTo>
                  <a:pt x="440442" y="349473"/>
                </a:moveTo>
                <a:lnTo>
                  <a:pt x="432892" y="360553"/>
                </a:lnTo>
                <a:lnTo>
                  <a:pt x="448827" y="371347"/>
                </a:lnTo>
                <a:lnTo>
                  <a:pt x="448553" y="371347"/>
                </a:lnTo>
                <a:lnTo>
                  <a:pt x="455323" y="361441"/>
                </a:lnTo>
                <a:lnTo>
                  <a:pt x="455444" y="361265"/>
                </a:lnTo>
                <a:lnTo>
                  <a:pt x="440442" y="349473"/>
                </a:lnTo>
                <a:close/>
              </a:path>
              <a:path w="487044" h="434339">
                <a:moveTo>
                  <a:pt x="455444" y="361265"/>
                </a:moveTo>
                <a:lnTo>
                  <a:pt x="448553" y="371347"/>
                </a:lnTo>
                <a:lnTo>
                  <a:pt x="468271" y="371347"/>
                </a:lnTo>
                <a:lnTo>
                  <a:pt x="455444" y="361265"/>
                </a:lnTo>
                <a:close/>
              </a:path>
              <a:path w="487044" h="434339">
                <a:moveTo>
                  <a:pt x="51975" y="360712"/>
                </a:moveTo>
                <a:lnTo>
                  <a:pt x="52256" y="361265"/>
                </a:lnTo>
                <a:lnTo>
                  <a:pt x="52374" y="361441"/>
                </a:lnTo>
                <a:lnTo>
                  <a:pt x="52564" y="361441"/>
                </a:lnTo>
                <a:lnTo>
                  <a:pt x="51975" y="360712"/>
                </a:lnTo>
                <a:close/>
              </a:path>
              <a:path w="487044" h="434339">
                <a:moveTo>
                  <a:pt x="465617" y="343408"/>
                </a:moveTo>
                <a:lnTo>
                  <a:pt x="444576" y="343408"/>
                </a:lnTo>
                <a:lnTo>
                  <a:pt x="440442" y="349473"/>
                </a:lnTo>
                <a:lnTo>
                  <a:pt x="455444" y="361265"/>
                </a:lnTo>
                <a:lnTo>
                  <a:pt x="460705" y="353568"/>
                </a:lnTo>
                <a:lnTo>
                  <a:pt x="465617" y="343408"/>
                </a:lnTo>
                <a:close/>
              </a:path>
              <a:path w="487044" h="434339">
                <a:moveTo>
                  <a:pt x="51609" y="360044"/>
                </a:moveTo>
                <a:lnTo>
                  <a:pt x="51434" y="360044"/>
                </a:lnTo>
                <a:lnTo>
                  <a:pt x="51845" y="360553"/>
                </a:lnTo>
                <a:lnTo>
                  <a:pt x="51609" y="360044"/>
                </a:lnTo>
                <a:close/>
              </a:path>
              <a:path w="487044" h="434339">
                <a:moveTo>
                  <a:pt x="432508" y="90297"/>
                </a:moveTo>
                <a:lnTo>
                  <a:pt x="407619" y="90297"/>
                </a:lnTo>
                <a:lnTo>
                  <a:pt x="422001" y="107360"/>
                </a:lnTo>
                <a:lnTo>
                  <a:pt x="434472" y="125578"/>
                </a:lnTo>
                <a:lnTo>
                  <a:pt x="443812" y="142520"/>
                </a:lnTo>
                <a:lnTo>
                  <a:pt x="444957" y="144399"/>
                </a:lnTo>
                <a:lnTo>
                  <a:pt x="445128" y="144906"/>
                </a:lnTo>
                <a:lnTo>
                  <a:pt x="445337" y="145287"/>
                </a:lnTo>
                <a:lnTo>
                  <a:pt x="450832" y="158114"/>
                </a:lnTo>
                <a:lnTo>
                  <a:pt x="453596" y="164348"/>
                </a:lnTo>
                <a:lnTo>
                  <a:pt x="458706" y="180339"/>
                </a:lnTo>
                <a:lnTo>
                  <a:pt x="460197" y="184912"/>
                </a:lnTo>
                <a:lnTo>
                  <a:pt x="464135" y="203326"/>
                </a:lnTo>
                <a:lnTo>
                  <a:pt x="464769" y="205994"/>
                </a:lnTo>
                <a:lnTo>
                  <a:pt x="467241" y="226441"/>
                </a:lnTo>
                <a:lnTo>
                  <a:pt x="467436" y="227340"/>
                </a:lnTo>
                <a:lnTo>
                  <a:pt x="467944" y="248919"/>
                </a:lnTo>
                <a:lnTo>
                  <a:pt x="467235" y="258572"/>
                </a:lnTo>
                <a:lnTo>
                  <a:pt x="466420" y="270509"/>
                </a:lnTo>
                <a:lnTo>
                  <a:pt x="462467" y="292949"/>
                </a:lnTo>
                <a:lnTo>
                  <a:pt x="456863" y="313264"/>
                </a:lnTo>
                <a:lnTo>
                  <a:pt x="448839" y="334249"/>
                </a:lnTo>
                <a:lnTo>
                  <a:pt x="444064" y="344159"/>
                </a:lnTo>
                <a:lnTo>
                  <a:pt x="444576" y="343408"/>
                </a:lnTo>
                <a:lnTo>
                  <a:pt x="465617" y="343408"/>
                </a:lnTo>
                <a:lnTo>
                  <a:pt x="466108" y="342391"/>
                </a:lnTo>
                <a:lnTo>
                  <a:pt x="466209" y="342184"/>
                </a:lnTo>
                <a:lnTo>
                  <a:pt x="481152" y="296544"/>
                </a:lnTo>
                <a:lnTo>
                  <a:pt x="486994" y="249809"/>
                </a:lnTo>
                <a:lnTo>
                  <a:pt x="486529" y="228425"/>
                </a:lnTo>
                <a:lnTo>
                  <a:pt x="478739" y="180339"/>
                </a:lnTo>
                <a:lnTo>
                  <a:pt x="462229" y="136525"/>
                </a:lnTo>
                <a:lnTo>
                  <a:pt x="437464" y="96138"/>
                </a:lnTo>
                <a:lnTo>
                  <a:pt x="432508" y="90297"/>
                </a:lnTo>
                <a:close/>
              </a:path>
              <a:path w="487044" h="434339">
                <a:moveTo>
                  <a:pt x="360527" y="29976"/>
                </a:moveTo>
                <a:lnTo>
                  <a:pt x="313143" y="29976"/>
                </a:lnTo>
                <a:lnTo>
                  <a:pt x="334260" y="38152"/>
                </a:lnTo>
                <a:lnTo>
                  <a:pt x="334697" y="38293"/>
                </a:lnTo>
                <a:lnTo>
                  <a:pt x="335595" y="38693"/>
                </a:lnTo>
                <a:lnTo>
                  <a:pt x="373350" y="60420"/>
                </a:lnTo>
                <a:lnTo>
                  <a:pt x="373489" y="60579"/>
                </a:lnTo>
                <a:lnTo>
                  <a:pt x="391363" y="74675"/>
                </a:lnTo>
                <a:lnTo>
                  <a:pt x="408293" y="91097"/>
                </a:lnTo>
                <a:lnTo>
                  <a:pt x="407619" y="90297"/>
                </a:lnTo>
                <a:lnTo>
                  <a:pt x="432508" y="90297"/>
                </a:lnTo>
                <a:lnTo>
                  <a:pt x="404317" y="60579"/>
                </a:lnTo>
                <a:lnTo>
                  <a:pt x="363804" y="31750"/>
                </a:lnTo>
                <a:lnTo>
                  <a:pt x="360527" y="29976"/>
                </a:lnTo>
                <a:close/>
              </a:path>
              <a:path w="487044" h="434339">
                <a:moveTo>
                  <a:pt x="108198" y="64262"/>
                </a:moveTo>
                <a:lnTo>
                  <a:pt x="108026" y="64262"/>
                </a:lnTo>
                <a:lnTo>
                  <a:pt x="107270" y="64897"/>
                </a:lnTo>
                <a:lnTo>
                  <a:pt x="108198" y="64262"/>
                </a:lnTo>
                <a:close/>
              </a:path>
              <a:path w="487044" h="434339">
                <a:moveTo>
                  <a:pt x="126463" y="51943"/>
                </a:moveTo>
                <a:lnTo>
                  <a:pt x="126314" y="51943"/>
                </a:lnTo>
                <a:lnTo>
                  <a:pt x="125567" y="52450"/>
                </a:lnTo>
                <a:lnTo>
                  <a:pt x="126463" y="51943"/>
                </a:lnTo>
                <a:close/>
              </a:path>
              <a:path w="487044" h="434339">
                <a:moveTo>
                  <a:pt x="145658" y="41401"/>
                </a:moveTo>
                <a:lnTo>
                  <a:pt x="145364" y="41401"/>
                </a:lnTo>
                <a:lnTo>
                  <a:pt x="144403" y="41950"/>
                </a:lnTo>
                <a:lnTo>
                  <a:pt x="145658" y="41401"/>
                </a:lnTo>
                <a:close/>
              </a:path>
              <a:path w="487044" h="434339">
                <a:moveTo>
                  <a:pt x="334385" y="38152"/>
                </a:moveTo>
                <a:lnTo>
                  <a:pt x="334202" y="38152"/>
                </a:lnTo>
                <a:lnTo>
                  <a:pt x="335595" y="38693"/>
                </a:lnTo>
                <a:lnTo>
                  <a:pt x="334750" y="38293"/>
                </a:lnTo>
                <a:lnTo>
                  <a:pt x="334385" y="38152"/>
                </a:lnTo>
                <a:close/>
              </a:path>
              <a:path w="487044" h="434339">
                <a:moveTo>
                  <a:pt x="165092" y="33056"/>
                </a:moveTo>
                <a:lnTo>
                  <a:pt x="164414" y="33274"/>
                </a:lnTo>
                <a:lnTo>
                  <a:pt x="164584" y="33274"/>
                </a:lnTo>
                <a:lnTo>
                  <a:pt x="165092" y="33056"/>
                </a:lnTo>
                <a:close/>
              </a:path>
              <a:path w="487044" h="434339">
                <a:moveTo>
                  <a:pt x="291416" y="24117"/>
                </a:moveTo>
                <a:lnTo>
                  <a:pt x="314504" y="30451"/>
                </a:lnTo>
                <a:lnTo>
                  <a:pt x="314365" y="30451"/>
                </a:lnTo>
                <a:lnTo>
                  <a:pt x="313143" y="29976"/>
                </a:lnTo>
                <a:lnTo>
                  <a:pt x="360527" y="29976"/>
                </a:lnTo>
                <a:lnTo>
                  <a:pt x="353009" y="25907"/>
                </a:lnTo>
                <a:lnTo>
                  <a:pt x="349775" y="24383"/>
                </a:lnTo>
                <a:lnTo>
                  <a:pt x="292938" y="24383"/>
                </a:lnTo>
                <a:lnTo>
                  <a:pt x="291416" y="24117"/>
                </a:lnTo>
                <a:close/>
              </a:path>
              <a:path w="487044" h="434339">
                <a:moveTo>
                  <a:pt x="186055" y="26416"/>
                </a:moveTo>
                <a:lnTo>
                  <a:pt x="185750" y="26416"/>
                </a:lnTo>
                <a:lnTo>
                  <a:pt x="184959" y="26669"/>
                </a:lnTo>
                <a:lnTo>
                  <a:pt x="186055" y="26416"/>
                </a:lnTo>
                <a:close/>
              </a:path>
              <a:path w="487044" h="434339">
                <a:moveTo>
                  <a:pt x="337694" y="19062"/>
                </a:moveTo>
                <a:lnTo>
                  <a:pt x="249173" y="19062"/>
                </a:lnTo>
                <a:lnTo>
                  <a:pt x="273348" y="20700"/>
                </a:lnTo>
                <a:lnTo>
                  <a:pt x="271909" y="20700"/>
                </a:lnTo>
                <a:lnTo>
                  <a:pt x="292938" y="24383"/>
                </a:lnTo>
                <a:lnTo>
                  <a:pt x="349775" y="24383"/>
                </a:lnTo>
                <a:lnTo>
                  <a:pt x="341960" y="20700"/>
                </a:lnTo>
                <a:lnTo>
                  <a:pt x="337694" y="19062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837859" y="5126938"/>
            <a:ext cx="346075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900" spc="-570" dirty="0">
                <a:latin typeface="Cambria Math"/>
                <a:cs typeface="Cambria Math"/>
              </a:rPr>
              <a:t>Q</a:t>
            </a:r>
            <a:r>
              <a:rPr sz="1650" spc="-89" baseline="-22727" dirty="0">
                <a:latin typeface="Cambria Math"/>
                <a:cs typeface="Cambria Math"/>
              </a:rPr>
              <a:t>z</a:t>
            </a:r>
            <a:endParaRPr sz="1650" baseline="-22727">
              <a:latin typeface="Cambria Math"/>
              <a:cs typeface="Cambria Math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773890" y="4355800"/>
            <a:ext cx="828675" cy="579120"/>
            <a:chOff x="1773890" y="4355800"/>
            <a:chExt cx="828675" cy="579120"/>
          </a:xfrm>
        </p:grpSpPr>
        <p:sp>
          <p:nvSpPr>
            <p:cNvPr id="26" name="object 26"/>
            <p:cNvSpPr/>
            <p:nvPr/>
          </p:nvSpPr>
          <p:spPr>
            <a:xfrm>
              <a:off x="1781827" y="4363737"/>
              <a:ext cx="812800" cy="563245"/>
            </a:xfrm>
            <a:custGeom>
              <a:avLst/>
              <a:gdLst/>
              <a:ahLst/>
              <a:cxnLst/>
              <a:rect l="l" t="t" r="r" b="b"/>
              <a:pathLst>
                <a:path w="812800" h="563245">
                  <a:moveTo>
                    <a:pt x="712628" y="0"/>
                  </a:moveTo>
                  <a:lnTo>
                    <a:pt x="41130" y="401302"/>
                  </a:lnTo>
                  <a:lnTo>
                    <a:pt x="1522" y="455515"/>
                  </a:lnTo>
                  <a:lnTo>
                    <a:pt x="0" y="489080"/>
                  </a:lnTo>
                  <a:lnTo>
                    <a:pt x="11920" y="521825"/>
                  </a:lnTo>
                  <a:lnTo>
                    <a:pt x="35536" y="547338"/>
                  </a:lnTo>
                  <a:lnTo>
                    <a:pt x="66069" y="561338"/>
                  </a:lnTo>
                  <a:lnTo>
                    <a:pt x="99627" y="562883"/>
                  </a:lnTo>
                  <a:lnTo>
                    <a:pt x="132316" y="551035"/>
                  </a:lnTo>
                  <a:lnTo>
                    <a:pt x="771126" y="161526"/>
                  </a:lnTo>
                  <a:lnTo>
                    <a:pt x="796639" y="137910"/>
                  </a:lnTo>
                  <a:lnTo>
                    <a:pt x="810639" y="107376"/>
                  </a:lnTo>
                  <a:lnTo>
                    <a:pt x="812184" y="73818"/>
                  </a:lnTo>
                  <a:lnTo>
                    <a:pt x="800336" y="41130"/>
                  </a:lnTo>
                  <a:lnTo>
                    <a:pt x="776720" y="15545"/>
                  </a:lnTo>
                  <a:lnTo>
                    <a:pt x="746186" y="1522"/>
                  </a:lnTo>
                  <a:lnTo>
                    <a:pt x="712628" y="0"/>
                  </a:lnTo>
                  <a:close/>
                </a:path>
              </a:pathLst>
            </a:custGeom>
            <a:solidFill>
              <a:srgbClr val="D5DC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781827" y="4363737"/>
              <a:ext cx="812800" cy="563245"/>
            </a:xfrm>
            <a:custGeom>
              <a:avLst/>
              <a:gdLst/>
              <a:ahLst/>
              <a:cxnLst/>
              <a:rect l="l" t="t" r="r" b="b"/>
              <a:pathLst>
                <a:path w="812800" h="563245">
                  <a:moveTo>
                    <a:pt x="11920" y="521825"/>
                  </a:moveTo>
                  <a:lnTo>
                    <a:pt x="0" y="489080"/>
                  </a:lnTo>
                  <a:lnTo>
                    <a:pt x="1522" y="455515"/>
                  </a:lnTo>
                  <a:lnTo>
                    <a:pt x="15545" y="424973"/>
                  </a:lnTo>
                  <a:lnTo>
                    <a:pt x="41130" y="401302"/>
                  </a:lnTo>
                  <a:lnTo>
                    <a:pt x="679940" y="11920"/>
                  </a:lnTo>
                  <a:lnTo>
                    <a:pt x="712628" y="0"/>
                  </a:lnTo>
                  <a:lnTo>
                    <a:pt x="746186" y="1522"/>
                  </a:lnTo>
                  <a:lnTo>
                    <a:pt x="776720" y="15545"/>
                  </a:lnTo>
                  <a:lnTo>
                    <a:pt x="800336" y="41130"/>
                  </a:lnTo>
                  <a:lnTo>
                    <a:pt x="812184" y="73818"/>
                  </a:lnTo>
                  <a:lnTo>
                    <a:pt x="810639" y="107376"/>
                  </a:lnTo>
                  <a:lnTo>
                    <a:pt x="796639" y="137910"/>
                  </a:lnTo>
                  <a:lnTo>
                    <a:pt x="771126" y="161526"/>
                  </a:lnTo>
                  <a:lnTo>
                    <a:pt x="132316" y="551035"/>
                  </a:lnTo>
                  <a:lnTo>
                    <a:pt x="99627" y="562883"/>
                  </a:lnTo>
                  <a:lnTo>
                    <a:pt x="66069" y="561338"/>
                  </a:lnTo>
                  <a:lnTo>
                    <a:pt x="35536" y="547338"/>
                  </a:lnTo>
                  <a:lnTo>
                    <a:pt x="11920" y="521825"/>
                  </a:lnTo>
                  <a:close/>
                </a:path>
              </a:pathLst>
            </a:custGeom>
            <a:ln w="15875">
              <a:solidFill>
                <a:srgbClr val="1D9A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806053" y="120522"/>
            <a:ext cx="219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1.7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xfrm>
            <a:off x="1544192" y="118110"/>
            <a:ext cx="60553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40" dirty="0"/>
              <a:t> </a:t>
            </a:r>
            <a:r>
              <a:rPr dirty="0"/>
              <a:t>1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TÍCH</a:t>
            </a:r>
            <a:r>
              <a:rPr spc="-60" dirty="0"/>
              <a:t> </a:t>
            </a:r>
            <a:r>
              <a:rPr dirty="0"/>
              <a:t>CẤU</a:t>
            </a:r>
            <a:r>
              <a:rPr spc="-70" dirty="0"/>
              <a:t> </a:t>
            </a:r>
            <a:r>
              <a:rPr dirty="0"/>
              <a:t>TRÚC</a:t>
            </a:r>
            <a:r>
              <a:rPr spc="-55" dirty="0"/>
              <a:t> </a:t>
            </a:r>
            <a:r>
              <a:rPr dirty="0"/>
              <a:t>CƠ</a:t>
            </a:r>
            <a:r>
              <a:rPr spc="-50" dirty="0"/>
              <a:t> </a:t>
            </a:r>
            <a:r>
              <a:rPr spc="-25" dirty="0"/>
              <a:t>CẤU</a:t>
            </a:r>
          </a:p>
        </p:txBody>
      </p:sp>
      <p:sp>
        <p:nvSpPr>
          <p:cNvPr id="30" name="object 30"/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0200" y="549021"/>
            <a:ext cx="8275955" cy="3465195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455930" lvl="1" indent="-443230" algn="just">
              <a:lnSpc>
                <a:spcPct val="100000"/>
              </a:lnSpc>
              <a:spcBef>
                <a:spcPts val="1010"/>
              </a:spcBef>
              <a:buClr>
                <a:srgbClr val="FF0000"/>
              </a:buClr>
              <a:buFont typeface="Arial"/>
              <a:buAutoNum type="arabicPeriod" startAt="2"/>
              <a:tabLst>
                <a:tab pos="455930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Các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khái</a:t>
            </a:r>
            <a:r>
              <a:rPr sz="18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niệm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và</a:t>
            </a:r>
            <a:r>
              <a:rPr sz="1800" b="1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định</a:t>
            </a:r>
            <a:r>
              <a:rPr sz="18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nghĩa</a:t>
            </a:r>
            <a:r>
              <a:rPr sz="18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cơ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bản</a:t>
            </a:r>
            <a:endParaRPr sz="1800">
              <a:latin typeface="Arial"/>
              <a:cs typeface="Arial"/>
            </a:endParaRPr>
          </a:p>
          <a:p>
            <a:pPr marL="645160" lvl="2" indent="-632460" algn="just">
              <a:lnSpc>
                <a:spcPct val="100000"/>
              </a:lnSpc>
              <a:spcBef>
                <a:spcPts val="915"/>
              </a:spcBef>
              <a:buAutoNum type="arabicPeriod" startAt="4"/>
              <a:tabLst>
                <a:tab pos="645160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Nối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động,</a:t>
            </a:r>
            <a:r>
              <a:rPr sz="18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khớp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động</a:t>
            </a:r>
            <a:r>
              <a:rPr sz="18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và</a:t>
            </a:r>
            <a:r>
              <a:rPr sz="1800" b="1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phân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loại</a:t>
            </a:r>
            <a:r>
              <a:rPr sz="18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khớp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động</a:t>
            </a:r>
            <a:endParaRPr sz="1800">
              <a:latin typeface="Arial"/>
              <a:cs typeface="Arial"/>
            </a:endParaRPr>
          </a:p>
          <a:p>
            <a:pPr marL="297815" marR="5080" lvl="3" indent="-285750" algn="just">
              <a:lnSpc>
                <a:spcPct val="150000"/>
              </a:lnSpc>
              <a:spcBef>
                <a:spcPts val="625"/>
              </a:spcBef>
              <a:buClr>
                <a:srgbClr val="1D9A78"/>
              </a:buClr>
              <a:buFont typeface="Wingdings"/>
              <a:buChar char=""/>
              <a:tabLst>
                <a:tab pos="299085" algn="l"/>
              </a:tabLst>
            </a:pPr>
            <a:r>
              <a:rPr sz="1800" b="1" i="1" dirty="0">
                <a:latin typeface="Arial"/>
                <a:cs typeface="Arial"/>
              </a:rPr>
              <a:t>Nối</a:t>
            </a:r>
            <a:r>
              <a:rPr sz="1800" b="1" i="1" spc="-1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động:</a:t>
            </a:r>
            <a:r>
              <a:rPr sz="1800" b="1" i="1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Để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tạo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thành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cơ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các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khâu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được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liên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kết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với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nhau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theo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một</a:t>
            </a:r>
            <a:r>
              <a:rPr sz="1800" spc="-25" dirty="0">
                <a:latin typeface="Arial"/>
                <a:cs typeface="Arial"/>
              </a:rPr>
              <a:t> quy 	</a:t>
            </a:r>
            <a:r>
              <a:rPr sz="1800" dirty="0">
                <a:latin typeface="Arial"/>
                <a:cs typeface="Arial"/>
              </a:rPr>
              <a:t>luật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nào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đó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sao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cho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sau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khi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nối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các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khâu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vẫn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có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khả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năng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chuyển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động</a:t>
            </a:r>
            <a:r>
              <a:rPr sz="1800" spc="-10" dirty="0">
                <a:latin typeface="Arial"/>
                <a:cs typeface="Arial"/>
              </a:rPr>
              <a:t> tương 	</a:t>
            </a:r>
            <a:r>
              <a:rPr sz="1800" dirty="0">
                <a:latin typeface="Arial"/>
                <a:cs typeface="Arial"/>
              </a:rPr>
              <a:t>đối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với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nhau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được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gọi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nối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động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các</a:t>
            </a:r>
            <a:r>
              <a:rPr sz="1800" spc="-10" dirty="0">
                <a:latin typeface="Arial"/>
                <a:cs typeface="Arial"/>
              </a:rPr>
              <a:t> khâu.</a:t>
            </a:r>
            <a:endParaRPr sz="1800">
              <a:latin typeface="Arial"/>
              <a:cs typeface="Arial"/>
            </a:endParaRPr>
          </a:p>
          <a:p>
            <a:pPr marL="298450" lvl="3" indent="-285750" algn="just">
              <a:lnSpc>
                <a:spcPct val="100000"/>
              </a:lnSpc>
              <a:spcBef>
                <a:spcPts val="1515"/>
              </a:spcBef>
              <a:buClr>
                <a:srgbClr val="1D9A78"/>
              </a:buClr>
              <a:buFont typeface="Wingdings"/>
              <a:buChar char=""/>
              <a:tabLst>
                <a:tab pos="298450" algn="l"/>
              </a:tabLst>
            </a:pPr>
            <a:r>
              <a:rPr sz="1800" b="1" i="1" dirty="0">
                <a:latin typeface="Arial"/>
                <a:cs typeface="Arial"/>
              </a:rPr>
              <a:t>Thành</a:t>
            </a:r>
            <a:r>
              <a:rPr sz="1800" b="1" i="1" spc="-2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phần</a:t>
            </a:r>
            <a:r>
              <a:rPr sz="1800" b="1" i="1" spc="-2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khớp</a:t>
            </a:r>
            <a:r>
              <a:rPr sz="1800" b="1" i="1" spc="-2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động:</a:t>
            </a:r>
            <a:r>
              <a:rPr sz="1800" b="1" i="1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vị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trí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tiếp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xúc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trên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mỗi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khâu</a:t>
            </a:r>
            <a:endParaRPr sz="1800">
              <a:latin typeface="Arial"/>
              <a:cs typeface="Arial"/>
            </a:endParaRPr>
          </a:p>
          <a:p>
            <a:pPr marL="297815" marR="332105" lvl="3" indent="-285750" algn="just">
              <a:lnSpc>
                <a:spcPct val="150100"/>
              </a:lnSpc>
              <a:spcBef>
                <a:spcPts val="430"/>
              </a:spcBef>
              <a:buClr>
                <a:srgbClr val="1D9A78"/>
              </a:buClr>
              <a:buFont typeface="Wingdings"/>
              <a:buChar char=""/>
              <a:tabLst>
                <a:tab pos="299085" algn="l"/>
              </a:tabLst>
            </a:pPr>
            <a:r>
              <a:rPr sz="1800" b="1" i="1" dirty="0">
                <a:latin typeface="Arial"/>
                <a:cs typeface="Arial"/>
              </a:rPr>
              <a:t>Khớp</a:t>
            </a:r>
            <a:r>
              <a:rPr sz="1800" b="1" i="1" spc="-2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động:</a:t>
            </a:r>
            <a:r>
              <a:rPr sz="1800" b="1" i="1" spc="-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Tập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hợp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các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thành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phần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khớp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động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2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khâu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tạo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thành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một 	</a:t>
            </a:r>
            <a:r>
              <a:rPr sz="1800" dirty="0">
                <a:latin typeface="Arial"/>
                <a:cs typeface="Arial"/>
              </a:rPr>
              <a:t>khớp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động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0395" y="4430636"/>
            <a:ext cx="2286000" cy="18192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86434" y="6083604"/>
            <a:ext cx="870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0000"/>
                </a:solidFill>
                <a:latin typeface="Times New Roman"/>
                <a:cs typeface="Times New Roman"/>
              </a:rPr>
              <a:t>Nối </a:t>
            </a:r>
            <a:r>
              <a:rPr sz="1800" i="1" spc="-20" dirty="0">
                <a:solidFill>
                  <a:srgbClr val="FF0000"/>
                </a:solidFill>
                <a:latin typeface="Times New Roman"/>
                <a:cs typeface="Times New Roman"/>
              </a:rPr>
              <a:t>động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54533" y="4827270"/>
            <a:ext cx="1941195" cy="939800"/>
          </a:xfrm>
          <a:custGeom>
            <a:avLst/>
            <a:gdLst/>
            <a:ahLst/>
            <a:cxnLst/>
            <a:rect l="l" t="t" r="r" b="b"/>
            <a:pathLst>
              <a:path w="1941195" h="939800">
                <a:moveTo>
                  <a:pt x="373049" y="577723"/>
                </a:moveTo>
                <a:lnTo>
                  <a:pt x="367449" y="526034"/>
                </a:lnTo>
                <a:lnTo>
                  <a:pt x="363893" y="493141"/>
                </a:lnTo>
                <a:lnTo>
                  <a:pt x="334543" y="511987"/>
                </a:lnTo>
                <a:lnTo>
                  <a:pt x="5334" y="0"/>
                </a:lnTo>
                <a:lnTo>
                  <a:pt x="0" y="3429"/>
                </a:lnTo>
                <a:lnTo>
                  <a:pt x="329196" y="515416"/>
                </a:lnTo>
                <a:lnTo>
                  <a:pt x="299796" y="534289"/>
                </a:lnTo>
                <a:lnTo>
                  <a:pt x="373049" y="577723"/>
                </a:lnTo>
                <a:close/>
              </a:path>
              <a:path w="1941195" h="939800">
                <a:moveTo>
                  <a:pt x="1941068" y="936244"/>
                </a:moveTo>
                <a:lnTo>
                  <a:pt x="1625447" y="383336"/>
                </a:lnTo>
                <a:lnTo>
                  <a:pt x="1644904" y="372237"/>
                </a:lnTo>
                <a:lnTo>
                  <a:pt x="1655826" y="366014"/>
                </a:lnTo>
                <a:lnTo>
                  <a:pt x="1584960" y="318770"/>
                </a:lnTo>
                <a:lnTo>
                  <a:pt x="1589659" y="403733"/>
                </a:lnTo>
                <a:lnTo>
                  <a:pt x="1619961" y="386461"/>
                </a:lnTo>
                <a:lnTo>
                  <a:pt x="1935607" y="939393"/>
                </a:lnTo>
                <a:lnTo>
                  <a:pt x="1941068" y="93624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31444" y="4496561"/>
            <a:ext cx="691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0000"/>
                </a:solidFill>
                <a:latin typeface="Times New Roman"/>
                <a:cs typeface="Times New Roman"/>
              </a:rPr>
              <a:t>Khâu</a:t>
            </a:r>
            <a:r>
              <a:rPr sz="1800" i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58670" y="5749849"/>
            <a:ext cx="691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0000"/>
                </a:solidFill>
                <a:latin typeface="Times New Roman"/>
                <a:cs typeface="Times New Roman"/>
              </a:rPr>
              <a:t>Khâu</a:t>
            </a:r>
            <a:r>
              <a:rPr sz="1800" i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34023" y="4525073"/>
            <a:ext cx="2844800" cy="1724025"/>
            <a:chOff x="134023" y="4525073"/>
            <a:chExt cx="2844800" cy="1724025"/>
          </a:xfrm>
        </p:grpSpPr>
        <p:sp>
          <p:nvSpPr>
            <p:cNvPr id="9" name="object 9"/>
            <p:cNvSpPr/>
            <p:nvPr/>
          </p:nvSpPr>
          <p:spPr>
            <a:xfrm>
              <a:off x="224308" y="5774131"/>
              <a:ext cx="302895" cy="474980"/>
            </a:xfrm>
            <a:custGeom>
              <a:avLst/>
              <a:gdLst/>
              <a:ahLst/>
              <a:cxnLst/>
              <a:rect l="l" t="t" r="r" b="b"/>
              <a:pathLst>
                <a:path w="302895" h="474979">
                  <a:moveTo>
                    <a:pt x="40828" y="0"/>
                  </a:moveTo>
                  <a:lnTo>
                    <a:pt x="7440" y="18491"/>
                  </a:lnTo>
                  <a:lnTo>
                    <a:pt x="3540" y="28308"/>
                  </a:lnTo>
                  <a:lnTo>
                    <a:pt x="3414" y="28625"/>
                  </a:lnTo>
                  <a:lnTo>
                    <a:pt x="1027" y="40411"/>
                  </a:lnTo>
                  <a:lnTo>
                    <a:pt x="0" y="53632"/>
                  </a:lnTo>
                  <a:lnTo>
                    <a:pt x="10" y="54128"/>
                  </a:lnTo>
                  <a:lnTo>
                    <a:pt x="128" y="59829"/>
                  </a:lnTo>
                  <a:lnTo>
                    <a:pt x="172" y="61931"/>
                  </a:lnTo>
                  <a:lnTo>
                    <a:pt x="272" y="66713"/>
                  </a:lnTo>
                  <a:lnTo>
                    <a:pt x="303" y="68211"/>
                  </a:lnTo>
                  <a:lnTo>
                    <a:pt x="8736" y="121157"/>
                  </a:lnTo>
                  <a:lnTo>
                    <a:pt x="20661" y="163626"/>
                  </a:lnTo>
                  <a:lnTo>
                    <a:pt x="37069" y="209092"/>
                  </a:lnTo>
                  <a:lnTo>
                    <a:pt x="56615" y="254355"/>
                  </a:lnTo>
                  <a:lnTo>
                    <a:pt x="78763" y="298373"/>
                  </a:lnTo>
                  <a:lnTo>
                    <a:pt x="102563" y="339991"/>
                  </a:lnTo>
                  <a:lnTo>
                    <a:pt x="127458" y="377863"/>
                  </a:lnTo>
                  <a:lnTo>
                    <a:pt x="152969" y="411378"/>
                  </a:lnTo>
                  <a:lnTo>
                    <a:pt x="190579" y="450441"/>
                  </a:lnTo>
                  <a:lnTo>
                    <a:pt x="225664" y="472135"/>
                  </a:lnTo>
                  <a:lnTo>
                    <a:pt x="236840" y="474764"/>
                  </a:lnTo>
                  <a:lnTo>
                    <a:pt x="246937" y="474510"/>
                  </a:lnTo>
                  <a:lnTo>
                    <a:pt x="256525" y="471093"/>
                  </a:lnTo>
                  <a:lnTo>
                    <a:pt x="264437" y="464819"/>
                  </a:lnTo>
                  <a:lnTo>
                    <a:pt x="270241" y="456234"/>
                  </a:lnTo>
                  <a:lnTo>
                    <a:pt x="270310" y="456056"/>
                  </a:lnTo>
                  <a:lnTo>
                    <a:pt x="241971" y="456056"/>
                  </a:lnTo>
                  <a:lnTo>
                    <a:pt x="242577" y="455841"/>
                  </a:lnTo>
                  <a:lnTo>
                    <a:pt x="239228" y="455841"/>
                  </a:lnTo>
                  <a:lnTo>
                    <a:pt x="237323" y="455701"/>
                  </a:lnTo>
                  <a:lnTo>
                    <a:pt x="238441" y="455701"/>
                  </a:lnTo>
                  <a:lnTo>
                    <a:pt x="236366" y="455333"/>
                  </a:lnTo>
                  <a:lnTo>
                    <a:pt x="235989" y="455333"/>
                  </a:lnTo>
                  <a:lnTo>
                    <a:pt x="232446" y="454278"/>
                  </a:lnTo>
                  <a:lnTo>
                    <a:pt x="231633" y="453999"/>
                  </a:lnTo>
                  <a:lnTo>
                    <a:pt x="227804" y="452467"/>
                  </a:lnTo>
                  <a:lnTo>
                    <a:pt x="224261" y="450799"/>
                  </a:lnTo>
                  <a:lnTo>
                    <a:pt x="224098" y="450799"/>
                  </a:lnTo>
                  <a:lnTo>
                    <a:pt x="223502" y="450441"/>
                  </a:lnTo>
                  <a:lnTo>
                    <a:pt x="223048" y="450227"/>
                  </a:lnTo>
                  <a:lnTo>
                    <a:pt x="220037" y="448360"/>
                  </a:lnTo>
                  <a:lnTo>
                    <a:pt x="218648" y="447522"/>
                  </a:lnTo>
                  <a:lnTo>
                    <a:pt x="213434" y="444106"/>
                  </a:lnTo>
                  <a:lnTo>
                    <a:pt x="210143" y="441502"/>
                  </a:lnTo>
                  <a:lnTo>
                    <a:pt x="202538" y="435597"/>
                  </a:lnTo>
                  <a:lnTo>
                    <a:pt x="201328" y="434454"/>
                  </a:lnTo>
                  <a:lnTo>
                    <a:pt x="191209" y="425221"/>
                  </a:lnTo>
                  <a:lnTo>
                    <a:pt x="179462" y="412991"/>
                  </a:lnTo>
                  <a:lnTo>
                    <a:pt x="143052" y="366915"/>
                  </a:lnTo>
                  <a:lnTo>
                    <a:pt x="118719" y="329885"/>
                  </a:lnTo>
                  <a:lnTo>
                    <a:pt x="95609" y="289458"/>
                  </a:lnTo>
                  <a:lnTo>
                    <a:pt x="73952" y="246443"/>
                  </a:lnTo>
                  <a:lnTo>
                    <a:pt x="54821" y="202171"/>
                  </a:lnTo>
                  <a:lnTo>
                    <a:pt x="38854" y="157987"/>
                  </a:lnTo>
                  <a:lnTo>
                    <a:pt x="27330" y="116992"/>
                  </a:lnTo>
                  <a:lnTo>
                    <a:pt x="23429" y="98856"/>
                  </a:lnTo>
                  <a:lnTo>
                    <a:pt x="23315" y="98323"/>
                  </a:lnTo>
                  <a:lnTo>
                    <a:pt x="20833" y="82245"/>
                  </a:lnTo>
                  <a:lnTo>
                    <a:pt x="20750" y="81711"/>
                  </a:lnTo>
                  <a:lnTo>
                    <a:pt x="19436" y="68211"/>
                  </a:lnTo>
                  <a:lnTo>
                    <a:pt x="19334" y="67170"/>
                  </a:lnTo>
                  <a:lnTo>
                    <a:pt x="19223" y="61931"/>
                  </a:lnTo>
                  <a:lnTo>
                    <a:pt x="19179" y="59829"/>
                  </a:lnTo>
                  <a:lnTo>
                    <a:pt x="19058" y="54128"/>
                  </a:lnTo>
                  <a:lnTo>
                    <a:pt x="19048" y="53632"/>
                  </a:lnTo>
                  <a:lnTo>
                    <a:pt x="19357" y="50337"/>
                  </a:lnTo>
                  <a:lnTo>
                    <a:pt x="19885" y="43624"/>
                  </a:lnTo>
                  <a:lnTo>
                    <a:pt x="19975" y="42481"/>
                  </a:lnTo>
                  <a:lnTo>
                    <a:pt x="20161" y="41948"/>
                  </a:lnTo>
                  <a:lnTo>
                    <a:pt x="21588" y="34874"/>
                  </a:lnTo>
                  <a:lnTo>
                    <a:pt x="21423" y="34874"/>
                  </a:lnTo>
                  <a:lnTo>
                    <a:pt x="21757" y="34036"/>
                  </a:lnTo>
                  <a:lnTo>
                    <a:pt x="21918" y="33235"/>
                  </a:lnTo>
                  <a:lnTo>
                    <a:pt x="22076" y="33235"/>
                  </a:lnTo>
                  <a:lnTo>
                    <a:pt x="23913" y="28625"/>
                  </a:lnTo>
                  <a:lnTo>
                    <a:pt x="24039" y="28308"/>
                  </a:lnTo>
                  <a:lnTo>
                    <a:pt x="23798" y="28308"/>
                  </a:lnTo>
                  <a:lnTo>
                    <a:pt x="24385" y="27439"/>
                  </a:lnTo>
                  <a:lnTo>
                    <a:pt x="24473" y="27038"/>
                  </a:lnTo>
                  <a:lnTo>
                    <a:pt x="24763" y="26492"/>
                  </a:lnTo>
                  <a:lnTo>
                    <a:pt x="25026" y="26492"/>
                  </a:lnTo>
                  <a:lnTo>
                    <a:pt x="26650" y="24091"/>
                  </a:lnTo>
                  <a:lnTo>
                    <a:pt x="26094" y="24091"/>
                  </a:lnTo>
                  <a:lnTo>
                    <a:pt x="28179" y="21831"/>
                  </a:lnTo>
                  <a:lnTo>
                    <a:pt x="28901" y="21831"/>
                  </a:lnTo>
                  <a:lnTo>
                    <a:pt x="29862" y="21069"/>
                  </a:lnTo>
                  <a:lnTo>
                    <a:pt x="29056" y="21069"/>
                  </a:lnTo>
                  <a:lnTo>
                    <a:pt x="31552" y="19684"/>
                  </a:lnTo>
                  <a:lnTo>
                    <a:pt x="32890" y="19684"/>
                  </a:lnTo>
                  <a:lnTo>
                    <a:pt x="34086" y="19253"/>
                  </a:lnTo>
                  <a:lnTo>
                    <a:pt x="32624" y="19253"/>
                  </a:lnTo>
                  <a:lnTo>
                    <a:pt x="35634" y="18694"/>
                  </a:lnTo>
                  <a:lnTo>
                    <a:pt x="79880" y="18694"/>
                  </a:lnTo>
                  <a:lnTo>
                    <a:pt x="74953" y="14909"/>
                  </a:lnTo>
                  <a:lnTo>
                    <a:pt x="46594" y="1015"/>
                  </a:lnTo>
                  <a:lnTo>
                    <a:pt x="40828" y="0"/>
                  </a:lnTo>
                  <a:close/>
                </a:path>
                <a:path w="302895" h="474979">
                  <a:moveTo>
                    <a:pt x="271228" y="453682"/>
                  </a:moveTo>
                  <a:lnTo>
                    <a:pt x="248639" y="453682"/>
                  </a:lnTo>
                  <a:lnTo>
                    <a:pt x="245921" y="455180"/>
                  </a:lnTo>
                  <a:lnTo>
                    <a:pt x="244431" y="455180"/>
                  </a:lnTo>
                  <a:lnTo>
                    <a:pt x="241971" y="456056"/>
                  </a:lnTo>
                  <a:lnTo>
                    <a:pt x="244732" y="455549"/>
                  </a:lnTo>
                  <a:lnTo>
                    <a:pt x="270506" y="455549"/>
                  </a:lnTo>
                  <a:lnTo>
                    <a:pt x="270590" y="455333"/>
                  </a:lnTo>
                  <a:lnTo>
                    <a:pt x="270649" y="455180"/>
                  </a:lnTo>
                  <a:lnTo>
                    <a:pt x="245921" y="455180"/>
                  </a:lnTo>
                  <a:lnTo>
                    <a:pt x="247058" y="454278"/>
                  </a:lnTo>
                  <a:lnTo>
                    <a:pt x="270998" y="454278"/>
                  </a:lnTo>
                  <a:lnTo>
                    <a:pt x="271106" y="453999"/>
                  </a:lnTo>
                  <a:lnTo>
                    <a:pt x="271228" y="453682"/>
                  </a:lnTo>
                  <a:close/>
                </a:path>
                <a:path w="302895" h="474979">
                  <a:moveTo>
                    <a:pt x="270506" y="455549"/>
                  </a:moveTo>
                  <a:lnTo>
                    <a:pt x="244732" y="455549"/>
                  </a:lnTo>
                  <a:lnTo>
                    <a:pt x="241971" y="456056"/>
                  </a:lnTo>
                  <a:lnTo>
                    <a:pt x="270310" y="456056"/>
                  </a:lnTo>
                  <a:lnTo>
                    <a:pt x="270393" y="455841"/>
                  </a:lnTo>
                  <a:lnTo>
                    <a:pt x="270506" y="455549"/>
                  </a:lnTo>
                  <a:close/>
                </a:path>
                <a:path w="302895" h="474979">
                  <a:moveTo>
                    <a:pt x="243396" y="455549"/>
                  </a:moveTo>
                  <a:lnTo>
                    <a:pt x="237323" y="455701"/>
                  </a:lnTo>
                  <a:lnTo>
                    <a:pt x="239228" y="455841"/>
                  </a:lnTo>
                  <a:lnTo>
                    <a:pt x="238441" y="455701"/>
                  </a:lnTo>
                  <a:lnTo>
                    <a:pt x="242969" y="455701"/>
                  </a:lnTo>
                  <a:lnTo>
                    <a:pt x="243396" y="455549"/>
                  </a:lnTo>
                  <a:close/>
                </a:path>
                <a:path w="302895" h="474979">
                  <a:moveTo>
                    <a:pt x="242969" y="455701"/>
                  </a:moveTo>
                  <a:lnTo>
                    <a:pt x="238441" y="455701"/>
                  </a:lnTo>
                  <a:lnTo>
                    <a:pt x="239228" y="455841"/>
                  </a:lnTo>
                  <a:lnTo>
                    <a:pt x="242577" y="455841"/>
                  </a:lnTo>
                  <a:lnTo>
                    <a:pt x="242969" y="455701"/>
                  </a:lnTo>
                  <a:close/>
                </a:path>
                <a:path w="302895" h="474979">
                  <a:moveTo>
                    <a:pt x="235508" y="455180"/>
                  </a:moveTo>
                  <a:lnTo>
                    <a:pt x="235357" y="455180"/>
                  </a:lnTo>
                  <a:lnTo>
                    <a:pt x="235989" y="455333"/>
                  </a:lnTo>
                  <a:lnTo>
                    <a:pt x="236366" y="455333"/>
                  </a:lnTo>
                  <a:lnTo>
                    <a:pt x="235508" y="455180"/>
                  </a:lnTo>
                  <a:close/>
                </a:path>
                <a:path w="302895" h="474979">
                  <a:moveTo>
                    <a:pt x="248639" y="453682"/>
                  </a:moveTo>
                  <a:lnTo>
                    <a:pt x="247747" y="453999"/>
                  </a:lnTo>
                  <a:lnTo>
                    <a:pt x="247058" y="454278"/>
                  </a:lnTo>
                  <a:lnTo>
                    <a:pt x="245921" y="455180"/>
                  </a:lnTo>
                  <a:lnTo>
                    <a:pt x="248639" y="453682"/>
                  </a:lnTo>
                  <a:close/>
                </a:path>
                <a:path w="302895" h="474979">
                  <a:moveTo>
                    <a:pt x="250312" y="451697"/>
                  </a:moveTo>
                  <a:lnTo>
                    <a:pt x="247058" y="454278"/>
                  </a:lnTo>
                  <a:lnTo>
                    <a:pt x="247747" y="453999"/>
                  </a:lnTo>
                  <a:lnTo>
                    <a:pt x="248639" y="453682"/>
                  </a:lnTo>
                  <a:lnTo>
                    <a:pt x="271228" y="453682"/>
                  </a:lnTo>
                  <a:lnTo>
                    <a:pt x="271518" y="452932"/>
                  </a:lnTo>
                  <a:lnTo>
                    <a:pt x="249477" y="452932"/>
                  </a:lnTo>
                  <a:lnTo>
                    <a:pt x="249781" y="452602"/>
                  </a:lnTo>
                  <a:lnTo>
                    <a:pt x="249791" y="452467"/>
                  </a:lnTo>
                  <a:lnTo>
                    <a:pt x="250312" y="451697"/>
                  </a:lnTo>
                  <a:close/>
                </a:path>
                <a:path w="302895" h="474979">
                  <a:moveTo>
                    <a:pt x="272343" y="450799"/>
                  </a:moveTo>
                  <a:lnTo>
                    <a:pt x="251445" y="450799"/>
                  </a:lnTo>
                  <a:lnTo>
                    <a:pt x="249906" y="452467"/>
                  </a:lnTo>
                  <a:lnTo>
                    <a:pt x="249700" y="452602"/>
                  </a:lnTo>
                  <a:lnTo>
                    <a:pt x="249477" y="452932"/>
                  </a:lnTo>
                  <a:lnTo>
                    <a:pt x="271518" y="452932"/>
                  </a:lnTo>
                  <a:lnTo>
                    <a:pt x="272343" y="450799"/>
                  </a:lnTo>
                  <a:close/>
                </a:path>
                <a:path w="302895" h="474979">
                  <a:moveTo>
                    <a:pt x="251445" y="450799"/>
                  </a:moveTo>
                  <a:lnTo>
                    <a:pt x="250312" y="451697"/>
                  </a:lnTo>
                  <a:lnTo>
                    <a:pt x="249791" y="452467"/>
                  </a:lnTo>
                  <a:lnTo>
                    <a:pt x="250616" y="451697"/>
                  </a:lnTo>
                  <a:lnTo>
                    <a:pt x="251445" y="450799"/>
                  </a:lnTo>
                  <a:close/>
                </a:path>
                <a:path w="302895" h="474979">
                  <a:moveTo>
                    <a:pt x="253303" y="447522"/>
                  </a:moveTo>
                  <a:lnTo>
                    <a:pt x="252999" y="447725"/>
                  </a:lnTo>
                  <a:lnTo>
                    <a:pt x="250312" y="451697"/>
                  </a:lnTo>
                  <a:lnTo>
                    <a:pt x="251445" y="450799"/>
                  </a:lnTo>
                  <a:lnTo>
                    <a:pt x="272343" y="450799"/>
                  </a:lnTo>
                  <a:lnTo>
                    <a:pt x="273286" y="448360"/>
                  </a:lnTo>
                  <a:lnTo>
                    <a:pt x="252868" y="448360"/>
                  </a:lnTo>
                  <a:lnTo>
                    <a:pt x="253198" y="447725"/>
                  </a:lnTo>
                  <a:lnTo>
                    <a:pt x="253191" y="447522"/>
                  </a:lnTo>
                  <a:close/>
                </a:path>
                <a:path w="302895" h="474979">
                  <a:moveTo>
                    <a:pt x="223502" y="450441"/>
                  </a:moveTo>
                  <a:lnTo>
                    <a:pt x="224126" y="450799"/>
                  </a:lnTo>
                  <a:lnTo>
                    <a:pt x="224261" y="450799"/>
                  </a:lnTo>
                  <a:lnTo>
                    <a:pt x="223502" y="450441"/>
                  </a:lnTo>
                  <a:close/>
                </a:path>
                <a:path w="302895" h="474979">
                  <a:moveTo>
                    <a:pt x="274023" y="446455"/>
                  </a:moveTo>
                  <a:lnTo>
                    <a:pt x="253858" y="446455"/>
                  </a:lnTo>
                  <a:lnTo>
                    <a:pt x="253402" y="447333"/>
                  </a:lnTo>
                  <a:lnTo>
                    <a:pt x="253303" y="447522"/>
                  </a:lnTo>
                  <a:lnTo>
                    <a:pt x="253113" y="447725"/>
                  </a:lnTo>
                  <a:lnTo>
                    <a:pt x="252868" y="448360"/>
                  </a:lnTo>
                  <a:lnTo>
                    <a:pt x="273286" y="448360"/>
                  </a:lnTo>
                  <a:lnTo>
                    <a:pt x="274023" y="446455"/>
                  </a:lnTo>
                  <a:close/>
                </a:path>
                <a:path w="302895" h="474979">
                  <a:moveTo>
                    <a:pt x="253858" y="446455"/>
                  </a:moveTo>
                  <a:lnTo>
                    <a:pt x="253265" y="447333"/>
                  </a:lnTo>
                  <a:lnTo>
                    <a:pt x="253191" y="447522"/>
                  </a:lnTo>
                  <a:lnTo>
                    <a:pt x="253402" y="447333"/>
                  </a:lnTo>
                  <a:lnTo>
                    <a:pt x="253858" y="446455"/>
                  </a:lnTo>
                  <a:close/>
                </a:path>
                <a:path w="302895" h="474979">
                  <a:moveTo>
                    <a:pt x="275406" y="439978"/>
                  </a:moveTo>
                  <a:lnTo>
                    <a:pt x="256106" y="439978"/>
                  </a:lnTo>
                  <a:lnTo>
                    <a:pt x="255821" y="440718"/>
                  </a:lnTo>
                  <a:lnTo>
                    <a:pt x="255662" y="441502"/>
                  </a:lnTo>
                  <a:lnTo>
                    <a:pt x="255517" y="441502"/>
                  </a:lnTo>
                  <a:lnTo>
                    <a:pt x="253265" y="447333"/>
                  </a:lnTo>
                  <a:lnTo>
                    <a:pt x="253858" y="446455"/>
                  </a:lnTo>
                  <a:lnTo>
                    <a:pt x="274023" y="446455"/>
                  </a:lnTo>
                  <a:lnTo>
                    <a:pt x="274166" y="446087"/>
                  </a:lnTo>
                  <a:lnTo>
                    <a:pt x="275096" y="441502"/>
                  </a:lnTo>
                  <a:lnTo>
                    <a:pt x="255662" y="441502"/>
                  </a:lnTo>
                  <a:lnTo>
                    <a:pt x="255891" y="440718"/>
                  </a:lnTo>
                  <a:lnTo>
                    <a:pt x="275256" y="440718"/>
                  </a:lnTo>
                  <a:lnTo>
                    <a:pt x="275406" y="439978"/>
                  </a:lnTo>
                  <a:close/>
                </a:path>
                <a:path w="302895" h="474979">
                  <a:moveTo>
                    <a:pt x="274823" y="385959"/>
                  </a:moveTo>
                  <a:lnTo>
                    <a:pt x="256302" y="390424"/>
                  </a:lnTo>
                  <a:lnTo>
                    <a:pt x="256843" y="392518"/>
                  </a:lnTo>
                  <a:lnTo>
                    <a:pt x="258223" y="406590"/>
                  </a:lnTo>
                  <a:lnTo>
                    <a:pt x="258335" y="407724"/>
                  </a:lnTo>
                  <a:lnTo>
                    <a:pt x="258461" y="421335"/>
                  </a:lnTo>
                  <a:lnTo>
                    <a:pt x="258155" y="425221"/>
                  </a:lnTo>
                  <a:lnTo>
                    <a:pt x="257744" y="431215"/>
                  </a:lnTo>
                  <a:lnTo>
                    <a:pt x="255821" y="440718"/>
                  </a:lnTo>
                  <a:lnTo>
                    <a:pt x="256106" y="439978"/>
                  </a:lnTo>
                  <a:lnTo>
                    <a:pt x="275406" y="439978"/>
                  </a:lnTo>
                  <a:lnTo>
                    <a:pt x="276528" y="434454"/>
                  </a:lnTo>
                  <a:lnTo>
                    <a:pt x="277569" y="421335"/>
                  </a:lnTo>
                  <a:lnTo>
                    <a:pt x="277454" y="412991"/>
                  </a:lnTo>
                  <a:lnTo>
                    <a:pt x="277366" y="406590"/>
                  </a:lnTo>
                  <a:lnTo>
                    <a:pt x="275773" y="390424"/>
                  </a:lnTo>
                  <a:lnTo>
                    <a:pt x="275740" y="390093"/>
                  </a:lnTo>
                  <a:lnTo>
                    <a:pt x="274823" y="385959"/>
                  </a:lnTo>
                  <a:close/>
                </a:path>
                <a:path w="302895" h="474979">
                  <a:moveTo>
                    <a:pt x="247940" y="314058"/>
                  </a:moveTo>
                  <a:lnTo>
                    <a:pt x="228750" y="397065"/>
                  </a:lnTo>
                  <a:lnTo>
                    <a:pt x="256302" y="390424"/>
                  </a:lnTo>
                  <a:lnTo>
                    <a:pt x="253552" y="378028"/>
                  </a:lnTo>
                  <a:lnTo>
                    <a:pt x="253515" y="377863"/>
                  </a:lnTo>
                  <a:lnTo>
                    <a:pt x="272108" y="373722"/>
                  </a:lnTo>
                  <a:lnTo>
                    <a:pt x="298207" y="373722"/>
                  </a:lnTo>
                  <a:lnTo>
                    <a:pt x="247940" y="314058"/>
                  </a:lnTo>
                  <a:close/>
                </a:path>
                <a:path w="302895" h="474979">
                  <a:moveTo>
                    <a:pt x="272108" y="373722"/>
                  </a:moveTo>
                  <a:lnTo>
                    <a:pt x="253515" y="377863"/>
                  </a:lnTo>
                  <a:lnTo>
                    <a:pt x="256229" y="390093"/>
                  </a:lnTo>
                  <a:lnTo>
                    <a:pt x="256302" y="390424"/>
                  </a:lnTo>
                  <a:lnTo>
                    <a:pt x="274823" y="385959"/>
                  </a:lnTo>
                  <a:lnTo>
                    <a:pt x="272108" y="373722"/>
                  </a:lnTo>
                  <a:close/>
                </a:path>
                <a:path w="302895" h="474979">
                  <a:moveTo>
                    <a:pt x="298207" y="373722"/>
                  </a:moveTo>
                  <a:lnTo>
                    <a:pt x="272108" y="373722"/>
                  </a:lnTo>
                  <a:lnTo>
                    <a:pt x="274823" y="385959"/>
                  </a:lnTo>
                  <a:lnTo>
                    <a:pt x="302829" y="379209"/>
                  </a:lnTo>
                  <a:lnTo>
                    <a:pt x="298207" y="373722"/>
                  </a:lnTo>
                  <a:close/>
                </a:path>
                <a:path w="302895" h="474979">
                  <a:moveTo>
                    <a:pt x="97528" y="61931"/>
                  </a:moveTo>
                  <a:lnTo>
                    <a:pt x="75245" y="79006"/>
                  </a:lnTo>
                  <a:lnTo>
                    <a:pt x="151826" y="116319"/>
                  </a:lnTo>
                  <a:lnTo>
                    <a:pt x="143294" y="71996"/>
                  </a:lnTo>
                  <a:lnTo>
                    <a:pt x="105878" y="71996"/>
                  </a:lnTo>
                  <a:lnTo>
                    <a:pt x="97528" y="61931"/>
                  </a:lnTo>
                  <a:close/>
                </a:path>
                <a:path w="302895" h="474979">
                  <a:moveTo>
                    <a:pt x="112659" y="50337"/>
                  </a:moveTo>
                  <a:lnTo>
                    <a:pt x="97528" y="61931"/>
                  </a:lnTo>
                  <a:lnTo>
                    <a:pt x="105878" y="71996"/>
                  </a:lnTo>
                  <a:lnTo>
                    <a:pt x="120534" y="59829"/>
                  </a:lnTo>
                  <a:lnTo>
                    <a:pt x="112659" y="50337"/>
                  </a:lnTo>
                  <a:close/>
                </a:path>
                <a:path w="302895" h="474979">
                  <a:moveTo>
                    <a:pt x="135723" y="32664"/>
                  </a:moveTo>
                  <a:lnTo>
                    <a:pt x="112659" y="50337"/>
                  </a:lnTo>
                  <a:lnTo>
                    <a:pt x="120534" y="59829"/>
                  </a:lnTo>
                  <a:lnTo>
                    <a:pt x="105878" y="71996"/>
                  </a:lnTo>
                  <a:lnTo>
                    <a:pt x="143294" y="71996"/>
                  </a:lnTo>
                  <a:lnTo>
                    <a:pt x="135833" y="33235"/>
                  </a:lnTo>
                  <a:lnTo>
                    <a:pt x="135723" y="32664"/>
                  </a:lnTo>
                  <a:close/>
                </a:path>
                <a:path w="302895" h="474979">
                  <a:moveTo>
                    <a:pt x="41667" y="19431"/>
                  </a:moveTo>
                  <a:lnTo>
                    <a:pt x="46150" y="20764"/>
                  </a:lnTo>
                  <a:lnTo>
                    <a:pt x="46023" y="20764"/>
                  </a:lnTo>
                  <a:lnTo>
                    <a:pt x="50051" y="22390"/>
                  </a:lnTo>
                  <a:lnTo>
                    <a:pt x="51487" y="23066"/>
                  </a:lnTo>
                  <a:lnTo>
                    <a:pt x="53782" y="24091"/>
                  </a:lnTo>
                  <a:lnTo>
                    <a:pt x="59007" y="27241"/>
                  </a:lnTo>
                  <a:lnTo>
                    <a:pt x="61120" y="28625"/>
                  </a:lnTo>
                  <a:lnTo>
                    <a:pt x="63638" y="30238"/>
                  </a:lnTo>
                  <a:lnTo>
                    <a:pt x="72566" y="37071"/>
                  </a:lnTo>
                  <a:lnTo>
                    <a:pt x="81913" y="45300"/>
                  </a:lnTo>
                  <a:lnTo>
                    <a:pt x="90910" y="54128"/>
                  </a:lnTo>
                  <a:lnTo>
                    <a:pt x="91442" y="54584"/>
                  </a:lnTo>
                  <a:lnTo>
                    <a:pt x="97528" y="61931"/>
                  </a:lnTo>
                  <a:lnTo>
                    <a:pt x="112659" y="50337"/>
                  </a:lnTo>
                  <a:lnTo>
                    <a:pt x="105700" y="41948"/>
                  </a:lnTo>
                  <a:lnTo>
                    <a:pt x="95083" y="31521"/>
                  </a:lnTo>
                  <a:lnTo>
                    <a:pt x="84923" y="22567"/>
                  </a:lnTo>
                  <a:lnTo>
                    <a:pt x="82575" y="20764"/>
                  </a:lnTo>
                  <a:lnTo>
                    <a:pt x="46150" y="20764"/>
                  </a:lnTo>
                  <a:lnTo>
                    <a:pt x="45714" y="20617"/>
                  </a:lnTo>
                  <a:lnTo>
                    <a:pt x="82383" y="20617"/>
                  </a:lnTo>
                  <a:lnTo>
                    <a:pt x="81170" y="19684"/>
                  </a:lnTo>
                  <a:lnTo>
                    <a:pt x="42721" y="19684"/>
                  </a:lnTo>
                  <a:lnTo>
                    <a:pt x="41667" y="19431"/>
                  </a:lnTo>
                  <a:close/>
                </a:path>
                <a:path w="302895" h="474979">
                  <a:moveTo>
                    <a:pt x="21757" y="34036"/>
                  </a:moveTo>
                  <a:lnTo>
                    <a:pt x="21423" y="34874"/>
                  </a:lnTo>
                  <a:lnTo>
                    <a:pt x="21588" y="34874"/>
                  </a:lnTo>
                  <a:lnTo>
                    <a:pt x="21757" y="34036"/>
                  </a:lnTo>
                  <a:close/>
                </a:path>
                <a:path w="302895" h="474979">
                  <a:moveTo>
                    <a:pt x="22076" y="33235"/>
                  </a:moveTo>
                  <a:lnTo>
                    <a:pt x="21918" y="33235"/>
                  </a:lnTo>
                  <a:lnTo>
                    <a:pt x="21757" y="34036"/>
                  </a:lnTo>
                  <a:lnTo>
                    <a:pt x="22076" y="33235"/>
                  </a:lnTo>
                  <a:close/>
                </a:path>
                <a:path w="302895" h="474979">
                  <a:moveTo>
                    <a:pt x="24385" y="27439"/>
                  </a:moveTo>
                  <a:lnTo>
                    <a:pt x="23798" y="28308"/>
                  </a:lnTo>
                  <a:lnTo>
                    <a:pt x="24039" y="28308"/>
                  </a:lnTo>
                  <a:lnTo>
                    <a:pt x="24385" y="27439"/>
                  </a:lnTo>
                  <a:close/>
                </a:path>
                <a:path w="302895" h="474979">
                  <a:moveTo>
                    <a:pt x="24657" y="27038"/>
                  </a:moveTo>
                  <a:lnTo>
                    <a:pt x="24365" y="27241"/>
                  </a:lnTo>
                  <a:lnTo>
                    <a:pt x="24259" y="27439"/>
                  </a:lnTo>
                  <a:lnTo>
                    <a:pt x="24519" y="27241"/>
                  </a:lnTo>
                  <a:lnTo>
                    <a:pt x="24545" y="27038"/>
                  </a:lnTo>
                  <a:close/>
                </a:path>
                <a:path w="302895" h="474979">
                  <a:moveTo>
                    <a:pt x="25026" y="26492"/>
                  </a:moveTo>
                  <a:lnTo>
                    <a:pt x="24763" y="26492"/>
                  </a:lnTo>
                  <a:lnTo>
                    <a:pt x="24545" y="27038"/>
                  </a:lnTo>
                  <a:lnTo>
                    <a:pt x="25026" y="26492"/>
                  </a:lnTo>
                  <a:close/>
                </a:path>
                <a:path w="302895" h="474979">
                  <a:moveTo>
                    <a:pt x="27956" y="22161"/>
                  </a:moveTo>
                  <a:lnTo>
                    <a:pt x="27664" y="22390"/>
                  </a:lnTo>
                  <a:lnTo>
                    <a:pt x="26094" y="24091"/>
                  </a:lnTo>
                  <a:lnTo>
                    <a:pt x="27344" y="23066"/>
                  </a:lnTo>
                  <a:lnTo>
                    <a:pt x="27956" y="22161"/>
                  </a:lnTo>
                  <a:close/>
                </a:path>
                <a:path w="302895" h="474979">
                  <a:moveTo>
                    <a:pt x="27344" y="23066"/>
                  </a:moveTo>
                  <a:lnTo>
                    <a:pt x="26051" y="24091"/>
                  </a:lnTo>
                  <a:lnTo>
                    <a:pt x="26650" y="24091"/>
                  </a:lnTo>
                  <a:lnTo>
                    <a:pt x="27344" y="23066"/>
                  </a:lnTo>
                  <a:close/>
                </a:path>
                <a:path w="302895" h="474979">
                  <a:moveTo>
                    <a:pt x="28901" y="21831"/>
                  </a:moveTo>
                  <a:lnTo>
                    <a:pt x="28179" y="21831"/>
                  </a:lnTo>
                  <a:lnTo>
                    <a:pt x="27344" y="23066"/>
                  </a:lnTo>
                  <a:lnTo>
                    <a:pt x="28901" y="21831"/>
                  </a:lnTo>
                  <a:close/>
                </a:path>
                <a:path w="302895" h="474979">
                  <a:moveTo>
                    <a:pt x="31607" y="19684"/>
                  </a:moveTo>
                  <a:lnTo>
                    <a:pt x="29056" y="21069"/>
                  </a:lnTo>
                  <a:lnTo>
                    <a:pt x="30308" y="20617"/>
                  </a:lnTo>
                  <a:lnTo>
                    <a:pt x="31607" y="19684"/>
                  </a:lnTo>
                  <a:close/>
                </a:path>
                <a:path w="302895" h="474979">
                  <a:moveTo>
                    <a:pt x="30432" y="20617"/>
                  </a:moveTo>
                  <a:lnTo>
                    <a:pt x="29900" y="20764"/>
                  </a:lnTo>
                  <a:lnTo>
                    <a:pt x="29056" y="21069"/>
                  </a:lnTo>
                  <a:lnTo>
                    <a:pt x="29862" y="21069"/>
                  </a:lnTo>
                  <a:lnTo>
                    <a:pt x="30432" y="20617"/>
                  </a:lnTo>
                  <a:close/>
                </a:path>
                <a:path w="302895" h="474979">
                  <a:moveTo>
                    <a:pt x="32890" y="19684"/>
                  </a:moveTo>
                  <a:lnTo>
                    <a:pt x="31607" y="19684"/>
                  </a:lnTo>
                  <a:lnTo>
                    <a:pt x="30432" y="20617"/>
                  </a:lnTo>
                  <a:lnTo>
                    <a:pt x="32890" y="19684"/>
                  </a:lnTo>
                  <a:close/>
                </a:path>
                <a:path w="302895" h="474979">
                  <a:moveTo>
                    <a:pt x="38441" y="18922"/>
                  </a:moveTo>
                  <a:lnTo>
                    <a:pt x="42721" y="19684"/>
                  </a:lnTo>
                  <a:lnTo>
                    <a:pt x="42521" y="19684"/>
                  </a:lnTo>
                  <a:lnTo>
                    <a:pt x="41667" y="19431"/>
                  </a:lnTo>
                  <a:lnTo>
                    <a:pt x="80839" y="19431"/>
                  </a:lnTo>
                  <a:lnTo>
                    <a:pt x="80391" y="19086"/>
                  </a:lnTo>
                  <a:lnTo>
                    <a:pt x="40659" y="19086"/>
                  </a:lnTo>
                  <a:lnTo>
                    <a:pt x="38441" y="18922"/>
                  </a:lnTo>
                  <a:close/>
                </a:path>
                <a:path w="302895" h="474979">
                  <a:moveTo>
                    <a:pt x="80839" y="19431"/>
                  </a:moveTo>
                  <a:lnTo>
                    <a:pt x="41667" y="19431"/>
                  </a:lnTo>
                  <a:lnTo>
                    <a:pt x="42721" y="19684"/>
                  </a:lnTo>
                  <a:lnTo>
                    <a:pt x="81170" y="19684"/>
                  </a:lnTo>
                  <a:lnTo>
                    <a:pt x="80839" y="19431"/>
                  </a:lnTo>
                  <a:close/>
                </a:path>
                <a:path w="302895" h="474979">
                  <a:moveTo>
                    <a:pt x="35634" y="18694"/>
                  </a:moveTo>
                  <a:lnTo>
                    <a:pt x="32624" y="19253"/>
                  </a:lnTo>
                  <a:lnTo>
                    <a:pt x="34086" y="19253"/>
                  </a:lnTo>
                  <a:lnTo>
                    <a:pt x="35634" y="18694"/>
                  </a:lnTo>
                  <a:close/>
                </a:path>
                <a:path w="302895" h="474979">
                  <a:moveTo>
                    <a:pt x="79880" y="18694"/>
                  </a:moveTo>
                  <a:lnTo>
                    <a:pt x="35634" y="18694"/>
                  </a:lnTo>
                  <a:lnTo>
                    <a:pt x="34086" y="19253"/>
                  </a:lnTo>
                  <a:lnTo>
                    <a:pt x="32624" y="19253"/>
                  </a:lnTo>
                  <a:lnTo>
                    <a:pt x="39360" y="19086"/>
                  </a:lnTo>
                  <a:lnTo>
                    <a:pt x="38441" y="18922"/>
                  </a:lnTo>
                  <a:lnTo>
                    <a:pt x="80178" y="18922"/>
                  </a:lnTo>
                  <a:lnTo>
                    <a:pt x="79880" y="18694"/>
                  </a:lnTo>
                  <a:close/>
                </a:path>
                <a:path w="302895" h="474979">
                  <a:moveTo>
                    <a:pt x="80178" y="18922"/>
                  </a:moveTo>
                  <a:lnTo>
                    <a:pt x="38441" y="18922"/>
                  </a:lnTo>
                  <a:lnTo>
                    <a:pt x="40659" y="19086"/>
                  </a:lnTo>
                  <a:lnTo>
                    <a:pt x="80391" y="19086"/>
                  </a:lnTo>
                  <a:lnTo>
                    <a:pt x="80178" y="18922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1960" y="5899810"/>
              <a:ext cx="395605" cy="221615"/>
            </a:xfrm>
            <a:custGeom>
              <a:avLst/>
              <a:gdLst/>
              <a:ahLst/>
              <a:cxnLst/>
              <a:rect l="l" t="t" r="r" b="b"/>
              <a:pathLst>
                <a:path w="395605" h="221614">
                  <a:moveTo>
                    <a:pt x="0" y="221043"/>
                  </a:moveTo>
                  <a:lnTo>
                    <a:pt x="395414" y="0"/>
                  </a:lnTo>
                </a:path>
              </a:pathLst>
            </a:custGeom>
            <a:ln w="15875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37375" y="4754117"/>
              <a:ext cx="2037714" cy="1146175"/>
            </a:xfrm>
            <a:custGeom>
              <a:avLst/>
              <a:gdLst/>
              <a:ahLst/>
              <a:cxnLst/>
              <a:rect l="l" t="t" r="r" b="b"/>
              <a:pathLst>
                <a:path w="2037714" h="1146175">
                  <a:moveTo>
                    <a:pt x="0" y="1145692"/>
                  </a:moveTo>
                  <a:lnTo>
                    <a:pt x="2037295" y="0"/>
                  </a:lnTo>
                </a:path>
              </a:pathLst>
            </a:custGeom>
            <a:ln w="15874">
              <a:solidFill>
                <a:srgbClr val="00AFEF"/>
              </a:solidFill>
              <a:prstDash val="lg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575306" y="4533010"/>
              <a:ext cx="395605" cy="221615"/>
            </a:xfrm>
            <a:custGeom>
              <a:avLst/>
              <a:gdLst/>
              <a:ahLst/>
              <a:cxnLst/>
              <a:rect l="l" t="t" r="r" b="b"/>
              <a:pathLst>
                <a:path w="395605" h="221614">
                  <a:moveTo>
                    <a:pt x="0" y="221106"/>
                  </a:moveTo>
                  <a:lnTo>
                    <a:pt x="395350" y="0"/>
                  </a:lnTo>
                </a:path>
              </a:pathLst>
            </a:custGeom>
            <a:ln w="15875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6436233" y="4480724"/>
            <a:ext cx="2286000" cy="1819275"/>
            <a:chOff x="6436233" y="4480724"/>
            <a:chExt cx="2286000" cy="181927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36233" y="4480724"/>
              <a:ext cx="2285999" cy="181927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606273" y="4847208"/>
              <a:ext cx="1941195" cy="939800"/>
            </a:xfrm>
            <a:custGeom>
              <a:avLst/>
              <a:gdLst/>
              <a:ahLst/>
              <a:cxnLst/>
              <a:rect l="l" t="t" r="r" b="b"/>
              <a:pathLst>
                <a:path w="1941195" h="939800">
                  <a:moveTo>
                    <a:pt x="373011" y="577850"/>
                  </a:moveTo>
                  <a:lnTo>
                    <a:pt x="367423" y="526161"/>
                  </a:lnTo>
                  <a:lnTo>
                    <a:pt x="363867" y="493141"/>
                  </a:lnTo>
                  <a:lnTo>
                    <a:pt x="334530" y="511962"/>
                  </a:lnTo>
                  <a:lnTo>
                    <a:pt x="5346" y="0"/>
                  </a:lnTo>
                  <a:lnTo>
                    <a:pt x="0" y="3429"/>
                  </a:lnTo>
                  <a:lnTo>
                    <a:pt x="329145" y="515416"/>
                  </a:lnTo>
                  <a:lnTo>
                    <a:pt x="299732" y="534289"/>
                  </a:lnTo>
                  <a:lnTo>
                    <a:pt x="373011" y="577850"/>
                  </a:lnTo>
                  <a:close/>
                </a:path>
                <a:path w="1941195" h="939800">
                  <a:moveTo>
                    <a:pt x="1941080" y="936269"/>
                  </a:moveTo>
                  <a:lnTo>
                    <a:pt x="1625396" y="383349"/>
                  </a:lnTo>
                  <a:lnTo>
                    <a:pt x="1644599" y="372376"/>
                  </a:lnTo>
                  <a:lnTo>
                    <a:pt x="1655711" y="366026"/>
                  </a:lnTo>
                  <a:lnTo>
                    <a:pt x="1584845" y="318770"/>
                  </a:lnTo>
                  <a:lnTo>
                    <a:pt x="1589544" y="403860"/>
                  </a:lnTo>
                  <a:lnTo>
                    <a:pt x="1619973" y="386461"/>
                  </a:lnTo>
                  <a:lnTo>
                    <a:pt x="1935619" y="939406"/>
                  </a:lnTo>
                  <a:lnTo>
                    <a:pt x="1941080" y="93626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384163" y="4516628"/>
            <a:ext cx="691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0000"/>
                </a:solidFill>
                <a:latin typeface="Times New Roman"/>
                <a:cs typeface="Times New Roman"/>
              </a:rPr>
              <a:t>Khâu</a:t>
            </a:r>
            <a:r>
              <a:rPr sz="1800" i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81064" y="5769965"/>
            <a:ext cx="242189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0000"/>
                </a:solidFill>
                <a:latin typeface="Times New Roman"/>
                <a:cs typeface="Times New Roman"/>
              </a:rPr>
              <a:t>Khâu</a:t>
            </a:r>
            <a:r>
              <a:rPr sz="1800" i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  <a:p>
            <a:pPr marR="44450" algn="r">
              <a:lnSpc>
                <a:spcPct val="100000"/>
              </a:lnSpc>
              <a:spcBef>
                <a:spcPts val="1365"/>
              </a:spcBef>
            </a:pPr>
            <a:r>
              <a:rPr sz="1800" i="1" dirty="0">
                <a:solidFill>
                  <a:srgbClr val="FF0000"/>
                </a:solidFill>
                <a:latin typeface="Times New Roman"/>
                <a:cs typeface="Times New Roman"/>
              </a:rPr>
              <a:t>Khớp</a:t>
            </a:r>
            <a:r>
              <a:rPr sz="1800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FF0000"/>
                </a:solidFill>
                <a:latin typeface="Times New Roman"/>
                <a:cs typeface="Times New Roman"/>
              </a:rPr>
              <a:t>động</a:t>
            </a:r>
            <a:r>
              <a:rPr sz="1800" i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FF0000"/>
                </a:solidFill>
                <a:latin typeface="Times New Roman"/>
                <a:cs typeface="Times New Roman"/>
              </a:rPr>
              <a:t>(Khớp</a:t>
            </a:r>
            <a:r>
              <a:rPr sz="18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FF0000"/>
                </a:solidFill>
                <a:latin typeface="Times New Roman"/>
                <a:cs typeface="Times New Roman"/>
              </a:rPr>
              <a:t>bản</a:t>
            </a:r>
            <a:r>
              <a:rPr sz="1800" i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i="1" spc="-25" dirty="0">
                <a:solidFill>
                  <a:srgbClr val="FF0000"/>
                </a:solidFill>
                <a:latin typeface="Times New Roman"/>
                <a:cs typeface="Times New Roman"/>
              </a:rPr>
              <a:t>lề)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19907" y="4363961"/>
            <a:ext cx="2143125" cy="214312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3399282" y="6158280"/>
            <a:ext cx="2148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0000"/>
                </a:solidFill>
                <a:latin typeface="Times New Roman"/>
                <a:cs typeface="Times New Roman"/>
              </a:rPr>
              <a:t>Thành</a:t>
            </a:r>
            <a:r>
              <a:rPr sz="1800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FF0000"/>
                </a:solidFill>
                <a:latin typeface="Times New Roman"/>
                <a:cs typeface="Times New Roman"/>
              </a:rPr>
              <a:t>phần</a:t>
            </a:r>
            <a:r>
              <a:rPr sz="180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FF0000"/>
                </a:solidFill>
                <a:latin typeface="Times New Roman"/>
                <a:cs typeface="Times New Roman"/>
              </a:rPr>
              <a:t>khớp</a:t>
            </a:r>
            <a:r>
              <a:rPr sz="1800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i="1" spc="-20" dirty="0">
                <a:solidFill>
                  <a:srgbClr val="FF0000"/>
                </a:solidFill>
                <a:latin typeface="Times New Roman"/>
                <a:cs typeface="Times New Roman"/>
              </a:rPr>
              <a:t>động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816604" y="4801489"/>
            <a:ext cx="1823720" cy="1339850"/>
          </a:xfrm>
          <a:custGeom>
            <a:avLst/>
            <a:gdLst/>
            <a:ahLst/>
            <a:cxnLst/>
            <a:rect l="l" t="t" r="r" b="b"/>
            <a:pathLst>
              <a:path w="1823720" h="1339850">
                <a:moveTo>
                  <a:pt x="295021" y="361950"/>
                </a:moveTo>
                <a:lnTo>
                  <a:pt x="284467" y="314706"/>
                </a:lnTo>
                <a:lnTo>
                  <a:pt x="276479" y="278892"/>
                </a:lnTo>
                <a:lnTo>
                  <a:pt x="249377" y="300875"/>
                </a:lnTo>
                <a:lnTo>
                  <a:pt x="4953" y="0"/>
                </a:lnTo>
                <a:lnTo>
                  <a:pt x="0" y="3937"/>
                </a:lnTo>
                <a:lnTo>
                  <a:pt x="244462" y="304863"/>
                </a:lnTo>
                <a:lnTo>
                  <a:pt x="217297" y="326898"/>
                </a:lnTo>
                <a:lnTo>
                  <a:pt x="295021" y="361950"/>
                </a:lnTo>
                <a:close/>
              </a:path>
              <a:path w="1823720" h="1339850">
                <a:moveTo>
                  <a:pt x="1231519" y="819581"/>
                </a:moveTo>
                <a:lnTo>
                  <a:pt x="1161542" y="859002"/>
                </a:lnTo>
                <a:lnTo>
                  <a:pt x="1176782" y="872845"/>
                </a:lnTo>
                <a:lnTo>
                  <a:pt x="778192" y="1312951"/>
                </a:lnTo>
                <a:lnTo>
                  <a:pt x="973709" y="838136"/>
                </a:lnTo>
                <a:lnTo>
                  <a:pt x="992886" y="846023"/>
                </a:lnTo>
                <a:lnTo>
                  <a:pt x="994460" y="822794"/>
                </a:lnTo>
                <a:lnTo>
                  <a:pt x="998347" y="765937"/>
                </a:lnTo>
                <a:lnTo>
                  <a:pt x="945896" y="826668"/>
                </a:lnTo>
                <a:lnTo>
                  <a:pt x="964933" y="834517"/>
                </a:lnTo>
                <a:lnTo>
                  <a:pt x="763752" y="1323098"/>
                </a:lnTo>
                <a:lnTo>
                  <a:pt x="605447" y="889533"/>
                </a:lnTo>
                <a:lnTo>
                  <a:pt x="624840" y="882459"/>
                </a:lnTo>
                <a:lnTo>
                  <a:pt x="620966" y="877595"/>
                </a:lnTo>
                <a:lnTo>
                  <a:pt x="574802" y="819581"/>
                </a:lnTo>
                <a:lnTo>
                  <a:pt x="577088" y="899871"/>
                </a:lnTo>
                <a:lnTo>
                  <a:pt x="596544" y="892784"/>
                </a:lnTo>
                <a:lnTo>
                  <a:pt x="752157" y="1319301"/>
                </a:lnTo>
                <a:lnTo>
                  <a:pt x="498525" y="1083970"/>
                </a:lnTo>
                <a:lnTo>
                  <a:pt x="506539" y="1075309"/>
                </a:lnTo>
                <a:lnTo>
                  <a:pt x="512572" y="1068819"/>
                </a:lnTo>
                <a:lnTo>
                  <a:pt x="439420" y="1035608"/>
                </a:lnTo>
                <a:lnTo>
                  <a:pt x="478028" y="1106055"/>
                </a:lnTo>
                <a:lnTo>
                  <a:pt x="492036" y="1090942"/>
                </a:lnTo>
                <a:lnTo>
                  <a:pt x="760222" y="1339761"/>
                </a:lnTo>
                <a:lnTo>
                  <a:pt x="763460" y="1336268"/>
                </a:lnTo>
                <a:lnTo>
                  <a:pt x="766953" y="1339469"/>
                </a:lnTo>
                <a:lnTo>
                  <a:pt x="1183868" y="879271"/>
                </a:lnTo>
                <a:lnTo>
                  <a:pt x="1199134" y="893114"/>
                </a:lnTo>
                <a:lnTo>
                  <a:pt x="1212189" y="863447"/>
                </a:lnTo>
                <a:lnTo>
                  <a:pt x="1231519" y="819581"/>
                </a:lnTo>
                <a:close/>
              </a:path>
              <a:path w="1823720" h="1339850">
                <a:moveTo>
                  <a:pt x="1823593" y="46990"/>
                </a:moveTo>
                <a:lnTo>
                  <a:pt x="1820545" y="41275"/>
                </a:lnTo>
                <a:lnTo>
                  <a:pt x="1220787" y="358178"/>
                </a:lnTo>
                <a:lnTo>
                  <a:pt x="1204468" y="327279"/>
                </a:lnTo>
                <a:lnTo>
                  <a:pt x="1154938" y="396494"/>
                </a:lnTo>
                <a:lnTo>
                  <a:pt x="1240028" y="394589"/>
                </a:lnTo>
                <a:lnTo>
                  <a:pt x="1226870" y="369697"/>
                </a:lnTo>
                <a:lnTo>
                  <a:pt x="1223759" y="363804"/>
                </a:lnTo>
                <a:lnTo>
                  <a:pt x="1823593" y="4699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352038" y="4423029"/>
            <a:ext cx="691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0000"/>
                </a:solidFill>
                <a:latin typeface="Times New Roman"/>
                <a:cs typeface="Times New Roman"/>
              </a:rPr>
              <a:t>Khâu</a:t>
            </a:r>
            <a:r>
              <a:rPr sz="180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272785" y="4496561"/>
            <a:ext cx="691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0000"/>
                </a:solidFill>
                <a:latin typeface="Times New Roman"/>
                <a:cs typeface="Times New Roman"/>
              </a:rPr>
              <a:t>Khâu</a:t>
            </a:r>
            <a:r>
              <a:rPr sz="1800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806053" y="120522"/>
            <a:ext cx="219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1.8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30" dirty="0"/>
              <a:t> </a:t>
            </a:r>
            <a:r>
              <a:rPr dirty="0"/>
              <a:t>1</a:t>
            </a:r>
            <a:r>
              <a:rPr spc="-45" dirty="0"/>
              <a:t> </a:t>
            </a:r>
            <a:r>
              <a:rPr dirty="0"/>
              <a:t>–</a:t>
            </a:r>
            <a:r>
              <a:rPr spc="-50" dirty="0"/>
              <a:t> </a:t>
            </a:r>
            <a:r>
              <a:rPr dirty="0"/>
              <a:t>PHÂN</a:t>
            </a:r>
            <a:r>
              <a:rPr spc="-40" dirty="0"/>
              <a:t> </a:t>
            </a:r>
            <a:r>
              <a:rPr dirty="0"/>
              <a:t>TÍCH</a:t>
            </a:r>
            <a:r>
              <a:rPr spc="-45" dirty="0"/>
              <a:t> </a:t>
            </a:r>
            <a:r>
              <a:rPr dirty="0"/>
              <a:t>CẤU</a:t>
            </a:r>
            <a:r>
              <a:rPr spc="-55" dirty="0"/>
              <a:t> </a:t>
            </a:r>
            <a:r>
              <a:rPr dirty="0"/>
              <a:t>TRÚC</a:t>
            </a:r>
            <a:r>
              <a:rPr spc="-45" dirty="0"/>
              <a:t> </a:t>
            </a:r>
            <a:r>
              <a:rPr dirty="0"/>
              <a:t>CƠ</a:t>
            </a:r>
            <a:r>
              <a:rPr spc="-45" dirty="0"/>
              <a:t> </a:t>
            </a:r>
            <a:r>
              <a:rPr spc="-25" dirty="0"/>
              <a:t>CẤU</a:t>
            </a:r>
          </a:p>
        </p:txBody>
      </p:sp>
      <p:sp>
        <p:nvSpPr>
          <p:cNvPr id="25" name="object 25"/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240297" y="1988820"/>
            <a:ext cx="1854835" cy="2207895"/>
            <a:chOff x="6240297" y="1988820"/>
            <a:chExt cx="1854835" cy="22078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40297" y="1988820"/>
              <a:ext cx="1702028" cy="220738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34301" y="2242502"/>
              <a:ext cx="1360487" cy="1454785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6435596" y="3148815"/>
            <a:ext cx="608330" cy="7918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900" spc="-305" dirty="0">
                <a:latin typeface="Cambria Math"/>
                <a:cs typeface="Cambria Math"/>
              </a:rPr>
              <a:t>Q</a:t>
            </a:r>
            <a:r>
              <a:rPr sz="1650" spc="-457" baseline="-22727" dirty="0">
                <a:latin typeface="Cambria Math"/>
                <a:cs typeface="Cambria Math"/>
              </a:rPr>
              <a:t>x</a:t>
            </a:r>
            <a:endParaRPr sz="1650" baseline="-22727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100">
              <a:latin typeface="Cambria Math"/>
              <a:cs typeface="Cambria Math"/>
            </a:endParaRPr>
          </a:p>
          <a:p>
            <a:pPr marL="313690">
              <a:lnSpc>
                <a:spcPct val="100000"/>
              </a:lnSpc>
              <a:spcBef>
                <a:spcPts val="5"/>
              </a:spcBef>
            </a:pPr>
            <a:r>
              <a:rPr sz="1900" spc="-595" dirty="0">
                <a:latin typeface="Cambria Math"/>
                <a:cs typeface="Cambria Math"/>
              </a:rPr>
              <a:t>T</a:t>
            </a:r>
            <a:r>
              <a:rPr sz="1650" spc="-97" baseline="-22727" dirty="0">
                <a:latin typeface="Cambria Math"/>
                <a:cs typeface="Cambria Math"/>
              </a:rPr>
              <a:t>x</a:t>
            </a:r>
            <a:endParaRPr sz="1650" baseline="-22727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84356" y="2346336"/>
            <a:ext cx="13017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50" dirty="0">
                <a:latin typeface="Cambria Math"/>
                <a:cs typeface="Cambria Math"/>
              </a:rPr>
              <a:t>z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19024" y="2186253"/>
            <a:ext cx="250825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spc="-50" dirty="0">
                <a:latin typeface="Cambria Math"/>
                <a:cs typeface="Cambria Math"/>
              </a:rPr>
              <a:t>Q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13280" y="3200363"/>
            <a:ext cx="343535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900" spc="-290" dirty="0">
                <a:latin typeface="Cambria Math"/>
                <a:cs typeface="Cambria Math"/>
              </a:rPr>
              <a:t>T</a:t>
            </a:r>
            <a:r>
              <a:rPr sz="1650" spc="-434" baseline="-22727" dirty="0">
                <a:latin typeface="Cambria Math"/>
                <a:cs typeface="Cambria Math"/>
              </a:rPr>
              <a:t>y</a:t>
            </a:r>
            <a:endParaRPr sz="1650" baseline="-22727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24472" y="2565385"/>
            <a:ext cx="364490" cy="3136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900" spc="-25" dirty="0">
                <a:latin typeface="Cambria Math"/>
                <a:cs typeface="Cambria Math"/>
              </a:rPr>
              <a:t>Q</a:t>
            </a:r>
            <a:r>
              <a:rPr sz="1650" spc="-37" baseline="-22727" dirty="0">
                <a:latin typeface="Cambria Math"/>
                <a:cs typeface="Cambria Math"/>
              </a:rPr>
              <a:t>y</a:t>
            </a:r>
            <a:endParaRPr sz="1650" baseline="-22727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15030" y="2041490"/>
            <a:ext cx="325120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900" spc="-620" dirty="0">
                <a:latin typeface="Cambria Math"/>
                <a:cs typeface="Cambria Math"/>
              </a:rPr>
              <a:t>T</a:t>
            </a:r>
            <a:r>
              <a:rPr sz="1650" spc="-82" baseline="-22727" dirty="0">
                <a:latin typeface="Cambria Math"/>
                <a:cs typeface="Cambria Math"/>
              </a:rPr>
              <a:t>z</a:t>
            </a:r>
            <a:endParaRPr sz="1650" baseline="-22727">
              <a:latin typeface="Cambria Math"/>
              <a:cs typeface="Cambria Math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425565" y="5049011"/>
            <a:ext cx="2678430" cy="1328420"/>
            <a:chOff x="6425565" y="5049011"/>
            <a:chExt cx="2678430" cy="132842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31915" y="5055361"/>
              <a:ext cx="2376296" cy="87354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431915" y="5055361"/>
              <a:ext cx="2376805" cy="873760"/>
            </a:xfrm>
            <a:custGeom>
              <a:avLst/>
              <a:gdLst/>
              <a:ahLst/>
              <a:cxnLst/>
              <a:rect l="l" t="t" r="r" b="b"/>
              <a:pathLst>
                <a:path w="2376804" h="873760">
                  <a:moveTo>
                    <a:pt x="0" y="839469"/>
                  </a:moveTo>
                  <a:lnTo>
                    <a:pt x="839469" y="0"/>
                  </a:lnTo>
                  <a:lnTo>
                    <a:pt x="2376296" y="0"/>
                  </a:lnTo>
                  <a:lnTo>
                    <a:pt x="2376296" y="34036"/>
                  </a:lnTo>
                  <a:lnTo>
                    <a:pt x="1536700" y="873544"/>
                  </a:lnTo>
                  <a:lnTo>
                    <a:pt x="0" y="873544"/>
                  </a:lnTo>
                  <a:lnTo>
                    <a:pt x="0" y="839469"/>
                  </a:lnTo>
                  <a:close/>
                </a:path>
                <a:path w="2376804" h="873760">
                  <a:moveTo>
                    <a:pt x="0" y="839469"/>
                  </a:moveTo>
                  <a:lnTo>
                    <a:pt x="1536700" y="839469"/>
                  </a:lnTo>
                  <a:lnTo>
                    <a:pt x="2376296" y="0"/>
                  </a:lnTo>
                </a:path>
                <a:path w="2376804" h="873760">
                  <a:moveTo>
                    <a:pt x="1536700" y="839469"/>
                  </a:moveTo>
                  <a:lnTo>
                    <a:pt x="1536700" y="873544"/>
                  </a:lnTo>
                </a:path>
              </a:pathLst>
            </a:custGeom>
            <a:ln w="1270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75525" y="5224144"/>
              <a:ext cx="710183" cy="32893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375525" y="5224144"/>
              <a:ext cx="710565" cy="328930"/>
            </a:xfrm>
            <a:custGeom>
              <a:avLst/>
              <a:gdLst/>
              <a:ahLst/>
              <a:cxnLst/>
              <a:rect l="l" t="t" r="r" b="b"/>
              <a:pathLst>
                <a:path w="710565" h="328929">
                  <a:moveTo>
                    <a:pt x="0" y="208279"/>
                  </a:moveTo>
                  <a:lnTo>
                    <a:pt x="208279" y="0"/>
                  </a:lnTo>
                  <a:lnTo>
                    <a:pt x="710183" y="0"/>
                  </a:lnTo>
                  <a:lnTo>
                    <a:pt x="710183" y="120649"/>
                  </a:lnTo>
                  <a:lnTo>
                    <a:pt x="502030" y="328929"/>
                  </a:lnTo>
                  <a:lnTo>
                    <a:pt x="0" y="328929"/>
                  </a:lnTo>
                  <a:lnTo>
                    <a:pt x="0" y="208279"/>
                  </a:lnTo>
                  <a:close/>
                </a:path>
                <a:path w="710565" h="328929">
                  <a:moveTo>
                    <a:pt x="0" y="208279"/>
                  </a:moveTo>
                  <a:lnTo>
                    <a:pt x="502030" y="208279"/>
                  </a:lnTo>
                  <a:lnTo>
                    <a:pt x="710183" y="0"/>
                  </a:lnTo>
                </a:path>
                <a:path w="710565" h="328929">
                  <a:moveTo>
                    <a:pt x="502030" y="208279"/>
                  </a:moveTo>
                  <a:lnTo>
                    <a:pt x="502030" y="328929"/>
                  </a:lnTo>
                </a:path>
              </a:pathLst>
            </a:custGeom>
            <a:ln w="12700">
              <a:solidFill>
                <a:srgbClr val="126F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14817" y="5588355"/>
              <a:ext cx="788746" cy="788746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1539621" y="135128"/>
            <a:ext cx="60655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30" dirty="0"/>
              <a:t> </a:t>
            </a:r>
            <a:r>
              <a:rPr dirty="0"/>
              <a:t>1</a:t>
            </a:r>
            <a:r>
              <a:rPr spc="-45" dirty="0"/>
              <a:t> </a:t>
            </a:r>
            <a:r>
              <a:rPr dirty="0"/>
              <a:t>–</a:t>
            </a:r>
            <a:r>
              <a:rPr spc="-50" dirty="0"/>
              <a:t> </a:t>
            </a:r>
            <a:r>
              <a:rPr dirty="0"/>
              <a:t>PHÂN</a:t>
            </a:r>
            <a:r>
              <a:rPr spc="-40" dirty="0"/>
              <a:t> </a:t>
            </a:r>
            <a:r>
              <a:rPr dirty="0"/>
              <a:t>TÍCH</a:t>
            </a:r>
            <a:r>
              <a:rPr spc="-45" dirty="0"/>
              <a:t> </a:t>
            </a:r>
            <a:r>
              <a:rPr dirty="0"/>
              <a:t>CẤU</a:t>
            </a:r>
            <a:r>
              <a:rPr spc="-55" dirty="0"/>
              <a:t> </a:t>
            </a:r>
            <a:r>
              <a:rPr dirty="0"/>
              <a:t>TRÚC</a:t>
            </a:r>
            <a:r>
              <a:rPr spc="-45" dirty="0"/>
              <a:t> </a:t>
            </a:r>
            <a:r>
              <a:rPr dirty="0"/>
              <a:t>CƠ</a:t>
            </a:r>
            <a:r>
              <a:rPr spc="-45" dirty="0"/>
              <a:t> </a:t>
            </a:r>
            <a:r>
              <a:rPr spc="-25" dirty="0"/>
              <a:t>CẤU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30200" y="477138"/>
            <a:ext cx="5606415" cy="805815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1.2.</a:t>
            </a:r>
            <a:r>
              <a:rPr sz="18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Các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khái</a:t>
            </a:r>
            <a:r>
              <a:rPr sz="18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niệm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và</a:t>
            </a:r>
            <a:r>
              <a:rPr sz="1800" b="1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định</a:t>
            </a:r>
            <a:r>
              <a:rPr sz="18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nghĩa</a:t>
            </a:r>
            <a:r>
              <a:rPr sz="18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cơ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bản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1.2.4.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Nối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động,</a:t>
            </a:r>
            <a:r>
              <a:rPr sz="18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khớp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động</a:t>
            </a:r>
            <a:r>
              <a:rPr sz="18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và</a:t>
            </a:r>
            <a:r>
              <a:rPr sz="1800" b="1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phân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loại</a:t>
            </a:r>
            <a:r>
              <a:rPr sz="18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khớp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động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51523" y="1313370"/>
            <a:ext cx="8641080" cy="873760"/>
          </a:xfrm>
          <a:custGeom>
            <a:avLst/>
            <a:gdLst/>
            <a:ahLst/>
            <a:cxnLst/>
            <a:rect l="l" t="t" r="r" b="b"/>
            <a:pathLst>
              <a:path w="8641080" h="873760">
                <a:moveTo>
                  <a:pt x="8640953" y="0"/>
                </a:moveTo>
                <a:lnTo>
                  <a:pt x="0" y="0"/>
                </a:lnTo>
                <a:lnTo>
                  <a:pt x="0" y="873569"/>
                </a:lnTo>
                <a:lnTo>
                  <a:pt x="8640953" y="873569"/>
                </a:lnTo>
                <a:lnTo>
                  <a:pt x="864095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30200" y="1427479"/>
            <a:ext cx="2652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Clr>
                <a:srgbClr val="1D9A78"/>
              </a:buClr>
              <a:buFont typeface="Wingdings"/>
              <a:buChar char=""/>
              <a:tabLst>
                <a:tab pos="298450" algn="l"/>
              </a:tabLst>
            </a:pPr>
            <a:r>
              <a:rPr sz="1800" b="1" i="1" dirty="0">
                <a:latin typeface="Arial"/>
                <a:cs typeface="Arial"/>
              </a:rPr>
              <a:t>Phân</a:t>
            </a:r>
            <a:r>
              <a:rPr sz="1800" b="1" i="1" spc="-2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loại</a:t>
            </a:r>
            <a:r>
              <a:rPr sz="1800" b="1" i="1" spc="-3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khớp</a:t>
            </a:r>
            <a:r>
              <a:rPr sz="1800" b="1" i="1" spc="-15" dirty="0">
                <a:latin typeface="Arial"/>
                <a:cs typeface="Arial"/>
              </a:rPr>
              <a:t> </a:t>
            </a:r>
            <a:r>
              <a:rPr sz="1800" b="1" i="1" spc="-20" dirty="0">
                <a:latin typeface="Arial"/>
                <a:cs typeface="Arial"/>
              </a:rPr>
              <a:t>động: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0200" y="1838959"/>
            <a:ext cx="70834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1D9A78"/>
              </a:buClr>
              <a:buFont typeface="Arial"/>
              <a:buChar char="•"/>
              <a:tabLst>
                <a:tab pos="299085" algn="l"/>
              </a:tabLst>
            </a:pPr>
            <a:r>
              <a:rPr sz="1800" b="1" i="1" dirty="0">
                <a:latin typeface="Arial"/>
                <a:cs typeface="Arial"/>
              </a:rPr>
              <a:t>Theo</a:t>
            </a:r>
            <a:r>
              <a:rPr sz="1800" b="1" i="1" spc="-2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số</a:t>
            </a:r>
            <a:r>
              <a:rPr sz="1800" b="1" i="1" spc="-1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bậc</a:t>
            </a:r>
            <a:r>
              <a:rPr sz="1800" b="1" i="1" spc="-2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tự</a:t>
            </a:r>
            <a:r>
              <a:rPr sz="1800" b="1" i="1" spc="-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do</a:t>
            </a:r>
            <a:r>
              <a:rPr sz="1800" b="1" i="1" spc="-1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bị</a:t>
            </a:r>
            <a:r>
              <a:rPr sz="1800" b="1" i="1" spc="-1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hạn</a:t>
            </a:r>
            <a:r>
              <a:rPr sz="1800" b="1" i="1" spc="-1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chế: </a:t>
            </a:r>
            <a:r>
              <a:rPr sz="1800" i="1" dirty="0">
                <a:latin typeface="Arial"/>
                <a:cs typeface="Arial"/>
              </a:rPr>
              <a:t>Khớp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loại</a:t>
            </a:r>
            <a:r>
              <a:rPr sz="1800" i="1" spc="-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k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bị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hạn</a:t>
            </a:r>
            <a:r>
              <a:rPr sz="1800" i="1" spc="-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chế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k</a:t>
            </a:r>
            <a:r>
              <a:rPr sz="1800" i="1" spc="-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bậc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tự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i="1" spc="-25" dirty="0">
                <a:latin typeface="Arial"/>
                <a:cs typeface="Arial"/>
              </a:rPr>
              <a:t>do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428420" y="684720"/>
            <a:ext cx="1115060" cy="1086485"/>
            <a:chOff x="7428420" y="684720"/>
            <a:chExt cx="1115060" cy="1086485"/>
          </a:xfrm>
        </p:grpSpPr>
        <p:sp>
          <p:nvSpPr>
            <p:cNvPr id="23" name="object 23"/>
            <p:cNvSpPr/>
            <p:nvPr/>
          </p:nvSpPr>
          <p:spPr>
            <a:xfrm>
              <a:off x="7858886" y="692658"/>
              <a:ext cx="0" cy="676910"/>
            </a:xfrm>
            <a:custGeom>
              <a:avLst/>
              <a:gdLst/>
              <a:ahLst/>
              <a:cxnLst/>
              <a:rect l="l" t="t" r="r" b="b"/>
              <a:pathLst>
                <a:path h="676910">
                  <a:moveTo>
                    <a:pt x="0" y="0"/>
                  </a:moveTo>
                  <a:lnTo>
                    <a:pt x="0" y="676782"/>
                  </a:lnTo>
                </a:path>
              </a:pathLst>
            </a:custGeom>
            <a:ln w="15875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858886" y="1361313"/>
              <a:ext cx="676910" cy="0"/>
            </a:xfrm>
            <a:custGeom>
              <a:avLst/>
              <a:gdLst/>
              <a:ahLst/>
              <a:cxnLst/>
              <a:rect l="l" t="t" r="r" b="b"/>
              <a:pathLst>
                <a:path w="676909">
                  <a:moveTo>
                    <a:pt x="676656" y="0"/>
                  </a:moveTo>
                  <a:lnTo>
                    <a:pt x="0" y="0"/>
                  </a:lnTo>
                </a:path>
              </a:pathLst>
            </a:custGeom>
            <a:ln w="15875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436357" y="1363852"/>
              <a:ext cx="432434" cy="399415"/>
            </a:xfrm>
            <a:custGeom>
              <a:avLst/>
              <a:gdLst/>
              <a:ahLst/>
              <a:cxnLst/>
              <a:rect l="l" t="t" r="r" b="b"/>
              <a:pathLst>
                <a:path w="432434" h="399414">
                  <a:moveTo>
                    <a:pt x="432053" y="0"/>
                  </a:moveTo>
                  <a:lnTo>
                    <a:pt x="0" y="399414"/>
                  </a:lnTo>
                </a:path>
              </a:pathLst>
            </a:custGeom>
            <a:ln w="15875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376437" y="985853"/>
            <a:ext cx="217170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50" dirty="0">
                <a:latin typeface="Cambria Math"/>
                <a:cs typeface="Cambria Math"/>
              </a:rPr>
              <a:t>y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228624" y="1442716"/>
            <a:ext cx="211454" cy="3136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spc="-50" dirty="0">
                <a:latin typeface="Cambria Math"/>
                <a:cs typeface="Cambria Math"/>
              </a:rPr>
              <a:t>x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843977" y="532849"/>
            <a:ext cx="205104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spc="-50" dirty="0">
                <a:latin typeface="Cambria Math"/>
                <a:cs typeface="Cambria Math"/>
              </a:rPr>
              <a:t>z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435988" y="3833241"/>
            <a:ext cx="1181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Khớp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loại</a:t>
            </a:r>
            <a:r>
              <a:rPr sz="1800" i="1" spc="-5" dirty="0">
                <a:latin typeface="Arial"/>
                <a:cs typeface="Arial"/>
              </a:rPr>
              <a:t> </a:t>
            </a:r>
            <a:r>
              <a:rPr sz="1800" i="1" spc="-5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096639" y="3842080"/>
            <a:ext cx="11804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Khớp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loại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spc="-50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657592" y="3901820"/>
            <a:ext cx="1179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Khớp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loại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spc="-50" dirty="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84224" y="6389319"/>
            <a:ext cx="1179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Khớp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loại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spc="-50" dirty="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121658" y="6396329"/>
            <a:ext cx="1180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Khớp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loại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spc="-50" dirty="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623050" y="6094882"/>
            <a:ext cx="16103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Khớp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loại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spc="-20" dirty="0">
                <a:latin typeface="Arial"/>
                <a:cs typeface="Arial"/>
              </a:rPr>
              <a:t>mấy?</a:t>
            </a:r>
            <a:endParaRPr sz="18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8806053" y="120522"/>
            <a:ext cx="219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1.9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17728" y="120522"/>
            <a:ext cx="314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NHH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32714" y="2443797"/>
            <a:ext cx="2389505" cy="1450340"/>
            <a:chOff x="432714" y="2443797"/>
            <a:chExt cx="2389505" cy="1450340"/>
          </a:xfrm>
        </p:grpSpPr>
        <p:pic>
          <p:nvPicPr>
            <p:cNvPr id="39" name="object 3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9064" y="2828036"/>
              <a:ext cx="2376271" cy="873632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439064" y="2828036"/>
              <a:ext cx="2376805" cy="873760"/>
            </a:xfrm>
            <a:custGeom>
              <a:avLst/>
              <a:gdLst/>
              <a:ahLst/>
              <a:cxnLst/>
              <a:rect l="l" t="t" r="r" b="b"/>
              <a:pathLst>
                <a:path w="2376805" h="873760">
                  <a:moveTo>
                    <a:pt x="0" y="839469"/>
                  </a:moveTo>
                  <a:lnTo>
                    <a:pt x="839444" y="0"/>
                  </a:lnTo>
                  <a:lnTo>
                    <a:pt x="2376271" y="0"/>
                  </a:lnTo>
                  <a:lnTo>
                    <a:pt x="2376271" y="34036"/>
                  </a:lnTo>
                  <a:lnTo>
                    <a:pt x="1536801" y="873632"/>
                  </a:lnTo>
                  <a:lnTo>
                    <a:pt x="0" y="873632"/>
                  </a:lnTo>
                  <a:lnTo>
                    <a:pt x="0" y="839469"/>
                  </a:lnTo>
                  <a:close/>
                </a:path>
                <a:path w="2376805" h="873760">
                  <a:moveTo>
                    <a:pt x="0" y="839469"/>
                  </a:moveTo>
                  <a:lnTo>
                    <a:pt x="1536801" y="839469"/>
                  </a:lnTo>
                  <a:lnTo>
                    <a:pt x="2376271" y="0"/>
                  </a:lnTo>
                </a:path>
                <a:path w="2376805" h="873760">
                  <a:moveTo>
                    <a:pt x="1536801" y="839469"/>
                  </a:moveTo>
                  <a:lnTo>
                    <a:pt x="1536801" y="873632"/>
                  </a:lnTo>
                </a:path>
              </a:pathLst>
            </a:custGeom>
            <a:ln w="1270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57248" y="2935986"/>
              <a:ext cx="540003" cy="540003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53426" y="2443797"/>
              <a:ext cx="1328267" cy="1450085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1194707" y="3996197"/>
            <a:ext cx="1339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50" dirty="0">
                <a:latin typeface="Cambria Math"/>
                <a:cs typeface="Cambria Math"/>
              </a:rPr>
              <a:t>x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046386" y="3836118"/>
            <a:ext cx="236854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spc="-50" dirty="0">
                <a:latin typeface="Cambria Math"/>
                <a:cs typeface="Cambria Math"/>
              </a:rPr>
              <a:t>T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49273" y="3412009"/>
            <a:ext cx="13335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50" dirty="0">
                <a:latin typeface="Cambria Math"/>
                <a:cs typeface="Cambria Math"/>
              </a:rPr>
              <a:t>x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79765" y="3251938"/>
            <a:ext cx="250190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spc="-50" dirty="0">
                <a:latin typeface="Cambria Math"/>
                <a:cs typeface="Cambria Math"/>
              </a:rPr>
              <a:t>Q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946750" y="2485273"/>
            <a:ext cx="13017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50" dirty="0">
                <a:latin typeface="Cambria Math"/>
                <a:cs typeface="Cambria Math"/>
              </a:rPr>
              <a:t>z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781418" y="2325191"/>
            <a:ext cx="250825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spc="-50" dirty="0">
                <a:latin typeface="Cambria Math"/>
                <a:cs typeface="Cambria Math"/>
              </a:rPr>
              <a:t>Q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482927" y="3497838"/>
            <a:ext cx="13652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50" dirty="0">
                <a:latin typeface="Cambria Math"/>
                <a:cs typeface="Cambria Math"/>
              </a:rPr>
              <a:t>y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326728" y="3337777"/>
            <a:ext cx="236854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spc="-50" dirty="0">
                <a:latin typeface="Cambria Math"/>
                <a:cs typeface="Cambria Math"/>
              </a:rPr>
              <a:t>T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142618" y="2771378"/>
            <a:ext cx="364490" cy="3136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900" spc="-25" dirty="0">
                <a:latin typeface="Cambria Math"/>
                <a:cs typeface="Cambria Math"/>
              </a:rPr>
              <a:t>Q</a:t>
            </a:r>
            <a:r>
              <a:rPr sz="1650" spc="-37" baseline="-22727" dirty="0">
                <a:latin typeface="Cambria Math"/>
                <a:cs typeface="Cambria Math"/>
              </a:rPr>
              <a:t>y</a:t>
            </a:r>
            <a:endParaRPr sz="1650" baseline="-22727">
              <a:latin typeface="Cambria Math"/>
              <a:cs typeface="Cambria Math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294327" y="2402860"/>
            <a:ext cx="129539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50" dirty="0">
                <a:latin typeface="Cambria Math"/>
                <a:cs typeface="Cambria Math"/>
              </a:rPr>
              <a:t>z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149941" y="2242785"/>
            <a:ext cx="236854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spc="-50" dirty="0">
                <a:latin typeface="Cambria Math"/>
                <a:cs typeface="Cambria Math"/>
              </a:rPr>
              <a:t>T</a:t>
            </a:r>
            <a:endParaRPr sz="1900">
              <a:latin typeface="Cambria Math"/>
              <a:cs typeface="Cambria Math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3053460" y="2476817"/>
            <a:ext cx="2389505" cy="1419860"/>
            <a:chOff x="3053460" y="2476817"/>
            <a:chExt cx="2389505" cy="1419860"/>
          </a:xfrm>
        </p:grpSpPr>
        <p:pic>
          <p:nvPicPr>
            <p:cNvPr id="55" name="object 5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59810" y="2828162"/>
              <a:ext cx="2376297" cy="873632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3059810" y="2828162"/>
              <a:ext cx="2376805" cy="873760"/>
            </a:xfrm>
            <a:custGeom>
              <a:avLst/>
              <a:gdLst/>
              <a:ahLst/>
              <a:cxnLst/>
              <a:rect l="l" t="t" r="r" b="b"/>
              <a:pathLst>
                <a:path w="2376804" h="873760">
                  <a:moveTo>
                    <a:pt x="0" y="839597"/>
                  </a:moveTo>
                  <a:lnTo>
                    <a:pt x="839469" y="0"/>
                  </a:lnTo>
                  <a:lnTo>
                    <a:pt x="2376297" y="0"/>
                  </a:lnTo>
                  <a:lnTo>
                    <a:pt x="2376297" y="34162"/>
                  </a:lnTo>
                  <a:lnTo>
                    <a:pt x="1536827" y="873632"/>
                  </a:lnTo>
                  <a:lnTo>
                    <a:pt x="0" y="873632"/>
                  </a:lnTo>
                  <a:lnTo>
                    <a:pt x="0" y="839597"/>
                  </a:lnTo>
                  <a:close/>
                </a:path>
                <a:path w="2376804" h="873760">
                  <a:moveTo>
                    <a:pt x="0" y="839597"/>
                  </a:moveTo>
                  <a:lnTo>
                    <a:pt x="1536827" y="839597"/>
                  </a:lnTo>
                  <a:lnTo>
                    <a:pt x="2376297" y="0"/>
                  </a:lnTo>
                </a:path>
                <a:path w="2376804" h="873760">
                  <a:moveTo>
                    <a:pt x="1536827" y="839597"/>
                  </a:moveTo>
                  <a:lnTo>
                    <a:pt x="1536827" y="873632"/>
                  </a:lnTo>
                </a:path>
              </a:pathLst>
            </a:custGeom>
            <a:ln w="1270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98372" y="2867917"/>
              <a:ext cx="690610" cy="689836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673220" y="2476817"/>
              <a:ext cx="1357058" cy="1419733"/>
            </a:xfrm>
            <a:prstGeom prst="rect">
              <a:avLst/>
            </a:prstGeom>
          </p:spPr>
        </p:pic>
      </p:grpSp>
      <p:sp>
        <p:nvSpPr>
          <p:cNvPr id="59" name="object 59"/>
          <p:cNvSpPr txBox="1"/>
          <p:nvPr/>
        </p:nvSpPr>
        <p:spPr>
          <a:xfrm>
            <a:off x="3822502" y="3997848"/>
            <a:ext cx="1339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50" dirty="0">
                <a:latin typeface="Cambria Math"/>
                <a:cs typeface="Cambria Math"/>
              </a:rPr>
              <a:t>x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674181" y="3837770"/>
            <a:ext cx="236854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spc="-50" dirty="0">
                <a:latin typeface="Cambria Math"/>
                <a:cs typeface="Cambria Math"/>
              </a:rPr>
              <a:t>T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570058" y="3412136"/>
            <a:ext cx="13335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50" dirty="0">
                <a:latin typeface="Cambria Math"/>
                <a:cs typeface="Cambria Math"/>
              </a:rPr>
              <a:t>x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400550" y="3252066"/>
            <a:ext cx="250190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spc="-50" dirty="0">
                <a:latin typeface="Cambria Math"/>
                <a:cs typeface="Cambria Math"/>
              </a:rPr>
              <a:t>Q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567395" y="2485401"/>
            <a:ext cx="13017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50" dirty="0">
                <a:latin typeface="Cambria Math"/>
                <a:cs typeface="Cambria Math"/>
              </a:rPr>
              <a:t>z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4402063" y="2325318"/>
            <a:ext cx="250825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spc="-50" dirty="0">
                <a:latin typeface="Cambria Math"/>
                <a:cs typeface="Cambria Math"/>
              </a:rPr>
              <a:t>Q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129734" y="3590929"/>
            <a:ext cx="13652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50" dirty="0">
                <a:latin typeface="Cambria Math"/>
                <a:cs typeface="Cambria Math"/>
              </a:rPr>
              <a:t>y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973535" y="3430868"/>
            <a:ext cx="236854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spc="-50" dirty="0">
                <a:latin typeface="Cambria Math"/>
                <a:cs typeface="Cambria Math"/>
              </a:rPr>
              <a:t>T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4763391" y="2771506"/>
            <a:ext cx="364490" cy="3136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900" spc="-25" dirty="0">
                <a:latin typeface="Cambria Math"/>
                <a:cs typeface="Cambria Math"/>
              </a:rPr>
              <a:t>Q</a:t>
            </a:r>
            <a:r>
              <a:rPr sz="1650" spc="-37" baseline="-22727" dirty="0">
                <a:latin typeface="Cambria Math"/>
                <a:cs typeface="Cambria Math"/>
              </a:rPr>
              <a:t>y</a:t>
            </a:r>
            <a:endParaRPr sz="1650" baseline="-22727">
              <a:latin typeface="Cambria Math"/>
              <a:cs typeface="Cambria Math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3740614" y="2275805"/>
            <a:ext cx="325120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900" spc="-620" dirty="0">
                <a:latin typeface="Cambria Math"/>
                <a:cs typeface="Cambria Math"/>
              </a:rPr>
              <a:t>T</a:t>
            </a:r>
            <a:r>
              <a:rPr sz="1650" spc="-82" baseline="-22727" dirty="0">
                <a:latin typeface="Cambria Math"/>
                <a:cs typeface="Cambria Math"/>
              </a:rPr>
              <a:t>z</a:t>
            </a:r>
            <a:endParaRPr sz="1650" baseline="-22727">
              <a:latin typeface="Cambria Math"/>
              <a:cs typeface="Cambria Math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443750" y="4566539"/>
            <a:ext cx="2019935" cy="2020570"/>
            <a:chOff x="443750" y="4566539"/>
            <a:chExt cx="2019935" cy="2020570"/>
          </a:xfrm>
        </p:grpSpPr>
        <p:pic>
          <p:nvPicPr>
            <p:cNvPr id="70" name="object 7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51742" y="4763285"/>
              <a:ext cx="610473" cy="609953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1651742" y="4763285"/>
              <a:ext cx="610870" cy="610235"/>
            </a:xfrm>
            <a:custGeom>
              <a:avLst/>
              <a:gdLst/>
              <a:ahLst/>
              <a:cxnLst/>
              <a:rect l="l" t="t" r="r" b="b"/>
              <a:pathLst>
                <a:path w="610869" h="610235">
                  <a:moveTo>
                    <a:pt x="8655" y="371832"/>
                  </a:moveTo>
                  <a:lnTo>
                    <a:pt x="74314" y="373419"/>
                  </a:lnTo>
                  <a:lnTo>
                    <a:pt x="120419" y="400192"/>
                  </a:lnTo>
                  <a:lnTo>
                    <a:pt x="168548" y="441301"/>
                  </a:lnTo>
                  <a:lnTo>
                    <a:pt x="209470" y="489521"/>
                  </a:lnTo>
                  <a:lnTo>
                    <a:pt x="236081" y="535693"/>
                  </a:lnTo>
                  <a:lnTo>
                    <a:pt x="246165" y="574675"/>
                  </a:lnTo>
                  <a:lnTo>
                    <a:pt x="210794" y="609953"/>
                  </a:lnTo>
                  <a:lnTo>
                    <a:pt x="171803" y="599797"/>
                  </a:lnTo>
                  <a:lnTo>
                    <a:pt x="125692" y="573067"/>
                  </a:lnTo>
                  <a:lnTo>
                    <a:pt x="77616" y="531979"/>
                  </a:lnTo>
                  <a:lnTo>
                    <a:pt x="36695" y="483756"/>
                  </a:lnTo>
                  <a:lnTo>
                    <a:pt x="10084" y="437570"/>
                  </a:lnTo>
                  <a:lnTo>
                    <a:pt x="0" y="398551"/>
                  </a:lnTo>
                  <a:lnTo>
                    <a:pt x="8655" y="371832"/>
                  </a:lnTo>
                  <a:lnTo>
                    <a:pt x="373018" y="8612"/>
                  </a:lnTo>
                  <a:lnTo>
                    <a:pt x="399661" y="0"/>
                  </a:lnTo>
                  <a:lnTo>
                    <a:pt x="438614" y="10199"/>
                  </a:lnTo>
                  <a:lnTo>
                    <a:pt x="484711" y="36972"/>
                  </a:lnTo>
                  <a:lnTo>
                    <a:pt x="532784" y="78081"/>
                  </a:lnTo>
                  <a:lnTo>
                    <a:pt x="573778" y="126301"/>
                  </a:lnTo>
                  <a:lnTo>
                    <a:pt x="600412" y="172473"/>
                  </a:lnTo>
                  <a:lnTo>
                    <a:pt x="610473" y="211455"/>
                  </a:lnTo>
                  <a:lnTo>
                    <a:pt x="601745" y="238101"/>
                  </a:lnTo>
                  <a:lnTo>
                    <a:pt x="237509" y="601321"/>
                  </a:lnTo>
                </a:path>
              </a:pathLst>
            </a:custGeom>
            <a:ln w="19050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26720" y="4968679"/>
              <a:ext cx="1152627" cy="1151995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926720" y="4968679"/>
              <a:ext cx="1153160" cy="1152525"/>
            </a:xfrm>
            <a:custGeom>
              <a:avLst/>
              <a:gdLst/>
              <a:ahLst/>
              <a:cxnLst/>
              <a:rect l="l" t="t" r="r" b="b"/>
              <a:pathLst>
                <a:path w="1153160" h="1152525">
                  <a:moveTo>
                    <a:pt x="31316" y="592269"/>
                  </a:moveTo>
                  <a:lnTo>
                    <a:pt x="86523" y="564105"/>
                  </a:lnTo>
                  <a:lnTo>
                    <a:pt x="160212" y="565477"/>
                  </a:lnTo>
                  <a:lnTo>
                    <a:pt x="201950" y="576553"/>
                  </a:lnTo>
                  <a:lnTo>
                    <a:pt x="245863" y="594189"/>
                  </a:lnTo>
                  <a:lnTo>
                    <a:pt x="291137" y="618112"/>
                  </a:lnTo>
                  <a:lnTo>
                    <a:pt x="336957" y="648047"/>
                  </a:lnTo>
                  <a:lnTo>
                    <a:pt x="382506" y="683720"/>
                  </a:lnTo>
                  <a:lnTo>
                    <a:pt x="426972" y="724857"/>
                  </a:lnTo>
                  <a:lnTo>
                    <a:pt x="467990" y="769454"/>
                  </a:lnTo>
                  <a:lnTo>
                    <a:pt x="503540" y="815117"/>
                  </a:lnTo>
                  <a:lnTo>
                    <a:pt x="533349" y="861030"/>
                  </a:lnTo>
                  <a:lnTo>
                    <a:pt x="557146" y="906379"/>
                  </a:lnTo>
                  <a:lnTo>
                    <a:pt x="574657" y="950347"/>
                  </a:lnTo>
                  <a:lnTo>
                    <a:pt x="585611" y="992120"/>
                  </a:lnTo>
                  <a:lnTo>
                    <a:pt x="589736" y="1030881"/>
                  </a:lnTo>
                  <a:lnTo>
                    <a:pt x="576411" y="1096109"/>
                  </a:lnTo>
                  <a:lnTo>
                    <a:pt x="533521" y="1138858"/>
                  </a:lnTo>
                  <a:lnTo>
                    <a:pt x="468247" y="1151995"/>
                  </a:lnTo>
                  <a:lnTo>
                    <a:pt x="429496" y="1147765"/>
                  </a:lnTo>
                  <a:lnTo>
                    <a:pt x="387756" y="1136699"/>
                  </a:lnTo>
                  <a:lnTo>
                    <a:pt x="343839" y="1119071"/>
                  </a:lnTo>
                  <a:lnTo>
                    <a:pt x="298561" y="1095154"/>
                  </a:lnTo>
                  <a:lnTo>
                    <a:pt x="252735" y="1065220"/>
                  </a:lnTo>
                  <a:lnTo>
                    <a:pt x="207176" y="1029543"/>
                  </a:lnTo>
                  <a:lnTo>
                    <a:pt x="162697" y="988395"/>
                  </a:lnTo>
                  <a:lnTo>
                    <a:pt x="121681" y="943797"/>
                  </a:lnTo>
                  <a:lnTo>
                    <a:pt x="86139" y="898133"/>
                  </a:lnTo>
                  <a:lnTo>
                    <a:pt x="56340" y="852218"/>
                  </a:lnTo>
                  <a:lnTo>
                    <a:pt x="32557" y="806867"/>
                  </a:lnTo>
                  <a:lnTo>
                    <a:pt x="15058" y="762895"/>
                  </a:lnTo>
                  <a:lnTo>
                    <a:pt x="4116" y="721118"/>
                  </a:lnTo>
                  <a:lnTo>
                    <a:pt x="0" y="682352"/>
                  </a:lnTo>
                  <a:lnTo>
                    <a:pt x="2980" y="647411"/>
                  </a:lnTo>
                  <a:lnTo>
                    <a:pt x="31316" y="592269"/>
                  </a:lnTo>
                  <a:lnTo>
                    <a:pt x="594231" y="31056"/>
                  </a:lnTo>
                  <a:lnTo>
                    <a:pt x="649456" y="2880"/>
                  </a:lnTo>
                  <a:lnTo>
                    <a:pt x="684405" y="0"/>
                  </a:lnTo>
                  <a:lnTo>
                    <a:pt x="723159" y="4227"/>
                  </a:lnTo>
                  <a:lnTo>
                    <a:pt x="764903" y="15292"/>
                  </a:lnTo>
                  <a:lnTo>
                    <a:pt x="808822" y="32921"/>
                  </a:lnTo>
                  <a:lnTo>
                    <a:pt x="854102" y="56843"/>
                  </a:lnTo>
                  <a:lnTo>
                    <a:pt x="899929" y="86786"/>
                  </a:lnTo>
                  <a:lnTo>
                    <a:pt x="945487" y="122477"/>
                  </a:lnTo>
                  <a:lnTo>
                    <a:pt x="989963" y="163644"/>
                  </a:lnTo>
                  <a:lnTo>
                    <a:pt x="1030978" y="208230"/>
                  </a:lnTo>
                  <a:lnTo>
                    <a:pt x="1066518" y="253888"/>
                  </a:lnTo>
                  <a:lnTo>
                    <a:pt x="1096313" y="299803"/>
                  </a:lnTo>
                  <a:lnTo>
                    <a:pt x="1120092" y="345156"/>
                  </a:lnTo>
                  <a:lnTo>
                    <a:pt x="1137584" y="389132"/>
                  </a:lnTo>
                  <a:lnTo>
                    <a:pt x="1148520" y="430914"/>
                  </a:lnTo>
                  <a:lnTo>
                    <a:pt x="1152627" y="469684"/>
                  </a:lnTo>
                  <a:lnTo>
                    <a:pt x="1149637" y="504626"/>
                  </a:lnTo>
                  <a:lnTo>
                    <a:pt x="1139278" y="534922"/>
                  </a:lnTo>
                  <a:lnTo>
                    <a:pt x="1121281" y="559757"/>
                  </a:lnTo>
                  <a:lnTo>
                    <a:pt x="558417" y="1120945"/>
                  </a:lnTo>
                </a:path>
              </a:pathLst>
            </a:custGeom>
            <a:ln w="19050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17466" y="5718299"/>
              <a:ext cx="610464" cy="609934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717466" y="5718299"/>
              <a:ext cx="610870" cy="610235"/>
            </a:xfrm>
            <a:custGeom>
              <a:avLst/>
              <a:gdLst/>
              <a:ahLst/>
              <a:cxnLst/>
              <a:rect l="l" t="t" r="r" b="b"/>
              <a:pathLst>
                <a:path w="610869" h="610235">
                  <a:moveTo>
                    <a:pt x="8706" y="371871"/>
                  </a:moveTo>
                  <a:lnTo>
                    <a:pt x="74343" y="373425"/>
                  </a:lnTo>
                  <a:lnTo>
                    <a:pt x="120441" y="400176"/>
                  </a:lnTo>
                  <a:lnTo>
                    <a:pt x="168535" y="441263"/>
                  </a:lnTo>
                  <a:lnTo>
                    <a:pt x="209485" y="489481"/>
                  </a:lnTo>
                  <a:lnTo>
                    <a:pt x="236103" y="535659"/>
                  </a:lnTo>
                  <a:lnTo>
                    <a:pt x="246170" y="574651"/>
                  </a:lnTo>
                  <a:lnTo>
                    <a:pt x="210787" y="609934"/>
                  </a:lnTo>
                  <a:lnTo>
                    <a:pt x="171823" y="599753"/>
                  </a:lnTo>
                  <a:lnTo>
                    <a:pt x="125723" y="572998"/>
                  </a:lnTo>
                  <a:lnTo>
                    <a:pt x="77629" y="531903"/>
                  </a:lnTo>
                  <a:lnTo>
                    <a:pt x="36679" y="483693"/>
                  </a:lnTo>
                  <a:lnTo>
                    <a:pt x="10063" y="437518"/>
                  </a:lnTo>
                  <a:lnTo>
                    <a:pt x="0" y="398528"/>
                  </a:lnTo>
                  <a:lnTo>
                    <a:pt x="8706" y="371871"/>
                  </a:lnTo>
                  <a:lnTo>
                    <a:pt x="373018" y="8625"/>
                  </a:lnTo>
                  <a:lnTo>
                    <a:pt x="399695" y="0"/>
                  </a:lnTo>
                  <a:lnTo>
                    <a:pt x="438655" y="10181"/>
                  </a:lnTo>
                  <a:lnTo>
                    <a:pt x="484754" y="36936"/>
                  </a:lnTo>
                  <a:lnTo>
                    <a:pt x="532848" y="78031"/>
                  </a:lnTo>
                  <a:lnTo>
                    <a:pt x="573769" y="126246"/>
                  </a:lnTo>
                  <a:lnTo>
                    <a:pt x="600380" y="172420"/>
                  </a:lnTo>
                  <a:lnTo>
                    <a:pt x="610464" y="211408"/>
                  </a:lnTo>
                  <a:lnTo>
                    <a:pt x="601809" y="238063"/>
                  </a:lnTo>
                  <a:lnTo>
                    <a:pt x="237471" y="601309"/>
                  </a:lnTo>
                </a:path>
              </a:pathLst>
            </a:custGeom>
            <a:ln w="19050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450100" y="4572889"/>
              <a:ext cx="2007235" cy="2007870"/>
            </a:xfrm>
            <a:custGeom>
              <a:avLst/>
              <a:gdLst/>
              <a:ahLst/>
              <a:cxnLst/>
              <a:rect l="l" t="t" r="r" b="b"/>
              <a:pathLst>
                <a:path w="2007235" h="2007870">
                  <a:moveTo>
                    <a:pt x="0" y="2007298"/>
                  </a:moveTo>
                  <a:lnTo>
                    <a:pt x="2007222" y="0"/>
                  </a:lnTo>
                </a:path>
              </a:pathLst>
            </a:custGeom>
            <a:ln w="12700">
              <a:solidFill>
                <a:srgbClr val="5C240D"/>
              </a:solidFill>
              <a:prstDash val="lg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42898" y="4797234"/>
              <a:ext cx="1357134" cy="1419733"/>
            </a:xfrm>
            <a:prstGeom prst="rect">
              <a:avLst/>
            </a:prstGeom>
          </p:spPr>
        </p:pic>
      </p:grpSp>
      <p:sp>
        <p:nvSpPr>
          <p:cNvPr id="78" name="object 78"/>
          <p:cNvSpPr txBox="1"/>
          <p:nvPr/>
        </p:nvSpPr>
        <p:spPr>
          <a:xfrm>
            <a:off x="1092205" y="6318214"/>
            <a:ext cx="1339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50" dirty="0">
                <a:latin typeface="Cambria Math"/>
                <a:cs typeface="Cambria Math"/>
              </a:rPr>
              <a:t>x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943884" y="6158135"/>
            <a:ext cx="236854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spc="-50" dirty="0">
                <a:latin typeface="Cambria Math"/>
                <a:cs typeface="Cambria Math"/>
              </a:rPr>
              <a:t>T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839698" y="5732591"/>
            <a:ext cx="13335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50" dirty="0">
                <a:latin typeface="Cambria Math"/>
                <a:cs typeface="Cambria Math"/>
              </a:rPr>
              <a:t>x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670190" y="5572521"/>
            <a:ext cx="250190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spc="-50" dirty="0">
                <a:latin typeface="Cambria Math"/>
                <a:cs typeface="Cambria Math"/>
              </a:rPr>
              <a:t>Q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646417" y="4645735"/>
            <a:ext cx="346075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900" spc="-570" dirty="0">
                <a:latin typeface="Cambria Math"/>
                <a:cs typeface="Cambria Math"/>
              </a:rPr>
              <a:t>Q</a:t>
            </a:r>
            <a:r>
              <a:rPr sz="1650" spc="-89" baseline="-22727" dirty="0">
                <a:latin typeface="Cambria Math"/>
                <a:cs typeface="Cambria Math"/>
              </a:rPr>
              <a:t>z</a:t>
            </a:r>
            <a:endParaRPr sz="1650" baseline="-22727">
              <a:latin typeface="Cambria Math"/>
              <a:cs typeface="Cambria Math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2399361" y="5911358"/>
            <a:ext cx="13652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50" dirty="0">
                <a:latin typeface="Cambria Math"/>
                <a:cs typeface="Cambria Math"/>
              </a:rPr>
              <a:t>y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2243162" y="5751298"/>
            <a:ext cx="236854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spc="-50" dirty="0">
                <a:latin typeface="Cambria Math"/>
                <a:cs typeface="Cambria Math"/>
              </a:rPr>
              <a:t>T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2033017" y="5091922"/>
            <a:ext cx="364490" cy="3136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900" spc="-25" dirty="0">
                <a:latin typeface="Cambria Math"/>
                <a:cs typeface="Cambria Math"/>
              </a:rPr>
              <a:t>Q</a:t>
            </a:r>
            <a:r>
              <a:rPr sz="1650" spc="-37" baseline="-22727" dirty="0">
                <a:latin typeface="Cambria Math"/>
                <a:cs typeface="Cambria Math"/>
              </a:rPr>
              <a:t>y</a:t>
            </a:r>
            <a:endParaRPr sz="1650" baseline="-22727">
              <a:latin typeface="Cambria Math"/>
              <a:cs typeface="Cambria Math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1010241" y="4596222"/>
            <a:ext cx="325120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900" spc="-620" dirty="0">
                <a:latin typeface="Cambria Math"/>
                <a:cs typeface="Cambria Math"/>
              </a:rPr>
              <a:t>T</a:t>
            </a:r>
            <a:r>
              <a:rPr sz="1650" spc="-82" baseline="-22727" dirty="0">
                <a:latin typeface="Cambria Math"/>
                <a:cs typeface="Cambria Math"/>
              </a:rPr>
              <a:t>z</a:t>
            </a:r>
            <a:endParaRPr sz="1650" baseline="-22727">
              <a:latin typeface="Cambria Math"/>
              <a:cs typeface="Cambria Math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4050284" y="4501324"/>
            <a:ext cx="1748155" cy="1787525"/>
            <a:chOff x="4050284" y="4501324"/>
            <a:chExt cx="1748155" cy="1787525"/>
          </a:xfrm>
        </p:grpSpPr>
        <p:pic>
          <p:nvPicPr>
            <p:cNvPr id="88" name="object 8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860036" y="4762372"/>
              <a:ext cx="798322" cy="711835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4860036" y="4762372"/>
              <a:ext cx="798830" cy="711835"/>
            </a:xfrm>
            <a:custGeom>
              <a:avLst/>
              <a:gdLst/>
              <a:ahLst/>
              <a:cxnLst/>
              <a:rect l="l" t="t" r="r" b="b"/>
              <a:pathLst>
                <a:path w="798829" h="711835">
                  <a:moveTo>
                    <a:pt x="0" y="491108"/>
                  </a:moveTo>
                  <a:lnTo>
                    <a:pt x="490981" y="0"/>
                  </a:lnTo>
                  <a:lnTo>
                    <a:pt x="798322" y="0"/>
                  </a:lnTo>
                  <a:lnTo>
                    <a:pt x="798322" y="220852"/>
                  </a:lnTo>
                  <a:lnTo>
                    <a:pt x="307339" y="711835"/>
                  </a:lnTo>
                  <a:lnTo>
                    <a:pt x="0" y="711835"/>
                  </a:lnTo>
                  <a:lnTo>
                    <a:pt x="0" y="491108"/>
                  </a:lnTo>
                  <a:close/>
                </a:path>
                <a:path w="798829" h="711835">
                  <a:moveTo>
                    <a:pt x="0" y="491108"/>
                  </a:moveTo>
                  <a:lnTo>
                    <a:pt x="307339" y="491108"/>
                  </a:lnTo>
                  <a:lnTo>
                    <a:pt x="798322" y="0"/>
                  </a:lnTo>
                </a:path>
                <a:path w="798829" h="711835">
                  <a:moveTo>
                    <a:pt x="307339" y="491108"/>
                  </a:moveTo>
                  <a:lnTo>
                    <a:pt x="307339" y="564514"/>
                  </a:lnTo>
                </a:path>
              </a:pathLst>
            </a:custGeom>
            <a:ln w="19050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274312" y="5016118"/>
              <a:ext cx="1259966" cy="933157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4274312" y="5016118"/>
              <a:ext cx="1260475" cy="933450"/>
            </a:xfrm>
            <a:custGeom>
              <a:avLst/>
              <a:gdLst/>
              <a:ahLst/>
              <a:cxnLst/>
              <a:rect l="l" t="t" r="r" b="b"/>
              <a:pathLst>
                <a:path w="1260475" h="933450">
                  <a:moveTo>
                    <a:pt x="0" y="310768"/>
                  </a:moveTo>
                  <a:lnTo>
                    <a:pt x="310768" y="0"/>
                  </a:lnTo>
                  <a:lnTo>
                    <a:pt x="1259966" y="0"/>
                  </a:lnTo>
                  <a:lnTo>
                    <a:pt x="1259966" y="622401"/>
                  </a:lnTo>
                  <a:lnTo>
                    <a:pt x="949198" y="933157"/>
                  </a:lnTo>
                  <a:lnTo>
                    <a:pt x="0" y="933157"/>
                  </a:lnTo>
                  <a:lnTo>
                    <a:pt x="0" y="310768"/>
                  </a:lnTo>
                  <a:close/>
                </a:path>
                <a:path w="1260475" h="933450">
                  <a:moveTo>
                    <a:pt x="0" y="310768"/>
                  </a:moveTo>
                  <a:lnTo>
                    <a:pt x="949198" y="310768"/>
                  </a:lnTo>
                  <a:lnTo>
                    <a:pt x="1259966" y="0"/>
                  </a:lnTo>
                </a:path>
                <a:path w="1260475" h="933450">
                  <a:moveTo>
                    <a:pt x="949198" y="310768"/>
                  </a:moveTo>
                  <a:lnTo>
                    <a:pt x="949198" y="933157"/>
                  </a:lnTo>
                </a:path>
              </a:pathLst>
            </a:custGeom>
            <a:ln w="19050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9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059809" y="5567044"/>
              <a:ext cx="798321" cy="711822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050284" y="4501324"/>
              <a:ext cx="1747583" cy="1787067"/>
            </a:xfrm>
            <a:prstGeom prst="rect">
              <a:avLst/>
            </a:prstGeom>
          </p:spPr>
        </p:pic>
      </p:grpSp>
      <p:sp>
        <p:nvSpPr>
          <p:cNvPr id="94" name="object 94"/>
          <p:cNvSpPr txBox="1"/>
          <p:nvPr/>
        </p:nvSpPr>
        <p:spPr>
          <a:xfrm>
            <a:off x="4416369" y="5862225"/>
            <a:ext cx="332740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900" spc="-595" dirty="0">
                <a:latin typeface="Cambria Math"/>
                <a:cs typeface="Cambria Math"/>
              </a:rPr>
              <a:t>T</a:t>
            </a:r>
            <a:r>
              <a:rPr sz="1650" spc="-97" baseline="-22727" dirty="0">
                <a:latin typeface="Cambria Math"/>
                <a:cs typeface="Cambria Math"/>
              </a:rPr>
              <a:t>x</a:t>
            </a:r>
            <a:endParaRPr sz="1650" baseline="-22727">
              <a:latin typeface="Cambria Math"/>
              <a:cs typeface="Cambria Math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4142611" y="5276610"/>
            <a:ext cx="353695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900" spc="-305" dirty="0">
                <a:latin typeface="Cambria Math"/>
                <a:cs typeface="Cambria Math"/>
              </a:rPr>
              <a:t>Q</a:t>
            </a:r>
            <a:r>
              <a:rPr sz="1650" spc="-457" baseline="-22727" dirty="0">
                <a:latin typeface="Cambria Math"/>
                <a:cs typeface="Cambria Math"/>
              </a:rPr>
              <a:t>x</a:t>
            </a:r>
            <a:endParaRPr sz="1650" baseline="-22727">
              <a:latin typeface="Cambria Math"/>
              <a:cs typeface="Cambria Math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5144251" y="4349825"/>
            <a:ext cx="346075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900" spc="-570" dirty="0">
                <a:latin typeface="Cambria Math"/>
                <a:cs typeface="Cambria Math"/>
              </a:rPr>
              <a:t>Q</a:t>
            </a:r>
            <a:r>
              <a:rPr sz="1650" spc="-89" baseline="-22727" dirty="0">
                <a:latin typeface="Cambria Math"/>
                <a:cs typeface="Cambria Math"/>
              </a:rPr>
              <a:t>z</a:t>
            </a:r>
            <a:endParaRPr sz="1650" baseline="-22727">
              <a:latin typeface="Cambria Math"/>
              <a:cs typeface="Cambria Math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5715596" y="5455401"/>
            <a:ext cx="343535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900" spc="-290" dirty="0">
                <a:latin typeface="Cambria Math"/>
                <a:cs typeface="Cambria Math"/>
              </a:rPr>
              <a:t>T</a:t>
            </a:r>
            <a:r>
              <a:rPr sz="1650" spc="-434" baseline="-22727" dirty="0">
                <a:latin typeface="Cambria Math"/>
                <a:cs typeface="Cambria Math"/>
              </a:rPr>
              <a:t>y</a:t>
            </a:r>
            <a:endParaRPr sz="1650" baseline="-22727">
              <a:latin typeface="Cambria Math"/>
              <a:cs typeface="Cambria Math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5733772" y="4956192"/>
            <a:ext cx="13652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50" dirty="0">
                <a:latin typeface="Cambria Math"/>
                <a:cs typeface="Cambria Math"/>
              </a:rPr>
              <a:t>y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5556379" y="4796140"/>
            <a:ext cx="250190" cy="3136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spc="-50" dirty="0">
                <a:latin typeface="Cambria Math"/>
                <a:cs typeface="Cambria Math"/>
              </a:rPr>
              <a:t>Q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4508075" y="4300312"/>
            <a:ext cx="325120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900" spc="-620" dirty="0">
                <a:latin typeface="Cambria Math"/>
                <a:cs typeface="Cambria Math"/>
              </a:rPr>
              <a:t>T</a:t>
            </a:r>
            <a:r>
              <a:rPr sz="1650" spc="-82" baseline="-22727" dirty="0">
                <a:latin typeface="Cambria Math"/>
                <a:cs typeface="Cambria Math"/>
              </a:rPr>
              <a:t>z</a:t>
            </a:r>
            <a:endParaRPr sz="1650" baseline="-22727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70FFF5-F22F-014E-C2D9-82CD0C810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362" y="61912"/>
            <a:ext cx="5629275" cy="673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0005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40" dirty="0"/>
              <a:t> </a:t>
            </a:r>
            <a:r>
              <a:rPr dirty="0"/>
              <a:t>1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TÍCH</a:t>
            </a:r>
            <a:r>
              <a:rPr spc="-60" dirty="0"/>
              <a:t> </a:t>
            </a:r>
            <a:r>
              <a:rPr dirty="0"/>
              <a:t>CẤU</a:t>
            </a:r>
            <a:r>
              <a:rPr spc="-70" dirty="0"/>
              <a:t> </a:t>
            </a:r>
            <a:r>
              <a:rPr dirty="0"/>
              <a:t>TRÚC</a:t>
            </a:r>
            <a:r>
              <a:rPr spc="-55" dirty="0"/>
              <a:t> </a:t>
            </a:r>
            <a:r>
              <a:rPr dirty="0"/>
              <a:t>CƠ</a:t>
            </a:r>
            <a:r>
              <a:rPr spc="-50" dirty="0"/>
              <a:t> </a:t>
            </a:r>
            <a:r>
              <a:rPr spc="-25" dirty="0"/>
              <a:t>CẤU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5611" y="2809205"/>
            <a:ext cx="1584706" cy="120473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87801" y="2778877"/>
            <a:ext cx="1713356" cy="12763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40329" y="4753318"/>
            <a:ext cx="1429384" cy="139573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06290" y="4741703"/>
            <a:ext cx="1255273" cy="121622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27582" y="4728984"/>
            <a:ext cx="1463421" cy="153555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30200" y="549021"/>
            <a:ext cx="8590915" cy="5605381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455930" lvl="1" indent="-443230">
              <a:lnSpc>
                <a:spcPct val="100000"/>
              </a:lnSpc>
              <a:spcBef>
                <a:spcPts val="1010"/>
              </a:spcBef>
              <a:buAutoNum type="arabicPeriod" startAt="2"/>
              <a:tabLst>
                <a:tab pos="455930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Các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khái</a:t>
            </a:r>
            <a:r>
              <a:rPr sz="18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niệm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và</a:t>
            </a:r>
            <a:r>
              <a:rPr sz="1800" b="1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định</a:t>
            </a:r>
            <a:r>
              <a:rPr sz="18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nghĩa</a:t>
            </a:r>
            <a:r>
              <a:rPr sz="18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cơ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bản</a:t>
            </a:r>
            <a:endParaRPr sz="1800" dirty="0">
              <a:latin typeface="Arial"/>
              <a:cs typeface="Arial"/>
            </a:endParaRPr>
          </a:p>
          <a:p>
            <a:pPr marL="645160" lvl="2" indent="-632460">
              <a:lnSpc>
                <a:spcPct val="100000"/>
              </a:lnSpc>
              <a:spcBef>
                <a:spcPts val="915"/>
              </a:spcBef>
              <a:buAutoNum type="arabicPeriod" startAt="4"/>
              <a:tabLst>
                <a:tab pos="645160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Nối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động,</a:t>
            </a:r>
            <a:r>
              <a:rPr sz="18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khớp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động</a:t>
            </a:r>
            <a:r>
              <a:rPr sz="18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và</a:t>
            </a:r>
            <a:r>
              <a:rPr sz="1800" b="1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phân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loại</a:t>
            </a:r>
            <a:r>
              <a:rPr sz="18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khớp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động</a:t>
            </a:r>
            <a:endParaRPr sz="1800" dirty="0">
              <a:latin typeface="Arial"/>
              <a:cs typeface="Arial"/>
            </a:endParaRPr>
          </a:p>
          <a:p>
            <a:pPr marL="298450" lvl="3" indent="-285750">
              <a:lnSpc>
                <a:spcPct val="100000"/>
              </a:lnSpc>
              <a:spcBef>
                <a:spcPts val="1335"/>
              </a:spcBef>
              <a:buClr>
                <a:srgbClr val="1D9A78"/>
              </a:buClr>
              <a:buFont typeface="Wingdings"/>
              <a:buChar char=""/>
              <a:tabLst>
                <a:tab pos="298450" algn="l"/>
              </a:tabLst>
            </a:pPr>
            <a:r>
              <a:rPr sz="1800" b="1" i="1" dirty="0">
                <a:latin typeface="Arial"/>
                <a:cs typeface="Arial"/>
              </a:rPr>
              <a:t>Phân</a:t>
            </a:r>
            <a:r>
              <a:rPr sz="1800" b="1" i="1" spc="-2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loại</a:t>
            </a:r>
            <a:r>
              <a:rPr sz="1800" b="1" i="1" spc="-3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khớp</a:t>
            </a:r>
            <a:r>
              <a:rPr sz="1800" b="1" i="1" spc="-15" dirty="0">
                <a:latin typeface="Arial"/>
                <a:cs typeface="Arial"/>
              </a:rPr>
              <a:t> </a:t>
            </a:r>
            <a:r>
              <a:rPr sz="1800" b="1" i="1" spc="-20" dirty="0">
                <a:latin typeface="Arial"/>
                <a:cs typeface="Arial"/>
              </a:rPr>
              <a:t>động:</a:t>
            </a:r>
            <a:endParaRPr sz="18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1085"/>
              </a:spcBef>
              <a:buClr>
                <a:srgbClr val="1D9A78"/>
              </a:buClr>
              <a:buFont typeface="Arial"/>
              <a:buChar char="•"/>
              <a:tabLst>
                <a:tab pos="299085" algn="l"/>
              </a:tabLst>
            </a:pPr>
            <a:r>
              <a:rPr sz="1800" b="1" i="1" dirty="0">
                <a:latin typeface="Arial"/>
                <a:cs typeface="Arial"/>
              </a:rPr>
              <a:t>Theo</a:t>
            </a:r>
            <a:r>
              <a:rPr sz="1800" b="1" i="1" spc="-3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đặc</a:t>
            </a:r>
            <a:r>
              <a:rPr sz="1800" b="1" i="1" spc="-2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điểm</a:t>
            </a:r>
            <a:r>
              <a:rPr sz="1800" b="1" i="1" spc="-2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tiếp</a:t>
            </a:r>
            <a:r>
              <a:rPr sz="1800" b="1" i="1" spc="-2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xúc:</a:t>
            </a:r>
            <a:r>
              <a:rPr sz="1800" b="1" i="1" spc="-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Khớp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 err="1">
                <a:latin typeface="Arial"/>
                <a:cs typeface="Arial"/>
              </a:rPr>
              <a:t>loại</a:t>
            </a:r>
            <a:r>
              <a:rPr sz="1800" i="1" spc="-5" dirty="0">
                <a:latin typeface="Arial"/>
                <a:cs typeface="Arial"/>
              </a:rPr>
              <a:t> </a:t>
            </a:r>
            <a:r>
              <a:rPr sz="1800" i="1" dirty="0" err="1">
                <a:latin typeface="Arial"/>
                <a:cs typeface="Arial"/>
              </a:rPr>
              <a:t>cao</a:t>
            </a:r>
            <a:r>
              <a:rPr lang="en-US" sz="1800" i="1" dirty="0">
                <a:latin typeface="Arial"/>
                <a:cs typeface="Arial"/>
              </a:rPr>
              <a:t> (C)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và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khớp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dirty="0" err="1">
                <a:latin typeface="Arial"/>
                <a:cs typeface="Arial"/>
              </a:rPr>
              <a:t>loại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i="1" spc="-20" dirty="0" err="1">
                <a:latin typeface="Arial"/>
                <a:cs typeface="Arial"/>
              </a:rPr>
              <a:t>thấp</a:t>
            </a:r>
            <a:r>
              <a:rPr lang="en-US" sz="1800" i="1" spc="-20" dirty="0">
                <a:latin typeface="Arial"/>
                <a:cs typeface="Arial"/>
              </a:rPr>
              <a:t> (T)</a:t>
            </a:r>
            <a:endParaRPr sz="1800" dirty="0">
              <a:latin typeface="Arial"/>
              <a:cs typeface="Arial"/>
            </a:endParaRPr>
          </a:p>
          <a:p>
            <a:pPr marL="345440" indent="-285750">
              <a:lnSpc>
                <a:spcPct val="100000"/>
              </a:lnSpc>
              <a:spcBef>
                <a:spcPts val="1200"/>
              </a:spcBef>
              <a:buFont typeface="Wingdings"/>
              <a:buChar char=""/>
              <a:tabLst>
                <a:tab pos="345440" algn="l"/>
              </a:tabLst>
            </a:pPr>
            <a:r>
              <a:rPr sz="1800" dirty="0">
                <a:solidFill>
                  <a:srgbClr val="0D4D3B"/>
                </a:solidFill>
                <a:latin typeface="Arial"/>
                <a:cs typeface="Arial"/>
              </a:rPr>
              <a:t>Khớp</a:t>
            </a:r>
            <a:r>
              <a:rPr sz="1800" spc="-40" dirty="0">
                <a:solidFill>
                  <a:srgbClr val="0D4D3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D4D3B"/>
                </a:solidFill>
                <a:latin typeface="Arial"/>
                <a:cs typeface="Arial"/>
              </a:rPr>
              <a:t>loại</a:t>
            </a:r>
            <a:r>
              <a:rPr sz="1800" spc="-10" dirty="0">
                <a:solidFill>
                  <a:srgbClr val="0D4D3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D4D3B"/>
                </a:solidFill>
                <a:latin typeface="Arial"/>
                <a:cs typeface="Arial"/>
              </a:rPr>
              <a:t>cao:</a:t>
            </a:r>
            <a:r>
              <a:rPr sz="1800" spc="-10" dirty="0">
                <a:solidFill>
                  <a:srgbClr val="0D4D3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D4D3B"/>
                </a:solidFill>
                <a:latin typeface="Arial"/>
                <a:cs typeface="Arial"/>
              </a:rPr>
              <a:t>Thành</a:t>
            </a:r>
            <a:r>
              <a:rPr sz="1800" spc="-30" dirty="0">
                <a:solidFill>
                  <a:srgbClr val="0D4D3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D4D3B"/>
                </a:solidFill>
                <a:latin typeface="Arial"/>
                <a:cs typeface="Arial"/>
              </a:rPr>
              <a:t>phần</a:t>
            </a:r>
            <a:r>
              <a:rPr sz="1800" spc="-10" dirty="0">
                <a:solidFill>
                  <a:srgbClr val="0D4D3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D4D3B"/>
                </a:solidFill>
                <a:latin typeface="Arial"/>
                <a:cs typeface="Arial"/>
              </a:rPr>
              <a:t>khớp</a:t>
            </a:r>
            <a:r>
              <a:rPr sz="1800" spc="-20" dirty="0">
                <a:solidFill>
                  <a:srgbClr val="0D4D3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D4D3B"/>
                </a:solidFill>
                <a:latin typeface="Arial"/>
                <a:cs typeface="Arial"/>
              </a:rPr>
              <a:t>động</a:t>
            </a:r>
            <a:r>
              <a:rPr sz="1800" spc="-15" dirty="0">
                <a:solidFill>
                  <a:srgbClr val="0D4D3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D4D3B"/>
                </a:solidFill>
                <a:latin typeface="Arial"/>
                <a:cs typeface="Arial"/>
              </a:rPr>
              <a:t>là</a:t>
            </a:r>
            <a:r>
              <a:rPr sz="1800" spc="-10" dirty="0">
                <a:solidFill>
                  <a:srgbClr val="0D4D3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D4D3B"/>
                </a:solidFill>
                <a:latin typeface="Arial"/>
                <a:cs typeface="Arial"/>
              </a:rPr>
              <a:t>điểm</a:t>
            </a:r>
            <a:r>
              <a:rPr sz="1800" spc="-20" dirty="0">
                <a:solidFill>
                  <a:srgbClr val="0D4D3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D4D3B"/>
                </a:solidFill>
                <a:latin typeface="Arial"/>
                <a:cs typeface="Arial"/>
              </a:rPr>
              <a:t>hoặc</a:t>
            </a:r>
            <a:r>
              <a:rPr sz="1800" spc="-5" dirty="0">
                <a:solidFill>
                  <a:srgbClr val="0D4D3B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D4D3B"/>
                </a:solidFill>
                <a:latin typeface="Arial"/>
                <a:cs typeface="Arial"/>
              </a:rPr>
              <a:t>đường</a:t>
            </a:r>
            <a:endParaRPr sz="1800" dirty="0">
              <a:latin typeface="Arial"/>
              <a:cs typeface="Arial"/>
            </a:endParaRPr>
          </a:p>
          <a:p>
            <a:pPr marL="4810125" marR="219710">
              <a:lnSpc>
                <a:spcPct val="150000"/>
              </a:lnSpc>
              <a:spcBef>
                <a:spcPts val="1175"/>
              </a:spcBef>
            </a:pPr>
            <a:r>
              <a:rPr sz="1800" dirty="0">
                <a:latin typeface="Arial"/>
                <a:cs typeface="Arial"/>
              </a:rPr>
              <a:t>Kết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đơn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giản, dễ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thực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hiện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các </a:t>
            </a:r>
            <a:r>
              <a:rPr sz="1800" dirty="0">
                <a:latin typeface="Arial"/>
                <a:cs typeface="Arial"/>
              </a:rPr>
              <a:t>chuyển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động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phức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tạp.</a:t>
            </a:r>
            <a:endParaRPr sz="1800" dirty="0">
              <a:latin typeface="Arial"/>
              <a:cs typeface="Arial"/>
            </a:endParaRPr>
          </a:p>
          <a:p>
            <a:pPr marL="4810125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Arial"/>
                <a:cs typeface="Arial"/>
              </a:rPr>
              <a:t>Không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có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tính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thuận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nghịch</a:t>
            </a:r>
            <a:endParaRPr sz="1800" dirty="0">
              <a:latin typeface="Arial"/>
              <a:cs typeface="Arial"/>
            </a:endParaRPr>
          </a:p>
          <a:p>
            <a:pPr marL="345440" indent="-285750">
              <a:lnSpc>
                <a:spcPct val="100000"/>
              </a:lnSpc>
              <a:spcBef>
                <a:spcPts val="1350"/>
              </a:spcBef>
              <a:buFont typeface="Wingdings"/>
              <a:buChar char=""/>
              <a:tabLst>
                <a:tab pos="345440" algn="l"/>
              </a:tabLst>
            </a:pPr>
            <a:r>
              <a:rPr sz="1800" dirty="0">
                <a:solidFill>
                  <a:srgbClr val="0D4D3B"/>
                </a:solidFill>
                <a:latin typeface="Arial"/>
                <a:cs typeface="Arial"/>
              </a:rPr>
              <a:t>Khớp</a:t>
            </a:r>
            <a:r>
              <a:rPr sz="1800" spc="-40" dirty="0">
                <a:solidFill>
                  <a:srgbClr val="0D4D3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D4D3B"/>
                </a:solidFill>
                <a:latin typeface="Arial"/>
                <a:cs typeface="Arial"/>
              </a:rPr>
              <a:t>loại</a:t>
            </a:r>
            <a:r>
              <a:rPr sz="1800" spc="-5" dirty="0">
                <a:solidFill>
                  <a:srgbClr val="0D4D3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D4D3B"/>
                </a:solidFill>
                <a:latin typeface="Arial"/>
                <a:cs typeface="Arial"/>
              </a:rPr>
              <a:t>thấp:</a:t>
            </a:r>
            <a:r>
              <a:rPr sz="1800" spc="-20" dirty="0">
                <a:solidFill>
                  <a:srgbClr val="0D4D3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D4D3B"/>
                </a:solidFill>
                <a:latin typeface="Arial"/>
                <a:cs typeface="Arial"/>
              </a:rPr>
              <a:t>Thành</a:t>
            </a:r>
            <a:r>
              <a:rPr sz="1800" spc="-25" dirty="0">
                <a:solidFill>
                  <a:srgbClr val="0D4D3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D4D3B"/>
                </a:solidFill>
                <a:latin typeface="Arial"/>
                <a:cs typeface="Arial"/>
              </a:rPr>
              <a:t>phần</a:t>
            </a:r>
            <a:r>
              <a:rPr sz="1800" spc="-10" dirty="0">
                <a:solidFill>
                  <a:srgbClr val="0D4D3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D4D3B"/>
                </a:solidFill>
                <a:latin typeface="Arial"/>
                <a:cs typeface="Arial"/>
              </a:rPr>
              <a:t>khớp</a:t>
            </a:r>
            <a:r>
              <a:rPr sz="1800" spc="-20" dirty="0">
                <a:solidFill>
                  <a:srgbClr val="0D4D3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D4D3B"/>
                </a:solidFill>
                <a:latin typeface="Arial"/>
                <a:cs typeface="Arial"/>
              </a:rPr>
              <a:t>động</a:t>
            </a:r>
            <a:r>
              <a:rPr sz="1800" spc="-10" dirty="0">
                <a:solidFill>
                  <a:srgbClr val="0D4D3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D4D3B"/>
                </a:solidFill>
                <a:latin typeface="Arial"/>
                <a:cs typeface="Arial"/>
              </a:rPr>
              <a:t>là</a:t>
            </a:r>
            <a:r>
              <a:rPr sz="1800" spc="-10" dirty="0">
                <a:solidFill>
                  <a:srgbClr val="0D4D3B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0D4D3B"/>
                </a:solidFill>
                <a:latin typeface="Arial"/>
                <a:cs typeface="Arial"/>
              </a:rPr>
              <a:t>mặt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sz="1800" dirty="0">
              <a:latin typeface="Arial"/>
              <a:cs typeface="Arial"/>
            </a:endParaRPr>
          </a:p>
          <a:p>
            <a:pPr marL="5809615" marR="5080">
              <a:lnSpc>
                <a:spcPct val="150000"/>
              </a:lnSpc>
              <a:spcBef>
                <a:spcPts val="5"/>
              </a:spcBef>
            </a:pPr>
            <a:r>
              <a:rPr sz="1800" dirty="0">
                <a:latin typeface="Arial"/>
                <a:cs typeface="Arial"/>
              </a:rPr>
              <a:t>Khả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năng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truyền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tải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và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chịu </a:t>
            </a:r>
            <a:r>
              <a:rPr sz="1800" dirty="0">
                <a:latin typeface="Arial"/>
                <a:cs typeface="Arial"/>
              </a:rPr>
              <a:t>mài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mòn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tốt.</a:t>
            </a:r>
            <a:endParaRPr sz="1800" dirty="0">
              <a:latin typeface="Arial"/>
              <a:cs typeface="Arial"/>
            </a:endParaRPr>
          </a:p>
          <a:p>
            <a:pPr marL="5809615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Arial"/>
                <a:cs typeface="Arial"/>
              </a:rPr>
              <a:t>Có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tính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thuận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nghịch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728329" y="120522"/>
            <a:ext cx="297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1.10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7728" y="120522"/>
            <a:ext cx="314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NHH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30" dirty="0"/>
              <a:t> </a:t>
            </a:r>
            <a:r>
              <a:rPr dirty="0"/>
              <a:t>1</a:t>
            </a:r>
            <a:r>
              <a:rPr spc="-45" dirty="0"/>
              <a:t> </a:t>
            </a:r>
            <a:r>
              <a:rPr dirty="0"/>
              <a:t>–</a:t>
            </a:r>
            <a:r>
              <a:rPr spc="-50" dirty="0"/>
              <a:t> </a:t>
            </a:r>
            <a:r>
              <a:rPr dirty="0"/>
              <a:t>PHÂN</a:t>
            </a:r>
            <a:r>
              <a:rPr spc="-40" dirty="0"/>
              <a:t> </a:t>
            </a:r>
            <a:r>
              <a:rPr dirty="0"/>
              <a:t>TÍCH</a:t>
            </a:r>
            <a:r>
              <a:rPr spc="-45" dirty="0"/>
              <a:t> </a:t>
            </a:r>
            <a:r>
              <a:rPr dirty="0"/>
              <a:t>CẤU</a:t>
            </a:r>
            <a:r>
              <a:rPr spc="-55" dirty="0"/>
              <a:t> </a:t>
            </a:r>
            <a:r>
              <a:rPr dirty="0"/>
              <a:t>TRÚC</a:t>
            </a:r>
            <a:r>
              <a:rPr spc="-45" dirty="0"/>
              <a:t> </a:t>
            </a:r>
            <a:r>
              <a:rPr dirty="0"/>
              <a:t>CƠ</a:t>
            </a:r>
            <a:r>
              <a:rPr spc="-45" dirty="0"/>
              <a:t> </a:t>
            </a:r>
            <a:r>
              <a:rPr spc="-25" dirty="0"/>
              <a:t>CẤU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0200" y="549021"/>
            <a:ext cx="8270240" cy="166243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455295" lvl="1" indent="-442595">
              <a:lnSpc>
                <a:spcPct val="100000"/>
              </a:lnSpc>
              <a:spcBef>
                <a:spcPts val="1010"/>
              </a:spcBef>
              <a:buAutoNum type="arabicPeriod" startAt="2"/>
              <a:tabLst>
                <a:tab pos="455295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Các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khái</a:t>
            </a:r>
            <a:r>
              <a:rPr sz="18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niệm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và</a:t>
            </a:r>
            <a:r>
              <a:rPr sz="1800" b="1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định</a:t>
            </a:r>
            <a:r>
              <a:rPr sz="18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nghĩa</a:t>
            </a:r>
            <a:r>
              <a:rPr sz="18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cơ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bản</a:t>
            </a:r>
            <a:endParaRPr sz="1800">
              <a:latin typeface="Arial"/>
              <a:cs typeface="Arial"/>
            </a:endParaRPr>
          </a:p>
          <a:p>
            <a:pPr marL="645160" lvl="2" indent="-632460">
              <a:lnSpc>
                <a:spcPct val="100000"/>
              </a:lnSpc>
              <a:spcBef>
                <a:spcPts val="915"/>
              </a:spcBef>
              <a:buAutoNum type="arabicPeriod" startAt="5"/>
              <a:tabLst>
                <a:tab pos="645160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Lược</a:t>
            </a:r>
            <a:r>
              <a:rPr sz="1800" b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đồ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khâu,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khớp</a:t>
            </a:r>
            <a:endParaRPr sz="1800">
              <a:latin typeface="Arial"/>
              <a:cs typeface="Arial"/>
            </a:endParaRPr>
          </a:p>
          <a:p>
            <a:pPr marL="297815" marR="5080" lvl="3" indent="-285750">
              <a:lnSpc>
                <a:spcPct val="150100"/>
              </a:lnSpc>
              <a:spcBef>
                <a:spcPts val="254"/>
              </a:spcBef>
              <a:buClr>
                <a:srgbClr val="1D9A78"/>
              </a:buClr>
              <a:buFont typeface="Wingdings"/>
              <a:buChar char=""/>
              <a:tabLst>
                <a:tab pos="299085" algn="l"/>
              </a:tabLst>
            </a:pPr>
            <a:r>
              <a:rPr sz="1800" b="1" i="1" dirty="0">
                <a:latin typeface="Arial"/>
                <a:cs typeface="Arial"/>
              </a:rPr>
              <a:t>Lược</a:t>
            </a:r>
            <a:r>
              <a:rPr sz="1800" b="1" i="1" spc="-2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đồ</a:t>
            </a:r>
            <a:r>
              <a:rPr sz="1800" b="1" i="1" spc="-2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khớp:</a:t>
            </a:r>
            <a:r>
              <a:rPr sz="1800" b="1" i="1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Để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thuận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tiện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và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thống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nhất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trong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nghiên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cứu,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các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khớp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được 	</a:t>
            </a:r>
            <a:r>
              <a:rPr sz="1800" dirty="0">
                <a:latin typeface="Arial"/>
                <a:cs typeface="Arial"/>
              </a:rPr>
              <a:t>biểu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diễn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dưới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dạng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lược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đồ.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907157" y="3118611"/>
            <a:ext cx="464184" cy="175260"/>
            <a:chOff x="2907157" y="3118611"/>
            <a:chExt cx="464184" cy="175260"/>
          </a:xfrm>
        </p:grpSpPr>
        <p:sp>
          <p:nvSpPr>
            <p:cNvPr id="6" name="object 6"/>
            <p:cNvSpPr/>
            <p:nvPr/>
          </p:nvSpPr>
          <p:spPr>
            <a:xfrm>
              <a:off x="2913507" y="3124961"/>
              <a:ext cx="451484" cy="162560"/>
            </a:xfrm>
            <a:custGeom>
              <a:avLst/>
              <a:gdLst/>
              <a:ahLst/>
              <a:cxnLst/>
              <a:rect l="l" t="t" r="r" b="b"/>
              <a:pathLst>
                <a:path w="451485" h="162560">
                  <a:moveTo>
                    <a:pt x="370458" y="0"/>
                  </a:moveTo>
                  <a:lnTo>
                    <a:pt x="370458" y="40512"/>
                  </a:lnTo>
                  <a:lnTo>
                    <a:pt x="0" y="40512"/>
                  </a:lnTo>
                  <a:lnTo>
                    <a:pt x="0" y="121538"/>
                  </a:lnTo>
                  <a:lnTo>
                    <a:pt x="370458" y="121538"/>
                  </a:lnTo>
                  <a:lnTo>
                    <a:pt x="370458" y="162051"/>
                  </a:lnTo>
                  <a:lnTo>
                    <a:pt x="451484" y="81025"/>
                  </a:lnTo>
                  <a:lnTo>
                    <a:pt x="370458" y="0"/>
                  </a:lnTo>
                  <a:close/>
                </a:path>
              </a:pathLst>
            </a:custGeom>
            <a:solidFill>
              <a:srgbClr val="1D9A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13507" y="3124961"/>
              <a:ext cx="451484" cy="162560"/>
            </a:xfrm>
            <a:custGeom>
              <a:avLst/>
              <a:gdLst/>
              <a:ahLst/>
              <a:cxnLst/>
              <a:rect l="l" t="t" r="r" b="b"/>
              <a:pathLst>
                <a:path w="451485" h="162560">
                  <a:moveTo>
                    <a:pt x="370458" y="162051"/>
                  </a:moveTo>
                  <a:lnTo>
                    <a:pt x="370458" y="121538"/>
                  </a:lnTo>
                  <a:lnTo>
                    <a:pt x="0" y="121538"/>
                  </a:lnTo>
                  <a:lnTo>
                    <a:pt x="0" y="40512"/>
                  </a:lnTo>
                  <a:lnTo>
                    <a:pt x="370458" y="40512"/>
                  </a:lnTo>
                  <a:lnTo>
                    <a:pt x="370458" y="0"/>
                  </a:lnTo>
                  <a:lnTo>
                    <a:pt x="451484" y="81025"/>
                  </a:lnTo>
                  <a:lnTo>
                    <a:pt x="370458" y="162051"/>
                  </a:lnTo>
                  <a:close/>
                </a:path>
              </a:pathLst>
            </a:custGeom>
            <a:ln w="12700">
              <a:solidFill>
                <a:srgbClr val="126F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429539" y="2818510"/>
            <a:ext cx="2395855" cy="892810"/>
            <a:chOff x="429539" y="2818510"/>
            <a:chExt cx="2395855" cy="89281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9064" y="2828035"/>
              <a:ext cx="2376271" cy="87363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39064" y="2828035"/>
              <a:ext cx="2376805" cy="873760"/>
            </a:xfrm>
            <a:custGeom>
              <a:avLst/>
              <a:gdLst/>
              <a:ahLst/>
              <a:cxnLst/>
              <a:rect l="l" t="t" r="r" b="b"/>
              <a:pathLst>
                <a:path w="2376805" h="873760">
                  <a:moveTo>
                    <a:pt x="0" y="830326"/>
                  </a:moveTo>
                  <a:lnTo>
                    <a:pt x="830351" y="0"/>
                  </a:lnTo>
                  <a:lnTo>
                    <a:pt x="2376271" y="0"/>
                  </a:lnTo>
                  <a:lnTo>
                    <a:pt x="2376271" y="43179"/>
                  </a:lnTo>
                  <a:lnTo>
                    <a:pt x="1545945" y="873632"/>
                  </a:lnTo>
                  <a:lnTo>
                    <a:pt x="0" y="873632"/>
                  </a:lnTo>
                  <a:lnTo>
                    <a:pt x="0" y="830326"/>
                  </a:lnTo>
                  <a:close/>
                </a:path>
                <a:path w="2376805" h="873760">
                  <a:moveTo>
                    <a:pt x="0" y="830326"/>
                  </a:moveTo>
                  <a:lnTo>
                    <a:pt x="1545945" y="830326"/>
                  </a:lnTo>
                  <a:lnTo>
                    <a:pt x="2376271" y="0"/>
                  </a:lnTo>
                </a:path>
                <a:path w="2376805" h="873760">
                  <a:moveTo>
                    <a:pt x="1545945" y="830326"/>
                  </a:moveTo>
                  <a:lnTo>
                    <a:pt x="1545945" y="873632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26336" y="2938271"/>
              <a:ext cx="432054" cy="43205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426336" y="2938271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5" h="432435">
                  <a:moveTo>
                    <a:pt x="0" y="216026"/>
                  </a:moveTo>
                  <a:lnTo>
                    <a:pt x="5708" y="166511"/>
                  </a:lnTo>
                  <a:lnTo>
                    <a:pt x="21966" y="121048"/>
                  </a:lnTo>
                  <a:lnTo>
                    <a:pt x="47476" y="80936"/>
                  </a:lnTo>
                  <a:lnTo>
                    <a:pt x="80936" y="47476"/>
                  </a:lnTo>
                  <a:lnTo>
                    <a:pt x="121048" y="21966"/>
                  </a:lnTo>
                  <a:lnTo>
                    <a:pt x="166511" y="5708"/>
                  </a:lnTo>
                  <a:lnTo>
                    <a:pt x="216026" y="0"/>
                  </a:lnTo>
                  <a:lnTo>
                    <a:pt x="265542" y="5708"/>
                  </a:lnTo>
                  <a:lnTo>
                    <a:pt x="311005" y="21966"/>
                  </a:lnTo>
                  <a:lnTo>
                    <a:pt x="351117" y="47476"/>
                  </a:lnTo>
                  <a:lnTo>
                    <a:pt x="384577" y="80936"/>
                  </a:lnTo>
                  <a:lnTo>
                    <a:pt x="410087" y="121048"/>
                  </a:lnTo>
                  <a:lnTo>
                    <a:pt x="426345" y="166511"/>
                  </a:lnTo>
                  <a:lnTo>
                    <a:pt x="432054" y="216026"/>
                  </a:lnTo>
                  <a:lnTo>
                    <a:pt x="426345" y="265542"/>
                  </a:lnTo>
                  <a:lnTo>
                    <a:pt x="410087" y="311005"/>
                  </a:lnTo>
                  <a:lnTo>
                    <a:pt x="384577" y="351117"/>
                  </a:lnTo>
                  <a:lnTo>
                    <a:pt x="351117" y="384577"/>
                  </a:lnTo>
                  <a:lnTo>
                    <a:pt x="311005" y="410087"/>
                  </a:lnTo>
                  <a:lnTo>
                    <a:pt x="265542" y="426345"/>
                  </a:lnTo>
                  <a:lnTo>
                    <a:pt x="216026" y="432053"/>
                  </a:lnTo>
                  <a:lnTo>
                    <a:pt x="166511" y="426345"/>
                  </a:lnTo>
                  <a:lnTo>
                    <a:pt x="121048" y="410087"/>
                  </a:lnTo>
                  <a:lnTo>
                    <a:pt x="80936" y="384577"/>
                  </a:lnTo>
                  <a:lnTo>
                    <a:pt x="47476" y="351117"/>
                  </a:lnTo>
                  <a:lnTo>
                    <a:pt x="21966" y="311005"/>
                  </a:lnTo>
                  <a:lnTo>
                    <a:pt x="5708" y="265542"/>
                  </a:lnTo>
                  <a:lnTo>
                    <a:pt x="0" y="216026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33344" y="3770810"/>
            <a:ext cx="1397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79128" y="2381811"/>
            <a:ext cx="1397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0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06704" y="2647950"/>
            <a:ext cx="1044575" cy="1287780"/>
          </a:xfrm>
          <a:custGeom>
            <a:avLst/>
            <a:gdLst/>
            <a:ahLst/>
            <a:cxnLst/>
            <a:rect l="l" t="t" r="r" b="b"/>
            <a:pathLst>
              <a:path w="1044575" h="1287779">
                <a:moveTo>
                  <a:pt x="783183" y="0"/>
                </a:moveTo>
                <a:lnTo>
                  <a:pt x="1044549" y="368046"/>
                </a:lnTo>
              </a:path>
              <a:path w="1044575" h="1287779">
                <a:moveTo>
                  <a:pt x="296824" y="1013841"/>
                </a:moveTo>
                <a:lnTo>
                  <a:pt x="0" y="1287272"/>
                </a:lnTo>
              </a:path>
            </a:pathLst>
          </a:custGeom>
          <a:ln w="15875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3708908" y="2969641"/>
            <a:ext cx="656590" cy="478155"/>
            <a:chOff x="3708908" y="2969641"/>
            <a:chExt cx="656590" cy="478155"/>
          </a:xfrm>
        </p:grpSpPr>
        <p:sp>
          <p:nvSpPr>
            <p:cNvPr id="17" name="object 17"/>
            <p:cNvSpPr/>
            <p:nvPr/>
          </p:nvSpPr>
          <p:spPr>
            <a:xfrm>
              <a:off x="3718433" y="3299460"/>
              <a:ext cx="553720" cy="138430"/>
            </a:xfrm>
            <a:custGeom>
              <a:avLst/>
              <a:gdLst/>
              <a:ahLst/>
              <a:cxnLst/>
              <a:rect l="l" t="t" r="r" b="b"/>
              <a:pathLst>
                <a:path w="553720" h="138429">
                  <a:moveTo>
                    <a:pt x="0" y="0"/>
                  </a:moveTo>
                  <a:lnTo>
                    <a:pt x="553338" y="0"/>
                  </a:lnTo>
                </a:path>
                <a:path w="553720" h="138429">
                  <a:moveTo>
                    <a:pt x="553338" y="0"/>
                  </a:moveTo>
                  <a:lnTo>
                    <a:pt x="272795" y="138429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71341" y="3054985"/>
              <a:ext cx="235076" cy="23507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075430" y="2979166"/>
              <a:ext cx="280670" cy="138430"/>
            </a:xfrm>
            <a:custGeom>
              <a:avLst/>
              <a:gdLst/>
              <a:ahLst/>
              <a:cxnLst/>
              <a:rect l="l" t="t" r="r" b="b"/>
              <a:pathLst>
                <a:path w="280670" h="138430">
                  <a:moveTo>
                    <a:pt x="280543" y="0"/>
                  </a:moveTo>
                  <a:lnTo>
                    <a:pt x="0" y="13830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839574" y="2442644"/>
            <a:ext cx="1397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0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516376" y="2699892"/>
            <a:ext cx="676275" cy="871219"/>
          </a:xfrm>
          <a:custGeom>
            <a:avLst/>
            <a:gdLst/>
            <a:ahLst/>
            <a:cxnLst/>
            <a:rect l="l" t="t" r="r" b="b"/>
            <a:pathLst>
              <a:path w="676275" h="871220">
                <a:moveTo>
                  <a:pt x="414909" y="0"/>
                </a:moveTo>
                <a:lnTo>
                  <a:pt x="676275" y="368046"/>
                </a:lnTo>
              </a:path>
              <a:path w="676275" h="871220">
                <a:moveTo>
                  <a:pt x="296925" y="597662"/>
                </a:moveTo>
                <a:lnTo>
                  <a:pt x="0" y="871093"/>
                </a:lnTo>
              </a:path>
            </a:pathLst>
          </a:custGeom>
          <a:ln w="15875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361685" y="3450770"/>
            <a:ext cx="1397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094859" y="2691129"/>
            <a:ext cx="2395855" cy="892810"/>
            <a:chOff x="5094859" y="2691129"/>
            <a:chExt cx="2395855" cy="892810"/>
          </a:xfrm>
        </p:grpSpPr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04384" y="2700654"/>
              <a:ext cx="2376296" cy="87350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104384" y="2700654"/>
              <a:ext cx="2376805" cy="873760"/>
            </a:xfrm>
            <a:custGeom>
              <a:avLst/>
              <a:gdLst/>
              <a:ahLst/>
              <a:cxnLst/>
              <a:rect l="l" t="t" r="r" b="b"/>
              <a:pathLst>
                <a:path w="2376804" h="873760">
                  <a:moveTo>
                    <a:pt x="0" y="839470"/>
                  </a:moveTo>
                  <a:lnTo>
                    <a:pt x="839596" y="0"/>
                  </a:lnTo>
                  <a:lnTo>
                    <a:pt x="2376296" y="0"/>
                  </a:lnTo>
                  <a:lnTo>
                    <a:pt x="2376296" y="34036"/>
                  </a:lnTo>
                  <a:lnTo>
                    <a:pt x="1536826" y="873506"/>
                  </a:lnTo>
                  <a:lnTo>
                    <a:pt x="0" y="873506"/>
                  </a:lnTo>
                  <a:lnTo>
                    <a:pt x="0" y="839470"/>
                  </a:lnTo>
                  <a:close/>
                </a:path>
                <a:path w="2376804" h="873760">
                  <a:moveTo>
                    <a:pt x="0" y="839470"/>
                  </a:moveTo>
                  <a:lnTo>
                    <a:pt x="1536826" y="839470"/>
                  </a:lnTo>
                  <a:lnTo>
                    <a:pt x="2376296" y="0"/>
                  </a:lnTo>
                </a:path>
                <a:path w="2376804" h="873760">
                  <a:moveTo>
                    <a:pt x="1536826" y="839470"/>
                  </a:moveTo>
                  <a:lnTo>
                    <a:pt x="1536826" y="873506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42945" y="2740302"/>
              <a:ext cx="690612" cy="689836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942945" y="2740302"/>
              <a:ext cx="690880" cy="690245"/>
            </a:xfrm>
            <a:custGeom>
              <a:avLst/>
              <a:gdLst/>
              <a:ahLst/>
              <a:cxnLst/>
              <a:rect l="l" t="t" r="r" b="b"/>
              <a:pathLst>
                <a:path w="690879" h="690245">
                  <a:moveTo>
                    <a:pt x="8655" y="451715"/>
                  </a:moveTo>
                  <a:lnTo>
                    <a:pt x="74362" y="453302"/>
                  </a:lnTo>
                  <a:lnTo>
                    <a:pt x="120473" y="480075"/>
                  </a:lnTo>
                  <a:lnTo>
                    <a:pt x="168548" y="521184"/>
                  </a:lnTo>
                  <a:lnTo>
                    <a:pt x="209470" y="569404"/>
                  </a:lnTo>
                  <a:lnTo>
                    <a:pt x="236081" y="615576"/>
                  </a:lnTo>
                  <a:lnTo>
                    <a:pt x="246165" y="654557"/>
                  </a:lnTo>
                  <a:lnTo>
                    <a:pt x="210812" y="689836"/>
                  </a:lnTo>
                  <a:lnTo>
                    <a:pt x="171850" y="679680"/>
                  </a:lnTo>
                  <a:lnTo>
                    <a:pt x="125745" y="652950"/>
                  </a:lnTo>
                  <a:lnTo>
                    <a:pt x="77616" y="611862"/>
                  </a:lnTo>
                  <a:lnTo>
                    <a:pt x="36695" y="563639"/>
                  </a:lnTo>
                  <a:lnTo>
                    <a:pt x="10084" y="517453"/>
                  </a:lnTo>
                  <a:lnTo>
                    <a:pt x="0" y="478434"/>
                  </a:lnTo>
                  <a:lnTo>
                    <a:pt x="8655" y="451715"/>
                  </a:lnTo>
                  <a:lnTo>
                    <a:pt x="453155" y="8612"/>
                  </a:lnTo>
                  <a:lnTo>
                    <a:pt x="479853" y="0"/>
                  </a:lnTo>
                  <a:lnTo>
                    <a:pt x="518814" y="10199"/>
                  </a:lnTo>
                  <a:lnTo>
                    <a:pt x="564919" y="36972"/>
                  </a:lnTo>
                  <a:lnTo>
                    <a:pt x="613048" y="78081"/>
                  </a:lnTo>
                  <a:lnTo>
                    <a:pt x="653968" y="126247"/>
                  </a:lnTo>
                  <a:lnTo>
                    <a:pt x="680565" y="172426"/>
                  </a:lnTo>
                  <a:lnTo>
                    <a:pt x="690612" y="211437"/>
                  </a:lnTo>
                  <a:lnTo>
                    <a:pt x="681882" y="238101"/>
                  </a:lnTo>
                  <a:lnTo>
                    <a:pt x="237509" y="681204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024609" y="2290498"/>
            <a:ext cx="1397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0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091682" y="2559304"/>
            <a:ext cx="261620" cy="368300"/>
          </a:xfrm>
          <a:custGeom>
            <a:avLst/>
            <a:gdLst/>
            <a:ahLst/>
            <a:cxnLst/>
            <a:rect l="l" t="t" r="r" b="b"/>
            <a:pathLst>
              <a:path w="261620" h="368300">
                <a:moveTo>
                  <a:pt x="0" y="0"/>
                </a:moveTo>
                <a:lnTo>
                  <a:pt x="261492" y="368046"/>
                </a:lnTo>
              </a:path>
            </a:pathLst>
          </a:custGeom>
          <a:ln w="15875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305928" y="3738806"/>
            <a:ext cx="1397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8086217" y="3127501"/>
            <a:ext cx="572770" cy="392430"/>
            <a:chOff x="8086217" y="3127501"/>
            <a:chExt cx="572770" cy="392430"/>
          </a:xfrm>
        </p:grpSpPr>
        <p:sp>
          <p:nvSpPr>
            <p:cNvPr id="32" name="object 32"/>
            <p:cNvSpPr/>
            <p:nvPr/>
          </p:nvSpPr>
          <p:spPr>
            <a:xfrm>
              <a:off x="8095742" y="3372103"/>
              <a:ext cx="553720" cy="138430"/>
            </a:xfrm>
            <a:custGeom>
              <a:avLst/>
              <a:gdLst/>
              <a:ahLst/>
              <a:cxnLst/>
              <a:rect l="l" t="t" r="r" b="b"/>
              <a:pathLst>
                <a:path w="553720" h="138429">
                  <a:moveTo>
                    <a:pt x="0" y="0"/>
                  </a:moveTo>
                  <a:lnTo>
                    <a:pt x="553211" y="0"/>
                  </a:lnTo>
                </a:path>
                <a:path w="553720" h="138429">
                  <a:moveTo>
                    <a:pt x="553211" y="0"/>
                  </a:moveTo>
                  <a:lnTo>
                    <a:pt x="272796" y="13830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48523" y="3127501"/>
              <a:ext cx="235076" cy="235076"/>
            </a:xfrm>
            <a:prstGeom prst="rect">
              <a:avLst/>
            </a:prstGeom>
          </p:spPr>
        </p:pic>
      </p:grpSp>
      <p:grpSp>
        <p:nvGrpSpPr>
          <p:cNvPr id="34" name="object 34"/>
          <p:cNvGrpSpPr/>
          <p:nvPr/>
        </p:nvGrpSpPr>
        <p:grpSpPr>
          <a:xfrm>
            <a:off x="5426138" y="3175126"/>
            <a:ext cx="2399665" cy="659130"/>
            <a:chOff x="5426138" y="3175126"/>
            <a:chExt cx="2399665" cy="659130"/>
          </a:xfrm>
        </p:grpSpPr>
        <p:sp>
          <p:nvSpPr>
            <p:cNvPr id="35" name="object 35"/>
            <p:cNvSpPr/>
            <p:nvPr/>
          </p:nvSpPr>
          <p:spPr>
            <a:xfrm>
              <a:off x="5434076" y="3552443"/>
              <a:ext cx="297180" cy="273685"/>
            </a:xfrm>
            <a:custGeom>
              <a:avLst/>
              <a:gdLst/>
              <a:ahLst/>
              <a:cxnLst/>
              <a:rect l="l" t="t" r="r" b="b"/>
              <a:pathLst>
                <a:path w="297179" h="273685">
                  <a:moveTo>
                    <a:pt x="296799" y="0"/>
                  </a:moveTo>
                  <a:lnTo>
                    <a:pt x="0" y="273303"/>
                  </a:lnTo>
                </a:path>
              </a:pathLst>
            </a:custGeom>
            <a:ln w="15875">
              <a:solidFill>
                <a:srgbClr val="1D9A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367651" y="3181476"/>
              <a:ext cx="452120" cy="162560"/>
            </a:xfrm>
            <a:custGeom>
              <a:avLst/>
              <a:gdLst/>
              <a:ahLst/>
              <a:cxnLst/>
              <a:rect l="l" t="t" r="r" b="b"/>
              <a:pathLst>
                <a:path w="452120" h="162560">
                  <a:moveTo>
                    <a:pt x="370585" y="0"/>
                  </a:moveTo>
                  <a:lnTo>
                    <a:pt x="370585" y="40512"/>
                  </a:lnTo>
                  <a:lnTo>
                    <a:pt x="0" y="40512"/>
                  </a:lnTo>
                  <a:lnTo>
                    <a:pt x="0" y="121538"/>
                  </a:lnTo>
                  <a:lnTo>
                    <a:pt x="370585" y="121538"/>
                  </a:lnTo>
                  <a:lnTo>
                    <a:pt x="370585" y="162051"/>
                  </a:lnTo>
                  <a:lnTo>
                    <a:pt x="451612" y="81025"/>
                  </a:lnTo>
                  <a:lnTo>
                    <a:pt x="370585" y="0"/>
                  </a:lnTo>
                  <a:close/>
                </a:path>
              </a:pathLst>
            </a:custGeom>
            <a:solidFill>
              <a:srgbClr val="1D9A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367651" y="3181476"/>
              <a:ext cx="452120" cy="162560"/>
            </a:xfrm>
            <a:custGeom>
              <a:avLst/>
              <a:gdLst/>
              <a:ahLst/>
              <a:cxnLst/>
              <a:rect l="l" t="t" r="r" b="b"/>
              <a:pathLst>
                <a:path w="452120" h="162560">
                  <a:moveTo>
                    <a:pt x="370585" y="162051"/>
                  </a:moveTo>
                  <a:lnTo>
                    <a:pt x="370585" y="121538"/>
                  </a:lnTo>
                  <a:lnTo>
                    <a:pt x="0" y="121538"/>
                  </a:lnTo>
                  <a:lnTo>
                    <a:pt x="0" y="40512"/>
                  </a:lnTo>
                  <a:lnTo>
                    <a:pt x="370585" y="40512"/>
                  </a:lnTo>
                  <a:lnTo>
                    <a:pt x="370585" y="0"/>
                  </a:lnTo>
                  <a:lnTo>
                    <a:pt x="451612" y="81025"/>
                  </a:lnTo>
                  <a:lnTo>
                    <a:pt x="370585" y="162051"/>
                  </a:lnTo>
                  <a:close/>
                </a:path>
              </a:pathLst>
            </a:custGeom>
            <a:ln w="12700">
              <a:solidFill>
                <a:srgbClr val="126F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290797" y="2495350"/>
            <a:ext cx="1397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0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8393303" y="2774569"/>
            <a:ext cx="261620" cy="368300"/>
          </a:xfrm>
          <a:custGeom>
            <a:avLst/>
            <a:gdLst/>
            <a:ahLst/>
            <a:cxnLst/>
            <a:rect l="l" t="t" r="r" b="b"/>
            <a:pathLst>
              <a:path w="261620" h="368300">
                <a:moveTo>
                  <a:pt x="0" y="0"/>
                </a:moveTo>
                <a:lnTo>
                  <a:pt x="261366" y="367918"/>
                </a:lnTo>
              </a:path>
            </a:pathLst>
          </a:custGeom>
          <a:ln w="15875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7754233" y="3522906"/>
            <a:ext cx="1397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7885747" y="3080257"/>
            <a:ext cx="872490" cy="571500"/>
            <a:chOff x="7885747" y="3080257"/>
            <a:chExt cx="872490" cy="571500"/>
          </a:xfrm>
        </p:grpSpPr>
        <p:sp>
          <p:nvSpPr>
            <p:cNvPr id="42" name="object 42"/>
            <p:cNvSpPr/>
            <p:nvPr/>
          </p:nvSpPr>
          <p:spPr>
            <a:xfrm>
              <a:off x="7893684" y="3370198"/>
              <a:ext cx="297180" cy="273685"/>
            </a:xfrm>
            <a:custGeom>
              <a:avLst/>
              <a:gdLst/>
              <a:ahLst/>
              <a:cxnLst/>
              <a:rect l="l" t="t" r="r" b="b"/>
              <a:pathLst>
                <a:path w="297179" h="273685">
                  <a:moveTo>
                    <a:pt x="296799" y="0"/>
                  </a:moveTo>
                  <a:lnTo>
                    <a:pt x="0" y="273303"/>
                  </a:lnTo>
                </a:path>
              </a:pathLst>
            </a:custGeom>
            <a:ln w="15875">
              <a:solidFill>
                <a:srgbClr val="1D9A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220328" y="3104973"/>
              <a:ext cx="261620" cy="108585"/>
            </a:xfrm>
            <a:custGeom>
              <a:avLst/>
              <a:gdLst/>
              <a:ahLst/>
              <a:cxnLst/>
              <a:rect l="l" t="t" r="r" b="b"/>
              <a:pathLst>
                <a:path w="261620" h="108585">
                  <a:moveTo>
                    <a:pt x="261429" y="0"/>
                  </a:moveTo>
                  <a:lnTo>
                    <a:pt x="0" y="0"/>
                  </a:lnTo>
                  <a:lnTo>
                    <a:pt x="0" y="107999"/>
                  </a:lnTo>
                  <a:lnTo>
                    <a:pt x="261429" y="107999"/>
                  </a:lnTo>
                  <a:lnTo>
                    <a:pt x="2614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220328" y="3104973"/>
              <a:ext cx="261620" cy="108585"/>
            </a:xfrm>
            <a:custGeom>
              <a:avLst/>
              <a:gdLst/>
              <a:ahLst/>
              <a:cxnLst/>
              <a:rect l="l" t="t" r="r" b="b"/>
              <a:pathLst>
                <a:path w="261620" h="108585">
                  <a:moveTo>
                    <a:pt x="0" y="107999"/>
                  </a:moveTo>
                  <a:lnTo>
                    <a:pt x="261429" y="107999"/>
                  </a:lnTo>
                  <a:lnTo>
                    <a:pt x="261429" y="0"/>
                  </a:lnTo>
                  <a:lnTo>
                    <a:pt x="0" y="0"/>
                  </a:lnTo>
                  <a:lnTo>
                    <a:pt x="0" y="107999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467978" y="3089782"/>
              <a:ext cx="280670" cy="138430"/>
            </a:xfrm>
            <a:custGeom>
              <a:avLst/>
              <a:gdLst/>
              <a:ahLst/>
              <a:cxnLst/>
              <a:rect l="l" t="t" r="r" b="b"/>
              <a:pathLst>
                <a:path w="280670" h="138430">
                  <a:moveTo>
                    <a:pt x="280543" y="0"/>
                  </a:moveTo>
                  <a:lnTo>
                    <a:pt x="0" y="138302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" name="object 46"/>
          <p:cNvGrpSpPr/>
          <p:nvPr/>
        </p:nvGrpSpPr>
        <p:grpSpPr>
          <a:xfrm>
            <a:off x="401942" y="4786121"/>
            <a:ext cx="2395855" cy="892810"/>
            <a:chOff x="401942" y="4786121"/>
            <a:chExt cx="2395855" cy="892810"/>
          </a:xfrm>
        </p:grpSpPr>
        <p:pic>
          <p:nvPicPr>
            <p:cNvPr id="47" name="object 4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1467" y="4795646"/>
              <a:ext cx="2376309" cy="873505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411467" y="4795646"/>
              <a:ext cx="2376805" cy="873760"/>
            </a:xfrm>
            <a:custGeom>
              <a:avLst/>
              <a:gdLst/>
              <a:ahLst/>
              <a:cxnLst/>
              <a:rect l="l" t="t" r="r" b="b"/>
              <a:pathLst>
                <a:path w="2376805" h="873760">
                  <a:moveTo>
                    <a:pt x="0" y="839431"/>
                  </a:moveTo>
                  <a:lnTo>
                    <a:pt x="839495" y="0"/>
                  </a:lnTo>
                  <a:lnTo>
                    <a:pt x="2376309" y="0"/>
                  </a:lnTo>
                  <a:lnTo>
                    <a:pt x="2376309" y="34035"/>
                  </a:lnTo>
                  <a:lnTo>
                    <a:pt x="1536712" y="873505"/>
                  </a:lnTo>
                  <a:lnTo>
                    <a:pt x="0" y="873505"/>
                  </a:lnTo>
                  <a:lnTo>
                    <a:pt x="0" y="839431"/>
                  </a:lnTo>
                  <a:close/>
                </a:path>
                <a:path w="2376805" h="873760">
                  <a:moveTo>
                    <a:pt x="0" y="839431"/>
                  </a:moveTo>
                  <a:lnTo>
                    <a:pt x="1536712" y="839431"/>
                  </a:lnTo>
                  <a:lnTo>
                    <a:pt x="2376309" y="0"/>
                  </a:lnTo>
                </a:path>
                <a:path w="2376805" h="873760">
                  <a:moveTo>
                    <a:pt x="1536712" y="839431"/>
                  </a:moveTo>
                  <a:lnTo>
                    <a:pt x="1536712" y="873505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55090" y="4964429"/>
              <a:ext cx="710184" cy="328929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355090" y="4964429"/>
              <a:ext cx="710565" cy="328930"/>
            </a:xfrm>
            <a:custGeom>
              <a:avLst/>
              <a:gdLst/>
              <a:ahLst/>
              <a:cxnLst/>
              <a:rect l="l" t="t" r="r" b="b"/>
              <a:pathLst>
                <a:path w="710564" h="328929">
                  <a:moveTo>
                    <a:pt x="0" y="208280"/>
                  </a:moveTo>
                  <a:lnTo>
                    <a:pt x="208279" y="0"/>
                  </a:lnTo>
                  <a:lnTo>
                    <a:pt x="710184" y="0"/>
                  </a:lnTo>
                  <a:lnTo>
                    <a:pt x="710184" y="120650"/>
                  </a:lnTo>
                  <a:lnTo>
                    <a:pt x="502030" y="328930"/>
                  </a:lnTo>
                  <a:lnTo>
                    <a:pt x="0" y="328930"/>
                  </a:lnTo>
                  <a:lnTo>
                    <a:pt x="0" y="208280"/>
                  </a:lnTo>
                  <a:close/>
                </a:path>
                <a:path w="710564" h="328929">
                  <a:moveTo>
                    <a:pt x="0" y="208280"/>
                  </a:moveTo>
                  <a:lnTo>
                    <a:pt x="502030" y="208280"/>
                  </a:lnTo>
                  <a:lnTo>
                    <a:pt x="710184" y="0"/>
                  </a:lnTo>
                </a:path>
                <a:path w="710564" h="328929">
                  <a:moveTo>
                    <a:pt x="502030" y="208280"/>
                  </a:moveTo>
                  <a:lnTo>
                    <a:pt x="502030" y="32893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607575" y="5816184"/>
            <a:ext cx="1397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476358" y="4405937"/>
            <a:ext cx="1397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0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747179" y="4685347"/>
            <a:ext cx="2494280" cy="1235710"/>
            <a:chOff x="747179" y="4685347"/>
            <a:chExt cx="2494280" cy="1235710"/>
          </a:xfrm>
        </p:grpSpPr>
        <p:sp>
          <p:nvSpPr>
            <p:cNvPr id="54" name="object 54"/>
            <p:cNvSpPr/>
            <p:nvPr/>
          </p:nvSpPr>
          <p:spPr>
            <a:xfrm>
              <a:off x="755116" y="4693284"/>
              <a:ext cx="1070610" cy="1219835"/>
            </a:xfrm>
            <a:custGeom>
              <a:avLst/>
              <a:gdLst/>
              <a:ahLst/>
              <a:cxnLst/>
              <a:rect l="l" t="t" r="r" b="b"/>
              <a:pathLst>
                <a:path w="1070610" h="1219835">
                  <a:moveTo>
                    <a:pt x="809015" y="0"/>
                  </a:moveTo>
                  <a:lnTo>
                    <a:pt x="1070381" y="368045"/>
                  </a:lnTo>
                </a:path>
                <a:path w="1070610" h="1219835">
                  <a:moveTo>
                    <a:pt x="296824" y="946391"/>
                  </a:moveTo>
                  <a:lnTo>
                    <a:pt x="0" y="1219796"/>
                  </a:lnTo>
                </a:path>
              </a:pathLst>
            </a:custGeom>
            <a:ln w="15875">
              <a:solidFill>
                <a:srgbClr val="1D9A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783205" y="5128894"/>
              <a:ext cx="452120" cy="162560"/>
            </a:xfrm>
            <a:custGeom>
              <a:avLst/>
              <a:gdLst/>
              <a:ahLst/>
              <a:cxnLst/>
              <a:rect l="l" t="t" r="r" b="b"/>
              <a:pathLst>
                <a:path w="452119" h="162560">
                  <a:moveTo>
                    <a:pt x="370586" y="0"/>
                  </a:moveTo>
                  <a:lnTo>
                    <a:pt x="370586" y="40512"/>
                  </a:lnTo>
                  <a:lnTo>
                    <a:pt x="0" y="40512"/>
                  </a:lnTo>
                  <a:lnTo>
                    <a:pt x="0" y="121538"/>
                  </a:lnTo>
                  <a:lnTo>
                    <a:pt x="370586" y="121538"/>
                  </a:lnTo>
                  <a:lnTo>
                    <a:pt x="370586" y="162051"/>
                  </a:lnTo>
                  <a:lnTo>
                    <a:pt x="451612" y="81025"/>
                  </a:lnTo>
                  <a:lnTo>
                    <a:pt x="370586" y="0"/>
                  </a:lnTo>
                  <a:close/>
                </a:path>
              </a:pathLst>
            </a:custGeom>
            <a:solidFill>
              <a:srgbClr val="1D9A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783205" y="5128894"/>
              <a:ext cx="452120" cy="162560"/>
            </a:xfrm>
            <a:custGeom>
              <a:avLst/>
              <a:gdLst/>
              <a:ahLst/>
              <a:cxnLst/>
              <a:rect l="l" t="t" r="r" b="b"/>
              <a:pathLst>
                <a:path w="452119" h="162560">
                  <a:moveTo>
                    <a:pt x="370586" y="162051"/>
                  </a:moveTo>
                  <a:lnTo>
                    <a:pt x="370586" y="121538"/>
                  </a:lnTo>
                  <a:lnTo>
                    <a:pt x="0" y="121538"/>
                  </a:lnTo>
                  <a:lnTo>
                    <a:pt x="0" y="40512"/>
                  </a:lnTo>
                  <a:lnTo>
                    <a:pt x="370586" y="40512"/>
                  </a:lnTo>
                  <a:lnTo>
                    <a:pt x="370586" y="0"/>
                  </a:lnTo>
                  <a:lnTo>
                    <a:pt x="451612" y="81025"/>
                  </a:lnTo>
                  <a:lnTo>
                    <a:pt x="370586" y="162051"/>
                  </a:lnTo>
                  <a:close/>
                </a:path>
              </a:pathLst>
            </a:custGeom>
            <a:ln w="12700">
              <a:solidFill>
                <a:srgbClr val="126F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/>
          <p:nvPr/>
        </p:nvSpPr>
        <p:spPr>
          <a:xfrm>
            <a:off x="3560445" y="5252211"/>
            <a:ext cx="553720" cy="138430"/>
          </a:xfrm>
          <a:custGeom>
            <a:avLst/>
            <a:gdLst/>
            <a:ahLst/>
            <a:cxnLst/>
            <a:rect l="l" t="t" r="r" b="b"/>
            <a:pathLst>
              <a:path w="553720" h="138429">
                <a:moveTo>
                  <a:pt x="0" y="0"/>
                </a:moveTo>
                <a:lnTo>
                  <a:pt x="553212" y="0"/>
                </a:lnTo>
              </a:path>
              <a:path w="553720" h="138429">
                <a:moveTo>
                  <a:pt x="553212" y="0"/>
                </a:moveTo>
                <a:lnTo>
                  <a:pt x="272795" y="138303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3696318" y="4443402"/>
            <a:ext cx="1397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0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3763390" y="4741290"/>
            <a:ext cx="261620" cy="368300"/>
          </a:xfrm>
          <a:custGeom>
            <a:avLst/>
            <a:gdLst/>
            <a:ahLst/>
            <a:cxnLst/>
            <a:rect l="l" t="t" r="r" b="b"/>
            <a:pathLst>
              <a:path w="261620" h="368300">
                <a:moveTo>
                  <a:pt x="0" y="0"/>
                </a:moveTo>
                <a:lnTo>
                  <a:pt x="261366" y="368045"/>
                </a:lnTo>
              </a:path>
            </a:pathLst>
          </a:custGeom>
          <a:ln w="15875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3218937" y="5403014"/>
            <a:ext cx="1397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3350450" y="5058790"/>
            <a:ext cx="776605" cy="473075"/>
            <a:chOff x="3350450" y="5058790"/>
            <a:chExt cx="776605" cy="473075"/>
          </a:xfrm>
        </p:grpSpPr>
        <p:sp>
          <p:nvSpPr>
            <p:cNvPr id="62" name="object 62"/>
            <p:cNvSpPr/>
            <p:nvPr/>
          </p:nvSpPr>
          <p:spPr>
            <a:xfrm>
              <a:off x="3358388" y="5250306"/>
              <a:ext cx="297180" cy="273685"/>
            </a:xfrm>
            <a:custGeom>
              <a:avLst/>
              <a:gdLst/>
              <a:ahLst/>
              <a:cxnLst/>
              <a:rect l="l" t="t" r="r" b="b"/>
              <a:pathLst>
                <a:path w="297179" h="273685">
                  <a:moveTo>
                    <a:pt x="296799" y="0"/>
                  </a:moveTo>
                  <a:lnTo>
                    <a:pt x="0" y="273431"/>
                  </a:lnTo>
                </a:path>
              </a:pathLst>
            </a:custGeom>
            <a:ln w="15875">
              <a:solidFill>
                <a:srgbClr val="1D9A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560445" y="5068315"/>
              <a:ext cx="556895" cy="140970"/>
            </a:xfrm>
            <a:custGeom>
              <a:avLst/>
              <a:gdLst/>
              <a:ahLst/>
              <a:cxnLst/>
              <a:rect l="l" t="t" r="r" b="b"/>
              <a:pathLst>
                <a:path w="556895" h="140970">
                  <a:moveTo>
                    <a:pt x="556767" y="0"/>
                  </a:moveTo>
                  <a:lnTo>
                    <a:pt x="276351" y="138302"/>
                  </a:lnTo>
                </a:path>
                <a:path w="556895" h="140970">
                  <a:moveTo>
                    <a:pt x="0" y="140842"/>
                  </a:moveTo>
                  <a:lnTo>
                    <a:pt x="553212" y="140842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4" name="object 64"/>
          <p:cNvGrpSpPr/>
          <p:nvPr/>
        </p:nvGrpSpPr>
        <p:grpSpPr>
          <a:xfrm>
            <a:off x="6720458" y="5265292"/>
            <a:ext cx="464184" cy="175260"/>
            <a:chOff x="6720458" y="5265292"/>
            <a:chExt cx="464184" cy="175260"/>
          </a:xfrm>
        </p:grpSpPr>
        <p:sp>
          <p:nvSpPr>
            <p:cNvPr id="65" name="object 65"/>
            <p:cNvSpPr/>
            <p:nvPr/>
          </p:nvSpPr>
          <p:spPr>
            <a:xfrm>
              <a:off x="6726808" y="5271642"/>
              <a:ext cx="451484" cy="162560"/>
            </a:xfrm>
            <a:custGeom>
              <a:avLst/>
              <a:gdLst/>
              <a:ahLst/>
              <a:cxnLst/>
              <a:rect l="l" t="t" r="r" b="b"/>
              <a:pathLst>
                <a:path w="451484" h="162560">
                  <a:moveTo>
                    <a:pt x="370586" y="0"/>
                  </a:moveTo>
                  <a:lnTo>
                    <a:pt x="370586" y="40512"/>
                  </a:lnTo>
                  <a:lnTo>
                    <a:pt x="0" y="40512"/>
                  </a:lnTo>
                  <a:lnTo>
                    <a:pt x="0" y="121538"/>
                  </a:lnTo>
                  <a:lnTo>
                    <a:pt x="370586" y="121538"/>
                  </a:lnTo>
                  <a:lnTo>
                    <a:pt x="370586" y="162051"/>
                  </a:lnTo>
                  <a:lnTo>
                    <a:pt x="451485" y="81025"/>
                  </a:lnTo>
                  <a:lnTo>
                    <a:pt x="370586" y="0"/>
                  </a:lnTo>
                  <a:close/>
                </a:path>
              </a:pathLst>
            </a:custGeom>
            <a:solidFill>
              <a:srgbClr val="1D9A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726808" y="5271642"/>
              <a:ext cx="451484" cy="162560"/>
            </a:xfrm>
            <a:custGeom>
              <a:avLst/>
              <a:gdLst/>
              <a:ahLst/>
              <a:cxnLst/>
              <a:rect l="l" t="t" r="r" b="b"/>
              <a:pathLst>
                <a:path w="451484" h="162560">
                  <a:moveTo>
                    <a:pt x="370586" y="162051"/>
                  </a:moveTo>
                  <a:lnTo>
                    <a:pt x="370586" y="121538"/>
                  </a:lnTo>
                  <a:lnTo>
                    <a:pt x="0" y="121538"/>
                  </a:lnTo>
                  <a:lnTo>
                    <a:pt x="0" y="40512"/>
                  </a:lnTo>
                  <a:lnTo>
                    <a:pt x="370586" y="40512"/>
                  </a:lnTo>
                  <a:lnTo>
                    <a:pt x="370586" y="0"/>
                  </a:lnTo>
                  <a:lnTo>
                    <a:pt x="451485" y="81025"/>
                  </a:lnTo>
                  <a:lnTo>
                    <a:pt x="370586" y="162051"/>
                  </a:lnTo>
                  <a:close/>
                </a:path>
              </a:pathLst>
            </a:custGeom>
            <a:ln w="12699">
              <a:solidFill>
                <a:srgbClr val="126F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7" name="object 67"/>
          <p:cNvGrpSpPr/>
          <p:nvPr/>
        </p:nvGrpSpPr>
        <p:grpSpPr>
          <a:xfrm>
            <a:off x="4912867" y="4541773"/>
            <a:ext cx="1617980" cy="1536065"/>
            <a:chOff x="4912867" y="4541773"/>
            <a:chExt cx="1617980" cy="1536065"/>
          </a:xfrm>
        </p:grpSpPr>
        <p:pic>
          <p:nvPicPr>
            <p:cNvPr id="68" name="object 6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22619" y="4551298"/>
              <a:ext cx="798449" cy="711835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5722619" y="4551298"/>
              <a:ext cx="798830" cy="711835"/>
            </a:xfrm>
            <a:custGeom>
              <a:avLst/>
              <a:gdLst/>
              <a:ahLst/>
              <a:cxnLst/>
              <a:rect l="l" t="t" r="r" b="b"/>
              <a:pathLst>
                <a:path w="798829" h="711835">
                  <a:moveTo>
                    <a:pt x="0" y="490981"/>
                  </a:moveTo>
                  <a:lnTo>
                    <a:pt x="491108" y="0"/>
                  </a:lnTo>
                  <a:lnTo>
                    <a:pt x="798449" y="0"/>
                  </a:lnTo>
                  <a:lnTo>
                    <a:pt x="798449" y="220852"/>
                  </a:lnTo>
                  <a:lnTo>
                    <a:pt x="307466" y="711835"/>
                  </a:lnTo>
                  <a:lnTo>
                    <a:pt x="0" y="711835"/>
                  </a:lnTo>
                  <a:lnTo>
                    <a:pt x="0" y="490981"/>
                  </a:lnTo>
                  <a:close/>
                </a:path>
                <a:path w="798829" h="711835">
                  <a:moveTo>
                    <a:pt x="0" y="490981"/>
                  </a:moveTo>
                  <a:lnTo>
                    <a:pt x="307466" y="490981"/>
                  </a:lnTo>
                  <a:lnTo>
                    <a:pt x="798449" y="0"/>
                  </a:lnTo>
                </a:path>
                <a:path w="798829" h="711835">
                  <a:moveTo>
                    <a:pt x="307466" y="490981"/>
                  </a:moveTo>
                  <a:lnTo>
                    <a:pt x="307466" y="564502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136895" y="4805044"/>
              <a:ext cx="1259966" cy="933145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5136895" y="4805044"/>
              <a:ext cx="1260475" cy="933450"/>
            </a:xfrm>
            <a:custGeom>
              <a:avLst/>
              <a:gdLst/>
              <a:ahLst/>
              <a:cxnLst/>
              <a:rect l="l" t="t" r="r" b="b"/>
              <a:pathLst>
                <a:path w="1260475" h="933450">
                  <a:moveTo>
                    <a:pt x="0" y="310768"/>
                  </a:moveTo>
                  <a:lnTo>
                    <a:pt x="310768" y="0"/>
                  </a:lnTo>
                  <a:lnTo>
                    <a:pt x="1259966" y="0"/>
                  </a:lnTo>
                  <a:lnTo>
                    <a:pt x="1259966" y="622426"/>
                  </a:lnTo>
                  <a:lnTo>
                    <a:pt x="949198" y="933145"/>
                  </a:lnTo>
                  <a:lnTo>
                    <a:pt x="0" y="933145"/>
                  </a:lnTo>
                  <a:lnTo>
                    <a:pt x="0" y="310768"/>
                  </a:lnTo>
                  <a:close/>
                </a:path>
                <a:path w="1260475" h="933450">
                  <a:moveTo>
                    <a:pt x="0" y="310768"/>
                  </a:moveTo>
                  <a:lnTo>
                    <a:pt x="949198" y="310768"/>
                  </a:lnTo>
                  <a:lnTo>
                    <a:pt x="1259966" y="0"/>
                  </a:lnTo>
                </a:path>
                <a:path w="1260475" h="933450">
                  <a:moveTo>
                    <a:pt x="949198" y="310768"/>
                  </a:moveTo>
                  <a:lnTo>
                    <a:pt x="949198" y="933145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922392" y="5355970"/>
              <a:ext cx="798449" cy="711809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4922392" y="5355970"/>
              <a:ext cx="798830" cy="711835"/>
            </a:xfrm>
            <a:custGeom>
              <a:avLst/>
              <a:gdLst/>
              <a:ahLst/>
              <a:cxnLst/>
              <a:rect l="l" t="t" r="r" b="b"/>
              <a:pathLst>
                <a:path w="798829" h="711835">
                  <a:moveTo>
                    <a:pt x="0" y="491007"/>
                  </a:moveTo>
                  <a:lnTo>
                    <a:pt x="490982" y="0"/>
                  </a:lnTo>
                  <a:lnTo>
                    <a:pt x="798449" y="0"/>
                  </a:lnTo>
                  <a:lnTo>
                    <a:pt x="798449" y="220852"/>
                  </a:lnTo>
                  <a:lnTo>
                    <a:pt x="307340" y="711809"/>
                  </a:lnTo>
                  <a:lnTo>
                    <a:pt x="0" y="711809"/>
                  </a:lnTo>
                  <a:lnTo>
                    <a:pt x="0" y="491007"/>
                  </a:lnTo>
                  <a:close/>
                </a:path>
                <a:path w="798829" h="711835">
                  <a:moveTo>
                    <a:pt x="0" y="491007"/>
                  </a:moveTo>
                  <a:lnTo>
                    <a:pt x="307340" y="491007"/>
                  </a:lnTo>
                  <a:lnTo>
                    <a:pt x="798449" y="0"/>
                  </a:lnTo>
                </a:path>
                <a:path w="798829" h="711835">
                  <a:moveTo>
                    <a:pt x="307340" y="491007"/>
                  </a:moveTo>
                  <a:lnTo>
                    <a:pt x="307340" y="711809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157594" y="5535040"/>
              <a:ext cx="261620" cy="368300"/>
            </a:xfrm>
            <a:custGeom>
              <a:avLst/>
              <a:gdLst/>
              <a:ahLst/>
              <a:cxnLst/>
              <a:rect l="l" t="t" r="r" b="b"/>
              <a:pathLst>
                <a:path w="261620" h="368300">
                  <a:moveTo>
                    <a:pt x="0" y="0"/>
                  </a:moveTo>
                  <a:lnTo>
                    <a:pt x="261365" y="367944"/>
                  </a:lnTo>
                </a:path>
              </a:pathLst>
            </a:custGeom>
            <a:ln w="15875">
              <a:solidFill>
                <a:srgbClr val="1D9A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6462505" y="5754893"/>
            <a:ext cx="1397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0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5884798" y="4456176"/>
            <a:ext cx="261620" cy="253365"/>
          </a:xfrm>
          <a:custGeom>
            <a:avLst/>
            <a:gdLst/>
            <a:ahLst/>
            <a:cxnLst/>
            <a:rect l="l" t="t" r="r" b="b"/>
            <a:pathLst>
              <a:path w="261620" h="253364">
                <a:moveTo>
                  <a:pt x="0" y="0"/>
                </a:moveTo>
                <a:lnTo>
                  <a:pt x="261365" y="253365"/>
                </a:lnTo>
              </a:path>
            </a:pathLst>
          </a:custGeom>
          <a:ln w="15875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5737981" y="4242996"/>
            <a:ext cx="1397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7632382" y="4143692"/>
            <a:ext cx="1080135" cy="705485"/>
            <a:chOff x="7632382" y="4143692"/>
            <a:chExt cx="1080135" cy="705485"/>
          </a:xfrm>
        </p:grpSpPr>
        <p:sp>
          <p:nvSpPr>
            <p:cNvPr id="79" name="object 79"/>
            <p:cNvSpPr/>
            <p:nvPr/>
          </p:nvSpPr>
          <p:spPr>
            <a:xfrm>
              <a:off x="7790814" y="4473981"/>
              <a:ext cx="921385" cy="162560"/>
            </a:xfrm>
            <a:custGeom>
              <a:avLst/>
              <a:gdLst/>
              <a:ahLst/>
              <a:cxnLst/>
              <a:rect l="l" t="t" r="r" b="b"/>
              <a:pathLst>
                <a:path w="921384" h="162560">
                  <a:moveTo>
                    <a:pt x="0" y="92430"/>
                  </a:moveTo>
                  <a:lnTo>
                    <a:pt x="237235" y="92430"/>
                  </a:lnTo>
                </a:path>
                <a:path w="921384" h="162560">
                  <a:moveTo>
                    <a:pt x="705230" y="92430"/>
                  </a:moveTo>
                  <a:lnTo>
                    <a:pt x="921257" y="92430"/>
                  </a:lnTo>
                </a:path>
                <a:path w="921384" h="162560">
                  <a:moveTo>
                    <a:pt x="237235" y="162026"/>
                  </a:moveTo>
                  <a:lnTo>
                    <a:pt x="705230" y="162026"/>
                  </a:lnTo>
                  <a:lnTo>
                    <a:pt x="705230" y="0"/>
                  </a:lnTo>
                  <a:lnTo>
                    <a:pt x="237235" y="0"/>
                  </a:lnTo>
                  <a:lnTo>
                    <a:pt x="237235" y="162026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7640319" y="4151629"/>
              <a:ext cx="931544" cy="689610"/>
            </a:xfrm>
            <a:custGeom>
              <a:avLst/>
              <a:gdLst/>
              <a:ahLst/>
              <a:cxnLst/>
              <a:rect l="l" t="t" r="r" b="b"/>
              <a:pathLst>
                <a:path w="931545" h="689610">
                  <a:moveTo>
                    <a:pt x="296799" y="416179"/>
                  </a:moveTo>
                  <a:lnTo>
                    <a:pt x="0" y="689610"/>
                  </a:lnTo>
                </a:path>
                <a:path w="931545" h="689610">
                  <a:moveTo>
                    <a:pt x="931418" y="0"/>
                  </a:moveTo>
                  <a:lnTo>
                    <a:pt x="644525" y="325120"/>
                  </a:lnTo>
                </a:path>
              </a:pathLst>
            </a:custGeom>
            <a:ln w="15875">
              <a:solidFill>
                <a:srgbClr val="1D9A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8621632" y="3960675"/>
            <a:ext cx="1397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0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493121" y="4710356"/>
            <a:ext cx="1397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7654861" y="4912614"/>
            <a:ext cx="970915" cy="489584"/>
            <a:chOff x="7654861" y="4912614"/>
            <a:chExt cx="970915" cy="489584"/>
          </a:xfrm>
        </p:grpSpPr>
        <p:sp>
          <p:nvSpPr>
            <p:cNvPr id="84" name="object 84"/>
            <p:cNvSpPr/>
            <p:nvPr/>
          </p:nvSpPr>
          <p:spPr>
            <a:xfrm>
              <a:off x="7704073" y="4912614"/>
              <a:ext cx="921385" cy="395605"/>
            </a:xfrm>
            <a:custGeom>
              <a:avLst/>
              <a:gdLst/>
              <a:ahLst/>
              <a:cxnLst/>
              <a:rect l="l" t="t" r="r" b="b"/>
              <a:pathLst>
                <a:path w="921384" h="395604">
                  <a:moveTo>
                    <a:pt x="0" y="346837"/>
                  </a:moveTo>
                  <a:lnTo>
                    <a:pt x="921257" y="346837"/>
                  </a:lnTo>
                </a:path>
                <a:path w="921384" h="395604">
                  <a:moveTo>
                    <a:pt x="226568" y="395605"/>
                  </a:moveTo>
                  <a:lnTo>
                    <a:pt x="766572" y="395605"/>
                  </a:lnTo>
                </a:path>
                <a:path w="921384" h="395604">
                  <a:moveTo>
                    <a:pt x="226568" y="289687"/>
                  </a:moveTo>
                  <a:lnTo>
                    <a:pt x="766572" y="289687"/>
                  </a:lnTo>
                </a:path>
                <a:path w="921384" h="395604">
                  <a:moveTo>
                    <a:pt x="483361" y="288036"/>
                  </a:moveTo>
                  <a:lnTo>
                    <a:pt x="483361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662798" y="4960112"/>
              <a:ext cx="735965" cy="433705"/>
            </a:xfrm>
            <a:custGeom>
              <a:avLst/>
              <a:gdLst/>
              <a:ahLst/>
              <a:cxnLst/>
              <a:rect l="l" t="t" r="r" b="b"/>
              <a:pathLst>
                <a:path w="735965" h="433704">
                  <a:moveTo>
                    <a:pt x="735837" y="0"/>
                  </a:moveTo>
                  <a:lnTo>
                    <a:pt x="541654" y="140207"/>
                  </a:lnTo>
                </a:path>
                <a:path w="735965" h="433704">
                  <a:moveTo>
                    <a:pt x="194182" y="293497"/>
                  </a:moveTo>
                  <a:lnTo>
                    <a:pt x="0" y="433704"/>
                  </a:lnTo>
                </a:path>
              </a:pathLst>
            </a:custGeom>
            <a:ln w="15875">
              <a:solidFill>
                <a:srgbClr val="1D9A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8448150" y="4757981"/>
            <a:ext cx="1397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0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7508488" y="5251122"/>
            <a:ext cx="1397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88" name="object 88"/>
          <p:cNvGrpSpPr/>
          <p:nvPr/>
        </p:nvGrpSpPr>
        <p:grpSpPr>
          <a:xfrm>
            <a:off x="7630286" y="5866600"/>
            <a:ext cx="883285" cy="387985"/>
            <a:chOff x="7630286" y="5866600"/>
            <a:chExt cx="883285" cy="387985"/>
          </a:xfrm>
        </p:grpSpPr>
        <p:sp>
          <p:nvSpPr>
            <p:cNvPr id="89" name="object 89"/>
            <p:cNvSpPr/>
            <p:nvPr/>
          </p:nvSpPr>
          <p:spPr>
            <a:xfrm>
              <a:off x="7837804" y="5886221"/>
              <a:ext cx="467995" cy="162560"/>
            </a:xfrm>
            <a:custGeom>
              <a:avLst/>
              <a:gdLst/>
              <a:ahLst/>
              <a:cxnLst/>
              <a:rect l="l" t="t" r="r" b="b"/>
              <a:pathLst>
                <a:path w="467995" h="162560">
                  <a:moveTo>
                    <a:pt x="0" y="162026"/>
                  </a:moveTo>
                  <a:lnTo>
                    <a:pt x="467995" y="162026"/>
                  </a:lnTo>
                  <a:lnTo>
                    <a:pt x="467995" y="0"/>
                  </a:lnTo>
                  <a:lnTo>
                    <a:pt x="0" y="0"/>
                  </a:lnTo>
                  <a:lnTo>
                    <a:pt x="0" y="162026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7838312" y="5872950"/>
              <a:ext cx="471170" cy="177800"/>
            </a:xfrm>
            <a:custGeom>
              <a:avLst/>
              <a:gdLst/>
              <a:ahLst/>
              <a:cxnLst/>
              <a:rect l="l" t="t" r="r" b="b"/>
              <a:pathLst>
                <a:path w="471170" h="177800">
                  <a:moveTo>
                    <a:pt x="467740" y="0"/>
                  </a:moveTo>
                  <a:lnTo>
                    <a:pt x="235584" y="83578"/>
                  </a:lnTo>
                  <a:lnTo>
                    <a:pt x="3301" y="0"/>
                  </a:lnTo>
                  <a:lnTo>
                    <a:pt x="0" y="9245"/>
                  </a:lnTo>
                  <a:lnTo>
                    <a:pt x="220979" y="88811"/>
                  </a:lnTo>
                  <a:lnTo>
                    <a:pt x="0" y="168363"/>
                  </a:lnTo>
                  <a:lnTo>
                    <a:pt x="3301" y="177622"/>
                  </a:lnTo>
                  <a:lnTo>
                    <a:pt x="235584" y="94030"/>
                  </a:lnTo>
                  <a:lnTo>
                    <a:pt x="467740" y="177622"/>
                  </a:lnTo>
                  <a:lnTo>
                    <a:pt x="471042" y="168363"/>
                  </a:lnTo>
                  <a:lnTo>
                    <a:pt x="250062" y="88811"/>
                  </a:lnTo>
                  <a:lnTo>
                    <a:pt x="471042" y="9245"/>
                  </a:lnTo>
                  <a:lnTo>
                    <a:pt x="467740" y="0"/>
                  </a:lnTo>
                  <a:close/>
                </a:path>
              </a:pathLst>
            </a:custGeom>
            <a:solidFill>
              <a:srgbClr val="1D9A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7838312" y="5872950"/>
              <a:ext cx="471170" cy="177800"/>
            </a:xfrm>
            <a:custGeom>
              <a:avLst/>
              <a:gdLst/>
              <a:ahLst/>
              <a:cxnLst/>
              <a:rect l="l" t="t" r="r" b="b"/>
              <a:pathLst>
                <a:path w="471170" h="177800">
                  <a:moveTo>
                    <a:pt x="0" y="9245"/>
                  </a:moveTo>
                  <a:lnTo>
                    <a:pt x="3301" y="0"/>
                  </a:lnTo>
                  <a:lnTo>
                    <a:pt x="235584" y="83578"/>
                  </a:lnTo>
                  <a:lnTo>
                    <a:pt x="467740" y="0"/>
                  </a:lnTo>
                  <a:lnTo>
                    <a:pt x="471042" y="9245"/>
                  </a:lnTo>
                  <a:lnTo>
                    <a:pt x="250062" y="88811"/>
                  </a:lnTo>
                  <a:lnTo>
                    <a:pt x="471042" y="168363"/>
                  </a:lnTo>
                  <a:lnTo>
                    <a:pt x="467740" y="177622"/>
                  </a:lnTo>
                  <a:lnTo>
                    <a:pt x="235584" y="94030"/>
                  </a:lnTo>
                  <a:lnTo>
                    <a:pt x="3301" y="177622"/>
                  </a:lnTo>
                  <a:lnTo>
                    <a:pt x="0" y="168363"/>
                  </a:lnTo>
                  <a:lnTo>
                    <a:pt x="220979" y="88811"/>
                  </a:lnTo>
                  <a:lnTo>
                    <a:pt x="0" y="924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7639811" y="5886234"/>
              <a:ext cx="864235" cy="156845"/>
            </a:xfrm>
            <a:custGeom>
              <a:avLst/>
              <a:gdLst/>
              <a:ahLst/>
              <a:cxnLst/>
              <a:rect l="l" t="t" r="r" b="b"/>
              <a:pathLst>
                <a:path w="864234" h="156845">
                  <a:moveTo>
                    <a:pt x="127" y="0"/>
                  </a:moveTo>
                  <a:lnTo>
                    <a:pt x="864108" y="0"/>
                  </a:lnTo>
                </a:path>
                <a:path w="864234" h="156845">
                  <a:moveTo>
                    <a:pt x="0" y="156349"/>
                  </a:moveTo>
                  <a:lnTo>
                    <a:pt x="863981" y="156349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7657718" y="5972708"/>
              <a:ext cx="297180" cy="273685"/>
            </a:xfrm>
            <a:custGeom>
              <a:avLst/>
              <a:gdLst/>
              <a:ahLst/>
              <a:cxnLst/>
              <a:rect l="l" t="t" r="r" b="b"/>
              <a:pathLst>
                <a:path w="297179" h="273685">
                  <a:moveTo>
                    <a:pt x="296799" y="0"/>
                  </a:moveTo>
                  <a:lnTo>
                    <a:pt x="0" y="273392"/>
                  </a:lnTo>
                </a:path>
              </a:pathLst>
            </a:custGeom>
            <a:ln w="15875">
              <a:solidFill>
                <a:srgbClr val="1D9A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4" name="object 94"/>
          <p:cNvSpPr txBox="1"/>
          <p:nvPr/>
        </p:nvSpPr>
        <p:spPr>
          <a:xfrm>
            <a:off x="7510520" y="6115192"/>
            <a:ext cx="1397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8435340" y="5748299"/>
            <a:ext cx="194310" cy="140335"/>
          </a:xfrm>
          <a:custGeom>
            <a:avLst/>
            <a:gdLst/>
            <a:ahLst/>
            <a:cxnLst/>
            <a:rect l="l" t="t" r="r" b="b"/>
            <a:pathLst>
              <a:path w="194309" h="140335">
                <a:moveTo>
                  <a:pt x="194182" y="0"/>
                </a:moveTo>
                <a:lnTo>
                  <a:pt x="0" y="140119"/>
                </a:lnTo>
              </a:path>
            </a:pathLst>
          </a:custGeom>
          <a:ln w="15875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 txBox="1"/>
          <p:nvPr/>
        </p:nvSpPr>
        <p:spPr>
          <a:xfrm>
            <a:off x="8679036" y="5546092"/>
            <a:ext cx="1397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0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7294371" y="4409185"/>
            <a:ext cx="230504" cy="1972310"/>
          </a:xfrm>
          <a:custGeom>
            <a:avLst/>
            <a:gdLst/>
            <a:ahLst/>
            <a:cxnLst/>
            <a:rect l="l" t="t" r="r" b="b"/>
            <a:pathLst>
              <a:path w="230504" h="1972310">
                <a:moveTo>
                  <a:pt x="229997" y="1972144"/>
                </a:moveTo>
                <a:lnTo>
                  <a:pt x="185229" y="1964171"/>
                </a:lnTo>
                <a:lnTo>
                  <a:pt x="148653" y="1942426"/>
                </a:lnTo>
                <a:lnTo>
                  <a:pt x="123983" y="1910176"/>
                </a:lnTo>
                <a:lnTo>
                  <a:pt x="114934" y="1870684"/>
                </a:lnTo>
                <a:lnTo>
                  <a:pt x="114934" y="1087501"/>
                </a:lnTo>
                <a:lnTo>
                  <a:pt x="105906" y="1048017"/>
                </a:lnTo>
                <a:lnTo>
                  <a:pt x="81279" y="1015761"/>
                </a:lnTo>
                <a:lnTo>
                  <a:pt x="44747" y="994007"/>
                </a:lnTo>
                <a:lnTo>
                  <a:pt x="0" y="986027"/>
                </a:lnTo>
                <a:lnTo>
                  <a:pt x="44747" y="978066"/>
                </a:lnTo>
                <a:lnTo>
                  <a:pt x="81279" y="956341"/>
                </a:lnTo>
                <a:lnTo>
                  <a:pt x="105906" y="924091"/>
                </a:lnTo>
                <a:lnTo>
                  <a:pt x="114934" y="884554"/>
                </a:lnTo>
                <a:lnTo>
                  <a:pt x="114934" y="101472"/>
                </a:lnTo>
                <a:lnTo>
                  <a:pt x="123983" y="61989"/>
                </a:lnTo>
                <a:lnTo>
                  <a:pt x="148653" y="29733"/>
                </a:lnTo>
                <a:lnTo>
                  <a:pt x="185229" y="7979"/>
                </a:lnTo>
                <a:lnTo>
                  <a:pt x="229997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 txBox="1"/>
          <p:nvPr/>
        </p:nvSpPr>
        <p:spPr>
          <a:xfrm>
            <a:off x="8728329" y="120522"/>
            <a:ext cx="297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1.11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217728" y="120522"/>
            <a:ext cx="314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NHH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40" dirty="0"/>
              <a:t> </a:t>
            </a:r>
            <a:r>
              <a:rPr dirty="0"/>
              <a:t>1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TÍCH</a:t>
            </a:r>
            <a:r>
              <a:rPr spc="-60" dirty="0"/>
              <a:t> </a:t>
            </a:r>
            <a:r>
              <a:rPr dirty="0"/>
              <a:t>CẤU</a:t>
            </a:r>
            <a:r>
              <a:rPr spc="-70" dirty="0"/>
              <a:t> </a:t>
            </a:r>
            <a:r>
              <a:rPr dirty="0"/>
              <a:t>TRÚC</a:t>
            </a:r>
            <a:r>
              <a:rPr spc="-55" dirty="0"/>
              <a:t> </a:t>
            </a:r>
            <a:r>
              <a:rPr dirty="0"/>
              <a:t>CƠ</a:t>
            </a:r>
            <a:r>
              <a:rPr spc="-50" dirty="0"/>
              <a:t> </a:t>
            </a:r>
            <a:r>
              <a:rPr spc="-25" dirty="0"/>
              <a:t>CẤU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0200" y="520953"/>
            <a:ext cx="4364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1.2.</a:t>
            </a:r>
            <a:r>
              <a:rPr sz="18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Các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khái</a:t>
            </a:r>
            <a:r>
              <a:rPr sz="18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niệm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và</a:t>
            </a:r>
            <a:r>
              <a:rPr sz="1800" b="1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định</a:t>
            </a:r>
            <a:r>
              <a:rPr sz="18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nghĩa</a:t>
            </a:r>
            <a:r>
              <a:rPr sz="18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cơ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bản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0200" y="911097"/>
            <a:ext cx="2888615" cy="744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1.2.5.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Lược</a:t>
            </a:r>
            <a:r>
              <a:rPr sz="1800" b="1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đồ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khâu,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khớp</a:t>
            </a:r>
            <a:endParaRPr sz="18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1340"/>
              </a:spcBef>
              <a:buClr>
                <a:srgbClr val="1D9A78"/>
              </a:buClr>
              <a:buSzPct val="63888"/>
              <a:buFont typeface="Wingdings"/>
              <a:buChar char=""/>
              <a:tabLst>
                <a:tab pos="299085" algn="l"/>
              </a:tabLst>
            </a:pPr>
            <a:r>
              <a:rPr sz="1800" b="1" i="1" dirty="0">
                <a:latin typeface="Arial"/>
                <a:cs typeface="Arial"/>
              </a:rPr>
              <a:t>Lược</a:t>
            </a:r>
            <a:r>
              <a:rPr sz="1800" b="1" i="1" spc="-3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đồ</a:t>
            </a:r>
            <a:r>
              <a:rPr sz="1800" b="1" i="1" spc="-40" dirty="0">
                <a:latin typeface="Arial"/>
                <a:cs typeface="Arial"/>
              </a:rPr>
              <a:t> </a:t>
            </a:r>
            <a:r>
              <a:rPr sz="1800" b="1" i="1" spc="-20" dirty="0">
                <a:latin typeface="Arial"/>
                <a:cs typeface="Arial"/>
              </a:rPr>
              <a:t>khớp: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3023107" y="2401633"/>
            <a:ext cx="1104265" cy="388620"/>
            <a:chOff x="3023107" y="2401633"/>
            <a:chExt cx="1104265" cy="388620"/>
          </a:xfrm>
        </p:grpSpPr>
        <p:sp>
          <p:nvSpPr>
            <p:cNvPr id="7" name="object 7"/>
            <p:cNvSpPr/>
            <p:nvPr/>
          </p:nvSpPr>
          <p:spPr>
            <a:xfrm>
              <a:off x="3456463" y="2420681"/>
              <a:ext cx="290195" cy="358775"/>
            </a:xfrm>
            <a:custGeom>
              <a:avLst/>
              <a:gdLst/>
              <a:ahLst/>
              <a:cxnLst/>
              <a:rect l="l" t="t" r="r" b="b"/>
              <a:pathLst>
                <a:path w="290195" h="358775">
                  <a:moveTo>
                    <a:pt x="289655" y="321375"/>
                  </a:moveTo>
                  <a:lnTo>
                    <a:pt x="247986" y="345830"/>
                  </a:lnTo>
                  <a:lnTo>
                    <a:pt x="202937" y="358054"/>
                  </a:lnTo>
                  <a:lnTo>
                    <a:pt x="156908" y="358347"/>
                  </a:lnTo>
                  <a:lnTo>
                    <a:pt x="112297" y="347010"/>
                  </a:lnTo>
                  <a:lnTo>
                    <a:pt x="71503" y="324341"/>
                  </a:lnTo>
                  <a:lnTo>
                    <a:pt x="36925" y="290641"/>
                  </a:lnTo>
                  <a:lnTo>
                    <a:pt x="12514" y="249016"/>
                  </a:lnTo>
                  <a:lnTo>
                    <a:pt x="302" y="203979"/>
                  </a:lnTo>
                  <a:lnTo>
                    <a:pt x="0" y="157941"/>
                  </a:lnTo>
                  <a:lnTo>
                    <a:pt x="11318" y="113311"/>
                  </a:lnTo>
                  <a:lnTo>
                    <a:pt x="33967" y="72497"/>
                  </a:lnTo>
                  <a:lnTo>
                    <a:pt x="67659" y="37911"/>
                  </a:lnTo>
                  <a:lnTo>
                    <a:pt x="105443" y="15221"/>
                  </a:lnTo>
                  <a:lnTo>
                    <a:pt x="146665" y="2548"/>
                  </a:lnTo>
                  <a:lnTo>
                    <a:pt x="189429" y="0"/>
                  </a:lnTo>
                  <a:lnTo>
                    <a:pt x="231840" y="7687"/>
                  </a:lnTo>
                  <a:lnTo>
                    <a:pt x="272002" y="25719"/>
                  </a:lnTo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509136" y="2474340"/>
              <a:ext cx="252095" cy="252095"/>
            </a:xfrm>
            <a:custGeom>
              <a:avLst/>
              <a:gdLst/>
              <a:ahLst/>
              <a:cxnLst/>
              <a:rect l="l" t="t" r="r" b="b"/>
              <a:pathLst>
                <a:path w="252095" h="252094">
                  <a:moveTo>
                    <a:pt x="0" y="125984"/>
                  </a:moveTo>
                  <a:lnTo>
                    <a:pt x="9898" y="76938"/>
                  </a:lnTo>
                  <a:lnTo>
                    <a:pt x="36893" y="36893"/>
                  </a:lnTo>
                  <a:lnTo>
                    <a:pt x="76938" y="9898"/>
                  </a:lnTo>
                  <a:lnTo>
                    <a:pt x="125984" y="0"/>
                  </a:lnTo>
                  <a:lnTo>
                    <a:pt x="175029" y="9898"/>
                  </a:lnTo>
                  <a:lnTo>
                    <a:pt x="215074" y="36893"/>
                  </a:lnTo>
                  <a:lnTo>
                    <a:pt x="242069" y="76938"/>
                  </a:lnTo>
                  <a:lnTo>
                    <a:pt x="251967" y="125984"/>
                  </a:lnTo>
                  <a:lnTo>
                    <a:pt x="242069" y="175029"/>
                  </a:lnTo>
                  <a:lnTo>
                    <a:pt x="215074" y="215074"/>
                  </a:lnTo>
                  <a:lnTo>
                    <a:pt x="175029" y="242069"/>
                  </a:lnTo>
                  <a:lnTo>
                    <a:pt x="125984" y="251968"/>
                  </a:lnTo>
                  <a:lnTo>
                    <a:pt x="76938" y="242069"/>
                  </a:lnTo>
                  <a:lnTo>
                    <a:pt x="36893" y="215074"/>
                  </a:lnTo>
                  <a:lnTo>
                    <a:pt x="9898" y="175029"/>
                  </a:lnTo>
                  <a:lnTo>
                    <a:pt x="0" y="12598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23107" y="2412745"/>
              <a:ext cx="1054735" cy="187960"/>
            </a:xfrm>
            <a:custGeom>
              <a:avLst/>
              <a:gdLst/>
              <a:ahLst/>
              <a:cxnLst/>
              <a:rect l="l" t="t" r="r" b="b"/>
              <a:pathLst>
                <a:path w="1054735" h="187960">
                  <a:moveTo>
                    <a:pt x="432054" y="187578"/>
                  </a:moveTo>
                  <a:lnTo>
                    <a:pt x="0" y="187578"/>
                  </a:lnTo>
                </a:path>
                <a:path w="1054735" h="187960">
                  <a:moveTo>
                    <a:pt x="1054734" y="0"/>
                  </a:moveTo>
                  <a:lnTo>
                    <a:pt x="735965" y="162559"/>
                  </a:lnTo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95116" y="2497835"/>
              <a:ext cx="1024255" cy="282575"/>
            </a:xfrm>
            <a:custGeom>
              <a:avLst/>
              <a:gdLst/>
              <a:ahLst/>
              <a:cxnLst/>
              <a:rect l="l" t="t" r="r" b="b"/>
              <a:pathLst>
                <a:path w="1024254" h="282575">
                  <a:moveTo>
                    <a:pt x="144018" y="102488"/>
                  </a:moveTo>
                  <a:lnTo>
                    <a:pt x="0" y="282575"/>
                  </a:lnTo>
                </a:path>
                <a:path w="1024254" h="282575">
                  <a:moveTo>
                    <a:pt x="812799" y="0"/>
                  </a:moveTo>
                  <a:lnTo>
                    <a:pt x="1024000" y="192531"/>
                  </a:lnTo>
                </a:path>
              </a:pathLst>
            </a:custGeom>
            <a:ln w="15875">
              <a:solidFill>
                <a:srgbClr val="1D9A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004048" y="2717525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14637" y="2499593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51523" y="1820608"/>
            <a:ext cx="1993264" cy="1181100"/>
            <a:chOff x="251523" y="1820608"/>
            <a:chExt cx="1993264" cy="1181100"/>
          </a:xfrm>
        </p:grpSpPr>
        <p:sp>
          <p:nvSpPr>
            <p:cNvPr id="14" name="object 14"/>
            <p:cNvSpPr/>
            <p:nvPr/>
          </p:nvSpPr>
          <p:spPr>
            <a:xfrm>
              <a:off x="251523" y="2344292"/>
              <a:ext cx="643255" cy="133350"/>
            </a:xfrm>
            <a:custGeom>
              <a:avLst/>
              <a:gdLst/>
              <a:ahLst/>
              <a:cxnLst/>
              <a:rect l="l" t="t" r="r" b="b"/>
              <a:pathLst>
                <a:path w="643255" h="133350">
                  <a:moveTo>
                    <a:pt x="576059" y="0"/>
                  </a:moveTo>
                  <a:lnTo>
                    <a:pt x="550109" y="5238"/>
                  </a:lnTo>
                  <a:lnTo>
                    <a:pt x="528915" y="19526"/>
                  </a:lnTo>
                  <a:lnTo>
                    <a:pt x="514624" y="40719"/>
                  </a:lnTo>
                  <a:lnTo>
                    <a:pt x="509384" y="66675"/>
                  </a:lnTo>
                  <a:lnTo>
                    <a:pt x="514624" y="92577"/>
                  </a:lnTo>
                  <a:lnTo>
                    <a:pt x="528915" y="113776"/>
                  </a:lnTo>
                  <a:lnTo>
                    <a:pt x="550109" y="128093"/>
                  </a:lnTo>
                  <a:lnTo>
                    <a:pt x="576059" y="133350"/>
                  </a:lnTo>
                  <a:lnTo>
                    <a:pt x="602014" y="128093"/>
                  </a:lnTo>
                  <a:lnTo>
                    <a:pt x="623208" y="113776"/>
                  </a:lnTo>
                  <a:lnTo>
                    <a:pt x="637495" y="92577"/>
                  </a:lnTo>
                  <a:lnTo>
                    <a:pt x="638239" y="88900"/>
                  </a:lnTo>
                  <a:lnTo>
                    <a:pt x="576059" y="88900"/>
                  </a:lnTo>
                  <a:lnTo>
                    <a:pt x="576059" y="44450"/>
                  </a:lnTo>
                  <a:lnTo>
                    <a:pt x="638248" y="44450"/>
                  </a:lnTo>
                  <a:lnTo>
                    <a:pt x="637495" y="40719"/>
                  </a:lnTo>
                  <a:lnTo>
                    <a:pt x="623208" y="19526"/>
                  </a:lnTo>
                  <a:lnTo>
                    <a:pt x="602014" y="5238"/>
                  </a:lnTo>
                  <a:lnTo>
                    <a:pt x="576059" y="0"/>
                  </a:lnTo>
                  <a:close/>
                </a:path>
                <a:path w="643255" h="133350">
                  <a:moveTo>
                    <a:pt x="513871" y="44450"/>
                  </a:moveTo>
                  <a:lnTo>
                    <a:pt x="0" y="44450"/>
                  </a:lnTo>
                  <a:lnTo>
                    <a:pt x="0" y="88900"/>
                  </a:lnTo>
                  <a:lnTo>
                    <a:pt x="513880" y="88900"/>
                  </a:lnTo>
                  <a:lnTo>
                    <a:pt x="509384" y="66675"/>
                  </a:lnTo>
                  <a:lnTo>
                    <a:pt x="513871" y="44450"/>
                  </a:lnTo>
                  <a:close/>
                </a:path>
                <a:path w="643255" h="133350">
                  <a:moveTo>
                    <a:pt x="638248" y="44450"/>
                  </a:moveTo>
                  <a:lnTo>
                    <a:pt x="576059" y="44450"/>
                  </a:lnTo>
                  <a:lnTo>
                    <a:pt x="576059" y="88900"/>
                  </a:lnTo>
                  <a:lnTo>
                    <a:pt x="638239" y="88900"/>
                  </a:lnTo>
                  <a:lnTo>
                    <a:pt x="642734" y="66675"/>
                  </a:lnTo>
                  <a:lnTo>
                    <a:pt x="638248" y="444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7582" y="1834895"/>
              <a:ext cx="1152093" cy="115201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27582" y="1834895"/>
              <a:ext cx="1152525" cy="1152525"/>
            </a:xfrm>
            <a:custGeom>
              <a:avLst/>
              <a:gdLst/>
              <a:ahLst/>
              <a:cxnLst/>
              <a:rect l="l" t="t" r="r" b="b"/>
              <a:pathLst>
                <a:path w="1152525" h="1152525">
                  <a:moveTo>
                    <a:pt x="0" y="576071"/>
                  </a:moveTo>
                  <a:lnTo>
                    <a:pt x="1909" y="528810"/>
                  </a:lnTo>
                  <a:lnTo>
                    <a:pt x="7539" y="482604"/>
                  </a:lnTo>
                  <a:lnTo>
                    <a:pt x="16741" y="437600"/>
                  </a:lnTo>
                  <a:lnTo>
                    <a:pt x="29367" y="393947"/>
                  </a:lnTo>
                  <a:lnTo>
                    <a:pt x="45269" y="351793"/>
                  </a:lnTo>
                  <a:lnTo>
                    <a:pt x="64297" y="311286"/>
                  </a:lnTo>
                  <a:lnTo>
                    <a:pt x="86305" y="272574"/>
                  </a:lnTo>
                  <a:lnTo>
                    <a:pt x="111143" y="235805"/>
                  </a:lnTo>
                  <a:lnTo>
                    <a:pt x="138664" y="201127"/>
                  </a:lnTo>
                  <a:lnTo>
                    <a:pt x="168719" y="168687"/>
                  </a:lnTo>
                  <a:lnTo>
                    <a:pt x="201160" y="138635"/>
                  </a:lnTo>
                  <a:lnTo>
                    <a:pt x="235838" y="111117"/>
                  </a:lnTo>
                  <a:lnTo>
                    <a:pt x="272605" y="86283"/>
                  </a:lnTo>
                  <a:lnTo>
                    <a:pt x="311314" y="64280"/>
                  </a:lnTo>
                  <a:lnTo>
                    <a:pt x="351815" y="45255"/>
                  </a:lnTo>
                  <a:lnTo>
                    <a:pt x="393960" y="29358"/>
                  </a:lnTo>
                  <a:lnTo>
                    <a:pt x="437602" y="16736"/>
                  </a:lnTo>
                  <a:lnTo>
                    <a:pt x="482591" y="7536"/>
                  </a:lnTo>
                  <a:lnTo>
                    <a:pt x="528780" y="1908"/>
                  </a:lnTo>
                  <a:lnTo>
                    <a:pt x="576021" y="0"/>
                  </a:lnTo>
                  <a:lnTo>
                    <a:pt x="623265" y="1908"/>
                  </a:lnTo>
                  <a:lnTo>
                    <a:pt x="669458" y="7536"/>
                  </a:lnTo>
                  <a:lnTo>
                    <a:pt x="714451" y="16736"/>
                  </a:lnTo>
                  <a:lnTo>
                    <a:pt x="758096" y="29358"/>
                  </a:lnTo>
                  <a:lnTo>
                    <a:pt x="800245" y="45255"/>
                  </a:lnTo>
                  <a:lnTo>
                    <a:pt x="840750" y="64280"/>
                  </a:lnTo>
                  <a:lnTo>
                    <a:pt x="879462" y="86283"/>
                  </a:lnTo>
                  <a:lnTo>
                    <a:pt x="916232" y="111117"/>
                  </a:lnTo>
                  <a:lnTo>
                    <a:pt x="950914" y="138635"/>
                  </a:lnTo>
                  <a:lnTo>
                    <a:pt x="983357" y="168687"/>
                  </a:lnTo>
                  <a:lnTo>
                    <a:pt x="1013415" y="201127"/>
                  </a:lnTo>
                  <a:lnTo>
                    <a:pt x="1040938" y="235805"/>
                  </a:lnTo>
                  <a:lnTo>
                    <a:pt x="1065779" y="272574"/>
                  </a:lnTo>
                  <a:lnTo>
                    <a:pt x="1087789" y="311286"/>
                  </a:lnTo>
                  <a:lnTo>
                    <a:pt x="1106819" y="351793"/>
                  </a:lnTo>
                  <a:lnTo>
                    <a:pt x="1122722" y="393947"/>
                  </a:lnTo>
                  <a:lnTo>
                    <a:pt x="1135349" y="437600"/>
                  </a:lnTo>
                  <a:lnTo>
                    <a:pt x="1144552" y="482604"/>
                  </a:lnTo>
                  <a:lnTo>
                    <a:pt x="1150183" y="528810"/>
                  </a:lnTo>
                  <a:lnTo>
                    <a:pt x="1152093" y="576071"/>
                  </a:lnTo>
                  <a:lnTo>
                    <a:pt x="1150183" y="623315"/>
                  </a:lnTo>
                  <a:lnTo>
                    <a:pt x="1144552" y="669505"/>
                  </a:lnTo>
                  <a:lnTo>
                    <a:pt x="1135349" y="714494"/>
                  </a:lnTo>
                  <a:lnTo>
                    <a:pt x="1122722" y="758134"/>
                  </a:lnTo>
                  <a:lnTo>
                    <a:pt x="1106819" y="800276"/>
                  </a:lnTo>
                  <a:lnTo>
                    <a:pt x="1087789" y="840773"/>
                  </a:lnTo>
                  <a:lnTo>
                    <a:pt x="1065779" y="879477"/>
                  </a:lnTo>
                  <a:lnTo>
                    <a:pt x="1040938" y="916238"/>
                  </a:lnTo>
                  <a:lnTo>
                    <a:pt x="1013415" y="950910"/>
                  </a:lnTo>
                  <a:lnTo>
                    <a:pt x="983357" y="983345"/>
                  </a:lnTo>
                  <a:lnTo>
                    <a:pt x="950914" y="1013393"/>
                  </a:lnTo>
                  <a:lnTo>
                    <a:pt x="916232" y="1040907"/>
                  </a:lnTo>
                  <a:lnTo>
                    <a:pt x="879462" y="1065738"/>
                  </a:lnTo>
                  <a:lnTo>
                    <a:pt x="840750" y="1087740"/>
                  </a:lnTo>
                  <a:lnTo>
                    <a:pt x="800245" y="1106763"/>
                  </a:lnTo>
                  <a:lnTo>
                    <a:pt x="758096" y="1122659"/>
                  </a:lnTo>
                  <a:lnTo>
                    <a:pt x="714451" y="1135281"/>
                  </a:lnTo>
                  <a:lnTo>
                    <a:pt x="669458" y="1144480"/>
                  </a:lnTo>
                  <a:lnTo>
                    <a:pt x="623265" y="1150108"/>
                  </a:lnTo>
                  <a:lnTo>
                    <a:pt x="576021" y="1152016"/>
                  </a:lnTo>
                  <a:lnTo>
                    <a:pt x="528780" y="1150108"/>
                  </a:lnTo>
                  <a:lnTo>
                    <a:pt x="482591" y="1144480"/>
                  </a:lnTo>
                  <a:lnTo>
                    <a:pt x="437602" y="1135281"/>
                  </a:lnTo>
                  <a:lnTo>
                    <a:pt x="393960" y="1122659"/>
                  </a:lnTo>
                  <a:lnTo>
                    <a:pt x="351815" y="1106763"/>
                  </a:lnTo>
                  <a:lnTo>
                    <a:pt x="311314" y="1087740"/>
                  </a:lnTo>
                  <a:lnTo>
                    <a:pt x="272605" y="1065738"/>
                  </a:lnTo>
                  <a:lnTo>
                    <a:pt x="235838" y="1040907"/>
                  </a:lnTo>
                  <a:lnTo>
                    <a:pt x="201160" y="1013393"/>
                  </a:lnTo>
                  <a:lnTo>
                    <a:pt x="168719" y="983345"/>
                  </a:lnTo>
                  <a:lnTo>
                    <a:pt x="138664" y="950910"/>
                  </a:lnTo>
                  <a:lnTo>
                    <a:pt x="111143" y="916238"/>
                  </a:lnTo>
                  <a:lnTo>
                    <a:pt x="86305" y="879477"/>
                  </a:lnTo>
                  <a:lnTo>
                    <a:pt x="64297" y="840773"/>
                  </a:lnTo>
                  <a:lnTo>
                    <a:pt x="45269" y="800276"/>
                  </a:lnTo>
                  <a:lnTo>
                    <a:pt x="29367" y="758134"/>
                  </a:lnTo>
                  <a:lnTo>
                    <a:pt x="16741" y="714494"/>
                  </a:lnTo>
                  <a:lnTo>
                    <a:pt x="7539" y="669505"/>
                  </a:lnTo>
                  <a:lnTo>
                    <a:pt x="1909" y="623315"/>
                  </a:lnTo>
                  <a:lnTo>
                    <a:pt x="0" y="576071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19630" y="1834781"/>
              <a:ext cx="432434" cy="1152525"/>
            </a:xfrm>
            <a:custGeom>
              <a:avLst/>
              <a:gdLst/>
              <a:ahLst/>
              <a:cxnLst/>
              <a:rect l="l" t="t" r="r" b="b"/>
              <a:pathLst>
                <a:path w="432435" h="1152525">
                  <a:moveTo>
                    <a:pt x="432054" y="0"/>
                  </a:moveTo>
                  <a:lnTo>
                    <a:pt x="0" y="0"/>
                  </a:lnTo>
                  <a:lnTo>
                    <a:pt x="0" y="1152131"/>
                  </a:lnTo>
                  <a:lnTo>
                    <a:pt x="432054" y="1152131"/>
                  </a:lnTo>
                  <a:lnTo>
                    <a:pt x="4320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19630" y="1834781"/>
              <a:ext cx="432434" cy="1152525"/>
            </a:xfrm>
            <a:custGeom>
              <a:avLst/>
              <a:gdLst/>
              <a:ahLst/>
              <a:cxnLst/>
              <a:rect l="l" t="t" r="r" b="b"/>
              <a:pathLst>
                <a:path w="432435" h="1152525">
                  <a:moveTo>
                    <a:pt x="0" y="1152131"/>
                  </a:moveTo>
                  <a:lnTo>
                    <a:pt x="432054" y="1152131"/>
                  </a:lnTo>
                  <a:lnTo>
                    <a:pt x="432054" y="0"/>
                  </a:lnTo>
                  <a:lnTo>
                    <a:pt x="0" y="0"/>
                  </a:lnTo>
                  <a:lnTo>
                    <a:pt x="0" y="1152131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651384" y="1917699"/>
              <a:ext cx="593725" cy="344170"/>
            </a:xfrm>
            <a:custGeom>
              <a:avLst/>
              <a:gdLst/>
              <a:ahLst/>
              <a:cxnLst/>
              <a:rect l="l" t="t" r="r" b="b"/>
              <a:pathLst>
                <a:path w="593725" h="344169">
                  <a:moveTo>
                    <a:pt x="62422" y="210625"/>
                  </a:moveTo>
                  <a:lnTo>
                    <a:pt x="36826" y="217550"/>
                  </a:lnTo>
                  <a:lnTo>
                    <a:pt x="15962" y="233789"/>
                  </a:lnTo>
                  <a:lnTo>
                    <a:pt x="3361" y="256016"/>
                  </a:lnTo>
                  <a:lnTo>
                    <a:pt x="0" y="281362"/>
                  </a:lnTo>
                  <a:lnTo>
                    <a:pt x="6854" y="306959"/>
                  </a:lnTo>
                  <a:lnTo>
                    <a:pt x="23163" y="327822"/>
                  </a:lnTo>
                  <a:lnTo>
                    <a:pt x="45414" y="340423"/>
                  </a:lnTo>
                  <a:lnTo>
                    <a:pt x="70737" y="343785"/>
                  </a:lnTo>
                  <a:lnTo>
                    <a:pt x="96262" y="336930"/>
                  </a:lnTo>
                  <a:lnTo>
                    <a:pt x="117197" y="320621"/>
                  </a:lnTo>
                  <a:lnTo>
                    <a:pt x="129821" y="298370"/>
                  </a:lnTo>
                  <a:lnTo>
                    <a:pt x="129995" y="297052"/>
                  </a:lnTo>
                  <a:lnTo>
                    <a:pt x="76450" y="297052"/>
                  </a:lnTo>
                  <a:lnTo>
                    <a:pt x="56638" y="257301"/>
                  </a:lnTo>
                  <a:lnTo>
                    <a:pt x="112316" y="229579"/>
                  </a:lnTo>
                  <a:lnTo>
                    <a:pt x="109995" y="226587"/>
                  </a:lnTo>
                  <a:lnTo>
                    <a:pt x="87768" y="213963"/>
                  </a:lnTo>
                  <a:lnTo>
                    <a:pt x="62422" y="210625"/>
                  </a:lnTo>
                  <a:close/>
                </a:path>
                <a:path w="593725" h="344169">
                  <a:moveTo>
                    <a:pt x="112316" y="229579"/>
                  </a:moveTo>
                  <a:lnTo>
                    <a:pt x="56638" y="257301"/>
                  </a:lnTo>
                  <a:lnTo>
                    <a:pt x="76450" y="297052"/>
                  </a:lnTo>
                  <a:lnTo>
                    <a:pt x="132148" y="269320"/>
                  </a:lnTo>
                  <a:lnTo>
                    <a:pt x="126234" y="247523"/>
                  </a:lnTo>
                  <a:lnTo>
                    <a:pt x="112316" y="229579"/>
                  </a:lnTo>
                  <a:close/>
                </a:path>
                <a:path w="593725" h="344169">
                  <a:moveTo>
                    <a:pt x="132148" y="269320"/>
                  </a:moveTo>
                  <a:lnTo>
                    <a:pt x="76450" y="297052"/>
                  </a:lnTo>
                  <a:lnTo>
                    <a:pt x="129995" y="297052"/>
                  </a:lnTo>
                  <a:lnTo>
                    <a:pt x="133159" y="273048"/>
                  </a:lnTo>
                  <a:lnTo>
                    <a:pt x="132148" y="269320"/>
                  </a:lnTo>
                  <a:close/>
                </a:path>
                <a:path w="593725" h="344169">
                  <a:moveTo>
                    <a:pt x="573401" y="0"/>
                  </a:moveTo>
                  <a:lnTo>
                    <a:pt x="112316" y="229579"/>
                  </a:lnTo>
                  <a:lnTo>
                    <a:pt x="126234" y="247523"/>
                  </a:lnTo>
                  <a:lnTo>
                    <a:pt x="132148" y="269320"/>
                  </a:lnTo>
                  <a:lnTo>
                    <a:pt x="593213" y="39750"/>
                  </a:lnTo>
                  <a:lnTo>
                    <a:pt x="5734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2598" y="2060574"/>
              <a:ext cx="720039" cy="70065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082598" y="1858898"/>
              <a:ext cx="720090" cy="1102995"/>
            </a:xfrm>
            <a:custGeom>
              <a:avLst/>
              <a:gdLst/>
              <a:ahLst/>
              <a:cxnLst/>
              <a:rect l="l" t="t" r="r" b="b"/>
              <a:pathLst>
                <a:path w="720089" h="1102995">
                  <a:moveTo>
                    <a:pt x="0" y="552068"/>
                  </a:moveTo>
                  <a:lnTo>
                    <a:pt x="3286" y="504516"/>
                  </a:lnTo>
                  <a:lnTo>
                    <a:pt x="12860" y="458909"/>
                  </a:lnTo>
                  <a:lnTo>
                    <a:pt x="28292" y="415667"/>
                  </a:lnTo>
                  <a:lnTo>
                    <a:pt x="49152" y="375205"/>
                  </a:lnTo>
                  <a:lnTo>
                    <a:pt x="75013" y="337940"/>
                  </a:lnTo>
                  <a:lnTo>
                    <a:pt x="105444" y="304292"/>
                  </a:lnTo>
                  <a:lnTo>
                    <a:pt x="140018" y="274675"/>
                  </a:lnTo>
                  <a:lnTo>
                    <a:pt x="178304" y="249507"/>
                  </a:lnTo>
                  <a:lnTo>
                    <a:pt x="219873" y="229207"/>
                  </a:lnTo>
                  <a:lnTo>
                    <a:pt x="264298" y="214190"/>
                  </a:lnTo>
                  <a:lnTo>
                    <a:pt x="311147" y="204874"/>
                  </a:lnTo>
                  <a:lnTo>
                    <a:pt x="359994" y="201675"/>
                  </a:lnTo>
                  <a:lnTo>
                    <a:pt x="408857" y="204874"/>
                  </a:lnTo>
                  <a:lnTo>
                    <a:pt x="455720" y="214190"/>
                  </a:lnTo>
                  <a:lnTo>
                    <a:pt x="500154" y="229207"/>
                  </a:lnTo>
                  <a:lnTo>
                    <a:pt x="541731" y="249507"/>
                  </a:lnTo>
                  <a:lnTo>
                    <a:pt x="580021" y="274675"/>
                  </a:lnTo>
                  <a:lnTo>
                    <a:pt x="614597" y="304291"/>
                  </a:lnTo>
                  <a:lnTo>
                    <a:pt x="645029" y="337940"/>
                  </a:lnTo>
                  <a:lnTo>
                    <a:pt x="670890" y="375205"/>
                  </a:lnTo>
                  <a:lnTo>
                    <a:pt x="691749" y="415667"/>
                  </a:lnTo>
                  <a:lnTo>
                    <a:pt x="707180" y="458909"/>
                  </a:lnTo>
                  <a:lnTo>
                    <a:pt x="716753" y="504516"/>
                  </a:lnTo>
                  <a:lnTo>
                    <a:pt x="720039" y="552068"/>
                  </a:lnTo>
                  <a:lnTo>
                    <a:pt x="716753" y="599592"/>
                  </a:lnTo>
                  <a:lnTo>
                    <a:pt x="707180" y="645174"/>
                  </a:lnTo>
                  <a:lnTo>
                    <a:pt x="691749" y="688397"/>
                  </a:lnTo>
                  <a:lnTo>
                    <a:pt x="670890" y="728843"/>
                  </a:lnTo>
                  <a:lnTo>
                    <a:pt x="645029" y="766095"/>
                  </a:lnTo>
                  <a:lnTo>
                    <a:pt x="614597" y="799734"/>
                  </a:lnTo>
                  <a:lnTo>
                    <a:pt x="580021" y="829344"/>
                  </a:lnTo>
                  <a:lnTo>
                    <a:pt x="541731" y="854507"/>
                  </a:lnTo>
                  <a:lnTo>
                    <a:pt x="500154" y="874805"/>
                  </a:lnTo>
                  <a:lnTo>
                    <a:pt x="455720" y="889821"/>
                  </a:lnTo>
                  <a:lnTo>
                    <a:pt x="408857" y="899136"/>
                  </a:lnTo>
                  <a:lnTo>
                    <a:pt x="359994" y="902335"/>
                  </a:lnTo>
                  <a:lnTo>
                    <a:pt x="311147" y="899136"/>
                  </a:lnTo>
                  <a:lnTo>
                    <a:pt x="264298" y="889821"/>
                  </a:lnTo>
                  <a:lnTo>
                    <a:pt x="219873" y="874805"/>
                  </a:lnTo>
                  <a:lnTo>
                    <a:pt x="178304" y="854507"/>
                  </a:lnTo>
                  <a:lnTo>
                    <a:pt x="140018" y="829344"/>
                  </a:lnTo>
                  <a:lnTo>
                    <a:pt x="105444" y="799734"/>
                  </a:lnTo>
                  <a:lnTo>
                    <a:pt x="75013" y="766095"/>
                  </a:lnTo>
                  <a:lnTo>
                    <a:pt x="49152" y="728843"/>
                  </a:lnTo>
                  <a:lnTo>
                    <a:pt x="28292" y="688397"/>
                  </a:lnTo>
                  <a:lnTo>
                    <a:pt x="12860" y="645174"/>
                  </a:lnTo>
                  <a:lnTo>
                    <a:pt x="3286" y="599592"/>
                  </a:lnTo>
                  <a:lnTo>
                    <a:pt x="0" y="552068"/>
                  </a:lnTo>
                  <a:close/>
                </a:path>
                <a:path w="720089" h="1102995">
                  <a:moveTo>
                    <a:pt x="521792" y="0"/>
                  </a:moveTo>
                  <a:lnTo>
                    <a:pt x="521792" y="251967"/>
                  </a:lnTo>
                </a:path>
                <a:path w="720089" h="1102995">
                  <a:moveTo>
                    <a:pt x="524332" y="850646"/>
                  </a:moveTo>
                  <a:lnTo>
                    <a:pt x="524332" y="1102614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160108" y="2216637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15036" y="2092705"/>
            <a:ext cx="1760220" cy="498475"/>
          </a:xfrm>
          <a:custGeom>
            <a:avLst/>
            <a:gdLst/>
            <a:ahLst/>
            <a:cxnLst/>
            <a:rect l="l" t="t" r="r" b="b"/>
            <a:pathLst>
              <a:path w="1760220" h="498475">
                <a:moveTo>
                  <a:pt x="1548891" y="0"/>
                </a:moveTo>
                <a:lnTo>
                  <a:pt x="1760093" y="192532"/>
                </a:lnTo>
              </a:path>
              <a:path w="1760220" h="498475">
                <a:moveTo>
                  <a:pt x="144005" y="318262"/>
                </a:moveTo>
                <a:lnTo>
                  <a:pt x="0" y="498221"/>
                </a:lnTo>
              </a:path>
            </a:pathLst>
          </a:custGeom>
          <a:ln w="15875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30774" y="2544043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437638" y="2492629"/>
            <a:ext cx="464820" cy="175260"/>
            <a:chOff x="2437638" y="2492629"/>
            <a:chExt cx="464820" cy="175260"/>
          </a:xfrm>
        </p:grpSpPr>
        <p:sp>
          <p:nvSpPr>
            <p:cNvPr id="26" name="object 26"/>
            <p:cNvSpPr/>
            <p:nvPr/>
          </p:nvSpPr>
          <p:spPr>
            <a:xfrm>
              <a:off x="2443988" y="2498979"/>
              <a:ext cx="452120" cy="162560"/>
            </a:xfrm>
            <a:custGeom>
              <a:avLst/>
              <a:gdLst/>
              <a:ahLst/>
              <a:cxnLst/>
              <a:rect l="l" t="t" r="r" b="b"/>
              <a:pathLst>
                <a:path w="452119" h="162560">
                  <a:moveTo>
                    <a:pt x="370586" y="0"/>
                  </a:moveTo>
                  <a:lnTo>
                    <a:pt x="370586" y="40512"/>
                  </a:lnTo>
                  <a:lnTo>
                    <a:pt x="0" y="40512"/>
                  </a:lnTo>
                  <a:lnTo>
                    <a:pt x="0" y="121538"/>
                  </a:lnTo>
                  <a:lnTo>
                    <a:pt x="370586" y="121538"/>
                  </a:lnTo>
                  <a:lnTo>
                    <a:pt x="370586" y="162051"/>
                  </a:lnTo>
                  <a:lnTo>
                    <a:pt x="451612" y="81025"/>
                  </a:lnTo>
                  <a:lnTo>
                    <a:pt x="370586" y="0"/>
                  </a:lnTo>
                  <a:close/>
                </a:path>
              </a:pathLst>
            </a:custGeom>
            <a:solidFill>
              <a:srgbClr val="1D9A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443988" y="2498979"/>
              <a:ext cx="452120" cy="162560"/>
            </a:xfrm>
            <a:custGeom>
              <a:avLst/>
              <a:gdLst/>
              <a:ahLst/>
              <a:cxnLst/>
              <a:rect l="l" t="t" r="r" b="b"/>
              <a:pathLst>
                <a:path w="452119" h="162560">
                  <a:moveTo>
                    <a:pt x="370586" y="162051"/>
                  </a:moveTo>
                  <a:lnTo>
                    <a:pt x="370586" y="121538"/>
                  </a:lnTo>
                  <a:lnTo>
                    <a:pt x="0" y="121538"/>
                  </a:lnTo>
                  <a:lnTo>
                    <a:pt x="0" y="40512"/>
                  </a:lnTo>
                  <a:lnTo>
                    <a:pt x="370586" y="40512"/>
                  </a:lnTo>
                  <a:lnTo>
                    <a:pt x="370586" y="0"/>
                  </a:lnTo>
                  <a:lnTo>
                    <a:pt x="451612" y="81025"/>
                  </a:lnTo>
                  <a:lnTo>
                    <a:pt x="370586" y="162051"/>
                  </a:lnTo>
                  <a:close/>
                </a:path>
              </a:pathLst>
            </a:custGeom>
            <a:ln w="12700">
              <a:solidFill>
                <a:srgbClr val="126F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4820920" y="1527175"/>
            <a:ext cx="2049145" cy="1350010"/>
            <a:chOff x="4820920" y="1527175"/>
            <a:chExt cx="2049145" cy="1350010"/>
          </a:xfrm>
        </p:grpSpPr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59705" y="1543050"/>
              <a:ext cx="1175346" cy="1318133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259705" y="1543050"/>
              <a:ext cx="1175385" cy="1318260"/>
            </a:xfrm>
            <a:custGeom>
              <a:avLst/>
              <a:gdLst/>
              <a:ahLst/>
              <a:cxnLst/>
              <a:rect l="l" t="t" r="r" b="b"/>
              <a:pathLst>
                <a:path w="1175385" h="1318260">
                  <a:moveTo>
                    <a:pt x="0" y="1318133"/>
                  </a:moveTo>
                  <a:lnTo>
                    <a:pt x="1175346" y="1318133"/>
                  </a:lnTo>
                  <a:lnTo>
                    <a:pt x="1175346" y="0"/>
                  </a:lnTo>
                  <a:lnTo>
                    <a:pt x="0" y="0"/>
                  </a:lnTo>
                  <a:lnTo>
                    <a:pt x="0" y="1318133"/>
                  </a:lnTo>
                  <a:close/>
                </a:path>
              </a:pathLst>
            </a:custGeom>
            <a:ln w="31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36795" y="1828279"/>
              <a:ext cx="2017395" cy="72467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836795" y="1828279"/>
              <a:ext cx="2017395" cy="725170"/>
            </a:xfrm>
            <a:custGeom>
              <a:avLst/>
              <a:gdLst/>
              <a:ahLst/>
              <a:cxnLst/>
              <a:rect l="l" t="t" r="r" b="b"/>
              <a:pathLst>
                <a:path w="2017395" h="725169">
                  <a:moveTo>
                    <a:pt x="0" y="724674"/>
                  </a:moveTo>
                  <a:lnTo>
                    <a:pt x="2017395" y="724674"/>
                  </a:lnTo>
                  <a:lnTo>
                    <a:pt x="2017395" y="0"/>
                  </a:lnTo>
                  <a:lnTo>
                    <a:pt x="0" y="0"/>
                  </a:lnTo>
                  <a:lnTo>
                    <a:pt x="0" y="724674"/>
                  </a:lnTo>
                  <a:close/>
                </a:path>
              </a:pathLst>
            </a:custGeom>
            <a:ln w="31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796754" y="2683997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913629" y="1464944"/>
            <a:ext cx="355600" cy="1268095"/>
          </a:xfrm>
          <a:custGeom>
            <a:avLst/>
            <a:gdLst/>
            <a:ahLst/>
            <a:cxnLst/>
            <a:rect l="l" t="t" r="r" b="b"/>
            <a:pathLst>
              <a:path w="355600" h="1268095">
                <a:moveTo>
                  <a:pt x="144018" y="0"/>
                </a:moveTo>
                <a:lnTo>
                  <a:pt x="355219" y="192531"/>
                </a:lnTo>
              </a:path>
              <a:path w="355600" h="1268095">
                <a:moveTo>
                  <a:pt x="144018" y="1088008"/>
                </a:moveTo>
                <a:lnTo>
                  <a:pt x="0" y="1267967"/>
                </a:lnTo>
              </a:path>
            </a:pathLst>
          </a:custGeom>
          <a:ln w="15875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4880600" y="1245341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8023288" y="1201483"/>
            <a:ext cx="523875" cy="520700"/>
            <a:chOff x="8023288" y="1201483"/>
            <a:chExt cx="523875" cy="520700"/>
          </a:xfrm>
        </p:grpSpPr>
        <p:sp>
          <p:nvSpPr>
            <p:cNvPr id="37" name="object 37"/>
            <p:cNvSpPr/>
            <p:nvPr/>
          </p:nvSpPr>
          <p:spPr>
            <a:xfrm>
              <a:off x="8037576" y="1455674"/>
              <a:ext cx="252095" cy="252095"/>
            </a:xfrm>
            <a:custGeom>
              <a:avLst/>
              <a:gdLst/>
              <a:ahLst/>
              <a:cxnLst/>
              <a:rect l="l" t="t" r="r" b="b"/>
              <a:pathLst>
                <a:path w="252095" h="252094">
                  <a:moveTo>
                    <a:pt x="0" y="125984"/>
                  </a:moveTo>
                  <a:lnTo>
                    <a:pt x="9898" y="76938"/>
                  </a:lnTo>
                  <a:lnTo>
                    <a:pt x="36893" y="36893"/>
                  </a:lnTo>
                  <a:lnTo>
                    <a:pt x="76938" y="9898"/>
                  </a:lnTo>
                  <a:lnTo>
                    <a:pt x="125983" y="0"/>
                  </a:lnTo>
                  <a:lnTo>
                    <a:pt x="175029" y="9898"/>
                  </a:lnTo>
                  <a:lnTo>
                    <a:pt x="215074" y="36893"/>
                  </a:lnTo>
                  <a:lnTo>
                    <a:pt x="242069" y="76938"/>
                  </a:lnTo>
                  <a:lnTo>
                    <a:pt x="251968" y="125984"/>
                  </a:lnTo>
                  <a:lnTo>
                    <a:pt x="242069" y="175029"/>
                  </a:lnTo>
                  <a:lnTo>
                    <a:pt x="215074" y="215074"/>
                  </a:lnTo>
                  <a:lnTo>
                    <a:pt x="175029" y="242069"/>
                  </a:lnTo>
                  <a:lnTo>
                    <a:pt x="125983" y="251967"/>
                  </a:lnTo>
                  <a:lnTo>
                    <a:pt x="76938" y="242069"/>
                  </a:lnTo>
                  <a:lnTo>
                    <a:pt x="36893" y="215074"/>
                  </a:lnTo>
                  <a:lnTo>
                    <a:pt x="9898" y="175029"/>
                  </a:lnTo>
                  <a:lnTo>
                    <a:pt x="0" y="125984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68119" y="1495615"/>
              <a:ext cx="172593" cy="172593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8252587" y="1308227"/>
              <a:ext cx="280035" cy="184785"/>
            </a:xfrm>
            <a:custGeom>
              <a:avLst/>
              <a:gdLst/>
              <a:ahLst/>
              <a:cxnLst/>
              <a:rect l="l" t="t" r="r" b="b"/>
              <a:pathLst>
                <a:path w="280034" h="184784">
                  <a:moveTo>
                    <a:pt x="0" y="184276"/>
                  </a:moveTo>
                  <a:lnTo>
                    <a:pt x="279908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147050" y="1209421"/>
              <a:ext cx="211454" cy="193040"/>
            </a:xfrm>
            <a:custGeom>
              <a:avLst/>
              <a:gdLst/>
              <a:ahLst/>
              <a:cxnLst/>
              <a:rect l="l" t="t" r="r" b="b"/>
              <a:pathLst>
                <a:path w="211454" h="193040">
                  <a:moveTo>
                    <a:pt x="0" y="0"/>
                  </a:moveTo>
                  <a:lnTo>
                    <a:pt x="211200" y="192531"/>
                  </a:lnTo>
                </a:path>
              </a:pathLst>
            </a:custGeom>
            <a:ln w="15875">
              <a:solidFill>
                <a:srgbClr val="1D9A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7970001" y="989817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448130" y="1616308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8199755" y="1584578"/>
            <a:ext cx="211454" cy="192405"/>
          </a:xfrm>
          <a:custGeom>
            <a:avLst/>
            <a:gdLst/>
            <a:ahLst/>
            <a:cxnLst/>
            <a:rect l="l" t="t" r="r" b="b"/>
            <a:pathLst>
              <a:path w="211454" h="192405">
                <a:moveTo>
                  <a:pt x="0" y="0"/>
                </a:moveTo>
                <a:lnTo>
                  <a:pt x="211200" y="192405"/>
                </a:lnTo>
              </a:path>
            </a:pathLst>
          </a:custGeom>
          <a:ln w="15875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4" name="object 44"/>
          <p:cNvGrpSpPr/>
          <p:nvPr/>
        </p:nvGrpSpPr>
        <p:grpSpPr>
          <a:xfrm>
            <a:off x="7798752" y="1912937"/>
            <a:ext cx="929005" cy="443865"/>
            <a:chOff x="7798752" y="1912937"/>
            <a:chExt cx="929005" cy="443865"/>
          </a:xfrm>
        </p:grpSpPr>
        <p:sp>
          <p:nvSpPr>
            <p:cNvPr id="45" name="object 45"/>
            <p:cNvSpPr/>
            <p:nvPr/>
          </p:nvSpPr>
          <p:spPr>
            <a:xfrm>
              <a:off x="7813040" y="1971293"/>
              <a:ext cx="900430" cy="371475"/>
            </a:xfrm>
            <a:custGeom>
              <a:avLst/>
              <a:gdLst/>
              <a:ahLst/>
              <a:cxnLst/>
              <a:rect l="l" t="t" r="r" b="b"/>
              <a:pathLst>
                <a:path w="900429" h="371475">
                  <a:moveTo>
                    <a:pt x="155448" y="227075"/>
                  </a:moveTo>
                  <a:lnTo>
                    <a:pt x="684021" y="227075"/>
                  </a:lnTo>
                </a:path>
                <a:path w="900429" h="371475">
                  <a:moveTo>
                    <a:pt x="0" y="299084"/>
                  </a:moveTo>
                  <a:lnTo>
                    <a:pt x="900049" y="299084"/>
                  </a:lnTo>
                </a:path>
                <a:path w="900429" h="371475">
                  <a:moveTo>
                    <a:pt x="155448" y="371093"/>
                  </a:moveTo>
                  <a:lnTo>
                    <a:pt x="684021" y="371093"/>
                  </a:lnTo>
                </a:path>
                <a:path w="900429" h="371475">
                  <a:moveTo>
                    <a:pt x="419734" y="232028"/>
                  </a:moveTo>
                  <a:lnTo>
                    <a:pt x="693038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127238" y="1920875"/>
              <a:ext cx="211454" cy="193040"/>
            </a:xfrm>
            <a:custGeom>
              <a:avLst/>
              <a:gdLst/>
              <a:ahLst/>
              <a:cxnLst/>
              <a:rect l="l" t="t" r="r" b="b"/>
              <a:pathLst>
                <a:path w="211454" h="193039">
                  <a:moveTo>
                    <a:pt x="0" y="0"/>
                  </a:moveTo>
                  <a:lnTo>
                    <a:pt x="211200" y="192532"/>
                  </a:lnTo>
                </a:path>
              </a:pathLst>
            </a:custGeom>
            <a:ln w="15875">
              <a:solidFill>
                <a:srgbClr val="1D9A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7950189" y="1701398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7798117" y="2262949"/>
            <a:ext cx="965200" cy="847090"/>
            <a:chOff x="7798117" y="2262949"/>
            <a:chExt cx="965200" cy="847090"/>
          </a:xfrm>
        </p:grpSpPr>
        <p:sp>
          <p:nvSpPr>
            <p:cNvPr id="49" name="object 49"/>
            <p:cNvSpPr/>
            <p:nvPr/>
          </p:nvSpPr>
          <p:spPr>
            <a:xfrm>
              <a:off x="8495792" y="2270886"/>
              <a:ext cx="211454" cy="193040"/>
            </a:xfrm>
            <a:custGeom>
              <a:avLst/>
              <a:gdLst/>
              <a:ahLst/>
              <a:cxnLst/>
              <a:rect l="l" t="t" r="r" b="b"/>
              <a:pathLst>
                <a:path w="211454" h="193039">
                  <a:moveTo>
                    <a:pt x="0" y="0"/>
                  </a:moveTo>
                  <a:lnTo>
                    <a:pt x="211200" y="192532"/>
                  </a:lnTo>
                </a:path>
              </a:pathLst>
            </a:custGeom>
            <a:ln w="15875">
              <a:solidFill>
                <a:srgbClr val="1D9A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812405" y="2903880"/>
              <a:ext cx="936625" cy="191770"/>
            </a:xfrm>
            <a:custGeom>
              <a:avLst/>
              <a:gdLst/>
              <a:ahLst/>
              <a:cxnLst/>
              <a:rect l="l" t="t" r="r" b="b"/>
              <a:pathLst>
                <a:path w="936625" h="191769">
                  <a:moveTo>
                    <a:pt x="198120" y="191363"/>
                  </a:moveTo>
                  <a:lnTo>
                    <a:pt x="747788" y="191363"/>
                  </a:lnTo>
                  <a:lnTo>
                    <a:pt x="747788" y="0"/>
                  </a:lnTo>
                  <a:lnTo>
                    <a:pt x="198120" y="0"/>
                  </a:lnTo>
                  <a:lnTo>
                    <a:pt x="198120" y="191363"/>
                  </a:lnTo>
                  <a:close/>
                </a:path>
                <a:path w="936625" h="191769">
                  <a:moveTo>
                    <a:pt x="0" y="89001"/>
                  </a:moveTo>
                  <a:lnTo>
                    <a:pt x="936117" y="89001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8181340" y="2710433"/>
              <a:ext cx="211454" cy="193040"/>
            </a:xfrm>
            <a:custGeom>
              <a:avLst/>
              <a:gdLst/>
              <a:ahLst/>
              <a:cxnLst/>
              <a:rect l="l" t="t" r="r" b="b"/>
              <a:pathLst>
                <a:path w="211454" h="193039">
                  <a:moveTo>
                    <a:pt x="0" y="0"/>
                  </a:moveTo>
                  <a:lnTo>
                    <a:pt x="211074" y="192531"/>
                  </a:lnTo>
                </a:path>
              </a:pathLst>
            </a:custGeom>
            <a:ln w="15875">
              <a:solidFill>
                <a:srgbClr val="1D9A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8752803" y="2366243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004292" y="2490830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8337550" y="2990342"/>
            <a:ext cx="211454" cy="193040"/>
          </a:xfrm>
          <a:custGeom>
            <a:avLst/>
            <a:gdLst/>
            <a:ahLst/>
            <a:cxnLst/>
            <a:rect l="l" t="t" r="r" b="b"/>
            <a:pathLst>
              <a:path w="211454" h="193039">
                <a:moveTo>
                  <a:pt x="0" y="0"/>
                </a:moveTo>
                <a:lnTo>
                  <a:pt x="211200" y="192532"/>
                </a:lnTo>
              </a:path>
            </a:pathLst>
          </a:custGeom>
          <a:ln w="15875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8550619" y="3073761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7596378" y="1348994"/>
            <a:ext cx="230504" cy="1828800"/>
          </a:xfrm>
          <a:custGeom>
            <a:avLst/>
            <a:gdLst/>
            <a:ahLst/>
            <a:cxnLst/>
            <a:rect l="l" t="t" r="r" b="b"/>
            <a:pathLst>
              <a:path w="230504" h="1828800">
                <a:moveTo>
                  <a:pt x="229997" y="1828291"/>
                </a:moveTo>
                <a:lnTo>
                  <a:pt x="185229" y="1820332"/>
                </a:lnTo>
                <a:lnTo>
                  <a:pt x="148653" y="1798621"/>
                </a:lnTo>
                <a:lnTo>
                  <a:pt x="123983" y="1766409"/>
                </a:lnTo>
                <a:lnTo>
                  <a:pt x="114935" y="1726945"/>
                </a:lnTo>
                <a:lnTo>
                  <a:pt x="114935" y="1015618"/>
                </a:lnTo>
                <a:lnTo>
                  <a:pt x="105906" y="976135"/>
                </a:lnTo>
                <a:lnTo>
                  <a:pt x="81280" y="943879"/>
                </a:lnTo>
                <a:lnTo>
                  <a:pt x="44747" y="922125"/>
                </a:lnTo>
                <a:lnTo>
                  <a:pt x="0" y="914145"/>
                </a:lnTo>
                <a:lnTo>
                  <a:pt x="44747" y="906184"/>
                </a:lnTo>
                <a:lnTo>
                  <a:pt x="81279" y="884459"/>
                </a:lnTo>
                <a:lnTo>
                  <a:pt x="105906" y="852209"/>
                </a:lnTo>
                <a:lnTo>
                  <a:pt x="114935" y="812672"/>
                </a:lnTo>
                <a:lnTo>
                  <a:pt x="114935" y="101472"/>
                </a:lnTo>
                <a:lnTo>
                  <a:pt x="123983" y="61989"/>
                </a:lnTo>
                <a:lnTo>
                  <a:pt x="148653" y="29733"/>
                </a:lnTo>
                <a:lnTo>
                  <a:pt x="185229" y="7979"/>
                </a:lnTo>
                <a:lnTo>
                  <a:pt x="229997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7" name="object 57"/>
          <p:cNvGrpSpPr/>
          <p:nvPr/>
        </p:nvGrpSpPr>
        <p:grpSpPr>
          <a:xfrm>
            <a:off x="6941946" y="2162429"/>
            <a:ext cx="464184" cy="174625"/>
            <a:chOff x="6941946" y="2162429"/>
            <a:chExt cx="464184" cy="174625"/>
          </a:xfrm>
        </p:grpSpPr>
        <p:sp>
          <p:nvSpPr>
            <p:cNvPr id="58" name="object 58"/>
            <p:cNvSpPr/>
            <p:nvPr/>
          </p:nvSpPr>
          <p:spPr>
            <a:xfrm>
              <a:off x="6948296" y="2168779"/>
              <a:ext cx="451484" cy="161925"/>
            </a:xfrm>
            <a:custGeom>
              <a:avLst/>
              <a:gdLst/>
              <a:ahLst/>
              <a:cxnLst/>
              <a:rect l="l" t="t" r="r" b="b"/>
              <a:pathLst>
                <a:path w="451484" h="161925">
                  <a:moveTo>
                    <a:pt x="370458" y="0"/>
                  </a:moveTo>
                  <a:lnTo>
                    <a:pt x="370458" y="40512"/>
                  </a:lnTo>
                  <a:lnTo>
                    <a:pt x="0" y="40512"/>
                  </a:lnTo>
                  <a:lnTo>
                    <a:pt x="0" y="121412"/>
                  </a:lnTo>
                  <a:lnTo>
                    <a:pt x="370458" y="121412"/>
                  </a:lnTo>
                  <a:lnTo>
                    <a:pt x="370458" y="161925"/>
                  </a:lnTo>
                  <a:lnTo>
                    <a:pt x="451484" y="81025"/>
                  </a:lnTo>
                  <a:lnTo>
                    <a:pt x="370458" y="0"/>
                  </a:lnTo>
                  <a:close/>
                </a:path>
              </a:pathLst>
            </a:custGeom>
            <a:solidFill>
              <a:srgbClr val="1D9A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948296" y="2168779"/>
              <a:ext cx="451484" cy="161925"/>
            </a:xfrm>
            <a:custGeom>
              <a:avLst/>
              <a:gdLst/>
              <a:ahLst/>
              <a:cxnLst/>
              <a:rect l="l" t="t" r="r" b="b"/>
              <a:pathLst>
                <a:path w="451484" h="161925">
                  <a:moveTo>
                    <a:pt x="370458" y="161925"/>
                  </a:moveTo>
                  <a:lnTo>
                    <a:pt x="370458" y="121412"/>
                  </a:lnTo>
                  <a:lnTo>
                    <a:pt x="0" y="121412"/>
                  </a:lnTo>
                  <a:lnTo>
                    <a:pt x="0" y="40512"/>
                  </a:lnTo>
                  <a:lnTo>
                    <a:pt x="370458" y="40512"/>
                  </a:lnTo>
                  <a:lnTo>
                    <a:pt x="370458" y="0"/>
                  </a:lnTo>
                  <a:lnTo>
                    <a:pt x="451484" y="81025"/>
                  </a:lnTo>
                  <a:lnTo>
                    <a:pt x="370458" y="161925"/>
                  </a:lnTo>
                  <a:close/>
                </a:path>
              </a:pathLst>
            </a:custGeom>
            <a:ln w="12700">
              <a:solidFill>
                <a:srgbClr val="126F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0" name="object 60"/>
          <p:cNvGrpSpPr/>
          <p:nvPr/>
        </p:nvGrpSpPr>
        <p:grpSpPr>
          <a:xfrm>
            <a:off x="255993" y="3822001"/>
            <a:ext cx="1993264" cy="1181100"/>
            <a:chOff x="255993" y="3822001"/>
            <a:chExt cx="1993264" cy="1181100"/>
          </a:xfrm>
        </p:grpSpPr>
        <p:sp>
          <p:nvSpPr>
            <p:cNvPr id="61" name="object 61"/>
            <p:cNvSpPr/>
            <p:nvPr/>
          </p:nvSpPr>
          <p:spPr>
            <a:xfrm>
              <a:off x="255993" y="4345686"/>
              <a:ext cx="643255" cy="133350"/>
            </a:xfrm>
            <a:custGeom>
              <a:avLst/>
              <a:gdLst/>
              <a:ahLst/>
              <a:cxnLst/>
              <a:rect l="l" t="t" r="r" b="b"/>
              <a:pathLst>
                <a:path w="643255" h="133350">
                  <a:moveTo>
                    <a:pt x="576059" y="0"/>
                  </a:moveTo>
                  <a:lnTo>
                    <a:pt x="550109" y="5238"/>
                  </a:lnTo>
                  <a:lnTo>
                    <a:pt x="528915" y="19526"/>
                  </a:lnTo>
                  <a:lnTo>
                    <a:pt x="514624" y="40719"/>
                  </a:lnTo>
                  <a:lnTo>
                    <a:pt x="509384" y="66675"/>
                  </a:lnTo>
                  <a:lnTo>
                    <a:pt x="514624" y="92630"/>
                  </a:lnTo>
                  <a:lnTo>
                    <a:pt x="528915" y="113823"/>
                  </a:lnTo>
                  <a:lnTo>
                    <a:pt x="550109" y="128111"/>
                  </a:lnTo>
                  <a:lnTo>
                    <a:pt x="576059" y="133350"/>
                  </a:lnTo>
                  <a:lnTo>
                    <a:pt x="602014" y="128111"/>
                  </a:lnTo>
                  <a:lnTo>
                    <a:pt x="623208" y="113823"/>
                  </a:lnTo>
                  <a:lnTo>
                    <a:pt x="637495" y="92630"/>
                  </a:lnTo>
                  <a:lnTo>
                    <a:pt x="638248" y="88900"/>
                  </a:lnTo>
                  <a:lnTo>
                    <a:pt x="576059" y="88900"/>
                  </a:lnTo>
                  <a:lnTo>
                    <a:pt x="576059" y="44450"/>
                  </a:lnTo>
                  <a:lnTo>
                    <a:pt x="638248" y="44450"/>
                  </a:lnTo>
                  <a:lnTo>
                    <a:pt x="637495" y="40719"/>
                  </a:lnTo>
                  <a:lnTo>
                    <a:pt x="623208" y="19526"/>
                  </a:lnTo>
                  <a:lnTo>
                    <a:pt x="602014" y="5238"/>
                  </a:lnTo>
                  <a:lnTo>
                    <a:pt x="576059" y="0"/>
                  </a:lnTo>
                  <a:close/>
                </a:path>
                <a:path w="643255" h="133350">
                  <a:moveTo>
                    <a:pt x="513871" y="44450"/>
                  </a:moveTo>
                  <a:lnTo>
                    <a:pt x="0" y="44450"/>
                  </a:lnTo>
                  <a:lnTo>
                    <a:pt x="0" y="88900"/>
                  </a:lnTo>
                  <a:lnTo>
                    <a:pt x="513871" y="88900"/>
                  </a:lnTo>
                  <a:lnTo>
                    <a:pt x="509384" y="66675"/>
                  </a:lnTo>
                  <a:lnTo>
                    <a:pt x="513871" y="44450"/>
                  </a:lnTo>
                  <a:close/>
                </a:path>
                <a:path w="643255" h="133350">
                  <a:moveTo>
                    <a:pt x="638248" y="44450"/>
                  </a:moveTo>
                  <a:lnTo>
                    <a:pt x="576059" y="44450"/>
                  </a:lnTo>
                  <a:lnTo>
                    <a:pt x="576059" y="88900"/>
                  </a:lnTo>
                  <a:lnTo>
                    <a:pt x="638248" y="88900"/>
                  </a:lnTo>
                  <a:lnTo>
                    <a:pt x="642734" y="66675"/>
                  </a:lnTo>
                  <a:lnTo>
                    <a:pt x="638248" y="444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2053" y="3836289"/>
              <a:ext cx="1152194" cy="1152144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832053" y="3836289"/>
              <a:ext cx="1152525" cy="1152525"/>
            </a:xfrm>
            <a:custGeom>
              <a:avLst/>
              <a:gdLst/>
              <a:ahLst/>
              <a:cxnLst/>
              <a:rect l="l" t="t" r="r" b="b"/>
              <a:pathLst>
                <a:path w="1152525" h="1152525">
                  <a:moveTo>
                    <a:pt x="0" y="576072"/>
                  </a:moveTo>
                  <a:lnTo>
                    <a:pt x="1909" y="528827"/>
                  </a:lnTo>
                  <a:lnTo>
                    <a:pt x="7539" y="482635"/>
                  </a:lnTo>
                  <a:lnTo>
                    <a:pt x="16742" y="437641"/>
                  </a:lnTo>
                  <a:lnTo>
                    <a:pt x="29368" y="393996"/>
                  </a:lnTo>
                  <a:lnTo>
                    <a:pt x="45270" y="351847"/>
                  </a:lnTo>
                  <a:lnTo>
                    <a:pt x="64300" y="311342"/>
                  </a:lnTo>
                  <a:lnTo>
                    <a:pt x="86309" y="272631"/>
                  </a:lnTo>
                  <a:lnTo>
                    <a:pt x="111150" y="235860"/>
                  </a:lnTo>
                  <a:lnTo>
                    <a:pt x="138673" y="201179"/>
                  </a:lnTo>
                  <a:lnTo>
                    <a:pt x="168732" y="168735"/>
                  </a:lnTo>
                  <a:lnTo>
                    <a:pt x="201177" y="138677"/>
                  </a:lnTo>
                  <a:lnTo>
                    <a:pt x="235860" y="111154"/>
                  </a:lnTo>
                  <a:lnTo>
                    <a:pt x="272633" y="86313"/>
                  </a:lnTo>
                  <a:lnTo>
                    <a:pt x="311349" y="64304"/>
                  </a:lnTo>
                  <a:lnTo>
                    <a:pt x="351858" y="45273"/>
                  </a:lnTo>
                  <a:lnTo>
                    <a:pt x="394012" y="29370"/>
                  </a:lnTo>
                  <a:lnTo>
                    <a:pt x="437664" y="16743"/>
                  </a:lnTo>
                  <a:lnTo>
                    <a:pt x="482666" y="7540"/>
                  </a:lnTo>
                  <a:lnTo>
                    <a:pt x="528868" y="1909"/>
                  </a:lnTo>
                  <a:lnTo>
                    <a:pt x="576122" y="0"/>
                  </a:lnTo>
                  <a:lnTo>
                    <a:pt x="623366" y="1909"/>
                  </a:lnTo>
                  <a:lnTo>
                    <a:pt x="669559" y="7540"/>
                  </a:lnTo>
                  <a:lnTo>
                    <a:pt x="714552" y="16743"/>
                  </a:lnTo>
                  <a:lnTo>
                    <a:pt x="758198" y="29370"/>
                  </a:lnTo>
                  <a:lnTo>
                    <a:pt x="800347" y="45273"/>
                  </a:lnTo>
                  <a:lnTo>
                    <a:pt x="840851" y="64304"/>
                  </a:lnTo>
                  <a:lnTo>
                    <a:pt x="879563" y="86313"/>
                  </a:lnTo>
                  <a:lnTo>
                    <a:pt x="916334" y="111154"/>
                  </a:lnTo>
                  <a:lnTo>
                    <a:pt x="951015" y="138677"/>
                  </a:lnTo>
                  <a:lnTo>
                    <a:pt x="983459" y="168735"/>
                  </a:lnTo>
                  <a:lnTo>
                    <a:pt x="1013517" y="201179"/>
                  </a:lnTo>
                  <a:lnTo>
                    <a:pt x="1041040" y="235860"/>
                  </a:lnTo>
                  <a:lnTo>
                    <a:pt x="1065881" y="272631"/>
                  </a:lnTo>
                  <a:lnTo>
                    <a:pt x="1087890" y="311342"/>
                  </a:lnTo>
                  <a:lnTo>
                    <a:pt x="1106921" y="351847"/>
                  </a:lnTo>
                  <a:lnTo>
                    <a:pt x="1122824" y="393996"/>
                  </a:lnTo>
                  <a:lnTo>
                    <a:pt x="1135451" y="437641"/>
                  </a:lnTo>
                  <a:lnTo>
                    <a:pt x="1144654" y="482635"/>
                  </a:lnTo>
                  <a:lnTo>
                    <a:pt x="1150284" y="528827"/>
                  </a:lnTo>
                  <a:lnTo>
                    <a:pt x="1152194" y="576072"/>
                  </a:lnTo>
                  <a:lnTo>
                    <a:pt x="1150284" y="623316"/>
                  </a:lnTo>
                  <a:lnTo>
                    <a:pt x="1144654" y="669508"/>
                  </a:lnTo>
                  <a:lnTo>
                    <a:pt x="1135451" y="714502"/>
                  </a:lnTo>
                  <a:lnTo>
                    <a:pt x="1122824" y="758147"/>
                  </a:lnTo>
                  <a:lnTo>
                    <a:pt x="1106921" y="800296"/>
                  </a:lnTo>
                  <a:lnTo>
                    <a:pt x="1087890" y="840801"/>
                  </a:lnTo>
                  <a:lnTo>
                    <a:pt x="1065881" y="879512"/>
                  </a:lnTo>
                  <a:lnTo>
                    <a:pt x="1041040" y="916283"/>
                  </a:lnTo>
                  <a:lnTo>
                    <a:pt x="1013517" y="950964"/>
                  </a:lnTo>
                  <a:lnTo>
                    <a:pt x="983459" y="983408"/>
                  </a:lnTo>
                  <a:lnTo>
                    <a:pt x="951015" y="1013466"/>
                  </a:lnTo>
                  <a:lnTo>
                    <a:pt x="916334" y="1040989"/>
                  </a:lnTo>
                  <a:lnTo>
                    <a:pt x="879563" y="1065830"/>
                  </a:lnTo>
                  <a:lnTo>
                    <a:pt x="840851" y="1087839"/>
                  </a:lnTo>
                  <a:lnTo>
                    <a:pt x="800347" y="1106870"/>
                  </a:lnTo>
                  <a:lnTo>
                    <a:pt x="758198" y="1122773"/>
                  </a:lnTo>
                  <a:lnTo>
                    <a:pt x="714552" y="1135400"/>
                  </a:lnTo>
                  <a:lnTo>
                    <a:pt x="669559" y="1144603"/>
                  </a:lnTo>
                  <a:lnTo>
                    <a:pt x="623366" y="1150234"/>
                  </a:lnTo>
                  <a:lnTo>
                    <a:pt x="576122" y="1152144"/>
                  </a:lnTo>
                  <a:lnTo>
                    <a:pt x="528868" y="1150234"/>
                  </a:lnTo>
                  <a:lnTo>
                    <a:pt x="482666" y="1144603"/>
                  </a:lnTo>
                  <a:lnTo>
                    <a:pt x="437664" y="1135400"/>
                  </a:lnTo>
                  <a:lnTo>
                    <a:pt x="394012" y="1122773"/>
                  </a:lnTo>
                  <a:lnTo>
                    <a:pt x="351858" y="1106870"/>
                  </a:lnTo>
                  <a:lnTo>
                    <a:pt x="311349" y="1087839"/>
                  </a:lnTo>
                  <a:lnTo>
                    <a:pt x="272633" y="1065830"/>
                  </a:lnTo>
                  <a:lnTo>
                    <a:pt x="235860" y="1040989"/>
                  </a:lnTo>
                  <a:lnTo>
                    <a:pt x="201177" y="1013466"/>
                  </a:lnTo>
                  <a:lnTo>
                    <a:pt x="168732" y="983408"/>
                  </a:lnTo>
                  <a:lnTo>
                    <a:pt x="138673" y="950964"/>
                  </a:lnTo>
                  <a:lnTo>
                    <a:pt x="111150" y="916283"/>
                  </a:lnTo>
                  <a:lnTo>
                    <a:pt x="86309" y="879512"/>
                  </a:lnTo>
                  <a:lnTo>
                    <a:pt x="64300" y="840801"/>
                  </a:lnTo>
                  <a:lnTo>
                    <a:pt x="45270" y="800296"/>
                  </a:lnTo>
                  <a:lnTo>
                    <a:pt x="29368" y="758147"/>
                  </a:lnTo>
                  <a:lnTo>
                    <a:pt x="16742" y="714502"/>
                  </a:lnTo>
                  <a:lnTo>
                    <a:pt x="7539" y="669508"/>
                  </a:lnTo>
                  <a:lnTo>
                    <a:pt x="1909" y="623316"/>
                  </a:lnTo>
                  <a:lnTo>
                    <a:pt x="0" y="576072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624203" y="3836301"/>
              <a:ext cx="432434" cy="1152525"/>
            </a:xfrm>
            <a:custGeom>
              <a:avLst/>
              <a:gdLst/>
              <a:ahLst/>
              <a:cxnLst/>
              <a:rect l="l" t="t" r="r" b="b"/>
              <a:pathLst>
                <a:path w="432435" h="1152525">
                  <a:moveTo>
                    <a:pt x="432053" y="0"/>
                  </a:moveTo>
                  <a:lnTo>
                    <a:pt x="0" y="0"/>
                  </a:lnTo>
                  <a:lnTo>
                    <a:pt x="0" y="1152131"/>
                  </a:lnTo>
                  <a:lnTo>
                    <a:pt x="432053" y="1152131"/>
                  </a:lnTo>
                  <a:lnTo>
                    <a:pt x="4320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624203" y="3836301"/>
              <a:ext cx="432434" cy="1152525"/>
            </a:xfrm>
            <a:custGeom>
              <a:avLst/>
              <a:gdLst/>
              <a:ahLst/>
              <a:cxnLst/>
              <a:rect l="l" t="t" r="r" b="b"/>
              <a:pathLst>
                <a:path w="432435" h="1152525">
                  <a:moveTo>
                    <a:pt x="0" y="1152131"/>
                  </a:moveTo>
                  <a:lnTo>
                    <a:pt x="432053" y="1152131"/>
                  </a:lnTo>
                  <a:lnTo>
                    <a:pt x="432053" y="0"/>
                  </a:lnTo>
                  <a:lnTo>
                    <a:pt x="0" y="0"/>
                  </a:lnTo>
                  <a:lnTo>
                    <a:pt x="0" y="115213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655885" y="3919093"/>
              <a:ext cx="593725" cy="344170"/>
            </a:xfrm>
            <a:custGeom>
              <a:avLst/>
              <a:gdLst/>
              <a:ahLst/>
              <a:cxnLst/>
              <a:rect l="l" t="t" r="r" b="b"/>
              <a:pathLst>
                <a:path w="593725" h="344170">
                  <a:moveTo>
                    <a:pt x="62420" y="210679"/>
                  </a:moveTo>
                  <a:lnTo>
                    <a:pt x="36897" y="217550"/>
                  </a:lnTo>
                  <a:lnTo>
                    <a:pt x="15962" y="233789"/>
                  </a:lnTo>
                  <a:lnTo>
                    <a:pt x="3337" y="256016"/>
                  </a:lnTo>
                  <a:lnTo>
                    <a:pt x="0" y="281362"/>
                  </a:lnTo>
                  <a:lnTo>
                    <a:pt x="6925" y="306958"/>
                  </a:lnTo>
                  <a:lnTo>
                    <a:pt x="23163" y="327822"/>
                  </a:lnTo>
                  <a:lnTo>
                    <a:pt x="45390" y="340423"/>
                  </a:lnTo>
                  <a:lnTo>
                    <a:pt x="70737" y="343785"/>
                  </a:lnTo>
                  <a:lnTo>
                    <a:pt x="96333" y="336930"/>
                  </a:lnTo>
                  <a:lnTo>
                    <a:pt x="117195" y="320621"/>
                  </a:lnTo>
                  <a:lnTo>
                    <a:pt x="129782" y="298370"/>
                  </a:lnTo>
                  <a:lnTo>
                    <a:pt x="129955" y="297052"/>
                  </a:lnTo>
                  <a:lnTo>
                    <a:pt x="76521" y="297052"/>
                  </a:lnTo>
                  <a:lnTo>
                    <a:pt x="56709" y="257301"/>
                  </a:lnTo>
                  <a:lnTo>
                    <a:pt x="112284" y="229623"/>
                  </a:lnTo>
                  <a:lnTo>
                    <a:pt x="109942" y="226605"/>
                  </a:lnTo>
                  <a:lnTo>
                    <a:pt x="87729" y="214010"/>
                  </a:lnTo>
                  <a:lnTo>
                    <a:pt x="62420" y="210679"/>
                  </a:lnTo>
                  <a:close/>
                </a:path>
                <a:path w="593725" h="344170">
                  <a:moveTo>
                    <a:pt x="112284" y="229623"/>
                  </a:moveTo>
                  <a:lnTo>
                    <a:pt x="56709" y="257301"/>
                  </a:lnTo>
                  <a:lnTo>
                    <a:pt x="76521" y="297052"/>
                  </a:lnTo>
                  <a:lnTo>
                    <a:pt x="132107" y="269369"/>
                  </a:lnTo>
                  <a:lnTo>
                    <a:pt x="126178" y="247522"/>
                  </a:lnTo>
                  <a:lnTo>
                    <a:pt x="112284" y="229623"/>
                  </a:lnTo>
                  <a:close/>
                </a:path>
                <a:path w="593725" h="344170">
                  <a:moveTo>
                    <a:pt x="132107" y="269369"/>
                  </a:moveTo>
                  <a:lnTo>
                    <a:pt x="76521" y="297052"/>
                  </a:lnTo>
                  <a:lnTo>
                    <a:pt x="129955" y="297052"/>
                  </a:lnTo>
                  <a:lnTo>
                    <a:pt x="133105" y="273048"/>
                  </a:lnTo>
                  <a:lnTo>
                    <a:pt x="132107" y="269369"/>
                  </a:lnTo>
                  <a:close/>
                </a:path>
                <a:path w="593725" h="344170">
                  <a:moveTo>
                    <a:pt x="573345" y="0"/>
                  </a:moveTo>
                  <a:lnTo>
                    <a:pt x="112284" y="229623"/>
                  </a:lnTo>
                  <a:lnTo>
                    <a:pt x="126178" y="247522"/>
                  </a:lnTo>
                  <a:lnTo>
                    <a:pt x="132107" y="269369"/>
                  </a:lnTo>
                  <a:lnTo>
                    <a:pt x="593157" y="39750"/>
                  </a:lnTo>
                  <a:lnTo>
                    <a:pt x="5733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87069" y="4061968"/>
              <a:ext cx="720140" cy="700658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1087069" y="3862705"/>
              <a:ext cx="720725" cy="1100455"/>
            </a:xfrm>
            <a:custGeom>
              <a:avLst/>
              <a:gdLst/>
              <a:ahLst/>
              <a:cxnLst/>
              <a:rect l="l" t="t" r="r" b="b"/>
              <a:pathLst>
                <a:path w="720725" h="1100454">
                  <a:moveTo>
                    <a:pt x="0" y="549656"/>
                  </a:moveTo>
                  <a:lnTo>
                    <a:pt x="3286" y="502103"/>
                  </a:lnTo>
                  <a:lnTo>
                    <a:pt x="12861" y="456496"/>
                  </a:lnTo>
                  <a:lnTo>
                    <a:pt x="28295" y="413254"/>
                  </a:lnTo>
                  <a:lnTo>
                    <a:pt x="49159" y="372792"/>
                  </a:lnTo>
                  <a:lnTo>
                    <a:pt x="75024" y="335527"/>
                  </a:lnTo>
                  <a:lnTo>
                    <a:pt x="105462" y="301879"/>
                  </a:lnTo>
                  <a:lnTo>
                    <a:pt x="140043" y="272262"/>
                  </a:lnTo>
                  <a:lnTo>
                    <a:pt x="178339" y="247094"/>
                  </a:lnTo>
                  <a:lnTo>
                    <a:pt x="219922" y="226794"/>
                  </a:lnTo>
                  <a:lnTo>
                    <a:pt x="264361" y="211777"/>
                  </a:lnTo>
                  <a:lnTo>
                    <a:pt x="311228" y="202461"/>
                  </a:lnTo>
                  <a:lnTo>
                    <a:pt x="360095" y="199263"/>
                  </a:lnTo>
                  <a:lnTo>
                    <a:pt x="408932" y="202461"/>
                  </a:lnTo>
                  <a:lnTo>
                    <a:pt x="455777" y="211777"/>
                  </a:lnTo>
                  <a:lnTo>
                    <a:pt x="500202" y="226794"/>
                  </a:lnTo>
                  <a:lnTo>
                    <a:pt x="541776" y="247094"/>
                  </a:lnTo>
                  <a:lnTo>
                    <a:pt x="580069" y="272262"/>
                  </a:lnTo>
                  <a:lnTo>
                    <a:pt x="614651" y="301879"/>
                  </a:lnTo>
                  <a:lnTo>
                    <a:pt x="645092" y="335527"/>
                  </a:lnTo>
                  <a:lnTo>
                    <a:pt x="670963" y="372792"/>
                  </a:lnTo>
                  <a:lnTo>
                    <a:pt x="691833" y="413254"/>
                  </a:lnTo>
                  <a:lnTo>
                    <a:pt x="707273" y="456496"/>
                  </a:lnTo>
                  <a:lnTo>
                    <a:pt x="716852" y="502103"/>
                  </a:lnTo>
                  <a:lnTo>
                    <a:pt x="720140" y="549656"/>
                  </a:lnTo>
                  <a:lnTo>
                    <a:pt x="716852" y="597179"/>
                  </a:lnTo>
                  <a:lnTo>
                    <a:pt x="707273" y="642761"/>
                  </a:lnTo>
                  <a:lnTo>
                    <a:pt x="691833" y="685984"/>
                  </a:lnTo>
                  <a:lnTo>
                    <a:pt x="670963" y="726430"/>
                  </a:lnTo>
                  <a:lnTo>
                    <a:pt x="645092" y="763682"/>
                  </a:lnTo>
                  <a:lnTo>
                    <a:pt x="614651" y="797321"/>
                  </a:lnTo>
                  <a:lnTo>
                    <a:pt x="580069" y="826931"/>
                  </a:lnTo>
                  <a:lnTo>
                    <a:pt x="541776" y="852094"/>
                  </a:lnTo>
                  <a:lnTo>
                    <a:pt x="500202" y="872392"/>
                  </a:lnTo>
                  <a:lnTo>
                    <a:pt x="455777" y="887408"/>
                  </a:lnTo>
                  <a:lnTo>
                    <a:pt x="408932" y="896723"/>
                  </a:lnTo>
                  <a:lnTo>
                    <a:pt x="360095" y="899922"/>
                  </a:lnTo>
                  <a:lnTo>
                    <a:pt x="311228" y="896723"/>
                  </a:lnTo>
                  <a:lnTo>
                    <a:pt x="264361" y="887408"/>
                  </a:lnTo>
                  <a:lnTo>
                    <a:pt x="219922" y="872392"/>
                  </a:lnTo>
                  <a:lnTo>
                    <a:pt x="178339" y="852094"/>
                  </a:lnTo>
                  <a:lnTo>
                    <a:pt x="140043" y="826931"/>
                  </a:lnTo>
                  <a:lnTo>
                    <a:pt x="105462" y="797321"/>
                  </a:lnTo>
                  <a:lnTo>
                    <a:pt x="75024" y="763682"/>
                  </a:lnTo>
                  <a:lnTo>
                    <a:pt x="49159" y="726430"/>
                  </a:lnTo>
                  <a:lnTo>
                    <a:pt x="28295" y="685984"/>
                  </a:lnTo>
                  <a:lnTo>
                    <a:pt x="12861" y="642761"/>
                  </a:lnTo>
                  <a:lnTo>
                    <a:pt x="3286" y="597179"/>
                  </a:lnTo>
                  <a:lnTo>
                    <a:pt x="0" y="549656"/>
                  </a:lnTo>
                  <a:close/>
                </a:path>
                <a:path w="720725" h="1100454">
                  <a:moveTo>
                    <a:pt x="521893" y="0"/>
                  </a:moveTo>
                  <a:lnTo>
                    <a:pt x="521893" y="244856"/>
                  </a:lnTo>
                </a:path>
                <a:path w="720725" h="1100454">
                  <a:moveTo>
                    <a:pt x="524433" y="848233"/>
                  </a:moveTo>
                  <a:lnTo>
                    <a:pt x="524433" y="110032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2164680" y="4218030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419506" y="4094226"/>
            <a:ext cx="1760220" cy="498475"/>
          </a:xfrm>
          <a:custGeom>
            <a:avLst/>
            <a:gdLst/>
            <a:ahLst/>
            <a:cxnLst/>
            <a:rect l="l" t="t" r="r" b="b"/>
            <a:pathLst>
              <a:path w="1760220" h="498475">
                <a:moveTo>
                  <a:pt x="1548866" y="0"/>
                </a:moveTo>
                <a:lnTo>
                  <a:pt x="1760067" y="192405"/>
                </a:lnTo>
              </a:path>
              <a:path w="1760220" h="498475">
                <a:moveTo>
                  <a:pt x="144018" y="318135"/>
                </a:moveTo>
                <a:lnTo>
                  <a:pt x="0" y="498094"/>
                </a:lnTo>
              </a:path>
            </a:pathLst>
          </a:custGeom>
          <a:ln w="15875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335245" y="4545563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1219200" y="3823017"/>
            <a:ext cx="198120" cy="269240"/>
            <a:chOff x="1219200" y="3823017"/>
            <a:chExt cx="198120" cy="269240"/>
          </a:xfrm>
        </p:grpSpPr>
        <p:pic>
          <p:nvPicPr>
            <p:cNvPr id="73" name="object 7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33258" y="3839971"/>
              <a:ext cx="170345" cy="232536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1390650" y="3837304"/>
              <a:ext cx="12065" cy="234315"/>
            </a:xfrm>
            <a:custGeom>
              <a:avLst/>
              <a:gdLst/>
              <a:ahLst/>
              <a:cxnLst/>
              <a:rect l="l" t="t" r="r" b="b"/>
              <a:pathLst>
                <a:path w="12065" h="234314">
                  <a:moveTo>
                    <a:pt x="11937" y="234061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19200" y="3858704"/>
              <a:ext cx="158750" cy="233425"/>
            </a:xfrm>
            <a:prstGeom prst="rect">
              <a:avLst/>
            </a:prstGeom>
          </p:spPr>
        </p:pic>
      </p:grpSp>
      <p:grpSp>
        <p:nvGrpSpPr>
          <p:cNvPr id="76" name="object 76"/>
          <p:cNvGrpSpPr/>
          <p:nvPr/>
        </p:nvGrpSpPr>
        <p:grpSpPr>
          <a:xfrm>
            <a:off x="2302636" y="4544440"/>
            <a:ext cx="464184" cy="175260"/>
            <a:chOff x="2302636" y="4544440"/>
            <a:chExt cx="464184" cy="175260"/>
          </a:xfrm>
        </p:grpSpPr>
        <p:sp>
          <p:nvSpPr>
            <p:cNvPr id="77" name="object 77"/>
            <p:cNvSpPr/>
            <p:nvPr/>
          </p:nvSpPr>
          <p:spPr>
            <a:xfrm>
              <a:off x="2308986" y="4550790"/>
              <a:ext cx="451484" cy="162560"/>
            </a:xfrm>
            <a:custGeom>
              <a:avLst/>
              <a:gdLst/>
              <a:ahLst/>
              <a:cxnLst/>
              <a:rect l="l" t="t" r="r" b="b"/>
              <a:pathLst>
                <a:path w="451485" h="162560">
                  <a:moveTo>
                    <a:pt x="370458" y="0"/>
                  </a:moveTo>
                  <a:lnTo>
                    <a:pt x="370458" y="40512"/>
                  </a:lnTo>
                  <a:lnTo>
                    <a:pt x="0" y="40512"/>
                  </a:lnTo>
                  <a:lnTo>
                    <a:pt x="0" y="121538"/>
                  </a:lnTo>
                  <a:lnTo>
                    <a:pt x="370458" y="121538"/>
                  </a:lnTo>
                  <a:lnTo>
                    <a:pt x="370458" y="162051"/>
                  </a:lnTo>
                  <a:lnTo>
                    <a:pt x="451485" y="81025"/>
                  </a:lnTo>
                  <a:lnTo>
                    <a:pt x="370458" y="0"/>
                  </a:lnTo>
                  <a:close/>
                </a:path>
              </a:pathLst>
            </a:custGeom>
            <a:solidFill>
              <a:srgbClr val="1D9A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2308986" y="4550790"/>
              <a:ext cx="451484" cy="162560"/>
            </a:xfrm>
            <a:custGeom>
              <a:avLst/>
              <a:gdLst/>
              <a:ahLst/>
              <a:cxnLst/>
              <a:rect l="l" t="t" r="r" b="b"/>
              <a:pathLst>
                <a:path w="451485" h="162560">
                  <a:moveTo>
                    <a:pt x="370458" y="162051"/>
                  </a:moveTo>
                  <a:lnTo>
                    <a:pt x="370458" y="121538"/>
                  </a:lnTo>
                  <a:lnTo>
                    <a:pt x="0" y="121538"/>
                  </a:lnTo>
                  <a:lnTo>
                    <a:pt x="0" y="40512"/>
                  </a:lnTo>
                  <a:lnTo>
                    <a:pt x="370458" y="40512"/>
                  </a:lnTo>
                  <a:lnTo>
                    <a:pt x="370458" y="0"/>
                  </a:lnTo>
                  <a:lnTo>
                    <a:pt x="451485" y="81025"/>
                  </a:lnTo>
                  <a:lnTo>
                    <a:pt x="370458" y="162051"/>
                  </a:lnTo>
                  <a:close/>
                </a:path>
              </a:pathLst>
            </a:custGeom>
            <a:ln w="12699">
              <a:solidFill>
                <a:srgbClr val="126F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9" name="object 79"/>
          <p:cNvGrpSpPr/>
          <p:nvPr/>
        </p:nvGrpSpPr>
        <p:grpSpPr>
          <a:xfrm>
            <a:off x="2876867" y="4453445"/>
            <a:ext cx="1115695" cy="388620"/>
            <a:chOff x="2876867" y="4453445"/>
            <a:chExt cx="1115695" cy="388620"/>
          </a:xfrm>
        </p:grpSpPr>
        <p:sp>
          <p:nvSpPr>
            <p:cNvPr id="80" name="object 80"/>
            <p:cNvSpPr/>
            <p:nvPr/>
          </p:nvSpPr>
          <p:spPr>
            <a:xfrm>
              <a:off x="3321415" y="4472439"/>
              <a:ext cx="290195" cy="358775"/>
            </a:xfrm>
            <a:custGeom>
              <a:avLst/>
              <a:gdLst/>
              <a:ahLst/>
              <a:cxnLst/>
              <a:rect l="l" t="t" r="r" b="b"/>
              <a:pathLst>
                <a:path w="290195" h="358775">
                  <a:moveTo>
                    <a:pt x="289575" y="321429"/>
                  </a:moveTo>
                  <a:lnTo>
                    <a:pt x="247951" y="345885"/>
                  </a:lnTo>
                  <a:lnTo>
                    <a:pt x="202919" y="358109"/>
                  </a:lnTo>
                  <a:lnTo>
                    <a:pt x="156892" y="358402"/>
                  </a:lnTo>
                  <a:lnTo>
                    <a:pt x="112283" y="347065"/>
                  </a:lnTo>
                  <a:lnTo>
                    <a:pt x="71506" y="324396"/>
                  </a:lnTo>
                  <a:lnTo>
                    <a:pt x="36972" y="290695"/>
                  </a:lnTo>
                  <a:lnTo>
                    <a:pt x="12517" y="249026"/>
                  </a:lnTo>
                  <a:lnTo>
                    <a:pt x="293" y="203978"/>
                  </a:lnTo>
                  <a:lnTo>
                    <a:pt x="0" y="157949"/>
                  </a:lnTo>
                  <a:lnTo>
                    <a:pt x="11337" y="113338"/>
                  </a:lnTo>
                  <a:lnTo>
                    <a:pt x="34006" y="72543"/>
                  </a:lnTo>
                  <a:lnTo>
                    <a:pt x="67706" y="37965"/>
                  </a:lnTo>
                  <a:lnTo>
                    <a:pt x="105442" y="15264"/>
                  </a:lnTo>
                  <a:lnTo>
                    <a:pt x="146658" y="2566"/>
                  </a:lnTo>
                  <a:lnTo>
                    <a:pt x="189440" y="0"/>
                  </a:lnTo>
                  <a:lnTo>
                    <a:pt x="231876" y="7693"/>
                  </a:lnTo>
                  <a:lnTo>
                    <a:pt x="272049" y="25773"/>
                  </a:lnTo>
                </a:path>
              </a:pathLst>
            </a:custGeom>
            <a:ln w="222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3374135" y="4526153"/>
              <a:ext cx="252095" cy="252095"/>
            </a:xfrm>
            <a:custGeom>
              <a:avLst/>
              <a:gdLst/>
              <a:ahLst/>
              <a:cxnLst/>
              <a:rect l="l" t="t" r="r" b="b"/>
              <a:pathLst>
                <a:path w="252095" h="252095">
                  <a:moveTo>
                    <a:pt x="0" y="125984"/>
                  </a:moveTo>
                  <a:lnTo>
                    <a:pt x="9898" y="76938"/>
                  </a:lnTo>
                  <a:lnTo>
                    <a:pt x="36893" y="36893"/>
                  </a:lnTo>
                  <a:lnTo>
                    <a:pt x="76938" y="9898"/>
                  </a:lnTo>
                  <a:lnTo>
                    <a:pt x="125984" y="0"/>
                  </a:lnTo>
                  <a:lnTo>
                    <a:pt x="175029" y="9898"/>
                  </a:lnTo>
                  <a:lnTo>
                    <a:pt x="215074" y="36893"/>
                  </a:lnTo>
                  <a:lnTo>
                    <a:pt x="242069" y="76938"/>
                  </a:lnTo>
                  <a:lnTo>
                    <a:pt x="251967" y="125984"/>
                  </a:lnTo>
                  <a:lnTo>
                    <a:pt x="242069" y="175029"/>
                  </a:lnTo>
                  <a:lnTo>
                    <a:pt x="215074" y="215074"/>
                  </a:lnTo>
                  <a:lnTo>
                    <a:pt x="175029" y="242069"/>
                  </a:lnTo>
                  <a:lnTo>
                    <a:pt x="125984" y="251968"/>
                  </a:lnTo>
                  <a:lnTo>
                    <a:pt x="76938" y="242069"/>
                  </a:lnTo>
                  <a:lnTo>
                    <a:pt x="36893" y="215074"/>
                  </a:lnTo>
                  <a:lnTo>
                    <a:pt x="9898" y="175029"/>
                  </a:lnTo>
                  <a:lnTo>
                    <a:pt x="0" y="12598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2887979" y="4464558"/>
              <a:ext cx="1054735" cy="187960"/>
            </a:xfrm>
            <a:custGeom>
              <a:avLst/>
              <a:gdLst/>
              <a:ahLst/>
              <a:cxnLst/>
              <a:rect l="l" t="t" r="r" b="b"/>
              <a:pathLst>
                <a:path w="1054735" h="187960">
                  <a:moveTo>
                    <a:pt x="432054" y="187579"/>
                  </a:moveTo>
                  <a:lnTo>
                    <a:pt x="0" y="187579"/>
                  </a:lnTo>
                </a:path>
                <a:path w="1054735" h="187960">
                  <a:moveTo>
                    <a:pt x="1054734" y="0"/>
                  </a:moveTo>
                  <a:lnTo>
                    <a:pt x="736092" y="162560"/>
                  </a:lnTo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2959988" y="4549648"/>
              <a:ext cx="1024255" cy="282575"/>
            </a:xfrm>
            <a:custGeom>
              <a:avLst/>
              <a:gdLst/>
              <a:ahLst/>
              <a:cxnLst/>
              <a:rect l="l" t="t" r="r" b="b"/>
              <a:pathLst>
                <a:path w="1024254" h="282575">
                  <a:moveTo>
                    <a:pt x="144018" y="102488"/>
                  </a:moveTo>
                  <a:lnTo>
                    <a:pt x="0" y="282447"/>
                  </a:lnTo>
                </a:path>
                <a:path w="1024254" h="282575">
                  <a:moveTo>
                    <a:pt x="812926" y="0"/>
                  </a:moveTo>
                  <a:lnTo>
                    <a:pt x="1024127" y="192531"/>
                  </a:lnTo>
                </a:path>
              </a:pathLst>
            </a:custGeom>
            <a:ln w="15875">
              <a:solidFill>
                <a:srgbClr val="1D9A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2868920" y="4769210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3979509" y="4551405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3455161" y="4412360"/>
            <a:ext cx="45085" cy="114300"/>
          </a:xfrm>
          <a:custGeom>
            <a:avLst/>
            <a:gdLst/>
            <a:ahLst/>
            <a:cxnLst/>
            <a:rect l="l" t="t" r="r" b="b"/>
            <a:pathLst>
              <a:path w="45085" h="114300">
                <a:moveTo>
                  <a:pt x="44958" y="113791"/>
                </a:moveTo>
                <a:lnTo>
                  <a:pt x="0" y="0"/>
                </a:lnTo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7" name="object 87"/>
          <p:cNvGrpSpPr/>
          <p:nvPr/>
        </p:nvGrpSpPr>
        <p:grpSpPr>
          <a:xfrm>
            <a:off x="4761674" y="3379533"/>
            <a:ext cx="2103755" cy="1529715"/>
            <a:chOff x="4761674" y="3379533"/>
            <a:chExt cx="2103755" cy="1529715"/>
          </a:xfrm>
        </p:grpSpPr>
        <p:pic>
          <p:nvPicPr>
            <p:cNvPr id="88" name="object 8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54624" y="3575177"/>
              <a:ext cx="1175346" cy="1318133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5254624" y="3575177"/>
              <a:ext cx="1175385" cy="1318260"/>
            </a:xfrm>
            <a:custGeom>
              <a:avLst/>
              <a:gdLst/>
              <a:ahLst/>
              <a:cxnLst/>
              <a:rect l="l" t="t" r="r" b="b"/>
              <a:pathLst>
                <a:path w="1175385" h="1318260">
                  <a:moveTo>
                    <a:pt x="0" y="1318133"/>
                  </a:moveTo>
                  <a:lnTo>
                    <a:pt x="1175346" y="1318133"/>
                  </a:lnTo>
                  <a:lnTo>
                    <a:pt x="1175346" y="0"/>
                  </a:lnTo>
                  <a:lnTo>
                    <a:pt x="0" y="0"/>
                  </a:lnTo>
                  <a:lnTo>
                    <a:pt x="0" y="1318133"/>
                  </a:lnTo>
                  <a:close/>
                </a:path>
              </a:pathLst>
            </a:custGeom>
            <a:ln w="31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31714" y="3860406"/>
              <a:ext cx="2017394" cy="724674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4831714" y="3860406"/>
              <a:ext cx="2017395" cy="725170"/>
            </a:xfrm>
            <a:custGeom>
              <a:avLst/>
              <a:gdLst/>
              <a:ahLst/>
              <a:cxnLst/>
              <a:rect l="l" t="t" r="r" b="b"/>
              <a:pathLst>
                <a:path w="2017395" h="725170">
                  <a:moveTo>
                    <a:pt x="0" y="724674"/>
                  </a:moveTo>
                  <a:lnTo>
                    <a:pt x="2017394" y="724674"/>
                  </a:lnTo>
                  <a:lnTo>
                    <a:pt x="2017394" y="0"/>
                  </a:lnTo>
                  <a:lnTo>
                    <a:pt x="0" y="0"/>
                  </a:lnTo>
                  <a:lnTo>
                    <a:pt x="0" y="724674"/>
                  </a:lnTo>
                  <a:close/>
                </a:path>
              </a:pathLst>
            </a:custGeom>
            <a:ln w="317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769611" y="3387471"/>
              <a:ext cx="594995" cy="1308735"/>
            </a:xfrm>
            <a:custGeom>
              <a:avLst/>
              <a:gdLst/>
              <a:ahLst/>
              <a:cxnLst/>
              <a:rect l="l" t="t" r="r" b="b"/>
              <a:pathLst>
                <a:path w="594995" h="1308735">
                  <a:moveTo>
                    <a:pt x="383286" y="0"/>
                  </a:moveTo>
                  <a:lnTo>
                    <a:pt x="594487" y="192404"/>
                  </a:lnTo>
                </a:path>
                <a:path w="594995" h="1308735">
                  <a:moveTo>
                    <a:pt x="144017" y="1128521"/>
                  </a:moveTo>
                  <a:lnTo>
                    <a:pt x="0" y="1308608"/>
                  </a:lnTo>
                </a:path>
              </a:pathLst>
            </a:custGeom>
            <a:ln w="15875">
              <a:solidFill>
                <a:srgbClr val="1D9A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3" name="object 93"/>
          <p:cNvSpPr txBox="1"/>
          <p:nvPr/>
        </p:nvSpPr>
        <p:spPr>
          <a:xfrm>
            <a:off x="5006965" y="3146404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94" name="object 94"/>
          <p:cNvGrpSpPr/>
          <p:nvPr/>
        </p:nvGrpSpPr>
        <p:grpSpPr>
          <a:xfrm>
            <a:off x="5060188" y="3542538"/>
            <a:ext cx="1575435" cy="1377315"/>
            <a:chOff x="5060188" y="3542538"/>
            <a:chExt cx="1575435" cy="1377315"/>
          </a:xfrm>
        </p:grpSpPr>
        <p:pic>
          <p:nvPicPr>
            <p:cNvPr id="95" name="object 9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076063" y="3558413"/>
              <a:ext cx="114300" cy="1317625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5076063" y="3558413"/>
              <a:ext cx="114300" cy="1317625"/>
            </a:xfrm>
            <a:custGeom>
              <a:avLst/>
              <a:gdLst/>
              <a:ahLst/>
              <a:cxnLst/>
              <a:rect l="l" t="t" r="r" b="b"/>
              <a:pathLst>
                <a:path w="114300" h="1317625">
                  <a:moveTo>
                    <a:pt x="0" y="1317625"/>
                  </a:moveTo>
                  <a:lnTo>
                    <a:pt x="114300" y="1317625"/>
                  </a:lnTo>
                  <a:lnTo>
                    <a:pt x="114300" y="0"/>
                  </a:lnTo>
                  <a:lnTo>
                    <a:pt x="0" y="0"/>
                  </a:lnTo>
                  <a:lnTo>
                    <a:pt x="0" y="1317625"/>
                  </a:lnTo>
                  <a:close/>
                </a:path>
              </a:pathLst>
            </a:custGeom>
            <a:ln w="317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7" name="object 9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505448" y="3586353"/>
              <a:ext cx="114300" cy="1317625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6505448" y="3586353"/>
              <a:ext cx="114300" cy="1317625"/>
            </a:xfrm>
            <a:custGeom>
              <a:avLst/>
              <a:gdLst/>
              <a:ahLst/>
              <a:cxnLst/>
              <a:rect l="l" t="t" r="r" b="b"/>
              <a:pathLst>
                <a:path w="114300" h="1317625">
                  <a:moveTo>
                    <a:pt x="0" y="1317625"/>
                  </a:moveTo>
                  <a:lnTo>
                    <a:pt x="114300" y="1317625"/>
                  </a:lnTo>
                  <a:lnTo>
                    <a:pt x="114300" y="0"/>
                  </a:lnTo>
                  <a:lnTo>
                    <a:pt x="0" y="0"/>
                  </a:lnTo>
                  <a:lnTo>
                    <a:pt x="0" y="1317625"/>
                  </a:lnTo>
                  <a:close/>
                </a:path>
              </a:pathLst>
            </a:custGeom>
            <a:ln w="317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9" name="object 99"/>
          <p:cNvGrpSpPr/>
          <p:nvPr/>
        </p:nvGrpSpPr>
        <p:grpSpPr>
          <a:xfrm>
            <a:off x="7794180" y="3525964"/>
            <a:ext cx="929005" cy="443865"/>
            <a:chOff x="7794180" y="3525964"/>
            <a:chExt cx="929005" cy="443865"/>
          </a:xfrm>
        </p:grpSpPr>
        <p:sp>
          <p:nvSpPr>
            <p:cNvPr id="100" name="object 100"/>
            <p:cNvSpPr/>
            <p:nvPr/>
          </p:nvSpPr>
          <p:spPr>
            <a:xfrm>
              <a:off x="7808468" y="3584321"/>
              <a:ext cx="900430" cy="371475"/>
            </a:xfrm>
            <a:custGeom>
              <a:avLst/>
              <a:gdLst/>
              <a:ahLst/>
              <a:cxnLst/>
              <a:rect l="l" t="t" r="r" b="b"/>
              <a:pathLst>
                <a:path w="900429" h="371475">
                  <a:moveTo>
                    <a:pt x="155448" y="227075"/>
                  </a:moveTo>
                  <a:lnTo>
                    <a:pt x="684022" y="227075"/>
                  </a:lnTo>
                </a:path>
                <a:path w="900429" h="371475">
                  <a:moveTo>
                    <a:pt x="0" y="299084"/>
                  </a:moveTo>
                  <a:lnTo>
                    <a:pt x="900049" y="299084"/>
                  </a:lnTo>
                </a:path>
                <a:path w="900429" h="371475">
                  <a:moveTo>
                    <a:pt x="155448" y="371093"/>
                  </a:moveTo>
                  <a:lnTo>
                    <a:pt x="684022" y="371093"/>
                  </a:lnTo>
                </a:path>
                <a:path w="900429" h="371475">
                  <a:moveTo>
                    <a:pt x="419734" y="232028"/>
                  </a:moveTo>
                  <a:lnTo>
                    <a:pt x="693038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8122666" y="3533902"/>
              <a:ext cx="211454" cy="193040"/>
            </a:xfrm>
            <a:custGeom>
              <a:avLst/>
              <a:gdLst/>
              <a:ahLst/>
              <a:cxnLst/>
              <a:rect l="l" t="t" r="r" b="b"/>
              <a:pathLst>
                <a:path w="211454" h="193039">
                  <a:moveTo>
                    <a:pt x="0" y="0"/>
                  </a:moveTo>
                  <a:lnTo>
                    <a:pt x="211200" y="192531"/>
                  </a:lnTo>
                </a:path>
              </a:pathLst>
            </a:custGeom>
            <a:ln w="15875">
              <a:solidFill>
                <a:srgbClr val="1D9A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2" name="object 102"/>
          <p:cNvSpPr txBox="1"/>
          <p:nvPr/>
        </p:nvSpPr>
        <p:spPr>
          <a:xfrm>
            <a:off x="7945618" y="3314425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03" name="object 103"/>
          <p:cNvGrpSpPr/>
          <p:nvPr/>
        </p:nvGrpSpPr>
        <p:grpSpPr>
          <a:xfrm>
            <a:off x="7817421" y="3746309"/>
            <a:ext cx="1004569" cy="1078230"/>
            <a:chOff x="7817421" y="3746309"/>
            <a:chExt cx="1004569" cy="1078230"/>
          </a:xfrm>
        </p:grpSpPr>
        <p:sp>
          <p:nvSpPr>
            <p:cNvPr id="104" name="object 104"/>
            <p:cNvSpPr/>
            <p:nvPr/>
          </p:nvSpPr>
          <p:spPr>
            <a:xfrm>
              <a:off x="8602852" y="3881627"/>
              <a:ext cx="211454" cy="193040"/>
            </a:xfrm>
            <a:custGeom>
              <a:avLst/>
              <a:gdLst/>
              <a:ahLst/>
              <a:cxnLst/>
              <a:rect l="l" t="t" r="r" b="b"/>
              <a:pathLst>
                <a:path w="211454" h="193039">
                  <a:moveTo>
                    <a:pt x="0" y="0"/>
                  </a:moveTo>
                  <a:lnTo>
                    <a:pt x="211200" y="192532"/>
                  </a:lnTo>
                </a:path>
              </a:pathLst>
            </a:custGeom>
            <a:ln w="15875">
              <a:solidFill>
                <a:srgbClr val="1D9A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7921497" y="3760596"/>
              <a:ext cx="617220" cy="260985"/>
            </a:xfrm>
            <a:custGeom>
              <a:avLst/>
              <a:gdLst/>
              <a:ahLst/>
              <a:cxnLst/>
              <a:rect l="l" t="t" r="r" b="b"/>
              <a:pathLst>
                <a:path w="617220" h="260985">
                  <a:moveTo>
                    <a:pt x="0" y="0"/>
                  </a:moveTo>
                  <a:lnTo>
                    <a:pt x="0" y="251967"/>
                  </a:lnTo>
                </a:path>
                <a:path w="617220" h="260985">
                  <a:moveTo>
                    <a:pt x="616838" y="8508"/>
                  </a:moveTo>
                  <a:lnTo>
                    <a:pt x="616838" y="260476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6" name="object 10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247379" y="4505070"/>
              <a:ext cx="205359" cy="205486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7828533" y="4448428"/>
              <a:ext cx="926465" cy="187960"/>
            </a:xfrm>
            <a:custGeom>
              <a:avLst/>
              <a:gdLst/>
              <a:ahLst/>
              <a:cxnLst/>
              <a:rect l="l" t="t" r="r" b="b"/>
              <a:pathLst>
                <a:path w="926465" h="187960">
                  <a:moveTo>
                    <a:pt x="432054" y="187579"/>
                  </a:moveTo>
                  <a:lnTo>
                    <a:pt x="0" y="187579"/>
                  </a:lnTo>
                </a:path>
                <a:path w="926465" h="187960">
                  <a:moveTo>
                    <a:pt x="926084" y="0"/>
                  </a:moveTo>
                  <a:lnTo>
                    <a:pt x="607441" y="162687"/>
                  </a:lnTo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7900542" y="4533518"/>
              <a:ext cx="895985" cy="282575"/>
            </a:xfrm>
            <a:custGeom>
              <a:avLst/>
              <a:gdLst/>
              <a:ahLst/>
              <a:cxnLst/>
              <a:rect l="l" t="t" r="r" b="b"/>
              <a:pathLst>
                <a:path w="895984" h="282575">
                  <a:moveTo>
                    <a:pt x="144017" y="102488"/>
                  </a:moveTo>
                  <a:lnTo>
                    <a:pt x="0" y="282574"/>
                  </a:lnTo>
                </a:path>
                <a:path w="895984" h="282575">
                  <a:moveTo>
                    <a:pt x="684276" y="0"/>
                  </a:moveTo>
                  <a:lnTo>
                    <a:pt x="895476" y="192531"/>
                  </a:lnTo>
                </a:path>
              </a:pathLst>
            </a:custGeom>
            <a:ln w="15875">
              <a:solidFill>
                <a:srgbClr val="1D9A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9" name="object 109"/>
          <p:cNvSpPr txBox="1"/>
          <p:nvPr/>
        </p:nvSpPr>
        <p:spPr>
          <a:xfrm>
            <a:off x="8880057" y="3949679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7809473" y="4753208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8791412" y="4535276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2" name="object 112"/>
          <p:cNvSpPr/>
          <p:nvPr/>
        </p:nvSpPr>
        <p:spPr>
          <a:xfrm>
            <a:off x="7558023" y="3439921"/>
            <a:ext cx="230504" cy="1605280"/>
          </a:xfrm>
          <a:custGeom>
            <a:avLst/>
            <a:gdLst/>
            <a:ahLst/>
            <a:cxnLst/>
            <a:rect l="l" t="t" r="r" b="b"/>
            <a:pathLst>
              <a:path w="230504" h="1605279">
                <a:moveTo>
                  <a:pt x="229997" y="1604771"/>
                </a:moveTo>
                <a:lnTo>
                  <a:pt x="185229" y="1596792"/>
                </a:lnTo>
                <a:lnTo>
                  <a:pt x="148653" y="1575038"/>
                </a:lnTo>
                <a:lnTo>
                  <a:pt x="123983" y="1542782"/>
                </a:lnTo>
                <a:lnTo>
                  <a:pt x="114934" y="1503298"/>
                </a:lnTo>
                <a:lnTo>
                  <a:pt x="114934" y="903858"/>
                </a:lnTo>
                <a:lnTo>
                  <a:pt x="105906" y="864375"/>
                </a:lnTo>
                <a:lnTo>
                  <a:pt x="81279" y="832119"/>
                </a:lnTo>
                <a:lnTo>
                  <a:pt x="44747" y="810365"/>
                </a:lnTo>
                <a:lnTo>
                  <a:pt x="0" y="802385"/>
                </a:lnTo>
                <a:lnTo>
                  <a:pt x="44747" y="794406"/>
                </a:lnTo>
                <a:lnTo>
                  <a:pt x="81279" y="772652"/>
                </a:lnTo>
                <a:lnTo>
                  <a:pt x="105906" y="740396"/>
                </a:lnTo>
                <a:lnTo>
                  <a:pt x="114934" y="700913"/>
                </a:lnTo>
                <a:lnTo>
                  <a:pt x="114934" y="101473"/>
                </a:lnTo>
                <a:lnTo>
                  <a:pt x="123983" y="61989"/>
                </a:lnTo>
                <a:lnTo>
                  <a:pt x="148653" y="29733"/>
                </a:lnTo>
                <a:lnTo>
                  <a:pt x="185229" y="7979"/>
                </a:lnTo>
                <a:lnTo>
                  <a:pt x="229997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3" name="object 113"/>
          <p:cNvGrpSpPr/>
          <p:nvPr/>
        </p:nvGrpSpPr>
        <p:grpSpPr>
          <a:xfrm>
            <a:off x="6922389" y="4148963"/>
            <a:ext cx="464820" cy="175260"/>
            <a:chOff x="6922389" y="4148963"/>
            <a:chExt cx="464820" cy="175260"/>
          </a:xfrm>
        </p:grpSpPr>
        <p:sp>
          <p:nvSpPr>
            <p:cNvPr id="114" name="object 114"/>
            <p:cNvSpPr/>
            <p:nvPr/>
          </p:nvSpPr>
          <p:spPr>
            <a:xfrm>
              <a:off x="6928739" y="4155313"/>
              <a:ext cx="452120" cy="162560"/>
            </a:xfrm>
            <a:custGeom>
              <a:avLst/>
              <a:gdLst/>
              <a:ahLst/>
              <a:cxnLst/>
              <a:rect l="l" t="t" r="r" b="b"/>
              <a:pathLst>
                <a:path w="452120" h="162560">
                  <a:moveTo>
                    <a:pt x="370585" y="0"/>
                  </a:moveTo>
                  <a:lnTo>
                    <a:pt x="370585" y="40512"/>
                  </a:lnTo>
                  <a:lnTo>
                    <a:pt x="0" y="40512"/>
                  </a:lnTo>
                  <a:lnTo>
                    <a:pt x="0" y="121538"/>
                  </a:lnTo>
                  <a:lnTo>
                    <a:pt x="370585" y="121538"/>
                  </a:lnTo>
                  <a:lnTo>
                    <a:pt x="370585" y="162051"/>
                  </a:lnTo>
                  <a:lnTo>
                    <a:pt x="451611" y="81025"/>
                  </a:lnTo>
                  <a:lnTo>
                    <a:pt x="370585" y="0"/>
                  </a:lnTo>
                  <a:close/>
                </a:path>
              </a:pathLst>
            </a:custGeom>
            <a:solidFill>
              <a:srgbClr val="1D9A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6928739" y="4155313"/>
              <a:ext cx="452120" cy="162560"/>
            </a:xfrm>
            <a:custGeom>
              <a:avLst/>
              <a:gdLst/>
              <a:ahLst/>
              <a:cxnLst/>
              <a:rect l="l" t="t" r="r" b="b"/>
              <a:pathLst>
                <a:path w="452120" h="162560">
                  <a:moveTo>
                    <a:pt x="370585" y="162051"/>
                  </a:moveTo>
                  <a:lnTo>
                    <a:pt x="370585" y="121538"/>
                  </a:lnTo>
                  <a:lnTo>
                    <a:pt x="0" y="121538"/>
                  </a:lnTo>
                  <a:lnTo>
                    <a:pt x="0" y="40512"/>
                  </a:lnTo>
                  <a:lnTo>
                    <a:pt x="370585" y="40512"/>
                  </a:lnTo>
                  <a:lnTo>
                    <a:pt x="370585" y="0"/>
                  </a:lnTo>
                  <a:lnTo>
                    <a:pt x="451611" y="81025"/>
                  </a:lnTo>
                  <a:lnTo>
                    <a:pt x="370585" y="162051"/>
                  </a:lnTo>
                  <a:close/>
                </a:path>
              </a:pathLst>
            </a:custGeom>
            <a:ln w="12700">
              <a:solidFill>
                <a:srgbClr val="126F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6" name="object 116"/>
          <p:cNvGrpSpPr/>
          <p:nvPr/>
        </p:nvGrpSpPr>
        <p:grpSpPr>
          <a:xfrm>
            <a:off x="4820920" y="5312079"/>
            <a:ext cx="2049145" cy="1350010"/>
            <a:chOff x="4820920" y="5312079"/>
            <a:chExt cx="2049145" cy="1350010"/>
          </a:xfrm>
        </p:grpSpPr>
        <p:pic>
          <p:nvPicPr>
            <p:cNvPr id="117" name="object 1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259705" y="5327954"/>
              <a:ext cx="1175346" cy="1318133"/>
            </a:xfrm>
            <a:prstGeom prst="rect">
              <a:avLst/>
            </a:prstGeom>
          </p:spPr>
        </p:pic>
        <p:sp>
          <p:nvSpPr>
            <p:cNvPr id="118" name="object 118"/>
            <p:cNvSpPr/>
            <p:nvPr/>
          </p:nvSpPr>
          <p:spPr>
            <a:xfrm>
              <a:off x="5259705" y="5327954"/>
              <a:ext cx="1175385" cy="1318260"/>
            </a:xfrm>
            <a:custGeom>
              <a:avLst/>
              <a:gdLst/>
              <a:ahLst/>
              <a:cxnLst/>
              <a:rect l="l" t="t" r="r" b="b"/>
              <a:pathLst>
                <a:path w="1175385" h="1318259">
                  <a:moveTo>
                    <a:pt x="0" y="1318133"/>
                  </a:moveTo>
                  <a:lnTo>
                    <a:pt x="1175346" y="1318133"/>
                  </a:lnTo>
                  <a:lnTo>
                    <a:pt x="1175346" y="0"/>
                  </a:lnTo>
                  <a:lnTo>
                    <a:pt x="0" y="0"/>
                  </a:lnTo>
                  <a:lnTo>
                    <a:pt x="0" y="1318133"/>
                  </a:lnTo>
                  <a:close/>
                </a:path>
              </a:pathLst>
            </a:custGeom>
            <a:ln w="317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9" name="object 1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836795" y="5613171"/>
              <a:ext cx="2017395" cy="724674"/>
            </a:xfrm>
            <a:prstGeom prst="rect">
              <a:avLst/>
            </a:prstGeom>
          </p:spPr>
        </p:pic>
        <p:sp>
          <p:nvSpPr>
            <p:cNvPr id="120" name="object 120"/>
            <p:cNvSpPr/>
            <p:nvPr/>
          </p:nvSpPr>
          <p:spPr>
            <a:xfrm>
              <a:off x="4836795" y="5613171"/>
              <a:ext cx="2017395" cy="725170"/>
            </a:xfrm>
            <a:custGeom>
              <a:avLst/>
              <a:gdLst/>
              <a:ahLst/>
              <a:cxnLst/>
              <a:rect l="l" t="t" r="r" b="b"/>
              <a:pathLst>
                <a:path w="2017395" h="725170">
                  <a:moveTo>
                    <a:pt x="0" y="724674"/>
                  </a:moveTo>
                  <a:lnTo>
                    <a:pt x="2017395" y="724674"/>
                  </a:lnTo>
                  <a:lnTo>
                    <a:pt x="2017395" y="0"/>
                  </a:lnTo>
                  <a:lnTo>
                    <a:pt x="0" y="0"/>
                  </a:lnTo>
                  <a:lnTo>
                    <a:pt x="0" y="724674"/>
                  </a:lnTo>
                  <a:close/>
                </a:path>
              </a:pathLst>
            </a:custGeom>
            <a:ln w="317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1" name="object 121"/>
          <p:cNvSpPr txBox="1"/>
          <p:nvPr/>
        </p:nvSpPr>
        <p:spPr>
          <a:xfrm>
            <a:off x="4796754" y="6468902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2" name="object 122"/>
          <p:cNvSpPr/>
          <p:nvPr/>
        </p:nvSpPr>
        <p:spPr>
          <a:xfrm>
            <a:off x="4913629" y="5249798"/>
            <a:ext cx="355600" cy="1268095"/>
          </a:xfrm>
          <a:custGeom>
            <a:avLst/>
            <a:gdLst/>
            <a:ahLst/>
            <a:cxnLst/>
            <a:rect l="l" t="t" r="r" b="b"/>
            <a:pathLst>
              <a:path w="355600" h="1268095">
                <a:moveTo>
                  <a:pt x="144018" y="0"/>
                </a:moveTo>
                <a:lnTo>
                  <a:pt x="355219" y="192531"/>
                </a:lnTo>
              </a:path>
              <a:path w="355600" h="1268095">
                <a:moveTo>
                  <a:pt x="144018" y="1088047"/>
                </a:moveTo>
                <a:lnTo>
                  <a:pt x="0" y="1268044"/>
                </a:lnTo>
              </a:path>
            </a:pathLst>
          </a:custGeom>
          <a:ln w="15875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 txBox="1"/>
          <p:nvPr/>
        </p:nvSpPr>
        <p:spPr>
          <a:xfrm>
            <a:off x="4652736" y="4568097"/>
            <a:ext cx="379730" cy="79184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2000" spc="-50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  <a:p>
            <a:pPr marL="240029">
              <a:lnSpc>
                <a:spcPct val="100000"/>
              </a:lnSpc>
              <a:spcBef>
                <a:spcPts val="620"/>
              </a:spcBef>
            </a:pPr>
            <a:r>
              <a:rPr sz="2000" spc="-5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24" name="object 124"/>
          <p:cNvGrpSpPr/>
          <p:nvPr/>
        </p:nvGrpSpPr>
        <p:grpSpPr>
          <a:xfrm>
            <a:off x="4871809" y="5525261"/>
            <a:ext cx="2505710" cy="864869"/>
            <a:chOff x="4871809" y="5525261"/>
            <a:chExt cx="2505710" cy="864869"/>
          </a:xfrm>
        </p:grpSpPr>
        <p:pic>
          <p:nvPicPr>
            <p:cNvPr id="125" name="object 12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871809" y="5525261"/>
              <a:ext cx="1948217" cy="864247"/>
            </a:xfrm>
            <a:prstGeom prst="rect">
              <a:avLst/>
            </a:prstGeom>
          </p:spPr>
        </p:pic>
        <p:sp>
          <p:nvSpPr>
            <p:cNvPr id="126" name="object 126"/>
            <p:cNvSpPr/>
            <p:nvPr/>
          </p:nvSpPr>
          <p:spPr>
            <a:xfrm>
              <a:off x="6919087" y="5906020"/>
              <a:ext cx="452120" cy="162560"/>
            </a:xfrm>
            <a:custGeom>
              <a:avLst/>
              <a:gdLst/>
              <a:ahLst/>
              <a:cxnLst/>
              <a:rect l="l" t="t" r="r" b="b"/>
              <a:pathLst>
                <a:path w="452120" h="162560">
                  <a:moveTo>
                    <a:pt x="370586" y="0"/>
                  </a:moveTo>
                  <a:lnTo>
                    <a:pt x="370586" y="40500"/>
                  </a:lnTo>
                  <a:lnTo>
                    <a:pt x="0" y="40500"/>
                  </a:lnTo>
                  <a:lnTo>
                    <a:pt x="0" y="121513"/>
                  </a:lnTo>
                  <a:lnTo>
                    <a:pt x="370586" y="121513"/>
                  </a:lnTo>
                  <a:lnTo>
                    <a:pt x="370586" y="162013"/>
                  </a:lnTo>
                  <a:lnTo>
                    <a:pt x="451612" y="81013"/>
                  </a:lnTo>
                  <a:lnTo>
                    <a:pt x="370586" y="0"/>
                  </a:lnTo>
                  <a:close/>
                </a:path>
              </a:pathLst>
            </a:custGeom>
            <a:solidFill>
              <a:srgbClr val="1D9A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6919087" y="5906020"/>
              <a:ext cx="452120" cy="162560"/>
            </a:xfrm>
            <a:custGeom>
              <a:avLst/>
              <a:gdLst/>
              <a:ahLst/>
              <a:cxnLst/>
              <a:rect l="l" t="t" r="r" b="b"/>
              <a:pathLst>
                <a:path w="452120" h="162560">
                  <a:moveTo>
                    <a:pt x="370586" y="162013"/>
                  </a:moveTo>
                  <a:lnTo>
                    <a:pt x="370586" y="121513"/>
                  </a:lnTo>
                  <a:lnTo>
                    <a:pt x="0" y="121513"/>
                  </a:lnTo>
                  <a:lnTo>
                    <a:pt x="0" y="40500"/>
                  </a:lnTo>
                  <a:lnTo>
                    <a:pt x="370586" y="40500"/>
                  </a:lnTo>
                  <a:lnTo>
                    <a:pt x="370586" y="0"/>
                  </a:lnTo>
                  <a:lnTo>
                    <a:pt x="451612" y="81013"/>
                  </a:lnTo>
                  <a:lnTo>
                    <a:pt x="370586" y="162013"/>
                  </a:lnTo>
                  <a:close/>
                </a:path>
              </a:pathLst>
            </a:custGeom>
            <a:ln w="12700">
              <a:solidFill>
                <a:srgbClr val="126F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8" name="object 128"/>
          <p:cNvGrpSpPr/>
          <p:nvPr/>
        </p:nvGrpSpPr>
        <p:grpSpPr>
          <a:xfrm>
            <a:off x="7584376" y="5691161"/>
            <a:ext cx="993775" cy="407670"/>
            <a:chOff x="7584376" y="5691161"/>
            <a:chExt cx="993775" cy="407670"/>
          </a:xfrm>
        </p:grpSpPr>
        <p:sp>
          <p:nvSpPr>
            <p:cNvPr id="129" name="object 129"/>
            <p:cNvSpPr/>
            <p:nvPr/>
          </p:nvSpPr>
          <p:spPr>
            <a:xfrm>
              <a:off x="7598664" y="5892596"/>
              <a:ext cx="965200" cy="191770"/>
            </a:xfrm>
            <a:custGeom>
              <a:avLst/>
              <a:gdLst/>
              <a:ahLst/>
              <a:cxnLst/>
              <a:rect l="l" t="t" r="r" b="b"/>
              <a:pathLst>
                <a:path w="965200" h="191770">
                  <a:moveTo>
                    <a:pt x="195833" y="191363"/>
                  </a:moveTo>
                  <a:lnTo>
                    <a:pt x="745502" y="191363"/>
                  </a:lnTo>
                  <a:lnTo>
                    <a:pt x="745502" y="0"/>
                  </a:lnTo>
                  <a:lnTo>
                    <a:pt x="195833" y="0"/>
                  </a:lnTo>
                  <a:lnTo>
                    <a:pt x="195833" y="191363"/>
                  </a:lnTo>
                  <a:close/>
                </a:path>
                <a:path w="965200" h="191770">
                  <a:moveTo>
                    <a:pt x="0" y="91211"/>
                  </a:moveTo>
                  <a:lnTo>
                    <a:pt x="292734" y="91224"/>
                  </a:lnTo>
                </a:path>
                <a:path w="965200" h="191770">
                  <a:moveTo>
                    <a:pt x="639571" y="92113"/>
                  </a:moveTo>
                  <a:lnTo>
                    <a:pt x="964691" y="92113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7965313" y="5699099"/>
              <a:ext cx="211454" cy="193040"/>
            </a:xfrm>
            <a:custGeom>
              <a:avLst/>
              <a:gdLst/>
              <a:ahLst/>
              <a:cxnLst/>
              <a:rect l="l" t="t" r="r" b="b"/>
              <a:pathLst>
                <a:path w="211454" h="193039">
                  <a:moveTo>
                    <a:pt x="0" y="0"/>
                  </a:moveTo>
                  <a:lnTo>
                    <a:pt x="211073" y="192506"/>
                  </a:lnTo>
                </a:path>
              </a:pathLst>
            </a:custGeom>
            <a:ln w="15875">
              <a:solidFill>
                <a:srgbClr val="1D9A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1" name="object 131"/>
          <p:cNvSpPr txBox="1"/>
          <p:nvPr/>
        </p:nvSpPr>
        <p:spPr>
          <a:xfrm>
            <a:off x="7788264" y="5479534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2" name="object 132"/>
          <p:cNvSpPr/>
          <p:nvPr/>
        </p:nvSpPr>
        <p:spPr>
          <a:xfrm>
            <a:off x="8121522" y="5979045"/>
            <a:ext cx="211454" cy="193040"/>
          </a:xfrm>
          <a:custGeom>
            <a:avLst/>
            <a:gdLst/>
            <a:ahLst/>
            <a:cxnLst/>
            <a:rect l="l" t="t" r="r" b="b"/>
            <a:pathLst>
              <a:path w="211454" h="193039">
                <a:moveTo>
                  <a:pt x="0" y="0"/>
                </a:moveTo>
                <a:lnTo>
                  <a:pt x="211200" y="192506"/>
                </a:lnTo>
              </a:path>
            </a:pathLst>
          </a:custGeom>
          <a:ln w="15875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 txBox="1"/>
          <p:nvPr/>
        </p:nvSpPr>
        <p:spPr>
          <a:xfrm>
            <a:off x="8334592" y="6062464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4" name="object 134"/>
          <p:cNvSpPr/>
          <p:nvPr/>
        </p:nvSpPr>
        <p:spPr>
          <a:xfrm>
            <a:off x="7884414" y="5929210"/>
            <a:ext cx="368300" cy="113030"/>
          </a:xfrm>
          <a:custGeom>
            <a:avLst/>
            <a:gdLst/>
            <a:ahLst/>
            <a:cxnLst/>
            <a:rect l="l" t="t" r="r" b="b"/>
            <a:pathLst>
              <a:path w="368300" h="113029">
                <a:moveTo>
                  <a:pt x="0" y="58127"/>
                </a:moveTo>
                <a:lnTo>
                  <a:pt x="24126" y="33593"/>
                </a:lnTo>
                <a:lnTo>
                  <a:pt x="47942" y="13061"/>
                </a:lnTo>
                <a:lnTo>
                  <a:pt x="71187" y="531"/>
                </a:lnTo>
                <a:lnTo>
                  <a:pt x="93599" y="0"/>
                </a:lnTo>
                <a:lnTo>
                  <a:pt x="114298" y="21265"/>
                </a:lnTo>
                <a:lnTo>
                  <a:pt x="133746" y="59291"/>
                </a:lnTo>
                <a:lnTo>
                  <a:pt x="153410" y="95795"/>
                </a:lnTo>
                <a:lnTo>
                  <a:pt x="174751" y="112496"/>
                </a:lnTo>
                <a:lnTo>
                  <a:pt x="198510" y="97380"/>
                </a:lnTo>
                <a:lnTo>
                  <a:pt x="223853" y="62574"/>
                </a:lnTo>
                <a:lnTo>
                  <a:pt x="249600" y="26009"/>
                </a:lnTo>
                <a:lnTo>
                  <a:pt x="274574" y="5613"/>
                </a:lnTo>
                <a:lnTo>
                  <a:pt x="298503" y="6297"/>
                </a:lnTo>
                <a:lnTo>
                  <a:pt x="321992" y="18451"/>
                </a:lnTo>
                <a:lnTo>
                  <a:pt x="345172" y="38251"/>
                </a:lnTo>
                <a:lnTo>
                  <a:pt x="368172" y="61874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5" name="object 135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60133" y="5137086"/>
            <a:ext cx="1357147" cy="1419745"/>
          </a:xfrm>
          <a:prstGeom prst="rect">
            <a:avLst/>
          </a:prstGeom>
        </p:spPr>
      </p:pic>
      <p:sp>
        <p:nvSpPr>
          <p:cNvPr id="136" name="object 136"/>
          <p:cNvSpPr txBox="1"/>
          <p:nvPr/>
        </p:nvSpPr>
        <p:spPr>
          <a:xfrm>
            <a:off x="909465" y="6658076"/>
            <a:ext cx="13398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50" dirty="0">
                <a:latin typeface="Cambria Math"/>
                <a:cs typeface="Cambria Math"/>
              </a:rPr>
              <a:t>x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761143" y="6497997"/>
            <a:ext cx="236854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spc="-50" dirty="0">
                <a:latin typeface="Cambria Math"/>
                <a:cs typeface="Cambria Math"/>
              </a:rPr>
              <a:t>T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138" name="object 138"/>
          <p:cNvSpPr txBox="1"/>
          <p:nvPr/>
        </p:nvSpPr>
        <p:spPr>
          <a:xfrm>
            <a:off x="462049" y="5912385"/>
            <a:ext cx="353695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900" spc="-305" dirty="0">
                <a:latin typeface="Cambria Math"/>
                <a:cs typeface="Cambria Math"/>
              </a:rPr>
              <a:t>Q</a:t>
            </a:r>
            <a:r>
              <a:rPr sz="1650" spc="-457" baseline="-22727" dirty="0">
                <a:latin typeface="Cambria Math"/>
                <a:cs typeface="Cambria Math"/>
              </a:rPr>
              <a:t>x</a:t>
            </a:r>
            <a:endParaRPr sz="1650" baseline="-22727">
              <a:latin typeface="Cambria Math"/>
              <a:cs typeface="Cambria Math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1463664" y="4985714"/>
            <a:ext cx="346075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900" spc="-570" dirty="0">
                <a:latin typeface="Cambria Math"/>
                <a:cs typeface="Cambria Math"/>
              </a:rPr>
              <a:t>Q</a:t>
            </a:r>
            <a:r>
              <a:rPr sz="1650" spc="-89" baseline="-22727" dirty="0">
                <a:latin typeface="Cambria Math"/>
                <a:cs typeface="Cambria Math"/>
              </a:rPr>
              <a:t>z</a:t>
            </a:r>
            <a:endParaRPr sz="1650" baseline="-22727">
              <a:latin typeface="Cambria Math"/>
              <a:cs typeface="Cambria Math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2216608" y="6251236"/>
            <a:ext cx="13652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50" dirty="0">
                <a:latin typeface="Cambria Math"/>
                <a:cs typeface="Cambria Math"/>
              </a:rPr>
              <a:t>y</a:t>
            </a:r>
            <a:endParaRPr sz="1100">
              <a:latin typeface="Cambria Math"/>
              <a:cs typeface="Cambria Math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2060409" y="6091175"/>
            <a:ext cx="236854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spc="-50" dirty="0">
                <a:latin typeface="Cambria Math"/>
                <a:cs typeface="Cambria Math"/>
              </a:rPr>
              <a:t>T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1850391" y="5431851"/>
            <a:ext cx="364490" cy="3136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900" spc="-25" dirty="0">
                <a:latin typeface="Cambria Math"/>
                <a:cs typeface="Cambria Math"/>
              </a:rPr>
              <a:t>Q</a:t>
            </a:r>
            <a:r>
              <a:rPr sz="1650" spc="-37" baseline="-22727" dirty="0">
                <a:latin typeface="Cambria Math"/>
                <a:cs typeface="Cambria Math"/>
              </a:rPr>
              <a:t>y</a:t>
            </a:r>
            <a:endParaRPr sz="1650" baseline="-22727">
              <a:latin typeface="Cambria Math"/>
              <a:cs typeface="Cambria Math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827501" y="4936074"/>
            <a:ext cx="325120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900" spc="-620" dirty="0">
                <a:latin typeface="Cambria Math"/>
                <a:cs typeface="Cambria Math"/>
              </a:rPr>
              <a:t>T</a:t>
            </a:r>
            <a:r>
              <a:rPr sz="1650" spc="-82" baseline="-22727" dirty="0">
                <a:latin typeface="Cambria Math"/>
                <a:cs typeface="Cambria Math"/>
              </a:rPr>
              <a:t>z</a:t>
            </a:r>
            <a:endParaRPr sz="1650" baseline="-22727">
              <a:latin typeface="Cambria Math"/>
              <a:cs typeface="Cambria Math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8728329" y="120522"/>
            <a:ext cx="297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1.12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217728" y="120522"/>
            <a:ext cx="314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NHH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1523" y="1331594"/>
            <a:ext cx="8641080" cy="5417820"/>
            <a:chOff x="251523" y="1331594"/>
            <a:chExt cx="8641080" cy="54178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45686" y="2204669"/>
              <a:ext cx="4464685" cy="446468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596001" y="3183762"/>
              <a:ext cx="2693035" cy="1866900"/>
            </a:xfrm>
            <a:custGeom>
              <a:avLst/>
              <a:gdLst/>
              <a:ahLst/>
              <a:cxnLst/>
              <a:rect l="l" t="t" r="r" b="b"/>
              <a:pathLst>
                <a:path w="2693034" h="1866900">
                  <a:moveTo>
                    <a:pt x="114300" y="457073"/>
                  </a:moveTo>
                  <a:lnTo>
                    <a:pt x="2693034" y="0"/>
                  </a:lnTo>
                </a:path>
                <a:path w="2693034" h="1866900">
                  <a:moveTo>
                    <a:pt x="114300" y="457073"/>
                  </a:moveTo>
                  <a:lnTo>
                    <a:pt x="533400" y="1866773"/>
                  </a:lnTo>
                </a:path>
                <a:path w="2693034" h="1866900">
                  <a:moveTo>
                    <a:pt x="533400" y="1866773"/>
                  </a:moveTo>
                  <a:lnTo>
                    <a:pt x="0" y="1785747"/>
                  </a:lnTo>
                </a:path>
              </a:pathLst>
            </a:custGeom>
            <a:ln w="41275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72909" y="3382137"/>
              <a:ext cx="144018" cy="14401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66559" y="3375787"/>
              <a:ext cx="156718" cy="15671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61532" y="3573018"/>
              <a:ext cx="144017" cy="14401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55182" y="3566668"/>
              <a:ext cx="156717" cy="15671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57391" y="4969510"/>
              <a:ext cx="143891" cy="14401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51041" y="4963160"/>
              <a:ext cx="156591" cy="15671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45506" y="4968874"/>
              <a:ext cx="288036" cy="16332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445506" y="4968874"/>
              <a:ext cx="288290" cy="163830"/>
            </a:xfrm>
            <a:custGeom>
              <a:avLst/>
              <a:gdLst/>
              <a:ahLst/>
              <a:cxnLst/>
              <a:rect l="l" t="t" r="r" b="b"/>
              <a:pathLst>
                <a:path w="288289" h="163829">
                  <a:moveTo>
                    <a:pt x="0" y="163322"/>
                  </a:moveTo>
                  <a:lnTo>
                    <a:pt x="144018" y="0"/>
                  </a:lnTo>
                  <a:lnTo>
                    <a:pt x="288036" y="163322"/>
                  </a:lnTo>
                  <a:lnTo>
                    <a:pt x="0" y="163322"/>
                  </a:lnTo>
                  <a:close/>
                </a:path>
              </a:pathLst>
            </a:custGeom>
            <a:ln w="12700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523991" y="4897628"/>
              <a:ext cx="143891" cy="14389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17641" y="4891278"/>
              <a:ext cx="156591" cy="15659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57876" y="5129212"/>
              <a:ext cx="456831" cy="8096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357876" y="5124894"/>
              <a:ext cx="457200" cy="15875"/>
            </a:xfrm>
            <a:custGeom>
              <a:avLst/>
              <a:gdLst/>
              <a:ahLst/>
              <a:cxnLst/>
              <a:rect l="l" t="t" r="r" b="b"/>
              <a:pathLst>
                <a:path w="457200" h="15875">
                  <a:moveTo>
                    <a:pt x="0" y="15875"/>
                  </a:moveTo>
                  <a:lnTo>
                    <a:pt x="456819" y="15875"/>
                  </a:lnTo>
                  <a:lnTo>
                    <a:pt x="456819" y="0"/>
                  </a:lnTo>
                  <a:lnTo>
                    <a:pt x="0" y="0"/>
                  </a:lnTo>
                  <a:lnTo>
                    <a:pt x="0" y="15875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687824" y="2807842"/>
              <a:ext cx="2150745" cy="3848735"/>
            </a:xfrm>
            <a:custGeom>
              <a:avLst/>
              <a:gdLst/>
              <a:ahLst/>
              <a:cxnLst/>
              <a:rect l="l" t="t" r="r" b="b"/>
              <a:pathLst>
                <a:path w="2150745" h="3848734">
                  <a:moveTo>
                    <a:pt x="408559" y="2084324"/>
                  </a:moveTo>
                  <a:lnTo>
                    <a:pt x="379653" y="2092871"/>
                  </a:lnTo>
                  <a:lnTo>
                    <a:pt x="44119" y="956729"/>
                  </a:lnTo>
                  <a:lnTo>
                    <a:pt x="73025" y="948182"/>
                  </a:lnTo>
                  <a:lnTo>
                    <a:pt x="70612" y="944499"/>
                  </a:lnTo>
                  <a:lnTo>
                    <a:pt x="508" y="837184"/>
                  </a:lnTo>
                  <a:lnTo>
                    <a:pt x="88" y="944499"/>
                  </a:lnTo>
                  <a:lnTo>
                    <a:pt x="0" y="969772"/>
                  </a:lnTo>
                  <a:lnTo>
                    <a:pt x="28854" y="961237"/>
                  </a:lnTo>
                  <a:lnTo>
                    <a:pt x="364426" y="2097379"/>
                  </a:lnTo>
                  <a:lnTo>
                    <a:pt x="335534" y="2105914"/>
                  </a:lnTo>
                  <a:lnTo>
                    <a:pt x="408051" y="2216912"/>
                  </a:lnTo>
                  <a:lnTo>
                    <a:pt x="408457" y="2109597"/>
                  </a:lnTo>
                  <a:lnTo>
                    <a:pt x="408559" y="2084324"/>
                  </a:lnTo>
                  <a:close/>
                </a:path>
                <a:path w="2150745" h="3848734">
                  <a:moveTo>
                    <a:pt x="1454912" y="3829989"/>
                  </a:moveTo>
                  <a:lnTo>
                    <a:pt x="1435227" y="3820680"/>
                  </a:lnTo>
                  <a:lnTo>
                    <a:pt x="1335024" y="3773259"/>
                  </a:lnTo>
                  <a:lnTo>
                    <a:pt x="1330490" y="3803065"/>
                  </a:lnTo>
                  <a:lnTo>
                    <a:pt x="1048296" y="3760254"/>
                  </a:lnTo>
                  <a:lnTo>
                    <a:pt x="1048588" y="3758336"/>
                  </a:lnTo>
                  <a:lnTo>
                    <a:pt x="1052830" y="3730421"/>
                  </a:lnTo>
                  <a:lnTo>
                    <a:pt x="921512" y="3749027"/>
                  </a:lnTo>
                  <a:lnTo>
                    <a:pt x="1041400" y="3805758"/>
                  </a:lnTo>
                  <a:lnTo>
                    <a:pt x="1045921" y="3775926"/>
                  </a:lnTo>
                  <a:lnTo>
                    <a:pt x="1328115" y="3818775"/>
                  </a:lnTo>
                  <a:lnTo>
                    <a:pt x="1323594" y="3848595"/>
                  </a:lnTo>
                  <a:lnTo>
                    <a:pt x="1454912" y="3829989"/>
                  </a:lnTo>
                  <a:close/>
                </a:path>
                <a:path w="2150745" h="3848734">
                  <a:moveTo>
                    <a:pt x="2150618" y="16002"/>
                  </a:moveTo>
                  <a:lnTo>
                    <a:pt x="2018919" y="0"/>
                  </a:lnTo>
                  <a:lnTo>
                    <a:pt x="2024037" y="29730"/>
                  </a:lnTo>
                  <a:lnTo>
                    <a:pt x="1130592" y="184035"/>
                  </a:lnTo>
                  <a:lnTo>
                    <a:pt x="1125474" y="154305"/>
                  </a:lnTo>
                  <a:lnTo>
                    <a:pt x="1006856" y="213360"/>
                  </a:lnTo>
                  <a:lnTo>
                    <a:pt x="1138428" y="229362"/>
                  </a:lnTo>
                  <a:lnTo>
                    <a:pt x="1133665" y="201803"/>
                  </a:lnTo>
                  <a:lnTo>
                    <a:pt x="1133297" y="199644"/>
                  </a:lnTo>
                  <a:lnTo>
                    <a:pt x="2026742" y="45364"/>
                  </a:lnTo>
                  <a:lnTo>
                    <a:pt x="2031873" y="75057"/>
                  </a:lnTo>
                  <a:lnTo>
                    <a:pt x="2127377" y="27559"/>
                  </a:lnTo>
                  <a:lnTo>
                    <a:pt x="2150618" y="1600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90593" y="2663570"/>
              <a:ext cx="2354580" cy="4077970"/>
            </a:xfrm>
            <a:custGeom>
              <a:avLst/>
              <a:gdLst/>
              <a:ahLst/>
              <a:cxnLst/>
              <a:rect l="l" t="t" r="r" b="b"/>
              <a:pathLst>
                <a:path w="2354579" h="4077970">
                  <a:moveTo>
                    <a:pt x="2354326" y="0"/>
                  </a:moveTo>
                  <a:lnTo>
                    <a:pt x="2354326" y="801751"/>
                  </a:lnTo>
                </a:path>
                <a:path w="2354579" h="4077970">
                  <a:moveTo>
                    <a:pt x="1219708" y="203073"/>
                  </a:moveTo>
                  <a:lnTo>
                    <a:pt x="1219708" y="977264"/>
                  </a:lnTo>
                </a:path>
                <a:path w="2354579" h="4077970">
                  <a:moveTo>
                    <a:pt x="1233551" y="977264"/>
                  </a:moveTo>
                  <a:lnTo>
                    <a:pt x="0" y="977264"/>
                  </a:lnTo>
                </a:path>
                <a:path w="2354579" h="4077970">
                  <a:moveTo>
                    <a:pt x="1656842" y="2361184"/>
                  </a:moveTo>
                  <a:lnTo>
                    <a:pt x="423291" y="2361184"/>
                  </a:lnTo>
                </a:path>
                <a:path w="2354579" h="4077970">
                  <a:moveTo>
                    <a:pt x="1105408" y="2305304"/>
                  </a:moveTo>
                  <a:lnTo>
                    <a:pt x="1101979" y="4005783"/>
                  </a:lnTo>
                </a:path>
                <a:path w="2354579" h="4077970">
                  <a:moveTo>
                    <a:pt x="1665605" y="2361184"/>
                  </a:moveTo>
                  <a:lnTo>
                    <a:pt x="1665605" y="4077796"/>
                  </a:lnTo>
                </a:path>
              </a:pathLst>
            </a:custGeom>
            <a:ln w="158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30026" y="4075049"/>
              <a:ext cx="632447" cy="61450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641339" y="6191440"/>
              <a:ext cx="469430" cy="49991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917691" y="2505655"/>
              <a:ext cx="567296" cy="59047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51523" y="1331594"/>
              <a:ext cx="8641080" cy="1287780"/>
            </a:xfrm>
            <a:custGeom>
              <a:avLst/>
              <a:gdLst/>
              <a:ahLst/>
              <a:cxnLst/>
              <a:rect l="l" t="t" r="r" b="b"/>
              <a:pathLst>
                <a:path w="8641080" h="1287780">
                  <a:moveTo>
                    <a:pt x="8640953" y="0"/>
                  </a:moveTo>
                  <a:lnTo>
                    <a:pt x="0" y="0"/>
                  </a:lnTo>
                  <a:lnTo>
                    <a:pt x="0" y="1287526"/>
                  </a:lnTo>
                  <a:lnTo>
                    <a:pt x="8640953" y="1287526"/>
                  </a:lnTo>
                  <a:lnTo>
                    <a:pt x="86409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2552445" y="118110"/>
            <a:ext cx="60553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40" dirty="0"/>
              <a:t> </a:t>
            </a:r>
            <a:r>
              <a:rPr dirty="0"/>
              <a:t>1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TÍCH</a:t>
            </a:r>
            <a:r>
              <a:rPr spc="-60" dirty="0"/>
              <a:t> </a:t>
            </a:r>
            <a:r>
              <a:rPr dirty="0"/>
              <a:t>CẤU</a:t>
            </a:r>
            <a:r>
              <a:rPr spc="-70" dirty="0"/>
              <a:t> </a:t>
            </a:r>
            <a:r>
              <a:rPr dirty="0"/>
              <a:t>TRÚC</a:t>
            </a:r>
            <a:r>
              <a:rPr spc="-55" dirty="0"/>
              <a:t> </a:t>
            </a:r>
            <a:r>
              <a:rPr dirty="0"/>
              <a:t>CƠ</a:t>
            </a:r>
            <a:r>
              <a:rPr spc="-50" dirty="0"/>
              <a:t> </a:t>
            </a:r>
            <a:r>
              <a:rPr spc="-25" dirty="0"/>
              <a:t>CẤU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330200" y="477138"/>
            <a:ext cx="8484870" cy="2091689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455295" lvl="1" indent="-442595" algn="just">
              <a:lnSpc>
                <a:spcPct val="100000"/>
              </a:lnSpc>
              <a:spcBef>
                <a:spcPts val="1010"/>
              </a:spcBef>
              <a:buAutoNum type="arabicPeriod" startAt="2"/>
              <a:tabLst>
                <a:tab pos="455295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Các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khái</a:t>
            </a:r>
            <a:r>
              <a:rPr sz="18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niệm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và</a:t>
            </a:r>
            <a:r>
              <a:rPr sz="1800" b="1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định</a:t>
            </a:r>
            <a:r>
              <a:rPr sz="18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nghĩa</a:t>
            </a:r>
            <a:r>
              <a:rPr sz="18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cơ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bản</a:t>
            </a:r>
            <a:endParaRPr sz="1800">
              <a:latin typeface="Arial"/>
              <a:cs typeface="Arial"/>
            </a:endParaRPr>
          </a:p>
          <a:p>
            <a:pPr marL="645160" lvl="2" indent="-632460" algn="just">
              <a:lnSpc>
                <a:spcPct val="100000"/>
              </a:lnSpc>
              <a:spcBef>
                <a:spcPts val="915"/>
              </a:spcBef>
              <a:buAutoNum type="arabicPeriod" startAt="5"/>
              <a:tabLst>
                <a:tab pos="645160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Lược</a:t>
            </a:r>
            <a:r>
              <a:rPr sz="1800" b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đồ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khâu,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khớp</a:t>
            </a:r>
            <a:endParaRPr sz="1800">
              <a:latin typeface="Arial"/>
              <a:cs typeface="Arial"/>
            </a:endParaRPr>
          </a:p>
          <a:p>
            <a:pPr marL="297815" marR="5080" lvl="3" indent="-285750" algn="just">
              <a:lnSpc>
                <a:spcPct val="150000"/>
              </a:lnSpc>
              <a:spcBef>
                <a:spcPts val="400"/>
              </a:spcBef>
              <a:buClr>
                <a:srgbClr val="1D9A78"/>
              </a:buClr>
              <a:buFont typeface="Wingdings"/>
              <a:buChar char=""/>
              <a:tabLst>
                <a:tab pos="299085" algn="l"/>
              </a:tabLst>
            </a:pPr>
            <a:r>
              <a:rPr sz="1800" b="1" i="1" dirty="0">
                <a:latin typeface="Arial"/>
                <a:cs typeface="Arial"/>
              </a:rPr>
              <a:t>Lược</a:t>
            </a:r>
            <a:r>
              <a:rPr sz="1800" b="1" i="1" spc="12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đồ</a:t>
            </a:r>
            <a:r>
              <a:rPr sz="1800" b="1" i="1" spc="13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khâu:</a:t>
            </a:r>
            <a:r>
              <a:rPr sz="1800" b="1" i="1" spc="1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Biểu</a:t>
            </a:r>
            <a:r>
              <a:rPr sz="1800" spc="1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diễn</a:t>
            </a:r>
            <a:r>
              <a:rPr sz="1800" spc="1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các</a:t>
            </a:r>
            <a:r>
              <a:rPr sz="1800" spc="1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thành</a:t>
            </a:r>
            <a:r>
              <a:rPr sz="1800" spc="1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phần</a:t>
            </a:r>
            <a:r>
              <a:rPr sz="1800" spc="1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khớp</a:t>
            </a:r>
            <a:r>
              <a:rPr sz="1800" spc="1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động</a:t>
            </a:r>
            <a:r>
              <a:rPr sz="1800" spc="1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trên</a:t>
            </a:r>
            <a:r>
              <a:rPr sz="1800" spc="1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khâu</a:t>
            </a:r>
            <a:r>
              <a:rPr sz="1800" spc="1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và</a:t>
            </a:r>
            <a:r>
              <a:rPr sz="1800" spc="1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vị</a:t>
            </a:r>
            <a:r>
              <a:rPr sz="1800" spc="1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trí</a:t>
            </a:r>
            <a:r>
              <a:rPr sz="1800" spc="13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tương 	</a:t>
            </a:r>
            <a:r>
              <a:rPr sz="1800" dirty="0">
                <a:latin typeface="Arial"/>
                <a:cs typeface="Arial"/>
              </a:rPr>
              <a:t>quan</a:t>
            </a:r>
            <a:r>
              <a:rPr sz="1800" spc="1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giữa</a:t>
            </a:r>
            <a:r>
              <a:rPr sz="1800" spc="1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chúng.</a:t>
            </a:r>
            <a:r>
              <a:rPr sz="1800" spc="1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Các</a:t>
            </a:r>
            <a:r>
              <a:rPr sz="1800" spc="1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thông</a:t>
            </a:r>
            <a:r>
              <a:rPr sz="1800" spc="18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số</a:t>
            </a:r>
            <a:r>
              <a:rPr sz="1800" spc="18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xác</a:t>
            </a:r>
            <a:r>
              <a:rPr sz="1800" spc="1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định</a:t>
            </a:r>
            <a:r>
              <a:rPr sz="1800" spc="180" dirty="0"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vị</a:t>
            </a:r>
            <a:r>
              <a:rPr sz="1800" spc="1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trí</a:t>
            </a:r>
            <a:r>
              <a:rPr sz="1800" spc="1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tương</a:t>
            </a:r>
            <a:r>
              <a:rPr sz="1800" spc="1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đối</a:t>
            </a:r>
            <a:r>
              <a:rPr sz="1800" spc="1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giữa</a:t>
            </a:r>
            <a:r>
              <a:rPr sz="1800" spc="1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các</a:t>
            </a:r>
            <a:r>
              <a:rPr sz="1800" spc="1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thành</a:t>
            </a:r>
            <a:r>
              <a:rPr sz="1800" spc="1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phần 	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khớp</a:t>
            </a:r>
            <a:r>
              <a:rPr sz="1800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động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trên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cùng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một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khâu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gọi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kích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thước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động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khâu.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6" name="object 26"/>
          <p:cNvGrpSpPr/>
          <p:nvPr/>
        </p:nvGrpSpPr>
        <p:grpSpPr>
          <a:xfrm>
            <a:off x="930244" y="2684856"/>
            <a:ext cx="3117215" cy="3912870"/>
            <a:chOff x="930244" y="2684856"/>
            <a:chExt cx="3117215" cy="3912870"/>
          </a:xfrm>
        </p:grpSpPr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30244" y="2684856"/>
              <a:ext cx="1533326" cy="391248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700783" y="3310890"/>
              <a:ext cx="2346960" cy="2674620"/>
            </a:xfrm>
            <a:custGeom>
              <a:avLst/>
              <a:gdLst/>
              <a:ahLst/>
              <a:cxnLst/>
              <a:rect l="l" t="t" r="r" b="b"/>
              <a:pathLst>
                <a:path w="2346960" h="2674620">
                  <a:moveTo>
                    <a:pt x="0" y="0"/>
                  </a:moveTo>
                  <a:lnTo>
                    <a:pt x="2346579" y="0"/>
                  </a:lnTo>
                </a:path>
                <a:path w="2346960" h="2674620">
                  <a:moveTo>
                    <a:pt x="0" y="2674315"/>
                  </a:moveTo>
                  <a:lnTo>
                    <a:pt x="2346579" y="2674315"/>
                  </a:lnTo>
                </a:path>
              </a:pathLst>
            </a:custGeom>
            <a:ln w="127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709800" y="2691257"/>
              <a:ext cx="0" cy="3785235"/>
            </a:xfrm>
            <a:custGeom>
              <a:avLst/>
              <a:gdLst/>
              <a:ahLst/>
              <a:cxnLst/>
              <a:rect l="l" t="t" r="r" b="b"/>
              <a:pathLst>
                <a:path h="3785235">
                  <a:moveTo>
                    <a:pt x="0" y="0"/>
                  </a:moveTo>
                  <a:lnTo>
                    <a:pt x="0" y="3784955"/>
                  </a:lnTo>
                </a:path>
              </a:pathLst>
            </a:custGeom>
            <a:ln w="19050">
              <a:solidFill>
                <a:srgbClr val="FF0000"/>
              </a:solidFill>
              <a:prstDash val="lg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014725" y="3212338"/>
              <a:ext cx="205359" cy="20548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014725" y="5885954"/>
              <a:ext cx="205359" cy="205397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3857116" y="3308858"/>
              <a:ext cx="76200" cy="2673985"/>
            </a:xfrm>
            <a:custGeom>
              <a:avLst/>
              <a:gdLst/>
              <a:ahLst/>
              <a:cxnLst/>
              <a:rect l="l" t="t" r="r" b="b"/>
              <a:pathLst>
                <a:path w="76200" h="2673985">
                  <a:moveTo>
                    <a:pt x="31750" y="2546616"/>
                  </a:moveTo>
                  <a:lnTo>
                    <a:pt x="0" y="2546616"/>
                  </a:lnTo>
                  <a:lnTo>
                    <a:pt x="38100" y="2673629"/>
                  </a:lnTo>
                  <a:lnTo>
                    <a:pt x="72386" y="2559329"/>
                  </a:lnTo>
                  <a:lnTo>
                    <a:pt x="31750" y="2559329"/>
                  </a:lnTo>
                  <a:lnTo>
                    <a:pt x="31750" y="2546616"/>
                  </a:lnTo>
                  <a:close/>
                </a:path>
                <a:path w="76200" h="2673985">
                  <a:moveTo>
                    <a:pt x="44450" y="114300"/>
                  </a:moveTo>
                  <a:lnTo>
                    <a:pt x="31750" y="114300"/>
                  </a:lnTo>
                  <a:lnTo>
                    <a:pt x="31750" y="2559329"/>
                  </a:lnTo>
                  <a:lnTo>
                    <a:pt x="44450" y="2559329"/>
                  </a:lnTo>
                  <a:lnTo>
                    <a:pt x="44450" y="114300"/>
                  </a:lnTo>
                  <a:close/>
                </a:path>
                <a:path w="76200" h="2673985">
                  <a:moveTo>
                    <a:pt x="76200" y="2546616"/>
                  </a:moveTo>
                  <a:lnTo>
                    <a:pt x="44450" y="2546616"/>
                  </a:lnTo>
                  <a:lnTo>
                    <a:pt x="44450" y="2559329"/>
                  </a:lnTo>
                  <a:lnTo>
                    <a:pt x="72386" y="2559329"/>
                  </a:lnTo>
                  <a:lnTo>
                    <a:pt x="76200" y="2546616"/>
                  </a:lnTo>
                  <a:close/>
                </a:path>
                <a:path w="76200" h="2673985">
                  <a:moveTo>
                    <a:pt x="38100" y="0"/>
                  </a:moveTo>
                  <a:lnTo>
                    <a:pt x="0" y="127000"/>
                  </a:lnTo>
                  <a:lnTo>
                    <a:pt x="31750" y="127000"/>
                  </a:lnTo>
                  <a:lnTo>
                    <a:pt x="31750" y="114300"/>
                  </a:lnTo>
                  <a:lnTo>
                    <a:pt x="72389" y="114300"/>
                  </a:lnTo>
                  <a:lnTo>
                    <a:pt x="38100" y="0"/>
                  </a:lnTo>
                  <a:close/>
                </a:path>
                <a:path w="76200" h="2673985">
                  <a:moveTo>
                    <a:pt x="72389" y="114300"/>
                  </a:moveTo>
                  <a:lnTo>
                    <a:pt x="44450" y="114300"/>
                  </a:lnTo>
                  <a:lnTo>
                    <a:pt x="44450" y="127000"/>
                  </a:lnTo>
                  <a:lnTo>
                    <a:pt x="76200" y="127000"/>
                  </a:lnTo>
                  <a:lnTo>
                    <a:pt x="72389" y="1143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/>
          <p:nvPr/>
        </p:nvSpPr>
        <p:spPr>
          <a:xfrm>
            <a:off x="3117469" y="3405123"/>
            <a:ext cx="0" cy="2493645"/>
          </a:xfrm>
          <a:custGeom>
            <a:avLst/>
            <a:gdLst/>
            <a:ahLst/>
            <a:cxnLst/>
            <a:rect l="l" t="t" r="r" b="b"/>
            <a:pathLst>
              <a:path h="2493645">
                <a:moveTo>
                  <a:pt x="0" y="0"/>
                </a:moveTo>
                <a:lnTo>
                  <a:pt x="0" y="2493530"/>
                </a:lnTo>
              </a:path>
            </a:pathLst>
          </a:custGeom>
          <a:ln w="2540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2785682" y="3854629"/>
            <a:ext cx="281305" cy="14439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dirty="0">
                <a:latin typeface="Arial"/>
                <a:cs typeface="Arial"/>
              </a:rPr>
              <a:t>Lược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đồ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khâu</a:t>
            </a:r>
            <a:endParaRPr sz="18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577273" y="3775084"/>
            <a:ext cx="281305" cy="172275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dirty="0">
                <a:latin typeface="Arial"/>
                <a:cs typeface="Arial"/>
              </a:rPr>
              <a:t>Kích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thước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động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728329" y="120522"/>
            <a:ext cx="297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1.13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17728" y="120522"/>
            <a:ext cx="314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NHH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40" dirty="0"/>
              <a:t> </a:t>
            </a:r>
            <a:r>
              <a:rPr dirty="0"/>
              <a:t>1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TÍCH</a:t>
            </a:r>
            <a:r>
              <a:rPr spc="-60" dirty="0"/>
              <a:t> </a:t>
            </a:r>
            <a:r>
              <a:rPr dirty="0"/>
              <a:t>CẤU</a:t>
            </a:r>
            <a:r>
              <a:rPr spc="-70" dirty="0"/>
              <a:t> </a:t>
            </a:r>
            <a:r>
              <a:rPr dirty="0"/>
              <a:t>TRÚC</a:t>
            </a:r>
            <a:r>
              <a:rPr spc="-55" dirty="0"/>
              <a:t> </a:t>
            </a:r>
            <a:r>
              <a:rPr dirty="0"/>
              <a:t>CƠ</a:t>
            </a:r>
            <a:r>
              <a:rPr spc="-50" dirty="0"/>
              <a:t> </a:t>
            </a:r>
            <a:r>
              <a:rPr spc="-25" dirty="0"/>
              <a:t>CẤU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0200" y="480186"/>
            <a:ext cx="5347970" cy="1250315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455295" lvl="1" indent="-442595">
              <a:lnSpc>
                <a:spcPct val="100000"/>
              </a:lnSpc>
              <a:spcBef>
                <a:spcPts val="1010"/>
              </a:spcBef>
              <a:buAutoNum type="arabicPeriod" startAt="2"/>
              <a:tabLst>
                <a:tab pos="455295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Các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khái</a:t>
            </a:r>
            <a:r>
              <a:rPr sz="18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niệm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và</a:t>
            </a:r>
            <a:r>
              <a:rPr sz="1800" b="1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định</a:t>
            </a:r>
            <a:r>
              <a:rPr sz="18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nghĩa</a:t>
            </a:r>
            <a:r>
              <a:rPr sz="18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cơ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bản</a:t>
            </a:r>
            <a:endParaRPr sz="1800">
              <a:latin typeface="Arial"/>
              <a:cs typeface="Arial"/>
            </a:endParaRPr>
          </a:p>
          <a:p>
            <a:pPr marL="645160" lvl="2" indent="-632460">
              <a:lnSpc>
                <a:spcPct val="100000"/>
              </a:lnSpc>
              <a:spcBef>
                <a:spcPts val="915"/>
              </a:spcBef>
              <a:buAutoNum type="arabicPeriod" startAt="6"/>
              <a:tabLst>
                <a:tab pos="645160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Chuỗi</a:t>
            </a:r>
            <a:r>
              <a:rPr sz="18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động,</a:t>
            </a:r>
            <a:r>
              <a:rPr sz="18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cơ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cấu,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lược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đồ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cơ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cấu</a:t>
            </a:r>
            <a:endParaRPr sz="1800">
              <a:latin typeface="Arial"/>
              <a:cs typeface="Arial"/>
            </a:endParaRPr>
          </a:p>
          <a:p>
            <a:pPr marL="298450" lvl="3" indent="-285750">
              <a:lnSpc>
                <a:spcPct val="100000"/>
              </a:lnSpc>
              <a:spcBef>
                <a:spcPts val="1335"/>
              </a:spcBef>
              <a:buClr>
                <a:srgbClr val="1D9A78"/>
              </a:buClr>
              <a:buFont typeface="Wingdings"/>
              <a:buChar char=""/>
              <a:tabLst>
                <a:tab pos="298450" algn="l"/>
              </a:tabLst>
            </a:pPr>
            <a:r>
              <a:rPr sz="1800" b="1" i="1" dirty="0">
                <a:latin typeface="Arial"/>
                <a:cs typeface="Arial"/>
              </a:rPr>
              <a:t>Chuỗi</a:t>
            </a:r>
            <a:r>
              <a:rPr sz="1800" b="1" i="1" spc="-3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động:</a:t>
            </a:r>
            <a:r>
              <a:rPr sz="1800" b="1" i="1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Gồm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nhiều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khâu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nối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động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với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nhau.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071364" y="1850897"/>
            <a:ext cx="1774189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Chuỗi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động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hở: </a:t>
            </a:r>
            <a:r>
              <a:rPr sz="1800" dirty="0">
                <a:latin typeface="Arial"/>
                <a:cs typeface="Arial"/>
              </a:rPr>
              <a:t>Có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khâu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chỉ</a:t>
            </a:r>
            <a:r>
              <a:rPr sz="1800" spc="-20" dirty="0">
                <a:latin typeface="Arial"/>
                <a:cs typeface="Arial"/>
              </a:rPr>
              <a:t> nối </a:t>
            </a:r>
            <a:r>
              <a:rPr sz="1800" dirty="0">
                <a:latin typeface="Arial"/>
                <a:cs typeface="Arial"/>
              </a:rPr>
              <a:t>với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một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khâu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duy </a:t>
            </a:r>
            <a:r>
              <a:rPr sz="1800" spc="-10" dirty="0">
                <a:latin typeface="Arial"/>
                <a:cs typeface="Arial"/>
              </a:rPr>
              <a:t>nhất.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572000" y="1916176"/>
            <a:ext cx="0" cy="3416300"/>
          </a:xfrm>
          <a:custGeom>
            <a:avLst/>
            <a:gdLst/>
            <a:ahLst/>
            <a:cxnLst/>
            <a:rect l="l" t="t" r="r" b="b"/>
            <a:pathLst>
              <a:path h="3416300">
                <a:moveTo>
                  <a:pt x="0" y="0"/>
                </a:moveTo>
                <a:lnTo>
                  <a:pt x="0" y="3415919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90473" y="1850593"/>
            <a:ext cx="4199890" cy="56451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299085" marR="5080" indent="-287020">
              <a:lnSpc>
                <a:spcPts val="2080"/>
              </a:lnSpc>
              <a:spcBef>
                <a:spcPts val="235"/>
              </a:spcBef>
              <a:buChar char="•"/>
              <a:tabLst>
                <a:tab pos="299085" algn="l"/>
                <a:tab pos="4106545" algn="l"/>
              </a:tabLst>
            </a:pPr>
            <a:r>
              <a:rPr sz="2700" baseline="3086" dirty="0">
                <a:latin typeface="Arial"/>
                <a:cs typeface="Arial"/>
              </a:rPr>
              <a:t>Chuỗi</a:t>
            </a:r>
            <a:r>
              <a:rPr sz="2700" spc="-30" baseline="3086" dirty="0">
                <a:latin typeface="Arial"/>
                <a:cs typeface="Arial"/>
              </a:rPr>
              <a:t> </a:t>
            </a:r>
            <a:r>
              <a:rPr sz="2700" baseline="3086" dirty="0">
                <a:latin typeface="Arial"/>
                <a:cs typeface="Arial"/>
              </a:rPr>
              <a:t>động</a:t>
            </a:r>
            <a:r>
              <a:rPr sz="2700" spc="-22" baseline="3086" dirty="0">
                <a:latin typeface="Arial"/>
                <a:cs typeface="Arial"/>
              </a:rPr>
              <a:t> </a:t>
            </a:r>
            <a:r>
              <a:rPr sz="2700" baseline="3086" dirty="0">
                <a:latin typeface="Arial"/>
                <a:cs typeface="Arial"/>
              </a:rPr>
              <a:t>kín:</a:t>
            </a:r>
            <a:r>
              <a:rPr sz="2700" spc="-37" baseline="3086" dirty="0">
                <a:latin typeface="Arial"/>
                <a:cs typeface="Arial"/>
              </a:rPr>
              <a:t> </a:t>
            </a:r>
            <a:r>
              <a:rPr sz="2700" baseline="3086" dirty="0">
                <a:latin typeface="Arial"/>
                <a:cs typeface="Arial"/>
              </a:rPr>
              <a:t>Mỗi</a:t>
            </a:r>
            <a:r>
              <a:rPr sz="2700" spc="-30" baseline="3086" dirty="0">
                <a:latin typeface="Arial"/>
                <a:cs typeface="Arial"/>
              </a:rPr>
              <a:t> </a:t>
            </a:r>
            <a:r>
              <a:rPr sz="2700" baseline="3086" dirty="0">
                <a:latin typeface="Arial"/>
                <a:cs typeface="Arial"/>
              </a:rPr>
              <a:t>khâu</a:t>
            </a:r>
            <a:r>
              <a:rPr sz="2700" spc="-22" baseline="3086" dirty="0">
                <a:latin typeface="Arial"/>
                <a:cs typeface="Arial"/>
              </a:rPr>
              <a:t> </a:t>
            </a:r>
            <a:r>
              <a:rPr sz="2700" spc="-30" baseline="3086" dirty="0">
                <a:latin typeface="Arial"/>
                <a:cs typeface="Arial"/>
              </a:rPr>
              <a:t>được</a:t>
            </a:r>
            <a:r>
              <a:rPr sz="2700" baseline="3086" dirty="0">
                <a:latin typeface="Arial"/>
                <a:cs typeface="Arial"/>
              </a:rPr>
              <a:t>	</a:t>
            </a:r>
            <a:r>
              <a:rPr sz="1800" spc="-60" dirty="0">
                <a:latin typeface="Arial"/>
                <a:cs typeface="Arial"/>
              </a:rPr>
              <a:t>• </a:t>
            </a:r>
            <a:r>
              <a:rPr sz="1800" dirty="0">
                <a:latin typeface="Arial"/>
                <a:cs typeface="Arial"/>
              </a:rPr>
              <a:t>nối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với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ít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nhất 2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khâu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khác.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876062" y="1788769"/>
            <a:ext cx="2082164" cy="3914140"/>
            <a:chOff x="6876062" y="1788769"/>
            <a:chExt cx="2082164" cy="391414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76062" y="1788769"/>
              <a:ext cx="2081882" cy="391401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023298" y="3482101"/>
              <a:ext cx="610870" cy="898525"/>
            </a:xfrm>
            <a:custGeom>
              <a:avLst/>
              <a:gdLst/>
              <a:ahLst/>
              <a:cxnLst/>
              <a:rect l="l" t="t" r="r" b="b"/>
              <a:pathLst>
                <a:path w="610870" h="898525">
                  <a:moveTo>
                    <a:pt x="67871" y="553831"/>
                  </a:moveTo>
                  <a:lnTo>
                    <a:pt x="45579" y="498238"/>
                  </a:lnTo>
                  <a:lnTo>
                    <a:pt x="27735" y="443107"/>
                  </a:lnTo>
                  <a:lnTo>
                    <a:pt x="14298" y="388947"/>
                  </a:lnTo>
                  <a:lnTo>
                    <a:pt x="5224" y="336265"/>
                  </a:lnTo>
                  <a:lnTo>
                    <a:pt x="472" y="285569"/>
                  </a:lnTo>
                  <a:lnTo>
                    <a:pt x="0" y="237367"/>
                  </a:lnTo>
                  <a:lnTo>
                    <a:pt x="3764" y="192167"/>
                  </a:lnTo>
                  <a:lnTo>
                    <a:pt x="11723" y="150475"/>
                  </a:lnTo>
                  <a:lnTo>
                    <a:pt x="23834" y="112801"/>
                  </a:lnTo>
                  <a:lnTo>
                    <a:pt x="60344" y="51535"/>
                  </a:lnTo>
                  <a:lnTo>
                    <a:pt x="112956" y="12430"/>
                  </a:lnTo>
                  <a:lnTo>
                    <a:pt x="177324" y="0"/>
                  </a:lnTo>
                  <a:lnTo>
                    <a:pt x="211767" y="3998"/>
                  </a:lnTo>
                  <a:lnTo>
                    <a:pt x="283156" y="30867"/>
                  </a:lnTo>
                  <a:lnTo>
                    <a:pt x="319296" y="53117"/>
                  </a:lnTo>
                  <a:lnTo>
                    <a:pt x="355196" y="80829"/>
                  </a:lnTo>
                  <a:lnTo>
                    <a:pt x="390452" y="113693"/>
                  </a:lnTo>
                  <a:lnTo>
                    <a:pt x="424662" y="151397"/>
                  </a:lnTo>
                  <a:lnTo>
                    <a:pt x="457423" y="193632"/>
                  </a:lnTo>
                  <a:lnTo>
                    <a:pt x="488331" y="240086"/>
                  </a:lnTo>
                  <a:lnTo>
                    <a:pt x="516984" y="290448"/>
                  </a:lnTo>
                  <a:lnTo>
                    <a:pt x="542978" y="344408"/>
                  </a:lnTo>
                  <a:lnTo>
                    <a:pt x="565270" y="400026"/>
                  </a:lnTo>
                  <a:lnTo>
                    <a:pt x="583114" y="455174"/>
                  </a:lnTo>
                  <a:lnTo>
                    <a:pt x="596551" y="509345"/>
                  </a:lnTo>
                  <a:lnTo>
                    <a:pt x="605625" y="562034"/>
                  </a:lnTo>
                  <a:lnTo>
                    <a:pt x="610377" y="612732"/>
                  </a:lnTo>
                  <a:lnTo>
                    <a:pt x="610849" y="660935"/>
                  </a:lnTo>
                  <a:lnTo>
                    <a:pt x="607085" y="706136"/>
                  </a:lnTo>
                  <a:lnTo>
                    <a:pt x="599126" y="747828"/>
                  </a:lnTo>
                  <a:lnTo>
                    <a:pt x="587015" y="785505"/>
                  </a:lnTo>
                  <a:lnTo>
                    <a:pt x="550505" y="846789"/>
                  </a:lnTo>
                  <a:lnTo>
                    <a:pt x="497893" y="885936"/>
                  </a:lnTo>
                  <a:lnTo>
                    <a:pt x="433525" y="898358"/>
                  </a:lnTo>
                  <a:lnTo>
                    <a:pt x="399082" y="894351"/>
                  </a:lnTo>
                  <a:lnTo>
                    <a:pt x="327693" y="867457"/>
                  </a:lnTo>
                  <a:lnTo>
                    <a:pt x="291553" y="845193"/>
                  </a:lnTo>
                  <a:lnTo>
                    <a:pt x="255653" y="817466"/>
                  </a:lnTo>
                  <a:lnTo>
                    <a:pt x="220396" y="784588"/>
                  </a:lnTo>
                  <a:lnTo>
                    <a:pt x="186186" y="746870"/>
                  </a:lnTo>
                  <a:lnTo>
                    <a:pt x="153426" y="704624"/>
                  </a:lnTo>
                  <a:lnTo>
                    <a:pt x="122518" y="658161"/>
                  </a:lnTo>
                  <a:lnTo>
                    <a:pt x="93865" y="607793"/>
                  </a:lnTo>
                  <a:lnTo>
                    <a:pt x="67871" y="553831"/>
                  </a:lnTo>
                  <a:close/>
                </a:path>
              </a:pathLst>
            </a:custGeom>
            <a:ln w="12700">
              <a:solidFill>
                <a:srgbClr val="126F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3240" y="2658364"/>
            <a:ext cx="3667125" cy="254317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019169" y="5502655"/>
            <a:ext cx="9652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Cố</a:t>
            </a:r>
            <a:r>
              <a:rPr sz="1800" i="1" spc="-30" dirty="0">
                <a:latin typeface="Arial"/>
                <a:cs typeface="Arial"/>
              </a:rPr>
              <a:t> </a:t>
            </a:r>
            <a:r>
              <a:rPr sz="1800" i="1" spc="-20" dirty="0">
                <a:latin typeface="Arial"/>
                <a:cs typeface="Arial"/>
              </a:rPr>
              <a:t>định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i="1" dirty="0">
                <a:latin typeface="Arial"/>
                <a:cs typeface="Arial"/>
              </a:rPr>
              <a:t>một</a:t>
            </a:r>
            <a:r>
              <a:rPr sz="1800" i="1" spc="-20" dirty="0">
                <a:latin typeface="Arial"/>
                <a:cs typeface="Arial"/>
              </a:rPr>
              <a:t> khâu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99741" y="5953531"/>
            <a:ext cx="1374775" cy="467359"/>
          </a:xfrm>
          <a:prstGeom prst="rect">
            <a:avLst/>
          </a:prstGeom>
          <a:ln w="12700">
            <a:solidFill>
              <a:srgbClr val="126F55"/>
            </a:solidFill>
          </a:ln>
        </p:spPr>
        <p:txBody>
          <a:bodyPr vert="horz" wrap="square" lIns="0" tIns="91440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720"/>
              </a:spcBef>
            </a:pP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Chuỗi</a:t>
            </a:r>
            <a:r>
              <a:rPr sz="18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động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83123" y="5944527"/>
            <a:ext cx="1146810" cy="467359"/>
          </a:xfrm>
          <a:prstGeom prst="rect">
            <a:avLst/>
          </a:prstGeom>
          <a:ln w="12700">
            <a:solidFill>
              <a:srgbClr val="126F55"/>
            </a:solidFill>
          </a:ln>
        </p:spPr>
        <p:txBody>
          <a:bodyPr vert="horz" wrap="square" lIns="0" tIns="91440" rIns="0" bIns="0" rtlCol="0">
            <a:spAutoFit/>
          </a:bodyPr>
          <a:lstStyle/>
          <a:p>
            <a:pPr marL="200660">
              <a:lnSpc>
                <a:spcPct val="100000"/>
              </a:lnSpc>
              <a:spcBef>
                <a:spcPts val="720"/>
              </a:spcBef>
            </a:pP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Cơ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Arial"/>
                <a:cs typeface="Arial"/>
              </a:rPr>
              <a:t>cấu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18578" y="5941567"/>
            <a:ext cx="842010" cy="467359"/>
          </a:xfrm>
          <a:prstGeom prst="rect">
            <a:avLst/>
          </a:prstGeom>
          <a:ln w="12700">
            <a:solidFill>
              <a:srgbClr val="126F55"/>
            </a:solidFill>
          </a:ln>
        </p:spPr>
        <p:txBody>
          <a:bodyPr vert="horz" wrap="square" lIns="0" tIns="91440" rIns="0" bIns="0" rtlCol="0">
            <a:spAutoFit/>
          </a:bodyPr>
          <a:lstStyle/>
          <a:p>
            <a:pPr marL="206375">
              <a:lnSpc>
                <a:spcPct val="100000"/>
              </a:lnSpc>
              <a:spcBef>
                <a:spcPts val="720"/>
              </a:spcBef>
            </a:pPr>
            <a:r>
              <a:rPr sz="1800" spc="-25" dirty="0">
                <a:solidFill>
                  <a:srgbClr val="FF0000"/>
                </a:solidFill>
                <a:latin typeface="Arial"/>
                <a:cs typeface="Arial"/>
              </a:rPr>
              <a:t>Máy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867530" y="6080315"/>
            <a:ext cx="1303020" cy="227329"/>
            <a:chOff x="3867530" y="6080315"/>
            <a:chExt cx="1303020" cy="227329"/>
          </a:xfrm>
        </p:grpSpPr>
        <p:sp>
          <p:nvSpPr>
            <p:cNvPr id="17" name="object 17"/>
            <p:cNvSpPr/>
            <p:nvPr/>
          </p:nvSpPr>
          <p:spPr>
            <a:xfrm>
              <a:off x="3873880" y="6086665"/>
              <a:ext cx="1290320" cy="214629"/>
            </a:xfrm>
            <a:custGeom>
              <a:avLst/>
              <a:gdLst/>
              <a:ahLst/>
              <a:cxnLst/>
              <a:rect l="l" t="t" r="r" b="b"/>
              <a:pathLst>
                <a:path w="1290320" h="214629">
                  <a:moveTo>
                    <a:pt x="1182878" y="0"/>
                  </a:moveTo>
                  <a:lnTo>
                    <a:pt x="1182878" y="53632"/>
                  </a:lnTo>
                  <a:lnTo>
                    <a:pt x="0" y="53632"/>
                  </a:lnTo>
                  <a:lnTo>
                    <a:pt x="0" y="160909"/>
                  </a:lnTo>
                  <a:lnTo>
                    <a:pt x="1182878" y="160909"/>
                  </a:lnTo>
                  <a:lnTo>
                    <a:pt x="1182878" y="214541"/>
                  </a:lnTo>
                  <a:lnTo>
                    <a:pt x="1290066" y="107264"/>
                  </a:lnTo>
                  <a:lnTo>
                    <a:pt x="1182878" y="0"/>
                  </a:lnTo>
                  <a:close/>
                </a:path>
              </a:pathLst>
            </a:custGeom>
            <a:solidFill>
              <a:srgbClr val="1D9A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73880" y="6086665"/>
              <a:ext cx="1290320" cy="214629"/>
            </a:xfrm>
            <a:custGeom>
              <a:avLst/>
              <a:gdLst/>
              <a:ahLst/>
              <a:cxnLst/>
              <a:rect l="l" t="t" r="r" b="b"/>
              <a:pathLst>
                <a:path w="1290320" h="214629">
                  <a:moveTo>
                    <a:pt x="0" y="53632"/>
                  </a:moveTo>
                  <a:lnTo>
                    <a:pt x="1182878" y="53632"/>
                  </a:lnTo>
                  <a:lnTo>
                    <a:pt x="1182878" y="0"/>
                  </a:lnTo>
                  <a:lnTo>
                    <a:pt x="1290066" y="107264"/>
                  </a:lnTo>
                  <a:lnTo>
                    <a:pt x="1182878" y="214541"/>
                  </a:lnTo>
                  <a:lnTo>
                    <a:pt x="1182878" y="160909"/>
                  </a:lnTo>
                  <a:lnTo>
                    <a:pt x="0" y="160909"/>
                  </a:lnTo>
                  <a:lnTo>
                    <a:pt x="0" y="53632"/>
                  </a:lnTo>
                  <a:close/>
                </a:path>
              </a:pathLst>
            </a:custGeom>
            <a:ln w="12699">
              <a:solidFill>
                <a:srgbClr val="126F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6323203" y="6104331"/>
            <a:ext cx="1101725" cy="227329"/>
            <a:chOff x="6323203" y="6104331"/>
            <a:chExt cx="1101725" cy="227329"/>
          </a:xfrm>
        </p:grpSpPr>
        <p:sp>
          <p:nvSpPr>
            <p:cNvPr id="20" name="object 20"/>
            <p:cNvSpPr/>
            <p:nvPr/>
          </p:nvSpPr>
          <p:spPr>
            <a:xfrm>
              <a:off x="6329553" y="6110681"/>
              <a:ext cx="1089025" cy="214629"/>
            </a:xfrm>
            <a:custGeom>
              <a:avLst/>
              <a:gdLst/>
              <a:ahLst/>
              <a:cxnLst/>
              <a:rect l="l" t="t" r="r" b="b"/>
              <a:pathLst>
                <a:path w="1089025" h="214629">
                  <a:moveTo>
                    <a:pt x="981837" y="0"/>
                  </a:moveTo>
                  <a:lnTo>
                    <a:pt x="981837" y="53632"/>
                  </a:lnTo>
                  <a:lnTo>
                    <a:pt x="0" y="53632"/>
                  </a:lnTo>
                  <a:lnTo>
                    <a:pt x="0" y="160908"/>
                  </a:lnTo>
                  <a:lnTo>
                    <a:pt x="981837" y="160908"/>
                  </a:lnTo>
                  <a:lnTo>
                    <a:pt x="981837" y="214541"/>
                  </a:lnTo>
                  <a:lnTo>
                    <a:pt x="1089025" y="107276"/>
                  </a:lnTo>
                  <a:lnTo>
                    <a:pt x="981837" y="0"/>
                  </a:lnTo>
                  <a:close/>
                </a:path>
              </a:pathLst>
            </a:custGeom>
            <a:solidFill>
              <a:srgbClr val="1D9A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329553" y="6110681"/>
              <a:ext cx="1089025" cy="214629"/>
            </a:xfrm>
            <a:custGeom>
              <a:avLst/>
              <a:gdLst/>
              <a:ahLst/>
              <a:cxnLst/>
              <a:rect l="l" t="t" r="r" b="b"/>
              <a:pathLst>
                <a:path w="1089025" h="214629">
                  <a:moveTo>
                    <a:pt x="0" y="53632"/>
                  </a:moveTo>
                  <a:lnTo>
                    <a:pt x="981837" y="53632"/>
                  </a:lnTo>
                  <a:lnTo>
                    <a:pt x="981837" y="0"/>
                  </a:lnTo>
                  <a:lnTo>
                    <a:pt x="1089025" y="107276"/>
                  </a:lnTo>
                  <a:lnTo>
                    <a:pt x="981837" y="214541"/>
                  </a:lnTo>
                  <a:lnTo>
                    <a:pt x="981837" y="160908"/>
                  </a:lnTo>
                  <a:lnTo>
                    <a:pt x="0" y="160908"/>
                  </a:lnTo>
                  <a:lnTo>
                    <a:pt x="0" y="53632"/>
                  </a:lnTo>
                  <a:close/>
                </a:path>
              </a:pathLst>
            </a:custGeom>
            <a:ln w="12700">
              <a:solidFill>
                <a:srgbClr val="126F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409182" y="5780328"/>
            <a:ext cx="876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Tập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spc="-25" dirty="0">
                <a:latin typeface="Arial"/>
                <a:cs typeface="Arial"/>
              </a:rPr>
              <a:t>hợp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250048" y="6080315"/>
            <a:ext cx="1246505" cy="227329"/>
            <a:chOff x="1250048" y="6080315"/>
            <a:chExt cx="1246505" cy="227329"/>
          </a:xfrm>
        </p:grpSpPr>
        <p:sp>
          <p:nvSpPr>
            <p:cNvPr id="24" name="object 24"/>
            <p:cNvSpPr/>
            <p:nvPr/>
          </p:nvSpPr>
          <p:spPr>
            <a:xfrm>
              <a:off x="1256398" y="6086665"/>
              <a:ext cx="1233805" cy="214629"/>
            </a:xfrm>
            <a:custGeom>
              <a:avLst/>
              <a:gdLst/>
              <a:ahLst/>
              <a:cxnLst/>
              <a:rect l="l" t="t" r="r" b="b"/>
              <a:pathLst>
                <a:path w="1233805" h="214629">
                  <a:moveTo>
                    <a:pt x="1126502" y="0"/>
                  </a:moveTo>
                  <a:lnTo>
                    <a:pt x="1126502" y="53632"/>
                  </a:lnTo>
                  <a:lnTo>
                    <a:pt x="0" y="53632"/>
                  </a:lnTo>
                  <a:lnTo>
                    <a:pt x="0" y="160909"/>
                  </a:lnTo>
                  <a:lnTo>
                    <a:pt x="1126502" y="160909"/>
                  </a:lnTo>
                  <a:lnTo>
                    <a:pt x="1126502" y="214541"/>
                  </a:lnTo>
                  <a:lnTo>
                    <a:pt x="1233690" y="107264"/>
                  </a:lnTo>
                  <a:lnTo>
                    <a:pt x="1126502" y="0"/>
                  </a:lnTo>
                  <a:close/>
                </a:path>
              </a:pathLst>
            </a:custGeom>
            <a:solidFill>
              <a:srgbClr val="1D9A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256398" y="6086665"/>
              <a:ext cx="1233805" cy="214629"/>
            </a:xfrm>
            <a:custGeom>
              <a:avLst/>
              <a:gdLst/>
              <a:ahLst/>
              <a:cxnLst/>
              <a:rect l="l" t="t" r="r" b="b"/>
              <a:pathLst>
                <a:path w="1233805" h="214629">
                  <a:moveTo>
                    <a:pt x="0" y="53632"/>
                  </a:moveTo>
                  <a:lnTo>
                    <a:pt x="1126502" y="53632"/>
                  </a:lnTo>
                  <a:lnTo>
                    <a:pt x="1126502" y="0"/>
                  </a:lnTo>
                  <a:lnTo>
                    <a:pt x="1233690" y="107264"/>
                  </a:lnTo>
                  <a:lnTo>
                    <a:pt x="1126502" y="214541"/>
                  </a:lnTo>
                  <a:lnTo>
                    <a:pt x="1126502" y="160909"/>
                  </a:lnTo>
                  <a:lnTo>
                    <a:pt x="0" y="160909"/>
                  </a:lnTo>
                  <a:lnTo>
                    <a:pt x="0" y="53632"/>
                  </a:lnTo>
                  <a:close/>
                </a:path>
              </a:pathLst>
            </a:custGeom>
            <a:ln w="12700">
              <a:solidFill>
                <a:srgbClr val="126F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95541" y="5941567"/>
            <a:ext cx="842010" cy="467359"/>
          </a:xfrm>
          <a:prstGeom prst="rect">
            <a:avLst/>
          </a:prstGeom>
          <a:ln w="12700">
            <a:solidFill>
              <a:srgbClr val="126F55"/>
            </a:solidFill>
          </a:ln>
        </p:spPr>
        <p:txBody>
          <a:bodyPr vert="horz" wrap="square" lIns="0" tIns="91440" rIns="0" bIns="0" rtlCol="0">
            <a:spAutoFit/>
          </a:bodyPr>
          <a:lstStyle/>
          <a:p>
            <a:pPr marL="153670">
              <a:lnSpc>
                <a:spcPct val="100000"/>
              </a:lnSpc>
              <a:spcBef>
                <a:spcPts val="720"/>
              </a:spcBef>
            </a:pP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Khâu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54582" y="5806846"/>
            <a:ext cx="875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Tập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i="1" spc="-25" dirty="0">
                <a:latin typeface="Arial"/>
                <a:cs typeface="Arial"/>
              </a:rPr>
              <a:t>hợp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728329" y="120522"/>
            <a:ext cx="297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1.14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17728" y="120522"/>
            <a:ext cx="314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NHH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21148" y="2097570"/>
            <a:ext cx="2817491" cy="36215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44192" y="118110"/>
            <a:ext cx="60553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40" dirty="0"/>
              <a:t> </a:t>
            </a:r>
            <a:r>
              <a:rPr dirty="0"/>
              <a:t>1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TÍCH</a:t>
            </a:r>
            <a:r>
              <a:rPr spc="-60" dirty="0"/>
              <a:t> </a:t>
            </a:r>
            <a:r>
              <a:rPr dirty="0"/>
              <a:t>CẤU</a:t>
            </a:r>
            <a:r>
              <a:rPr spc="-70" dirty="0"/>
              <a:t> </a:t>
            </a:r>
            <a:r>
              <a:rPr dirty="0"/>
              <a:t>TRÚC</a:t>
            </a:r>
            <a:r>
              <a:rPr spc="-55" dirty="0"/>
              <a:t> </a:t>
            </a:r>
            <a:r>
              <a:rPr dirty="0"/>
              <a:t>CƠ</a:t>
            </a:r>
            <a:r>
              <a:rPr spc="-50" dirty="0"/>
              <a:t> </a:t>
            </a:r>
            <a:r>
              <a:rPr spc="-25" dirty="0"/>
              <a:t>CẤU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0200" y="448436"/>
            <a:ext cx="8120380" cy="123444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455295" lvl="1" indent="-442595">
              <a:lnSpc>
                <a:spcPct val="100000"/>
              </a:lnSpc>
              <a:spcBef>
                <a:spcPts val="1010"/>
              </a:spcBef>
              <a:buAutoNum type="arabicPeriod" startAt="2"/>
              <a:tabLst>
                <a:tab pos="455295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Các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khái</a:t>
            </a:r>
            <a:r>
              <a:rPr sz="18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niệm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và</a:t>
            </a:r>
            <a:r>
              <a:rPr sz="1800" b="1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định</a:t>
            </a:r>
            <a:r>
              <a:rPr sz="18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nghĩa</a:t>
            </a:r>
            <a:r>
              <a:rPr sz="18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cơ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bản</a:t>
            </a:r>
            <a:endParaRPr sz="1800">
              <a:latin typeface="Arial"/>
              <a:cs typeface="Arial"/>
            </a:endParaRPr>
          </a:p>
          <a:p>
            <a:pPr marL="645160" lvl="2" indent="-632460">
              <a:lnSpc>
                <a:spcPct val="100000"/>
              </a:lnSpc>
              <a:spcBef>
                <a:spcPts val="915"/>
              </a:spcBef>
              <a:buAutoNum type="arabicPeriod" startAt="6"/>
              <a:tabLst>
                <a:tab pos="645160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Chuỗi</a:t>
            </a:r>
            <a:r>
              <a:rPr sz="18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động,</a:t>
            </a:r>
            <a:r>
              <a:rPr sz="18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cơ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cấu,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lược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đồ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cơ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cấu</a:t>
            </a:r>
            <a:endParaRPr sz="1800">
              <a:latin typeface="Arial"/>
              <a:cs typeface="Arial"/>
            </a:endParaRPr>
          </a:p>
          <a:p>
            <a:pPr marL="298450" lvl="3" indent="-285750">
              <a:lnSpc>
                <a:spcPct val="100000"/>
              </a:lnSpc>
              <a:spcBef>
                <a:spcPts val="1215"/>
              </a:spcBef>
              <a:buClr>
                <a:srgbClr val="1D9A78"/>
              </a:buClr>
              <a:buFont typeface="Wingdings"/>
              <a:buChar char=""/>
              <a:tabLst>
                <a:tab pos="298450" algn="l"/>
              </a:tabLst>
            </a:pPr>
            <a:r>
              <a:rPr sz="1800" b="1" i="1" dirty="0">
                <a:latin typeface="Arial"/>
                <a:cs typeface="Arial"/>
              </a:rPr>
              <a:t>Cơ</a:t>
            </a:r>
            <a:r>
              <a:rPr sz="1800" b="1" i="1" spc="-2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cấu:</a:t>
            </a:r>
            <a:r>
              <a:rPr sz="1800" b="1" i="1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chuỗi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động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có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một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khâu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cố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định.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Khâu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cố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định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được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gọi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giá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và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2437" y="1671700"/>
            <a:ext cx="4043045" cy="819785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226695">
              <a:lnSpc>
                <a:spcPct val="100000"/>
              </a:lnSpc>
              <a:spcBef>
                <a:spcPts val="1065"/>
              </a:spcBef>
            </a:pPr>
            <a:r>
              <a:rPr sz="1800" dirty="0">
                <a:latin typeface="Arial"/>
                <a:cs typeface="Arial"/>
              </a:rPr>
              <a:t>được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gắn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với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một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hệ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quy</a:t>
            </a:r>
            <a:r>
              <a:rPr sz="1800" spc="-10" dirty="0">
                <a:latin typeface="Arial"/>
                <a:cs typeface="Arial"/>
              </a:rPr>
              <a:t> chiếu.</a:t>
            </a:r>
            <a:endParaRPr sz="18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970"/>
              </a:spcBef>
              <a:buChar char="•"/>
              <a:tabLst>
                <a:tab pos="299085" algn="l"/>
                <a:tab pos="756285" algn="l"/>
                <a:tab pos="1266825" algn="l"/>
                <a:tab pos="2108200" algn="l"/>
                <a:tab pos="2656840" algn="l"/>
                <a:tab pos="3293745" algn="l"/>
              </a:tabLst>
            </a:pPr>
            <a:r>
              <a:rPr sz="1800" spc="-25" dirty="0">
                <a:latin typeface="Arial"/>
                <a:cs typeface="Arial"/>
              </a:rPr>
              <a:t>Cơ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25" dirty="0">
                <a:latin typeface="Arial"/>
                <a:cs typeface="Arial"/>
              </a:rPr>
              <a:t>cấu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0" dirty="0">
                <a:latin typeface="Arial"/>
                <a:cs typeface="Arial"/>
              </a:rPr>
              <a:t>phẳng: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20" dirty="0">
                <a:latin typeface="Arial"/>
                <a:cs typeface="Arial"/>
              </a:rPr>
              <a:t>Các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20" dirty="0">
                <a:latin typeface="Arial"/>
                <a:cs typeface="Arial"/>
              </a:rPr>
              <a:t>khâu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0" dirty="0">
                <a:latin typeface="Arial"/>
                <a:cs typeface="Arial"/>
              </a:rPr>
              <a:t>chuyển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8949" y="2465654"/>
            <a:ext cx="5314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động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20" dirty="0">
                <a:latin typeface="Arial"/>
                <a:cs typeface="Arial"/>
              </a:rPr>
              <a:t>hoặc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3438" y="2465654"/>
            <a:ext cx="5505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trong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Arial"/>
                <a:cs typeface="Arial"/>
              </a:rPr>
              <a:t>trong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41017" y="2465654"/>
            <a:ext cx="5200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cùng</a:t>
            </a:r>
            <a:endParaRPr sz="180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sz="1800" spc="-20" dirty="0">
                <a:latin typeface="Arial"/>
                <a:cs typeface="Arial"/>
              </a:rPr>
              <a:t>các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69845" y="2465654"/>
            <a:ext cx="12096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543560" algn="l"/>
              </a:tabLst>
            </a:pPr>
            <a:r>
              <a:rPr sz="1800" spc="-25" dirty="0">
                <a:latin typeface="Arial"/>
                <a:cs typeface="Arial"/>
              </a:rPr>
              <a:t>một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25" dirty="0">
                <a:latin typeface="Arial"/>
                <a:cs typeface="Arial"/>
              </a:rPr>
              <a:t>mặt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  <a:tabLst>
                <a:tab pos="551180" algn="l"/>
              </a:tabLst>
            </a:pPr>
            <a:r>
              <a:rPr sz="1800" spc="-25" dirty="0">
                <a:latin typeface="Arial"/>
                <a:cs typeface="Arial"/>
              </a:rPr>
              <a:t>mặt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0" dirty="0">
                <a:latin typeface="Arial"/>
                <a:cs typeface="Arial"/>
              </a:rPr>
              <a:t>phẳng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84472" y="2465654"/>
            <a:ext cx="6604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985" algn="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phẳng</a:t>
            </a:r>
            <a:endParaRPr sz="18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1800" spc="-20" dirty="0">
                <a:latin typeface="Arial"/>
                <a:cs typeface="Arial"/>
              </a:rPr>
              <a:t>song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8949" y="3014853"/>
            <a:ext cx="15328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song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với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nhau.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20636" y="2168144"/>
            <a:ext cx="22186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  <a:tab pos="914400" algn="l"/>
                <a:tab pos="1048385" algn="l"/>
                <a:tab pos="1583690" algn="l"/>
                <a:tab pos="1708785" algn="l"/>
              </a:tabLst>
            </a:pPr>
            <a:r>
              <a:rPr sz="1800" spc="-25" dirty="0">
                <a:latin typeface="Arial"/>
                <a:cs typeface="Arial"/>
              </a:rPr>
              <a:t>Cơ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25" dirty="0">
                <a:latin typeface="Arial"/>
                <a:cs typeface="Arial"/>
              </a:rPr>
              <a:t>cấu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0" dirty="0">
                <a:latin typeface="Arial"/>
                <a:cs typeface="Arial"/>
              </a:rPr>
              <a:t>không gian:</a:t>
            </a:r>
            <a:r>
              <a:rPr sz="1800" dirty="0">
                <a:latin typeface="Arial"/>
                <a:cs typeface="Arial"/>
              </a:rPr>
              <a:t>		</a:t>
            </a:r>
            <a:r>
              <a:rPr sz="1800" spc="-20" dirty="0">
                <a:latin typeface="Arial"/>
                <a:cs typeface="Arial"/>
              </a:rPr>
              <a:t>Các</a:t>
            </a:r>
            <a:r>
              <a:rPr sz="1800" dirty="0">
                <a:latin typeface="Arial"/>
                <a:cs typeface="Arial"/>
              </a:rPr>
              <a:t>		</a:t>
            </a:r>
            <a:r>
              <a:rPr sz="1800" spc="-20" dirty="0">
                <a:latin typeface="Arial"/>
                <a:cs typeface="Arial"/>
              </a:rPr>
              <a:t>khâu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07148" y="2717038"/>
            <a:ext cx="193167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chuyển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động</a:t>
            </a:r>
            <a:r>
              <a:rPr sz="1800" spc="4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trong </a:t>
            </a:r>
            <a:r>
              <a:rPr sz="1800" dirty="0">
                <a:latin typeface="Arial"/>
                <a:cs typeface="Arial"/>
              </a:rPr>
              <a:t>các</a:t>
            </a:r>
            <a:r>
              <a:rPr sz="1800" spc="200" dirty="0">
                <a:latin typeface="Arial"/>
                <a:cs typeface="Arial"/>
              </a:rPr>
              <a:t>   </a:t>
            </a:r>
            <a:r>
              <a:rPr sz="1800" dirty="0">
                <a:latin typeface="Arial"/>
                <a:cs typeface="Arial"/>
              </a:rPr>
              <a:t>mặt</a:t>
            </a:r>
            <a:r>
              <a:rPr sz="1800" spc="204" dirty="0">
                <a:latin typeface="Arial"/>
                <a:cs typeface="Arial"/>
              </a:rPr>
              <a:t>   </a:t>
            </a:r>
            <a:r>
              <a:rPr sz="1800" spc="-20" dirty="0">
                <a:latin typeface="Arial"/>
                <a:cs typeface="Arial"/>
              </a:rPr>
              <a:t>phẳng </a:t>
            </a:r>
            <a:r>
              <a:rPr sz="1800" dirty="0">
                <a:latin typeface="Arial"/>
                <a:cs typeface="Arial"/>
              </a:rPr>
              <a:t>không</a:t>
            </a:r>
            <a:r>
              <a:rPr sz="1800" spc="65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song</a:t>
            </a:r>
            <a:r>
              <a:rPr sz="1800" spc="70" dirty="0">
                <a:latin typeface="Arial"/>
                <a:cs typeface="Arial"/>
              </a:rPr>
              <a:t>  </a:t>
            </a:r>
            <a:r>
              <a:rPr sz="1800" spc="-20" dirty="0">
                <a:latin typeface="Arial"/>
                <a:cs typeface="Arial"/>
              </a:rPr>
              <a:t>song </a:t>
            </a:r>
            <a:r>
              <a:rPr sz="1800" dirty="0">
                <a:latin typeface="Arial"/>
                <a:cs typeface="Arial"/>
              </a:rPr>
              <a:t>với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nhau.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572000" y="1916176"/>
            <a:ext cx="0" cy="3601085"/>
          </a:xfrm>
          <a:custGeom>
            <a:avLst/>
            <a:gdLst/>
            <a:ahLst/>
            <a:cxnLst/>
            <a:rect l="l" t="t" r="r" b="b"/>
            <a:pathLst>
              <a:path h="3601085">
                <a:moveTo>
                  <a:pt x="0" y="0"/>
                </a:moveTo>
                <a:lnTo>
                  <a:pt x="0" y="3601085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9648" y="3284982"/>
            <a:ext cx="3667125" cy="2543175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4123182" y="5789167"/>
            <a:ext cx="965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Cố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spc="-20" dirty="0">
                <a:latin typeface="Arial"/>
                <a:cs typeface="Arial"/>
              </a:rPr>
              <a:t>định </a:t>
            </a:r>
            <a:r>
              <a:rPr sz="1800" i="1" dirty="0">
                <a:latin typeface="Arial"/>
                <a:cs typeface="Arial"/>
              </a:rPr>
              <a:t>một</a:t>
            </a:r>
            <a:r>
              <a:rPr sz="1800" i="1" spc="-20" dirty="0">
                <a:latin typeface="Arial"/>
                <a:cs typeface="Arial"/>
              </a:rPr>
              <a:t> khâu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03626" y="6239509"/>
            <a:ext cx="1374775" cy="467359"/>
          </a:xfrm>
          <a:prstGeom prst="rect">
            <a:avLst/>
          </a:prstGeom>
          <a:ln w="12700">
            <a:solidFill>
              <a:srgbClr val="126F55"/>
            </a:solidFill>
          </a:ln>
        </p:spPr>
        <p:txBody>
          <a:bodyPr vert="horz" wrap="square" lIns="0" tIns="91440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720"/>
              </a:spcBef>
            </a:pP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Chuỗi</a:t>
            </a:r>
            <a:r>
              <a:rPr sz="18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động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87136" y="6230505"/>
            <a:ext cx="1146810" cy="467359"/>
          </a:xfrm>
          <a:prstGeom prst="rect">
            <a:avLst/>
          </a:prstGeom>
          <a:ln w="12700">
            <a:solidFill>
              <a:srgbClr val="126F55"/>
            </a:solidFill>
          </a:ln>
        </p:spPr>
        <p:txBody>
          <a:bodyPr vert="horz" wrap="square" lIns="0" tIns="91440" rIns="0" bIns="0" rtlCol="0">
            <a:spAutoFit/>
          </a:bodyPr>
          <a:lstStyle/>
          <a:p>
            <a:pPr marL="200660">
              <a:lnSpc>
                <a:spcPct val="100000"/>
              </a:lnSpc>
              <a:spcBef>
                <a:spcPts val="720"/>
              </a:spcBef>
            </a:pP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Cơ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Arial"/>
                <a:cs typeface="Arial"/>
              </a:rPr>
              <a:t>cấu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522591" y="6227559"/>
            <a:ext cx="842010" cy="467359"/>
          </a:xfrm>
          <a:prstGeom prst="rect">
            <a:avLst/>
          </a:prstGeom>
          <a:ln w="12700">
            <a:solidFill>
              <a:srgbClr val="126F55"/>
            </a:solidFill>
          </a:ln>
        </p:spPr>
        <p:txBody>
          <a:bodyPr vert="horz" wrap="square" lIns="0" tIns="91440" rIns="0" bIns="0" rtlCol="0">
            <a:spAutoFit/>
          </a:bodyPr>
          <a:lstStyle/>
          <a:p>
            <a:pPr marL="206375">
              <a:lnSpc>
                <a:spcPct val="100000"/>
              </a:lnSpc>
              <a:spcBef>
                <a:spcPts val="720"/>
              </a:spcBef>
            </a:pPr>
            <a:r>
              <a:rPr sz="1800" spc="-25" dirty="0">
                <a:solidFill>
                  <a:srgbClr val="FF0000"/>
                </a:solidFill>
                <a:latin typeface="Arial"/>
                <a:cs typeface="Arial"/>
              </a:rPr>
              <a:t>Máy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971544" y="6366293"/>
            <a:ext cx="1303020" cy="227329"/>
            <a:chOff x="3971544" y="6366293"/>
            <a:chExt cx="1303020" cy="227329"/>
          </a:xfrm>
        </p:grpSpPr>
        <p:sp>
          <p:nvSpPr>
            <p:cNvPr id="22" name="object 22"/>
            <p:cNvSpPr/>
            <p:nvPr/>
          </p:nvSpPr>
          <p:spPr>
            <a:xfrm>
              <a:off x="3977894" y="6372643"/>
              <a:ext cx="1290320" cy="214629"/>
            </a:xfrm>
            <a:custGeom>
              <a:avLst/>
              <a:gdLst/>
              <a:ahLst/>
              <a:cxnLst/>
              <a:rect l="l" t="t" r="r" b="b"/>
              <a:pathLst>
                <a:path w="1290320" h="214629">
                  <a:moveTo>
                    <a:pt x="1182751" y="0"/>
                  </a:moveTo>
                  <a:lnTo>
                    <a:pt x="1182751" y="53644"/>
                  </a:lnTo>
                  <a:lnTo>
                    <a:pt x="0" y="53644"/>
                  </a:lnTo>
                  <a:lnTo>
                    <a:pt x="0" y="160908"/>
                  </a:lnTo>
                  <a:lnTo>
                    <a:pt x="1182751" y="160908"/>
                  </a:lnTo>
                  <a:lnTo>
                    <a:pt x="1182751" y="214541"/>
                  </a:lnTo>
                  <a:lnTo>
                    <a:pt x="1290065" y="107276"/>
                  </a:lnTo>
                  <a:lnTo>
                    <a:pt x="1182751" y="0"/>
                  </a:lnTo>
                  <a:close/>
                </a:path>
              </a:pathLst>
            </a:custGeom>
            <a:solidFill>
              <a:srgbClr val="1D9A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977894" y="6372643"/>
              <a:ext cx="1290320" cy="214629"/>
            </a:xfrm>
            <a:custGeom>
              <a:avLst/>
              <a:gdLst/>
              <a:ahLst/>
              <a:cxnLst/>
              <a:rect l="l" t="t" r="r" b="b"/>
              <a:pathLst>
                <a:path w="1290320" h="214629">
                  <a:moveTo>
                    <a:pt x="0" y="53644"/>
                  </a:moveTo>
                  <a:lnTo>
                    <a:pt x="1182751" y="53644"/>
                  </a:lnTo>
                  <a:lnTo>
                    <a:pt x="1182751" y="0"/>
                  </a:lnTo>
                  <a:lnTo>
                    <a:pt x="1290065" y="107276"/>
                  </a:lnTo>
                  <a:lnTo>
                    <a:pt x="1182751" y="214541"/>
                  </a:lnTo>
                  <a:lnTo>
                    <a:pt x="1182751" y="160908"/>
                  </a:lnTo>
                  <a:lnTo>
                    <a:pt x="0" y="160908"/>
                  </a:lnTo>
                  <a:lnTo>
                    <a:pt x="0" y="53644"/>
                  </a:lnTo>
                  <a:close/>
                </a:path>
              </a:pathLst>
            </a:custGeom>
            <a:ln w="12699">
              <a:solidFill>
                <a:srgbClr val="126F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6427215" y="6390322"/>
            <a:ext cx="1101725" cy="227329"/>
            <a:chOff x="6427215" y="6390322"/>
            <a:chExt cx="1101725" cy="227329"/>
          </a:xfrm>
        </p:grpSpPr>
        <p:sp>
          <p:nvSpPr>
            <p:cNvPr id="25" name="object 25"/>
            <p:cNvSpPr/>
            <p:nvPr/>
          </p:nvSpPr>
          <p:spPr>
            <a:xfrm>
              <a:off x="6433565" y="6396672"/>
              <a:ext cx="1089025" cy="214629"/>
            </a:xfrm>
            <a:custGeom>
              <a:avLst/>
              <a:gdLst/>
              <a:ahLst/>
              <a:cxnLst/>
              <a:rect l="l" t="t" r="r" b="b"/>
              <a:pathLst>
                <a:path w="1089025" h="214629">
                  <a:moveTo>
                    <a:pt x="981710" y="0"/>
                  </a:moveTo>
                  <a:lnTo>
                    <a:pt x="981710" y="53632"/>
                  </a:lnTo>
                  <a:lnTo>
                    <a:pt x="0" y="53632"/>
                  </a:lnTo>
                  <a:lnTo>
                    <a:pt x="0" y="160896"/>
                  </a:lnTo>
                  <a:lnTo>
                    <a:pt x="981710" y="160896"/>
                  </a:lnTo>
                  <a:lnTo>
                    <a:pt x="981710" y="214541"/>
                  </a:lnTo>
                  <a:lnTo>
                    <a:pt x="1089025" y="107264"/>
                  </a:lnTo>
                  <a:lnTo>
                    <a:pt x="981710" y="0"/>
                  </a:lnTo>
                  <a:close/>
                </a:path>
              </a:pathLst>
            </a:custGeom>
            <a:solidFill>
              <a:srgbClr val="1D9A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433565" y="6396672"/>
              <a:ext cx="1089025" cy="214629"/>
            </a:xfrm>
            <a:custGeom>
              <a:avLst/>
              <a:gdLst/>
              <a:ahLst/>
              <a:cxnLst/>
              <a:rect l="l" t="t" r="r" b="b"/>
              <a:pathLst>
                <a:path w="1089025" h="214629">
                  <a:moveTo>
                    <a:pt x="0" y="53632"/>
                  </a:moveTo>
                  <a:lnTo>
                    <a:pt x="981710" y="53632"/>
                  </a:lnTo>
                  <a:lnTo>
                    <a:pt x="981710" y="0"/>
                  </a:lnTo>
                  <a:lnTo>
                    <a:pt x="1089025" y="107264"/>
                  </a:lnTo>
                  <a:lnTo>
                    <a:pt x="981710" y="214541"/>
                  </a:lnTo>
                  <a:lnTo>
                    <a:pt x="981710" y="160896"/>
                  </a:lnTo>
                  <a:lnTo>
                    <a:pt x="0" y="160896"/>
                  </a:lnTo>
                  <a:lnTo>
                    <a:pt x="0" y="53632"/>
                  </a:lnTo>
                  <a:close/>
                </a:path>
              </a:pathLst>
            </a:custGeom>
            <a:ln w="12700">
              <a:solidFill>
                <a:srgbClr val="126F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513321" y="6066231"/>
            <a:ext cx="875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Tập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i="1" spc="-25" dirty="0">
                <a:latin typeface="Arial"/>
                <a:cs typeface="Arial"/>
              </a:rPr>
              <a:t>hợp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354074" y="6366293"/>
            <a:ext cx="1246505" cy="227329"/>
            <a:chOff x="1354074" y="6366293"/>
            <a:chExt cx="1246505" cy="227329"/>
          </a:xfrm>
        </p:grpSpPr>
        <p:sp>
          <p:nvSpPr>
            <p:cNvPr id="29" name="object 29"/>
            <p:cNvSpPr/>
            <p:nvPr/>
          </p:nvSpPr>
          <p:spPr>
            <a:xfrm>
              <a:off x="1360424" y="6372643"/>
              <a:ext cx="1233805" cy="214629"/>
            </a:xfrm>
            <a:custGeom>
              <a:avLst/>
              <a:gdLst/>
              <a:ahLst/>
              <a:cxnLst/>
              <a:rect l="l" t="t" r="r" b="b"/>
              <a:pathLst>
                <a:path w="1233805" h="214629">
                  <a:moveTo>
                    <a:pt x="1126363" y="0"/>
                  </a:moveTo>
                  <a:lnTo>
                    <a:pt x="1126363" y="53644"/>
                  </a:lnTo>
                  <a:lnTo>
                    <a:pt x="0" y="53644"/>
                  </a:lnTo>
                  <a:lnTo>
                    <a:pt x="0" y="160908"/>
                  </a:lnTo>
                  <a:lnTo>
                    <a:pt x="1126363" y="160908"/>
                  </a:lnTo>
                  <a:lnTo>
                    <a:pt x="1126363" y="214541"/>
                  </a:lnTo>
                  <a:lnTo>
                    <a:pt x="1233677" y="107276"/>
                  </a:lnTo>
                  <a:lnTo>
                    <a:pt x="1126363" y="0"/>
                  </a:lnTo>
                  <a:close/>
                </a:path>
              </a:pathLst>
            </a:custGeom>
            <a:solidFill>
              <a:srgbClr val="1D9A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360424" y="6372643"/>
              <a:ext cx="1233805" cy="214629"/>
            </a:xfrm>
            <a:custGeom>
              <a:avLst/>
              <a:gdLst/>
              <a:ahLst/>
              <a:cxnLst/>
              <a:rect l="l" t="t" r="r" b="b"/>
              <a:pathLst>
                <a:path w="1233805" h="214629">
                  <a:moveTo>
                    <a:pt x="0" y="53644"/>
                  </a:moveTo>
                  <a:lnTo>
                    <a:pt x="1126363" y="53644"/>
                  </a:lnTo>
                  <a:lnTo>
                    <a:pt x="1126363" y="0"/>
                  </a:lnTo>
                  <a:lnTo>
                    <a:pt x="1233677" y="107276"/>
                  </a:lnTo>
                  <a:lnTo>
                    <a:pt x="1126363" y="214541"/>
                  </a:lnTo>
                  <a:lnTo>
                    <a:pt x="1126363" y="160908"/>
                  </a:lnTo>
                  <a:lnTo>
                    <a:pt x="0" y="160908"/>
                  </a:lnTo>
                  <a:lnTo>
                    <a:pt x="0" y="53644"/>
                  </a:lnTo>
                  <a:close/>
                </a:path>
              </a:pathLst>
            </a:custGeom>
            <a:ln w="12700">
              <a:solidFill>
                <a:srgbClr val="126F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99516" y="6227559"/>
            <a:ext cx="842010" cy="467359"/>
          </a:xfrm>
          <a:prstGeom prst="rect">
            <a:avLst/>
          </a:prstGeom>
          <a:ln w="12700">
            <a:solidFill>
              <a:srgbClr val="126F55"/>
            </a:solidFill>
          </a:ln>
        </p:spPr>
        <p:txBody>
          <a:bodyPr vert="horz" wrap="square" lIns="0" tIns="91440" rIns="0" bIns="0" rtlCol="0">
            <a:spAutoFit/>
          </a:bodyPr>
          <a:lstStyle/>
          <a:p>
            <a:pPr marL="153670">
              <a:lnSpc>
                <a:spcPct val="100000"/>
              </a:lnSpc>
              <a:spcBef>
                <a:spcPts val="720"/>
              </a:spcBef>
            </a:pP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Khâu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458594" y="6092748"/>
            <a:ext cx="8750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Tập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i="1" spc="-25" dirty="0">
                <a:latin typeface="Arial"/>
                <a:cs typeface="Arial"/>
              </a:rPr>
              <a:t>hợp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728329" y="120522"/>
            <a:ext cx="297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1.15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17728" y="120522"/>
            <a:ext cx="314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NHH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9621" y="118110"/>
            <a:ext cx="60655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30" dirty="0"/>
              <a:t> </a:t>
            </a:r>
            <a:r>
              <a:rPr dirty="0"/>
              <a:t>1</a:t>
            </a:r>
            <a:r>
              <a:rPr spc="-45" dirty="0"/>
              <a:t> </a:t>
            </a:r>
            <a:r>
              <a:rPr dirty="0"/>
              <a:t>–</a:t>
            </a:r>
            <a:r>
              <a:rPr spc="-50" dirty="0"/>
              <a:t> </a:t>
            </a:r>
            <a:r>
              <a:rPr dirty="0"/>
              <a:t>PHÂN</a:t>
            </a:r>
            <a:r>
              <a:rPr spc="-40" dirty="0"/>
              <a:t> </a:t>
            </a:r>
            <a:r>
              <a:rPr dirty="0"/>
              <a:t>TÍCH</a:t>
            </a:r>
            <a:r>
              <a:rPr spc="-45" dirty="0"/>
              <a:t> </a:t>
            </a:r>
            <a:r>
              <a:rPr dirty="0"/>
              <a:t>CẤU</a:t>
            </a:r>
            <a:r>
              <a:rPr spc="-55" dirty="0"/>
              <a:t> </a:t>
            </a:r>
            <a:r>
              <a:rPr dirty="0"/>
              <a:t>TRÚC</a:t>
            </a:r>
            <a:r>
              <a:rPr spc="-45" dirty="0"/>
              <a:t> </a:t>
            </a:r>
            <a:r>
              <a:rPr dirty="0"/>
              <a:t>CƠ</a:t>
            </a:r>
            <a:r>
              <a:rPr spc="-45" dirty="0"/>
              <a:t> </a:t>
            </a:r>
            <a:r>
              <a:rPr spc="-25" dirty="0"/>
              <a:t>CẤU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72000" y="1916176"/>
            <a:ext cx="0" cy="4609465"/>
          </a:xfrm>
          <a:custGeom>
            <a:avLst/>
            <a:gdLst/>
            <a:ahLst/>
            <a:cxnLst/>
            <a:rect l="l" t="t" r="r" b="b"/>
            <a:pathLst>
              <a:path h="4609465">
                <a:moveTo>
                  <a:pt x="0" y="0"/>
                </a:moveTo>
                <a:lnTo>
                  <a:pt x="0" y="4609172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30200" y="448436"/>
            <a:ext cx="7740650" cy="163195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455930" lvl="1" indent="-443230">
              <a:lnSpc>
                <a:spcPct val="100000"/>
              </a:lnSpc>
              <a:spcBef>
                <a:spcPts val="1010"/>
              </a:spcBef>
              <a:buAutoNum type="arabicPeriod" startAt="2"/>
              <a:tabLst>
                <a:tab pos="455930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Các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khái</a:t>
            </a:r>
            <a:r>
              <a:rPr sz="18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niệm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và</a:t>
            </a:r>
            <a:r>
              <a:rPr sz="1800" b="1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định</a:t>
            </a:r>
            <a:r>
              <a:rPr sz="18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nghĩa</a:t>
            </a:r>
            <a:r>
              <a:rPr sz="18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cơ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bản</a:t>
            </a:r>
            <a:endParaRPr sz="1800">
              <a:latin typeface="Arial"/>
              <a:cs typeface="Arial"/>
            </a:endParaRPr>
          </a:p>
          <a:p>
            <a:pPr marL="645160" lvl="2" indent="-632460">
              <a:lnSpc>
                <a:spcPct val="100000"/>
              </a:lnSpc>
              <a:spcBef>
                <a:spcPts val="915"/>
              </a:spcBef>
              <a:buAutoNum type="arabicPeriod" startAt="6"/>
              <a:tabLst>
                <a:tab pos="645160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Chuỗi</a:t>
            </a:r>
            <a:r>
              <a:rPr sz="18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động,</a:t>
            </a:r>
            <a:r>
              <a:rPr sz="18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cơ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cấu,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lược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đồ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cơ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cấu</a:t>
            </a:r>
            <a:endParaRPr sz="1800">
              <a:latin typeface="Arial"/>
              <a:cs typeface="Arial"/>
            </a:endParaRPr>
          </a:p>
          <a:p>
            <a:pPr marL="298450" lvl="3" indent="-285750">
              <a:lnSpc>
                <a:spcPct val="100000"/>
              </a:lnSpc>
              <a:spcBef>
                <a:spcPts val="1215"/>
              </a:spcBef>
              <a:buClr>
                <a:srgbClr val="1D9A78"/>
              </a:buClr>
              <a:buFont typeface="Wingdings"/>
              <a:buChar char=""/>
              <a:tabLst>
                <a:tab pos="298450" algn="l"/>
              </a:tabLst>
            </a:pPr>
            <a:r>
              <a:rPr sz="1800" b="1" i="1" dirty="0">
                <a:latin typeface="Arial"/>
                <a:cs typeface="Arial"/>
              </a:rPr>
              <a:t>Lược</a:t>
            </a:r>
            <a:r>
              <a:rPr sz="1800" b="1" i="1" spc="-2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đồ</a:t>
            </a:r>
            <a:r>
              <a:rPr sz="1800" b="1" i="1" spc="-2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cơ</a:t>
            </a:r>
            <a:r>
              <a:rPr sz="1800" b="1" i="1" spc="-2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cấu:</a:t>
            </a:r>
            <a:r>
              <a:rPr sz="1800" b="1" i="1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sự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kết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hợp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lược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đồ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khâu,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khớp.</a:t>
            </a:r>
            <a:endParaRPr sz="1800">
              <a:latin typeface="Arial"/>
              <a:cs typeface="Arial"/>
            </a:endParaRPr>
          </a:p>
          <a:p>
            <a:pPr marL="368935" lvl="4" indent="-286385">
              <a:lnSpc>
                <a:spcPct val="100000"/>
              </a:lnSpc>
              <a:spcBef>
                <a:spcPts val="965"/>
              </a:spcBef>
              <a:buChar char="•"/>
              <a:tabLst>
                <a:tab pos="368935" algn="l"/>
                <a:tab pos="4766945" algn="l"/>
                <a:tab pos="5053330" algn="l"/>
              </a:tabLst>
            </a:pPr>
            <a:r>
              <a:rPr sz="1800" dirty="0">
                <a:latin typeface="Arial"/>
                <a:cs typeface="Arial"/>
              </a:rPr>
              <a:t>Cơ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4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khâu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bản </a:t>
            </a:r>
            <a:r>
              <a:rPr sz="1800" spc="-25" dirty="0">
                <a:latin typeface="Arial"/>
                <a:cs typeface="Arial"/>
              </a:rPr>
              <a:t>lề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50" dirty="0">
                <a:latin typeface="Arial"/>
                <a:cs typeface="Arial"/>
              </a:rPr>
              <a:t>•</a:t>
            </a:r>
            <a:r>
              <a:rPr sz="1800" dirty="0">
                <a:latin typeface="Arial"/>
                <a:cs typeface="Arial"/>
              </a:rPr>
              <a:t>	Cơ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tay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quay con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trượt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1555" y="2242311"/>
            <a:ext cx="3667125" cy="25431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0471" y="4886987"/>
            <a:ext cx="2966379" cy="154056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94141" y="2414641"/>
            <a:ext cx="4114265" cy="372040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728329" y="120522"/>
            <a:ext cx="297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1.16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7728" y="120522"/>
            <a:ext cx="314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NHH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539621" y="118110"/>
            <a:ext cx="60655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solidFill>
                  <a:srgbClr val="0D4D3B"/>
                </a:solidFill>
                <a:latin typeface="Times New Roman"/>
                <a:cs typeface="Times New Roman"/>
              </a:rPr>
              <a:t>CHƯƠNG</a:t>
            </a:r>
            <a:r>
              <a:rPr sz="2200" b="1" spc="-30" dirty="0">
                <a:solidFill>
                  <a:srgbClr val="0D4D3B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D4D3B"/>
                </a:solidFill>
                <a:latin typeface="Times New Roman"/>
                <a:cs typeface="Times New Roman"/>
              </a:rPr>
              <a:t>1</a:t>
            </a:r>
            <a:r>
              <a:rPr sz="2200" b="1" spc="-45" dirty="0">
                <a:solidFill>
                  <a:srgbClr val="0D4D3B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D4D3B"/>
                </a:solidFill>
                <a:latin typeface="Times New Roman"/>
                <a:cs typeface="Times New Roman"/>
              </a:rPr>
              <a:t>–</a:t>
            </a:r>
            <a:r>
              <a:rPr sz="2200" b="1" spc="-50" dirty="0">
                <a:solidFill>
                  <a:srgbClr val="0D4D3B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D4D3B"/>
                </a:solidFill>
                <a:latin typeface="Times New Roman"/>
                <a:cs typeface="Times New Roman"/>
              </a:rPr>
              <a:t>PHÂN</a:t>
            </a:r>
            <a:r>
              <a:rPr sz="2200" b="1" spc="-40" dirty="0">
                <a:solidFill>
                  <a:srgbClr val="0D4D3B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D4D3B"/>
                </a:solidFill>
                <a:latin typeface="Times New Roman"/>
                <a:cs typeface="Times New Roman"/>
              </a:rPr>
              <a:t>TÍCH</a:t>
            </a:r>
            <a:r>
              <a:rPr sz="2200" b="1" spc="-45" dirty="0">
                <a:solidFill>
                  <a:srgbClr val="0D4D3B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D4D3B"/>
                </a:solidFill>
                <a:latin typeface="Times New Roman"/>
                <a:cs typeface="Times New Roman"/>
              </a:rPr>
              <a:t>CẤU</a:t>
            </a:r>
            <a:r>
              <a:rPr sz="2200" b="1" spc="-55" dirty="0">
                <a:solidFill>
                  <a:srgbClr val="0D4D3B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D4D3B"/>
                </a:solidFill>
                <a:latin typeface="Times New Roman"/>
                <a:cs typeface="Times New Roman"/>
              </a:rPr>
              <a:t>TRÚC</a:t>
            </a:r>
            <a:r>
              <a:rPr sz="2200" b="1" spc="-45" dirty="0">
                <a:solidFill>
                  <a:srgbClr val="0D4D3B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D4D3B"/>
                </a:solidFill>
                <a:latin typeface="Times New Roman"/>
                <a:cs typeface="Times New Roman"/>
              </a:rPr>
              <a:t>CƠ</a:t>
            </a:r>
            <a:r>
              <a:rPr sz="2200" b="1" spc="-45" dirty="0">
                <a:solidFill>
                  <a:srgbClr val="0D4D3B"/>
                </a:solidFill>
                <a:latin typeface="Times New Roman"/>
                <a:cs typeface="Times New Roman"/>
              </a:rPr>
              <a:t> </a:t>
            </a:r>
            <a:r>
              <a:rPr sz="2200" b="1" spc="-25" dirty="0">
                <a:solidFill>
                  <a:srgbClr val="0D4D3B"/>
                </a:solidFill>
                <a:latin typeface="Times New Roman"/>
                <a:cs typeface="Times New Roman"/>
              </a:rPr>
              <a:t>CẤU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0200" y="448436"/>
            <a:ext cx="3843020" cy="805815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455930" lvl="1" indent="-443230">
              <a:lnSpc>
                <a:spcPct val="100000"/>
              </a:lnSpc>
              <a:spcBef>
                <a:spcPts val="1010"/>
              </a:spcBef>
              <a:buAutoNum type="arabicPeriod" startAt="3"/>
              <a:tabLst>
                <a:tab pos="455930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Cơ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cấu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phẳng</a:t>
            </a:r>
            <a:endParaRPr sz="1800">
              <a:latin typeface="Arial"/>
              <a:cs typeface="Arial"/>
            </a:endParaRPr>
          </a:p>
          <a:p>
            <a:pPr marL="645160" lvl="2" indent="-632460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645160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Tính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số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bậc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tự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do</a:t>
            </a:r>
            <a:r>
              <a:rPr sz="18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của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cơ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cấu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18931" y="102489"/>
            <a:ext cx="2978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1.17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63873" y="1916810"/>
            <a:ext cx="1440180" cy="432434"/>
          </a:xfrm>
          <a:custGeom>
            <a:avLst/>
            <a:gdLst/>
            <a:ahLst/>
            <a:cxnLst/>
            <a:rect l="l" t="t" r="r" b="b"/>
            <a:pathLst>
              <a:path w="1440179" h="432435">
                <a:moveTo>
                  <a:pt x="0" y="72009"/>
                </a:moveTo>
                <a:lnTo>
                  <a:pt x="5661" y="43987"/>
                </a:lnTo>
                <a:lnTo>
                  <a:pt x="21097" y="21097"/>
                </a:lnTo>
                <a:lnTo>
                  <a:pt x="43987" y="5661"/>
                </a:lnTo>
                <a:lnTo>
                  <a:pt x="72009" y="0"/>
                </a:lnTo>
                <a:lnTo>
                  <a:pt x="1368171" y="0"/>
                </a:lnTo>
                <a:lnTo>
                  <a:pt x="1396192" y="5661"/>
                </a:lnTo>
                <a:lnTo>
                  <a:pt x="1419082" y="21097"/>
                </a:lnTo>
                <a:lnTo>
                  <a:pt x="1434518" y="43987"/>
                </a:lnTo>
                <a:lnTo>
                  <a:pt x="1440179" y="72009"/>
                </a:lnTo>
                <a:lnTo>
                  <a:pt x="1440179" y="360044"/>
                </a:lnTo>
                <a:lnTo>
                  <a:pt x="1434518" y="388066"/>
                </a:lnTo>
                <a:lnTo>
                  <a:pt x="1419082" y="410956"/>
                </a:lnTo>
                <a:lnTo>
                  <a:pt x="1396192" y="426392"/>
                </a:lnTo>
                <a:lnTo>
                  <a:pt x="1368171" y="432053"/>
                </a:lnTo>
                <a:lnTo>
                  <a:pt x="72009" y="432053"/>
                </a:lnTo>
                <a:lnTo>
                  <a:pt x="43987" y="426392"/>
                </a:lnTo>
                <a:lnTo>
                  <a:pt x="21097" y="410956"/>
                </a:lnTo>
                <a:lnTo>
                  <a:pt x="5661" y="388066"/>
                </a:lnTo>
                <a:lnTo>
                  <a:pt x="0" y="360044"/>
                </a:lnTo>
                <a:lnTo>
                  <a:pt x="0" y="72009"/>
                </a:lnTo>
                <a:close/>
              </a:path>
            </a:pathLst>
          </a:custGeom>
          <a:ln w="12700">
            <a:solidFill>
              <a:srgbClr val="126F5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17728" y="120522"/>
            <a:ext cx="314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NHH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09972" y="2798234"/>
            <a:ext cx="170815" cy="21145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200" spc="-50" dirty="0">
                <a:latin typeface="Cambria Math"/>
                <a:cs typeface="Cambria Math"/>
              </a:rPr>
              <a:t>O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17754" y="2507646"/>
            <a:ext cx="346710" cy="5619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500" spc="-50" dirty="0">
                <a:latin typeface="Symbol"/>
                <a:cs typeface="Symbol"/>
              </a:rPr>
              <a:t></a:t>
            </a:r>
            <a:endParaRPr sz="35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4800" y="1296161"/>
            <a:ext cx="8188959" cy="1348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4485" marR="43180" indent="-287020">
              <a:lnSpc>
                <a:spcPct val="100000"/>
              </a:lnSpc>
              <a:spcBef>
                <a:spcPts val="100"/>
              </a:spcBef>
              <a:buClr>
                <a:srgbClr val="1D9A78"/>
              </a:buClr>
              <a:buFont typeface="Wingdings"/>
              <a:buChar char=""/>
              <a:tabLst>
                <a:tab pos="324485" algn="l"/>
                <a:tab pos="7211695" algn="l"/>
              </a:tabLst>
            </a:pPr>
            <a:r>
              <a:rPr sz="1800" dirty="0">
                <a:latin typeface="Arial"/>
                <a:cs typeface="Arial"/>
              </a:rPr>
              <a:t>Số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BTD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cơ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Tổng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số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BTD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khâu động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–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Tổng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số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ràng</a:t>
            </a:r>
            <a:r>
              <a:rPr sz="1800" dirty="0">
                <a:latin typeface="Arial"/>
                <a:cs typeface="Arial"/>
              </a:rPr>
              <a:t>	buộc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của </a:t>
            </a:r>
            <a:r>
              <a:rPr sz="1800" dirty="0">
                <a:latin typeface="Arial"/>
                <a:cs typeface="Arial"/>
              </a:rPr>
              <a:t>các </a:t>
            </a:r>
            <a:r>
              <a:rPr sz="1800" spc="-10" dirty="0">
                <a:latin typeface="Arial"/>
                <a:cs typeface="Arial"/>
              </a:rPr>
              <a:t>khớp.</a:t>
            </a:r>
            <a:endParaRPr sz="1800">
              <a:latin typeface="Arial"/>
              <a:cs typeface="Arial"/>
            </a:endParaRPr>
          </a:p>
          <a:p>
            <a:pPr marR="279400" algn="ctr">
              <a:lnSpc>
                <a:spcPct val="100000"/>
              </a:lnSpc>
              <a:spcBef>
                <a:spcPts val="785"/>
              </a:spcBef>
            </a:pPr>
            <a:r>
              <a:rPr sz="2100" dirty="0">
                <a:latin typeface="Cambria Math"/>
                <a:cs typeface="Cambria Math"/>
              </a:rPr>
              <a:t>W</a:t>
            </a:r>
            <a:r>
              <a:rPr sz="2100" spc="-85" dirty="0">
                <a:latin typeface="Cambria Math"/>
                <a:cs typeface="Cambria Math"/>
              </a:rPr>
              <a:t> </a:t>
            </a:r>
            <a:r>
              <a:rPr sz="2000" spc="-295" dirty="0">
                <a:latin typeface="Symbol"/>
                <a:cs typeface="Symbol"/>
              </a:rPr>
              <a:t></a:t>
            </a:r>
            <a:r>
              <a:rPr sz="2100" spc="-295" dirty="0">
                <a:latin typeface="Cambria Math"/>
                <a:cs typeface="Cambria Math"/>
              </a:rPr>
              <a:t>W</a:t>
            </a:r>
            <a:r>
              <a:rPr sz="1800" spc="-442" baseline="-23148" dirty="0">
                <a:latin typeface="Cambria Math"/>
                <a:cs typeface="Cambria Math"/>
              </a:rPr>
              <a:t>O</a:t>
            </a:r>
            <a:r>
              <a:rPr sz="1800" spc="277" baseline="-23148" dirty="0">
                <a:latin typeface="Cambria Math"/>
                <a:cs typeface="Cambria Math"/>
              </a:rPr>
              <a:t> </a:t>
            </a:r>
            <a:r>
              <a:rPr sz="2000" spc="-25" dirty="0">
                <a:latin typeface="Symbol"/>
                <a:cs typeface="Symbol"/>
              </a:rPr>
              <a:t></a:t>
            </a:r>
            <a:r>
              <a:rPr sz="2100" spc="-25" dirty="0">
                <a:latin typeface="Cambria Math"/>
                <a:cs typeface="Cambria Math"/>
              </a:rPr>
              <a:t>R</a:t>
            </a:r>
            <a:endParaRPr sz="2100">
              <a:latin typeface="Cambria Math"/>
              <a:cs typeface="Cambria Math"/>
            </a:endParaRPr>
          </a:p>
          <a:p>
            <a:pPr marL="2564130" algn="ctr">
              <a:lnSpc>
                <a:spcPct val="100000"/>
              </a:lnSpc>
              <a:spcBef>
                <a:spcPts val="1105"/>
              </a:spcBef>
            </a:pPr>
            <a:r>
              <a:rPr sz="1400" spc="-50" dirty="0">
                <a:latin typeface="Cambria Math"/>
                <a:cs typeface="Cambria Math"/>
              </a:rPr>
              <a:t>n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78591" y="2781157"/>
            <a:ext cx="116839" cy="2444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spc="-50" dirty="0">
                <a:latin typeface="Cambria Math"/>
                <a:cs typeface="Cambria Math"/>
              </a:rPr>
              <a:t>k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62627" y="2571726"/>
            <a:ext cx="354965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spc="-25" dirty="0">
                <a:latin typeface="Cambria Math"/>
                <a:cs typeface="Cambria Math"/>
              </a:rPr>
              <a:t>kP</a:t>
            </a:r>
            <a:endParaRPr sz="245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4800" y="2532878"/>
            <a:ext cx="5210175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24485" indent="-286385">
              <a:lnSpc>
                <a:spcPct val="100000"/>
              </a:lnSpc>
              <a:spcBef>
                <a:spcPts val="125"/>
              </a:spcBef>
              <a:buClr>
                <a:srgbClr val="1D9A78"/>
              </a:buClr>
              <a:buFont typeface="Wingdings"/>
              <a:buChar char=""/>
              <a:tabLst>
                <a:tab pos="324485" algn="l"/>
                <a:tab pos="3729990" algn="l"/>
              </a:tabLst>
            </a:pP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Đối</a:t>
            </a:r>
            <a:r>
              <a:rPr sz="1800" b="1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với</a:t>
            </a:r>
            <a:r>
              <a:rPr sz="1800" b="1" spc="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cơ</a:t>
            </a:r>
            <a:r>
              <a:rPr sz="1800" b="1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cấu</a:t>
            </a:r>
            <a:r>
              <a:rPr sz="1800" b="1" spc="-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không</a:t>
            </a:r>
            <a:r>
              <a:rPr sz="1800" b="1" spc="-4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Arial"/>
                <a:cs typeface="Arial"/>
              </a:rPr>
              <a:t>gian:</a:t>
            </a:r>
            <a:r>
              <a:rPr sz="3150" spc="-15" baseline="-7936" dirty="0">
                <a:latin typeface="Cambria Math"/>
                <a:cs typeface="Cambria Math"/>
              </a:rPr>
              <a:t>W</a:t>
            </a:r>
            <a:r>
              <a:rPr sz="3150" baseline="-7936" dirty="0">
                <a:latin typeface="Cambria Math"/>
                <a:cs typeface="Cambria Math"/>
              </a:rPr>
              <a:t>	</a:t>
            </a:r>
            <a:r>
              <a:rPr sz="3000" baseline="-8333" dirty="0">
                <a:latin typeface="Symbol"/>
                <a:cs typeface="Symbol"/>
              </a:rPr>
              <a:t></a:t>
            </a:r>
            <a:r>
              <a:rPr sz="3000" spc="-179" baseline="-8333" dirty="0">
                <a:latin typeface="Times New Roman"/>
                <a:cs typeface="Times New Roman"/>
              </a:rPr>
              <a:t> </a:t>
            </a:r>
            <a:r>
              <a:rPr sz="3000" spc="-44" baseline="-8333" dirty="0">
                <a:latin typeface="Times New Roman"/>
                <a:cs typeface="Times New Roman"/>
              </a:rPr>
              <a:t>6</a:t>
            </a:r>
            <a:r>
              <a:rPr sz="3150" spc="-44" baseline="-7936" dirty="0">
                <a:latin typeface="Cambria Math"/>
                <a:cs typeface="Cambria Math"/>
              </a:rPr>
              <a:t>n</a:t>
            </a:r>
            <a:r>
              <a:rPr sz="3150" spc="142" baseline="-7936" dirty="0">
                <a:latin typeface="Cambria Math"/>
                <a:cs typeface="Cambria Math"/>
              </a:rPr>
              <a:t> </a:t>
            </a:r>
            <a:r>
              <a:rPr sz="2700" baseline="-9259" dirty="0">
                <a:latin typeface="Arial"/>
                <a:cs typeface="Arial"/>
              </a:rPr>
              <a:t>và</a:t>
            </a:r>
            <a:r>
              <a:rPr sz="2700" spc="569" baseline="-9259" dirty="0">
                <a:latin typeface="Arial"/>
                <a:cs typeface="Arial"/>
              </a:rPr>
              <a:t> </a:t>
            </a:r>
            <a:r>
              <a:rPr sz="3675" baseline="-6802" dirty="0">
                <a:latin typeface="Cambria Math"/>
                <a:cs typeface="Cambria Math"/>
              </a:rPr>
              <a:t>R</a:t>
            </a:r>
            <a:r>
              <a:rPr sz="3675" spc="352" baseline="-6802" dirty="0">
                <a:latin typeface="Cambria Math"/>
                <a:cs typeface="Cambria Math"/>
              </a:rPr>
              <a:t> </a:t>
            </a:r>
            <a:r>
              <a:rPr sz="3525" spc="-75" baseline="-7092" dirty="0">
                <a:latin typeface="Symbol"/>
                <a:cs typeface="Symbol"/>
              </a:rPr>
              <a:t></a:t>
            </a:r>
            <a:endParaRPr sz="3525" baseline="-7092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6471" y="2902805"/>
            <a:ext cx="8498840" cy="1726564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2158365" algn="ctr">
              <a:lnSpc>
                <a:spcPct val="100000"/>
              </a:lnSpc>
              <a:spcBef>
                <a:spcPts val="800"/>
              </a:spcBef>
            </a:pPr>
            <a:r>
              <a:rPr sz="1400" dirty="0">
                <a:latin typeface="Cambria Math"/>
                <a:cs typeface="Cambria Math"/>
              </a:rPr>
              <a:t>k</a:t>
            </a:r>
            <a:r>
              <a:rPr sz="1400" spc="-20" dirty="0">
                <a:latin typeface="Cambria Math"/>
                <a:cs typeface="Cambria Math"/>
              </a:rPr>
              <a:t> </a:t>
            </a:r>
            <a:r>
              <a:rPr sz="1350" spc="-25" dirty="0">
                <a:latin typeface="Symbol"/>
                <a:cs typeface="Symbol"/>
              </a:rPr>
              <a:t></a:t>
            </a:r>
            <a:r>
              <a:rPr sz="1350" spc="-25" dirty="0">
                <a:latin typeface="Times New Roman"/>
                <a:cs typeface="Times New Roman"/>
              </a:rPr>
              <a:t>1</a:t>
            </a:r>
            <a:endParaRPr sz="1350">
              <a:latin typeface="Times New Roman"/>
              <a:cs typeface="Times New Roman"/>
            </a:endParaRPr>
          </a:p>
          <a:p>
            <a:pPr marL="120014" marR="55880" algn="just">
              <a:lnSpc>
                <a:spcPct val="100000"/>
              </a:lnSpc>
              <a:spcBef>
                <a:spcPts val="844"/>
              </a:spcBef>
            </a:pPr>
            <a:r>
              <a:rPr sz="1800" dirty="0">
                <a:latin typeface="Arial"/>
                <a:cs typeface="Arial"/>
              </a:rPr>
              <a:t>Trong</a:t>
            </a:r>
            <a:r>
              <a:rPr sz="1800" spc="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đó:</a:t>
            </a:r>
            <a:r>
              <a:rPr sz="1800" spc="4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W</a:t>
            </a:r>
            <a:r>
              <a:rPr sz="1800" i="1" baseline="-20833" dirty="0">
                <a:latin typeface="Arial"/>
                <a:cs typeface="Arial"/>
              </a:rPr>
              <a:t>o</a:t>
            </a:r>
            <a:r>
              <a:rPr sz="1800" i="1" spc="330" baseline="-20833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tổng</a:t>
            </a:r>
            <a:r>
              <a:rPr sz="1800" spc="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số</a:t>
            </a:r>
            <a:r>
              <a:rPr sz="1800" spc="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bậc</a:t>
            </a:r>
            <a:r>
              <a:rPr sz="1800" spc="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tự</a:t>
            </a:r>
            <a:r>
              <a:rPr sz="1800" spc="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do</a:t>
            </a:r>
            <a:r>
              <a:rPr sz="1800" spc="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khâu</a:t>
            </a:r>
            <a:r>
              <a:rPr sz="1800" spc="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động;</a:t>
            </a:r>
            <a:r>
              <a:rPr sz="1800" spc="4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n</a:t>
            </a:r>
            <a:r>
              <a:rPr sz="1800" i="1" spc="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tổng</a:t>
            </a:r>
            <a:r>
              <a:rPr sz="1800" spc="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số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khâu</a:t>
            </a:r>
            <a:r>
              <a:rPr sz="1800" spc="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động</a:t>
            </a:r>
            <a:r>
              <a:rPr sz="1800" spc="4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(không </a:t>
            </a:r>
            <a:r>
              <a:rPr sz="1800" dirty="0">
                <a:latin typeface="Arial"/>
                <a:cs typeface="Arial"/>
              </a:rPr>
              <a:t>bao</a:t>
            </a:r>
            <a:r>
              <a:rPr sz="1800" spc="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gồm</a:t>
            </a:r>
            <a:r>
              <a:rPr sz="1800" spc="1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giá);</a:t>
            </a:r>
            <a:r>
              <a:rPr sz="1800" spc="114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R</a:t>
            </a:r>
            <a:r>
              <a:rPr sz="1800" i="1" spc="1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tổng</a:t>
            </a:r>
            <a:r>
              <a:rPr sz="1800" spc="1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số</a:t>
            </a:r>
            <a:r>
              <a:rPr sz="1800" spc="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ràng</a:t>
            </a:r>
            <a:r>
              <a:rPr sz="1800" spc="1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buộc</a:t>
            </a:r>
            <a:r>
              <a:rPr sz="1800" spc="1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1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các</a:t>
            </a:r>
            <a:r>
              <a:rPr sz="1800" spc="1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khớp;</a:t>
            </a:r>
            <a:r>
              <a:rPr sz="1800" spc="1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P</a:t>
            </a:r>
            <a:r>
              <a:rPr sz="1800" i="1" baseline="-20833" dirty="0">
                <a:latin typeface="Arial"/>
                <a:cs typeface="Arial"/>
              </a:rPr>
              <a:t>k</a:t>
            </a:r>
            <a:r>
              <a:rPr sz="1800" i="1" spc="419" baseline="-20833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khớp</a:t>
            </a:r>
            <a:r>
              <a:rPr sz="1800" spc="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loại</a:t>
            </a:r>
            <a:r>
              <a:rPr sz="1800" spc="10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k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1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mỗi</a:t>
            </a:r>
            <a:r>
              <a:rPr sz="1800" spc="1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khớp </a:t>
            </a:r>
            <a:r>
              <a:rPr sz="1800" dirty="0">
                <a:latin typeface="Arial"/>
                <a:cs typeface="Arial"/>
              </a:rPr>
              <a:t>loại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k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hạn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chế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k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bậc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tự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do.</a:t>
            </a:r>
            <a:endParaRPr sz="1800">
              <a:latin typeface="Arial"/>
              <a:cs typeface="Arial"/>
            </a:endParaRPr>
          </a:p>
          <a:p>
            <a:pPr marL="337185" indent="-286385">
              <a:lnSpc>
                <a:spcPct val="100000"/>
              </a:lnSpc>
              <a:spcBef>
                <a:spcPts val="1525"/>
              </a:spcBef>
              <a:buClr>
                <a:srgbClr val="1D9A78"/>
              </a:buClr>
              <a:buFont typeface="Wingdings"/>
              <a:buChar char=""/>
              <a:tabLst>
                <a:tab pos="337185" algn="l"/>
              </a:tabLst>
            </a:pPr>
            <a:r>
              <a:rPr sz="1800" dirty="0">
                <a:latin typeface="Arial"/>
                <a:cs typeface="Arial"/>
              </a:rPr>
              <a:t>Công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thức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tổng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quát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tính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bậc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tự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do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cơ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cấu: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6471" y="5617681"/>
            <a:ext cx="8415020" cy="79188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 marR="43180">
              <a:lnSpc>
                <a:spcPct val="150000"/>
              </a:lnSpc>
              <a:spcBef>
                <a:spcPts val="1285"/>
              </a:spcBef>
            </a:pPr>
            <a:r>
              <a:rPr sz="1800" dirty="0">
                <a:latin typeface="Arial"/>
                <a:cs typeface="Arial"/>
              </a:rPr>
              <a:t>Trong</a:t>
            </a:r>
            <a:r>
              <a:rPr sz="1800" spc="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đó:</a:t>
            </a:r>
            <a:r>
              <a:rPr sz="1800" spc="7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W</a:t>
            </a:r>
            <a:r>
              <a:rPr sz="1800" i="1" baseline="-20833" dirty="0">
                <a:latin typeface="Arial"/>
                <a:cs typeface="Arial"/>
              </a:rPr>
              <a:t>th</a:t>
            </a:r>
            <a:r>
              <a:rPr sz="1800" i="1" spc="367" baseline="-20833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số</a:t>
            </a:r>
            <a:r>
              <a:rPr sz="1800" spc="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bậc</a:t>
            </a:r>
            <a:r>
              <a:rPr sz="1800" spc="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tự</a:t>
            </a:r>
            <a:r>
              <a:rPr sz="1800" spc="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do</a:t>
            </a:r>
            <a:r>
              <a:rPr sz="1800" spc="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thừa</a:t>
            </a:r>
            <a:r>
              <a:rPr sz="1800" spc="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(BTD</a:t>
            </a:r>
            <a:r>
              <a:rPr sz="1800" spc="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không</a:t>
            </a:r>
            <a:r>
              <a:rPr sz="1800" spc="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có</a:t>
            </a:r>
            <a:r>
              <a:rPr sz="1800" spc="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ý</a:t>
            </a:r>
            <a:r>
              <a:rPr sz="1800" spc="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nghĩa</a:t>
            </a:r>
            <a:r>
              <a:rPr sz="1800" spc="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đối</a:t>
            </a:r>
            <a:r>
              <a:rPr sz="1800" spc="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với</a:t>
            </a:r>
            <a:r>
              <a:rPr sz="1800" spc="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vị</a:t>
            </a:r>
            <a:r>
              <a:rPr sz="1800" spc="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trí</a:t>
            </a:r>
            <a:r>
              <a:rPr sz="1800" spc="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các</a:t>
            </a:r>
            <a:r>
              <a:rPr sz="1800" spc="6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khâu </a:t>
            </a:r>
            <a:r>
              <a:rPr sz="1800" dirty="0">
                <a:latin typeface="Arial"/>
                <a:cs typeface="Arial"/>
              </a:rPr>
              <a:t>động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trong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cơ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cấu);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R</a:t>
            </a:r>
            <a:r>
              <a:rPr sz="1800" i="1" baseline="-20833" dirty="0">
                <a:latin typeface="Arial"/>
                <a:cs typeface="Arial"/>
              </a:rPr>
              <a:t>th</a:t>
            </a:r>
            <a:r>
              <a:rPr sz="1800" i="1" spc="217" baseline="-20833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số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ràng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buộc thừa;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R</a:t>
            </a:r>
            <a:r>
              <a:rPr sz="1800" i="1" baseline="-20833" dirty="0">
                <a:latin typeface="Arial"/>
                <a:cs typeface="Arial"/>
              </a:rPr>
              <a:t>tr</a:t>
            </a:r>
            <a:r>
              <a:rPr sz="1800" i="1" spc="217" baseline="-20833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số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ràng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buộc </a:t>
            </a:r>
            <a:r>
              <a:rPr sz="1800" spc="-10" dirty="0">
                <a:latin typeface="Arial"/>
                <a:cs typeface="Arial"/>
              </a:rPr>
              <a:t>trùng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53EA989-C6A9-89E3-BB4A-F09EC7A7C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513" y="4544324"/>
            <a:ext cx="4914900" cy="11811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8914" y="4205125"/>
            <a:ext cx="3350621" cy="225503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17454" y="5300013"/>
            <a:ext cx="26797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50" dirty="0">
                <a:latin typeface="Cambria Math"/>
                <a:cs typeface="Cambria Math"/>
              </a:rPr>
              <a:t>A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3026" y="4490301"/>
            <a:ext cx="26543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50" dirty="0">
                <a:latin typeface="Cambria Math"/>
                <a:cs typeface="Cambria Math"/>
              </a:rPr>
              <a:t>B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98986" y="4483991"/>
            <a:ext cx="252729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0" dirty="0">
                <a:latin typeface="Cambria Math"/>
                <a:cs typeface="Cambria Math"/>
              </a:rPr>
              <a:t>C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80068" y="4483951"/>
            <a:ext cx="27813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50" dirty="0">
                <a:latin typeface="Cambria Math"/>
                <a:cs typeface="Cambria Math"/>
              </a:rPr>
              <a:t>D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04549" y="6193139"/>
            <a:ext cx="229870" cy="322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50" spc="-50" dirty="0">
                <a:latin typeface="Cambria Math"/>
                <a:cs typeface="Cambria Math"/>
              </a:rPr>
              <a:t>F</a:t>
            </a:r>
            <a:endParaRPr sz="195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18540" y="5060315"/>
            <a:ext cx="167005" cy="144145"/>
          </a:xfrm>
          <a:custGeom>
            <a:avLst/>
            <a:gdLst/>
            <a:ahLst/>
            <a:cxnLst/>
            <a:rect l="l" t="t" r="r" b="b"/>
            <a:pathLst>
              <a:path w="167005" h="144145">
                <a:moveTo>
                  <a:pt x="166458" y="144018"/>
                </a:moveTo>
                <a:lnTo>
                  <a:pt x="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21452" y="4797785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6212" y="5896278"/>
            <a:ext cx="15240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95466" y="4621509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36844" y="4808841"/>
            <a:ext cx="15240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78191" y="6143922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878327" y="6132486"/>
            <a:ext cx="176530" cy="171450"/>
          </a:xfrm>
          <a:custGeom>
            <a:avLst/>
            <a:gdLst/>
            <a:ahLst/>
            <a:cxnLst/>
            <a:rect l="l" t="t" r="r" b="b"/>
            <a:pathLst>
              <a:path w="176530" h="171450">
                <a:moveTo>
                  <a:pt x="0" y="0"/>
                </a:moveTo>
                <a:lnTo>
                  <a:pt x="176149" y="171157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07753" y="4200778"/>
            <a:ext cx="4542864" cy="2266043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313678" y="6056172"/>
            <a:ext cx="11645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Khớp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trùng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92227" y="5954912"/>
            <a:ext cx="1496695" cy="5499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155"/>
              </a:lnSpc>
              <a:spcBef>
                <a:spcPts val="95"/>
              </a:spcBef>
            </a:pPr>
            <a:r>
              <a:rPr sz="1950" spc="-50" dirty="0">
                <a:latin typeface="Cambria Math"/>
                <a:cs typeface="Cambria Math"/>
              </a:rPr>
              <a:t>E</a:t>
            </a:r>
            <a:endParaRPr sz="1950">
              <a:latin typeface="Cambria Math"/>
              <a:cs typeface="Cambria Math"/>
            </a:endParaRPr>
          </a:p>
          <a:p>
            <a:pPr marL="344170">
              <a:lnSpc>
                <a:spcPts val="1975"/>
              </a:lnSpc>
            </a:pPr>
            <a:r>
              <a:rPr sz="1800" dirty="0">
                <a:latin typeface="Arial"/>
                <a:cs typeface="Arial"/>
              </a:rPr>
              <a:t>Khớp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trùng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03843" y="4881969"/>
            <a:ext cx="246379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50" dirty="0">
                <a:latin typeface="Cambria Math"/>
                <a:cs typeface="Cambria Math"/>
              </a:rPr>
              <a:t>F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068683" y="4238194"/>
            <a:ext cx="246379" cy="3213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00" spc="-50" dirty="0">
                <a:latin typeface="Cambria Math"/>
                <a:cs typeface="Cambria Math"/>
              </a:rPr>
              <a:t>G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410571" y="5533189"/>
            <a:ext cx="266700" cy="321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50" spc="-50" dirty="0">
                <a:latin typeface="Cambria Math"/>
                <a:cs typeface="Cambria Math"/>
              </a:rPr>
              <a:t>H</a:t>
            </a:r>
            <a:endParaRPr sz="195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079161" y="5999466"/>
            <a:ext cx="15240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784995" y="5064976"/>
            <a:ext cx="52387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000" baseline="-12500" dirty="0">
                <a:latin typeface="Times New Roman"/>
                <a:cs typeface="Times New Roman"/>
              </a:rPr>
              <a:t>5</a:t>
            </a:r>
            <a:r>
              <a:rPr sz="3000" spc="300" baseline="-12500" dirty="0">
                <a:latin typeface="Times New Roman"/>
                <a:cs typeface="Times New Roman"/>
              </a:rPr>
              <a:t> </a:t>
            </a:r>
            <a:r>
              <a:rPr sz="2100" spc="-50" dirty="0">
                <a:latin typeface="Cambria Math"/>
                <a:cs typeface="Cambria Math"/>
              </a:rPr>
              <a:t>E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795437" y="4462766"/>
            <a:ext cx="15240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507480" y="4574413"/>
            <a:ext cx="97790" cy="310515"/>
          </a:xfrm>
          <a:custGeom>
            <a:avLst/>
            <a:gdLst/>
            <a:ahLst/>
            <a:cxnLst/>
            <a:rect l="l" t="t" r="r" b="b"/>
            <a:pathLst>
              <a:path w="97790" h="310514">
                <a:moveTo>
                  <a:pt x="97663" y="310514"/>
                </a:moveTo>
                <a:lnTo>
                  <a:pt x="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948173" y="3816039"/>
            <a:ext cx="1977389" cy="75755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800" dirty="0">
                <a:latin typeface="Arial"/>
                <a:cs typeface="Arial"/>
              </a:rPr>
              <a:t>Ăn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khớp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bánh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răng</a:t>
            </a:r>
            <a:endParaRPr sz="1800">
              <a:latin typeface="Arial"/>
              <a:cs typeface="Arial"/>
            </a:endParaRPr>
          </a:p>
          <a:p>
            <a:pPr marR="370205" algn="r">
              <a:lnSpc>
                <a:spcPct val="100000"/>
              </a:lnSpc>
              <a:spcBef>
                <a:spcPts val="630"/>
              </a:spcBef>
            </a:pPr>
            <a:r>
              <a:rPr sz="2000" spc="-50" dirty="0"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797169" y="4992370"/>
            <a:ext cx="179070" cy="248920"/>
          </a:xfrm>
          <a:custGeom>
            <a:avLst/>
            <a:gdLst/>
            <a:ahLst/>
            <a:cxnLst/>
            <a:rect l="l" t="t" r="r" b="b"/>
            <a:pathLst>
              <a:path w="179070" h="248920">
                <a:moveTo>
                  <a:pt x="0" y="0"/>
                </a:moveTo>
                <a:lnTo>
                  <a:pt x="178942" y="248792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963939" y="4412127"/>
            <a:ext cx="861060" cy="112014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276225">
              <a:lnSpc>
                <a:spcPct val="100000"/>
              </a:lnSpc>
              <a:spcBef>
                <a:spcPts val="880"/>
              </a:spcBef>
            </a:pPr>
            <a:r>
              <a:rPr sz="3150" baseline="-15873" dirty="0">
                <a:latin typeface="Cambria Math"/>
                <a:cs typeface="Cambria Math"/>
              </a:rPr>
              <a:t>B</a:t>
            </a:r>
            <a:r>
              <a:rPr sz="3150" spc="120" baseline="-15873" dirty="0">
                <a:latin typeface="Cambria Math"/>
                <a:cs typeface="Cambria Math"/>
              </a:rPr>
              <a:t> </a:t>
            </a:r>
            <a:r>
              <a:rPr sz="2100" spc="-50" dirty="0">
                <a:latin typeface="Cambria Math"/>
                <a:cs typeface="Cambria Math"/>
              </a:rPr>
              <a:t>C</a:t>
            </a:r>
            <a:endParaRPr sz="2100">
              <a:latin typeface="Cambria Math"/>
              <a:cs typeface="Cambria Math"/>
            </a:endParaRPr>
          </a:p>
          <a:p>
            <a:pPr marL="168910">
              <a:lnSpc>
                <a:spcPts val="2230"/>
              </a:lnSpc>
              <a:spcBef>
                <a:spcPts val="735"/>
              </a:spcBef>
            </a:pPr>
            <a:r>
              <a:rPr sz="2000" spc="-5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  <a:p>
            <a:pPr marL="38100">
              <a:lnSpc>
                <a:spcPts val="2350"/>
              </a:lnSpc>
            </a:pPr>
            <a:r>
              <a:rPr sz="2100" spc="-50" dirty="0">
                <a:latin typeface="Cambria Math"/>
                <a:cs typeface="Cambria Math"/>
              </a:rPr>
              <a:t>A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886744" y="4312501"/>
            <a:ext cx="27813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50" dirty="0">
                <a:latin typeface="Cambria Math"/>
                <a:cs typeface="Cambria Math"/>
              </a:rPr>
              <a:t>D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460872" y="5195315"/>
            <a:ext cx="408305" cy="506730"/>
          </a:xfrm>
          <a:custGeom>
            <a:avLst/>
            <a:gdLst/>
            <a:ahLst/>
            <a:cxnLst/>
            <a:rect l="l" t="t" r="r" b="b"/>
            <a:pathLst>
              <a:path w="408304" h="506729">
                <a:moveTo>
                  <a:pt x="0" y="0"/>
                </a:moveTo>
                <a:lnTo>
                  <a:pt x="408304" y="506450"/>
                </a:lnTo>
              </a:path>
            </a:pathLst>
          </a:custGeom>
          <a:ln w="6349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868634" y="5078716"/>
            <a:ext cx="268605" cy="8204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2000" spc="-50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1539621" y="118110"/>
            <a:ext cx="60655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30" dirty="0"/>
              <a:t> </a:t>
            </a:r>
            <a:r>
              <a:rPr dirty="0"/>
              <a:t>1</a:t>
            </a:r>
            <a:r>
              <a:rPr spc="-45" dirty="0"/>
              <a:t> </a:t>
            </a:r>
            <a:r>
              <a:rPr dirty="0"/>
              <a:t>–</a:t>
            </a:r>
            <a:r>
              <a:rPr spc="-50" dirty="0"/>
              <a:t> </a:t>
            </a:r>
            <a:r>
              <a:rPr dirty="0"/>
              <a:t>PHÂN</a:t>
            </a:r>
            <a:r>
              <a:rPr spc="-40" dirty="0"/>
              <a:t> </a:t>
            </a:r>
            <a:r>
              <a:rPr dirty="0"/>
              <a:t>TÍCH</a:t>
            </a:r>
            <a:r>
              <a:rPr spc="-45" dirty="0"/>
              <a:t> </a:t>
            </a:r>
            <a:r>
              <a:rPr dirty="0"/>
              <a:t>CẤU</a:t>
            </a:r>
            <a:r>
              <a:rPr spc="-55" dirty="0"/>
              <a:t> </a:t>
            </a:r>
            <a:r>
              <a:rPr dirty="0"/>
              <a:t>TRÚC</a:t>
            </a:r>
            <a:r>
              <a:rPr spc="-45" dirty="0"/>
              <a:t> </a:t>
            </a:r>
            <a:r>
              <a:rPr dirty="0"/>
              <a:t>CƠ</a:t>
            </a:r>
            <a:r>
              <a:rPr spc="-45" dirty="0"/>
              <a:t> </a:t>
            </a:r>
            <a:r>
              <a:rPr spc="-25" dirty="0"/>
              <a:t>CẤU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8718931" y="102489"/>
            <a:ext cx="2978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1.18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330200" y="448436"/>
            <a:ext cx="7222490" cy="125222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455295" lvl="1" indent="-442595">
              <a:lnSpc>
                <a:spcPct val="100000"/>
              </a:lnSpc>
              <a:spcBef>
                <a:spcPts val="1010"/>
              </a:spcBef>
              <a:buAutoNum type="arabicPeriod" startAt="3"/>
              <a:tabLst>
                <a:tab pos="455295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Cơ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cấu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phẳng</a:t>
            </a:r>
            <a:endParaRPr sz="1800">
              <a:latin typeface="Arial"/>
              <a:cs typeface="Arial"/>
            </a:endParaRPr>
          </a:p>
          <a:p>
            <a:pPr marL="645160" lvl="2" indent="-632460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645160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Tính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số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bậc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tự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do</a:t>
            </a:r>
            <a:r>
              <a:rPr sz="18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của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cơ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cấu</a:t>
            </a:r>
            <a:endParaRPr sz="1800">
              <a:latin typeface="Arial"/>
              <a:cs typeface="Arial"/>
            </a:endParaRPr>
          </a:p>
          <a:p>
            <a:pPr marL="299085" lvl="3" indent="-286385">
              <a:lnSpc>
                <a:spcPct val="100000"/>
              </a:lnSpc>
              <a:spcBef>
                <a:spcPts val="1355"/>
              </a:spcBef>
              <a:buClr>
                <a:srgbClr val="1D9A78"/>
              </a:buClr>
              <a:buFont typeface="Wingdings"/>
              <a:buChar char=""/>
              <a:tabLst>
                <a:tab pos="299085" algn="l"/>
              </a:tabLst>
            </a:pP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Đối</a:t>
            </a:r>
            <a:r>
              <a:rPr sz="1800" b="1" spc="-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với</a:t>
            </a:r>
            <a:r>
              <a:rPr sz="1800" b="1" spc="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cơ</a:t>
            </a:r>
            <a:r>
              <a:rPr sz="1800" b="1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cấu</a:t>
            </a:r>
            <a:r>
              <a:rPr sz="1800" b="1" spc="-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phẳng</a:t>
            </a:r>
            <a:r>
              <a:rPr sz="1800" b="1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gồm </a:t>
            </a:r>
            <a:r>
              <a:rPr sz="1800" i="1" dirty="0">
                <a:latin typeface="Arial"/>
                <a:cs typeface="Arial"/>
              </a:rPr>
              <a:t>T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khớp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loại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thấp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và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C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khớp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loại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cao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thì: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981451" y="2773298"/>
            <a:ext cx="2118360" cy="382270"/>
            <a:chOff x="2981451" y="2773298"/>
            <a:chExt cx="2118360" cy="382270"/>
          </a:xfrm>
        </p:grpSpPr>
        <p:sp>
          <p:nvSpPr>
            <p:cNvPr id="36" name="object 36"/>
            <p:cNvSpPr/>
            <p:nvPr/>
          </p:nvSpPr>
          <p:spPr>
            <a:xfrm>
              <a:off x="2987801" y="2779648"/>
              <a:ext cx="2105660" cy="369570"/>
            </a:xfrm>
            <a:custGeom>
              <a:avLst/>
              <a:gdLst/>
              <a:ahLst/>
              <a:cxnLst/>
              <a:rect l="l" t="t" r="r" b="b"/>
              <a:pathLst>
                <a:path w="2105660" h="369569">
                  <a:moveTo>
                    <a:pt x="2043938" y="0"/>
                  </a:moveTo>
                  <a:lnTo>
                    <a:pt x="61595" y="0"/>
                  </a:lnTo>
                  <a:lnTo>
                    <a:pt x="37611" y="4837"/>
                  </a:lnTo>
                  <a:lnTo>
                    <a:pt x="18034" y="18034"/>
                  </a:lnTo>
                  <a:lnTo>
                    <a:pt x="4837" y="37611"/>
                  </a:lnTo>
                  <a:lnTo>
                    <a:pt x="0" y="61595"/>
                  </a:lnTo>
                  <a:lnTo>
                    <a:pt x="0" y="307848"/>
                  </a:lnTo>
                  <a:lnTo>
                    <a:pt x="4837" y="331757"/>
                  </a:lnTo>
                  <a:lnTo>
                    <a:pt x="18034" y="351297"/>
                  </a:lnTo>
                  <a:lnTo>
                    <a:pt x="37611" y="364480"/>
                  </a:lnTo>
                  <a:lnTo>
                    <a:pt x="61595" y="369315"/>
                  </a:lnTo>
                  <a:lnTo>
                    <a:pt x="2043938" y="369315"/>
                  </a:lnTo>
                  <a:lnTo>
                    <a:pt x="2067921" y="364480"/>
                  </a:lnTo>
                  <a:lnTo>
                    <a:pt x="2087499" y="351297"/>
                  </a:lnTo>
                  <a:lnTo>
                    <a:pt x="2100695" y="331757"/>
                  </a:lnTo>
                  <a:lnTo>
                    <a:pt x="2105533" y="307848"/>
                  </a:lnTo>
                  <a:lnTo>
                    <a:pt x="2105533" y="61595"/>
                  </a:lnTo>
                  <a:lnTo>
                    <a:pt x="2100695" y="37611"/>
                  </a:lnTo>
                  <a:lnTo>
                    <a:pt x="2087499" y="18034"/>
                  </a:lnTo>
                  <a:lnTo>
                    <a:pt x="2067921" y="4837"/>
                  </a:lnTo>
                  <a:lnTo>
                    <a:pt x="2043938" y="0"/>
                  </a:lnTo>
                  <a:close/>
                </a:path>
              </a:pathLst>
            </a:custGeom>
            <a:solidFill>
              <a:srgbClr val="FBEB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987801" y="2779648"/>
              <a:ext cx="2105660" cy="369570"/>
            </a:xfrm>
            <a:custGeom>
              <a:avLst/>
              <a:gdLst/>
              <a:ahLst/>
              <a:cxnLst/>
              <a:rect l="l" t="t" r="r" b="b"/>
              <a:pathLst>
                <a:path w="2105660" h="369569">
                  <a:moveTo>
                    <a:pt x="0" y="61595"/>
                  </a:moveTo>
                  <a:lnTo>
                    <a:pt x="4837" y="37611"/>
                  </a:lnTo>
                  <a:lnTo>
                    <a:pt x="18034" y="18034"/>
                  </a:lnTo>
                  <a:lnTo>
                    <a:pt x="37611" y="4837"/>
                  </a:lnTo>
                  <a:lnTo>
                    <a:pt x="61595" y="0"/>
                  </a:lnTo>
                  <a:lnTo>
                    <a:pt x="2043938" y="0"/>
                  </a:lnTo>
                  <a:lnTo>
                    <a:pt x="2067921" y="4837"/>
                  </a:lnTo>
                  <a:lnTo>
                    <a:pt x="2087499" y="18034"/>
                  </a:lnTo>
                  <a:lnTo>
                    <a:pt x="2100695" y="37611"/>
                  </a:lnTo>
                  <a:lnTo>
                    <a:pt x="2105533" y="61595"/>
                  </a:lnTo>
                  <a:lnTo>
                    <a:pt x="2105533" y="307848"/>
                  </a:lnTo>
                  <a:lnTo>
                    <a:pt x="2100695" y="331757"/>
                  </a:lnTo>
                  <a:lnTo>
                    <a:pt x="2087499" y="351297"/>
                  </a:lnTo>
                  <a:lnTo>
                    <a:pt x="2067921" y="364480"/>
                  </a:lnTo>
                  <a:lnTo>
                    <a:pt x="2043938" y="369315"/>
                  </a:lnTo>
                  <a:lnTo>
                    <a:pt x="61595" y="369315"/>
                  </a:lnTo>
                  <a:lnTo>
                    <a:pt x="37611" y="364480"/>
                  </a:lnTo>
                  <a:lnTo>
                    <a:pt x="18034" y="351297"/>
                  </a:lnTo>
                  <a:lnTo>
                    <a:pt x="4837" y="331757"/>
                  </a:lnTo>
                  <a:lnTo>
                    <a:pt x="0" y="307848"/>
                  </a:lnTo>
                  <a:lnTo>
                    <a:pt x="0" y="61595"/>
                  </a:lnTo>
                  <a:close/>
                </a:path>
              </a:pathLst>
            </a:custGeom>
            <a:ln w="12700">
              <a:solidFill>
                <a:srgbClr val="126F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543763" y="1694630"/>
            <a:ext cx="4993005" cy="1433830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323850" indent="-285750">
              <a:lnSpc>
                <a:spcPct val="100000"/>
              </a:lnSpc>
              <a:spcBef>
                <a:spcPts val="994"/>
              </a:spcBef>
              <a:buFont typeface="Wingdings"/>
              <a:buChar char=""/>
              <a:tabLst>
                <a:tab pos="323850" algn="l"/>
              </a:tabLst>
            </a:pPr>
            <a:r>
              <a:rPr sz="1800" dirty="0">
                <a:latin typeface="Arial"/>
                <a:cs typeface="Arial"/>
              </a:rPr>
              <a:t>Tổng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số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BTD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khâu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động: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3150" spc="-1110" baseline="-5291" dirty="0">
                <a:latin typeface="Cambria Math"/>
                <a:cs typeface="Cambria Math"/>
              </a:rPr>
              <a:t>W</a:t>
            </a:r>
            <a:r>
              <a:rPr sz="1800" spc="-89" baseline="-32407" dirty="0">
                <a:latin typeface="Cambria Math"/>
                <a:cs typeface="Cambria Math"/>
              </a:rPr>
              <a:t>O</a:t>
            </a:r>
            <a:r>
              <a:rPr sz="1800" spc="502" baseline="-32407" dirty="0">
                <a:latin typeface="Cambria Math"/>
                <a:cs typeface="Cambria Math"/>
              </a:rPr>
              <a:t> </a:t>
            </a:r>
            <a:r>
              <a:rPr sz="3000" baseline="-5555" dirty="0">
                <a:latin typeface="Symbol"/>
                <a:cs typeface="Symbol"/>
              </a:rPr>
              <a:t></a:t>
            </a:r>
            <a:r>
              <a:rPr sz="3000" spc="-104" baseline="-5555" dirty="0">
                <a:latin typeface="Times New Roman"/>
                <a:cs typeface="Times New Roman"/>
              </a:rPr>
              <a:t> </a:t>
            </a:r>
            <a:r>
              <a:rPr sz="3000" spc="-37" baseline="-5555" dirty="0">
                <a:latin typeface="Times New Roman"/>
                <a:cs typeface="Times New Roman"/>
              </a:rPr>
              <a:t>3</a:t>
            </a:r>
            <a:r>
              <a:rPr sz="3150" spc="-37" baseline="-5291" dirty="0">
                <a:latin typeface="Cambria Math"/>
                <a:cs typeface="Cambria Math"/>
              </a:rPr>
              <a:t>n</a:t>
            </a:r>
            <a:endParaRPr sz="3150" baseline="-5291">
              <a:latin typeface="Cambria Math"/>
              <a:cs typeface="Cambria Math"/>
            </a:endParaRPr>
          </a:p>
          <a:p>
            <a:pPr marL="325755" indent="-285750">
              <a:lnSpc>
                <a:spcPct val="100000"/>
              </a:lnSpc>
              <a:spcBef>
                <a:spcPts val="900"/>
              </a:spcBef>
              <a:buFont typeface="Wingdings"/>
              <a:buChar char=""/>
              <a:tabLst>
                <a:tab pos="325755" algn="l"/>
              </a:tabLst>
            </a:pPr>
            <a:r>
              <a:rPr sz="1800" dirty="0">
                <a:latin typeface="Arial"/>
                <a:cs typeface="Arial"/>
              </a:rPr>
              <a:t>Tổng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số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ràng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buộc của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các </a:t>
            </a:r>
            <a:r>
              <a:rPr sz="1800" spc="-10" dirty="0">
                <a:latin typeface="Arial"/>
                <a:cs typeface="Arial"/>
              </a:rPr>
              <a:t>khớp:</a:t>
            </a:r>
            <a:r>
              <a:rPr sz="1800" spc="-135" dirty="0">
                <a:latin typeface="Arial"/>
                <a:cs typeface="Arial"/>
              </a:rPr>
              <a:t> </a:t>
            </a:r>
            <a:r>
              <a:rPr sz="3150" spc="120" baseline="-3968" dirty="0">
                <a:latin typeface="Cambria Math"/>
                <a:cs typeface="Cambria Math"/>
              </a:rPr>
              <a:t>R</a:t>
            </a:r>
            <a:r>
              <a:rPr sz="3000" spc="120" baseline="-4166" dirty="0">
                <a:latin typeface="Symbol"/>
                <a:cs typeface="Symbol"/>
              </a:rPr>
              <a:t></a:t>
            </a:r>
            <a:r>
              <a:rPr sz="3000" spc="-7" baseline="-4166" dirty="0">
                <a:latin typeface="Times New Roman"/>
                <a:cs typeface="Times New Roman"/>
              </a:rPr>
              <a:t> </a:t>
            </a:r>
            <a:r>
              <a:rPr sz="3000" spc="-412" baseline="-4166" dirty="0">
                <a:latin typeface="Times New Roman"/>
                <a:cs typeface="Times New Roman"/>
              </a:rPr>
              <a:t>2</a:t>
            </a:r>
            <a:r>
              <a:rPr sz="3150" spc="-412" baseline="-3968" dirty="0">
                <a:latin typeface="Cambria Math"/>
                <a:cs typeface="Cambria Math"/>
              </a:rPr>
              <a:t>T</a:t>
            </a:r>
            <a:r>
              <a:rPr sz="3150" spc="-277" baseline="-3968" dirty="0">
                <a:latin typeface="Cambria Math"/>
                <a:cs typeface="Cambria Math"/>
              </a:rPr>
              <a:t> </a:t>
            </a:r>
            <a:r>
              <a:rPr sz="3000" spc="-37" baseline="-4166" dirty="0">
                <a:latin typeface="Symbol"/>
                <a:cs typeface="Symbol"/>
              </a:rPr>
              <a:t></a:t>
            </a:r>
            <a:r>
              <a:rPr sz="3150" spc="-37" baseline="-3968" dirty="0">
                <a:latin typeface="Cambria Math"/>
                <a:cs typeface="Cambria Math"/>
              </a:rPr>
              <a:t>C</a:t>
            </a:r>
            <a:endParaRPr sz="3150" baseline="-3968">
              <a:latin typeface="Cambria Math"/>
              <a:cs typeface="Cambria Math"/>
            </a:endParaRPr>
          </a:p>
          <a:p>
            <a:pPr marL="323850" indent="-285750">
              <a:lnSpc>
                <a:spcPct val="100000"/>
              </a:lnSpc>
              <a:spcBef>
                <a:spcPts val="1125"/>
              </a:spcBef>
              <a:buFont typeface="Wingdings"/>
              <a:buChar char=""/>
              <a:tabLst>
                <a:tab pos="323850" algn="l"/>
              </a:tabLst>
            </a:pPr>
            <a:r>
              <a:rPr sz="1800" dirty="0">
                <a:latin typeface="Arial"/>
                <a:cs typeface="Arial"/>
              </a:rPr>
              <a:t>Số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BTD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cơ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cấu:</a:t>
            </a:r>
            <a:r>
              <a:rPr sz="1800" spc="260" dirty="0">
                <a:latin typeface="Arial"/>
                <a:cs typeface="Arial"/>
              </a:rPr>
              <a:t> </a:t>
            </a:r>
            <a:r>
              <a:rPr sz="3150" baseline="3968" dirty="0">
                <a:latin typeface="Cambria Math"/>
                <a:cs typeface="Cambria Math"/>
              </a:rPr>
              <a:t>W</a:t>
            </a:r>
            <a:r>
              <a:rPr sz="3150" spc="22" baseline="3968" dirty="0">
                <a:latin typeface="Cambria Math"/>
                <a:cs typeface="Cambria Math"/>
              </a:rPr>
              <a:t> </a:t>
            </a:r>
            <a:r>
              <a:rPr sz="3000" baseline="4166" dirty="0">
                <a:latin typeface="Symbol"/>
                <a:cs typeface="Symbol"/>
              </a:rPr>
              <a:t></a:t>
            </a:r>
            <a:r>
              <a:rPr sz="3000" spc="-104" baseline="4166" dirty="0">
                <a:latin typeface="Times New Roman"/>
                <a:cs typeface="Times New Roman"/>
              </a:rPr>
              <a:t> </a:t>
            </a:r>
            <a:r>
              <a:rPr sz="3000" spc="-195" baseline="4166" dirty="0">
                <a:latin typeface="Times New Roman"/>
                <a:cs typeface="Times New Roman"/>
              </a:rPr>
              <a:t>3</a:t>
            </a:r>
            <a:r>
              <a:rPr sz="3150" spc="-195" baseline="3968" dirty="0">
                <a:latin typeface="Cambria Math"/>
                <a:cs typeface="Cambria Math"/>
              </a:rPr>
              <a:t>n</a:t>
            </a:r>
            <a:r>
              <a:rPr sz="3000" spc="-195" baseline="4166" dirty="0">
                <a:latin typeface="Symbol"/>
                <a:cs typeface="Symbol"/>
              </a:rPr>
              <a:t></a:t>
            </a:r>
            <a:r>
              <a:rPr sz="3000" spc="-315" baseline="4166" dirty="0">
                <a:latin typeface="Times New Roman"/>
                <a:cs typeface="Times New Roman"/>
              </a:rPr>
              <a:t> </a:t>
            </a:r>
            <a:r>
              <a:rPr sz="2600" spc="-204" dirty="0">
                <a:latin typeface="Symbol"/>
                <a:cs typeface="Symbol"/>
              </a:rPr>
              <a:t></a:t>
            </a:r>
            <a:r>
              <a:rPr sz="3000" spc="-307" baseline="4166" dirty="0">
                <a:latin typeface="Times New Roman"/>
                <a:cs typeface="Times New Roman"/>
              </a:rPr>
              <a:t>2</a:t>
            </a:r>
            <a:r>
              <a:rPr sz="3150" spc="-307" baseline="3968" dirty="0">
                <a:latin typeface="Cambria Math"/>
                <a:cs typeface="Cambria Math"/>
              </a:rPr>
              <a:t>T</a:t>
            </a:r>
            <a:r>
              <a:rPr sz="3150" spc="-277" baseline="3968" dirty="0">
                <a:latin typeface="Cambria Math"/>
                <a:cs typeface="Cambria Math"/>
              </a:rPr>
              <a:t> </a:t>
            </a:r>
            <a:r>
              <a:rPr sz="3000" spc="-37" baseline="4166" dirty="0">
                <a:latin typeface="Symbol"/>
                <a:cs typeface="Symbol"/>
              </a:rPr>
              <a:t></a:t>
            </a:r>
            <a:r>
              <a:rPr sz="3150" spc="-37" baseline="3968" dirty="0">
                <a:latin typeface="Cambria Math"/>
                <a:cs typeface="Cambria Math"/>
              </a:rPr>
              <a:t>C</a:t>
            </a:r>
            <a:r>
              <a:rPr sz="2600" spc="-25" dirty="0">
                <a:latin typeface="Symbol"/>
                <a:cs typeface="Symbol"/>
              </a:rPr>
              <a:t>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241927" y="4871720"/>
            <a:ext cx="2722245" cy="1337945"/>
          </a:xfrm>
          <a:custGeom>
            <a:avLst/>
            <a:gdLst/>
            <a:ahLst/>
            <a:cxnLst/>
            <a:rect l="l" t="t" r="r" b="b"/>
            <a:pathLst>
              <a:path w="2722245" h="1337945">
                <a:moveTo>
                  <a:pt x="1041527" y="566801"/>
                </a:moveTo>
                <a:lnTo>
                  <a:pt x="957580" y="581406"/>
                </a:lnTo>
                <a:lnTo>
                  <a:pt x="978382" y="609511"/>
                </a:lnTo>
                <a:lnTo>
                  <a:pt x="0" y="1332547"/>
                </a:lnTo>
                <a:lnTo>
                  <a:pt x="3683" y="1337652"/>
                </a:lnTo>
                <a:lnTo>
                  <a:pt x="982167" y="614616"/>
                </a:lnTo>
                <a:lnTo>
                  <a:pt x="1002919" y="642620"/>
                </a:lnTo>
                <a:lnTo>
                  <a:pt x="1023607" y="601980"/>
                </a:lnTo>
                <a:lnTo>
                  <a:pt x="1041527" y="566801"/>
                </a:lnTo>
                <a:close/>
              </a:path>
              <a:path w="2722245" h="1337945">
                <a:moveTo>
                  <a:pt x="2722245" y="1152766"/>
                </a:moveTo>
                <a:lnTo>
                  <a:pt x="1606435" y="51333"/>
                </a:lnTo>
                <a:lnTo>
                  <a:pt x="1615236" y="42418"/>
                </a:lnTo>
                <a:lnTo>
                  <a:pt x="1631061" y="26416"/>
                </a:lnTo>
                <a:lnTo>
                  <a:pt x="1550035" y="0"/>
                </a:lnTo>
                <a:lnTo>
                  <a:pt x="1577467" y="80645"/>
                </a:lnTo>
                <a:lnTo>
                  <a:pt x="1602016" y="55803"/>
                </a:lnTo>
                <a:lnTo>
                  <a:pt x="2717800" y="1157287"/>
                </a:lnTo>
                <a:lnTo>
                  <a:pt x="2722245" y="1152766"/>
                </a:lnTo>
                <a:close/>
              </a:path>
            </a:pathLst>
          </a:custGeom>
          <a:solidFill>
            <a:srgbClr val="1D9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828306" y="6117425"/>
            <a:ext cx="784860" cy="369570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6350">
              <a:lnSpc>
                <a:spcPct val="100000"/>
              </a:lnSpc>
              <a:spcBef>
                <a:spcPts val="155"/>
              </a:spcBef>
            </a:pPr>
            <a:r>
              <a:rPr sz="2100" dirty="0">
                <a:latin typeface="Cambria Math"/>
                <a:cs typeface="Cambria Math"/>
              </a:rPr>
              <a:t>W</a:t>
            </a:r>
            <a:r>
              <a:rPr sz="2100" spc="-100" dirty="0">
                <a:latin typeface="Cambria Math"/>
                <a:cs typeface="Cambria Math"/>
              </a:rPr>
              <a:t> </a:t>
            </a:r>
            <a:r>
              <a:rPr sz="2000" spc="-20" dirty="0">
                <a:latin typeface="Symbol"/>
                <a:cs typeface="Symbol"/>
              </a:rPr>
              <a:t></a:t>
            </a:r>
            <a:r>
              <a:rPr sz="2000" spc="-254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955788" y="5997257"/>
            <a:ext cx="784860" cy="369570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10"/>
              </a:spcBef>
            </a:pPr>
            <a:r>
              <a:rPr sz="2100" dirty="0">
                <a:latin typeface="Cambria Math"/>
                <a:cs typeface="Cambria Math"/>
              </a:rPr>
              <a:t>W</a:t>
            </a:r>
            <a:r>
              <a:rPr sz="2100" spc="-100" dirty="0">
                <a:latin typeface="Cambria Math"/>
                <a:cs typeface="Cambria Math"/>
              </a:rPr>
              <a:t> </a:t>
            </a:r>
            <a:r>
              <a:rPr sz="2000" spc="-20" dirty="0">
                <a:latin typeface="Symbol"/>
                <a:cs typeface="Symbol"/>
              </a:rPr>
              <a:t></a:t>
            </a:r>
            <a:r>
              <a:rPr sz="2000" spc="-254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724144" y="1852167"/>
            <a:ext cx="0" cy="1433195"/>
          </a:xfrm>
          <a:custGeom>
            <a:avLst/>
            <a:gdLst/>
            <a:ahLst/>
            <a:cxnLst/>
            <a:rect l="l" t="t" r="r" b="b"/>
            <a:pathLst>
              <a:path h="1433195">
                <a:moveTo>
                  <a:pt x="0" y="0"/>
                </a:moveTo>
                <a:lnTo>
                  <a:pt x="0" y="1432814"/>
                </a:lnTo>
              </a:path>
            </a:pathLst>
          </a:custGeom>
          <a:ln w="190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5840984" y="1988712"/>
            <a:ext cx="3037840" cy="815340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Cách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tính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khớp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trùng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nhau: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Số</a:t>
            </a:r>
            <a:r>
              <a:rPr sz="16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khớp</a:t>
            </a:r>
            <a:r>
              <a:rPr sz="16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16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số</a:t>
            </a:r>
            <a:r>
              <a:rPr sz="16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khâu</a:t>
            </a:r>
            <a:r>
              <a:rPr sz="16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(kể</a:t>
            </a:r>
            <a:r>
              <a:rPr sz="16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cả</a:t>
            </a:r>
            <a:r>
              <a:rPr sz="16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giá)</a:t>
            </a:r>
            <a:r>
              <a:rPr sz="1600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sz="16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FF0000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83AAB3-59FF-AE49-77C2-E2B958D38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563050"/>
            <a:ext cx="4910021" cy="32469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1F9746-90B0-E6B0-AAD7-1498E6C17E3F}"/>
              </a:ext>
            </a:extLst>
          </p:cNvPr>
          <p:cNvSpPr txBox="1"/>
          <p:nvPr/>
        </p:nvSpPr>
        <p:spPr>
          <a:xfrm>
            <a:off x="762000" y="609600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21317301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F63E6E0-727A-BC6C-EE6B-D8A8640B9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3240932"/>
            <a:ext cx="5010364" cy="33528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725B60A-4EC1-4562-9DF4-3B9F5FC9E793}"/>
              </a:ext>
            </a:extLst>
          </p:cNvPr>
          <p:cNvSpPr/>
          <p:nvPr/>
        </p:nvSpPr>
        <p:spPr>
          <a:xfrm>
            <a:off x="2438400" y="3581400"/>
            <a:ext cx="1447800" cy="4572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DE29CA-1A31-8E06-FCCB-120B7B215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62647"/>
            <a:ext cx="4910021" cy="32469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01F2E5D-8F49-10BE-939F-59E06C2E5834}"/>
              </a:ext>
            </a:extLst>
          </p:cNvPr>
          <p:cNvSpPr/>
          <p:nvPr/>
        </p:nvSpPr>
        <p:spPr>
          <a:xfrm>
            <a:off x="4876800" y="6096000"/>
            <a:ext cx="1143000" cy="49773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257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E5E4DB-4A68-558E-BB17-59CA6D038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990600"/>
            <a:ext cx="4819650" cy="301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1473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B1E357-428A-C5DB-ABB6-C2942FE15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533400"/>
            <a:ext cx="8458200" cy="31329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FD467E-60EA-843E-2945-2F431FE1D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4038600"/>
            <a:ext cx="8839200" cy="1379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1570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39621" y="118110"/>
            <a:ext cx="60655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solidFill>
                  <a:srgbClr val="0D4D3B"/>
                </a:solidFill>
                <a:latin typeface="Times New Roman"/>
                <a:cs typeface="Times New Roman"/>
              </a:rPr>
              <a:t>CHƯƠNG</a:t>
            </a:r>
            <a:r>
              <a:rPr sz="2200" b="1" spc="-30" dirty="0">
                <a:solidFill>
                  <a:srgbClr val="0D4D3B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D4D3B"/>
                </a:solidFill>
                <a:latin typeface="Times New Roman"/>
                <a:cs typeface="Times New Roman"/>
              </a:rPr>
              <a:t>1</a:t>
            </a:r>
            <a:r>
              <a:rPr sz="2200" b="1" spc="-45" dirty="0">
                <a:solidFill>
                  <a:srgbClr val="0D4D3B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D4D3B"/>
                </a:solidFill>
                <a:latin typeface="Times New Roman"/>
                <a:cs typeface="Times New Roman"/>
              </a:rPr>
              <a:t>–</a:t>
            </a:r>
            <a:r>
              <a:rPr sz="2200" b="1" spc="-50" dirty="0">
                <a:solidFill>
                  <a:srgbClr val="0D4D3B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D4D3B"/>
                </a:solidFill>
                <a:latin typeface="Times New Roman"/>
                <a:cs typeface="Times New Roman"/>
              </a:rPr>
              <a:t>PHÂN</a:t>
            </a:r>
            <a:r>
              <a:rPr sz="2200" b="1" spc="-40" dirty="0">
                <a:solidFill>
                  <a:srgbClr val="0D4D3B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D4D3B"/>
                </a:solidFill>
                <a:latin typeface="Times New Roman"/>
                <a:cs typeface="Times New Roman"/>
              </a:rPr>
              <a:t>TÍCH</a:t>
            </a:r>
            <a:r>
              <a:rPr sz="2200" b="1" spc="-45" dirty="0">
                <a:solidFill>
                  <a:srgbClr val="0D4D3B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D4D3B"/>
                </a:solidFill>
                <a:latin typeface="Times New Roman"/>
                <a:cs typeface="Times New Roman"/>
              </a:rPr>
              <a:t>CẤU</a:t>
            </a:r>
            <a:r>
              <a:rPr sz="2200" b="1" spc="-55" dirty="0">
                <a:solidFill>
                  <a:srgbClr val="0D4D3B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D4D3B"/>
                </a:solidFill>
                <a:latin typeface="Times New Roman"/>
                <a:cs typeface="Times New Roman"/>
              </a:rPr>
              <a:t>TRÚC</a:t>
            </a:r>
            <a:r>
              <a:rPr sz="2200" b="1" spc="-45" dirty="0">
                <a:solidFill>
                  <a:srgbClr val="0D4D3B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D4D3B"/>
                </a:solidFill>
                <a:latin typeface="Times New Roman"/>
                <a:cs typeface="Times New Roman"/>
              </a:rPr>
              <a:t>CƠ</a:t>
            </a:r>
            <a:r>
              <a:rPr sz="2200" b="1" spc="-45" dirty="0">
                <a:solidFill>
                  <a:srgbClr val="0D4D3B"/>
                </a:solidFill>
                <a:latin typeface="Times New Roman"/>
                <a:cs typeface="Times New Roman"/>
              </a:rPr>
              <a:t> </a:t>
            </a:r>
            <a:r>
              <a:rPr sz="2200" b="1" spc="-25" dirty="0">
                <a:solidFill>
                  <a:srgbClr val="0D4D3B"/>
                </a:solidFill>
                <a:latin typeface="Times New Roman"/>
                <a:cs typeface="Times New Roman"/>
              </a:rPr>
              <a:t>CẤU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0200" y="448436"/>
            <a:ext cx="3843020" cy="805815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455930" lvl="1" indent="-443230">
              <a:lnSpc>
                <a:spcPct val="100000"/>
              </a:lnSpc>
              <a:spcBef>
                <a:spcPts val="1010"/>
              </a:spcBef>
              <a:buAutoNum type="arabicPeriod" startAt="3"/>
              <a:tabLst>
                <a:tab pos="455930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Cơ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cấu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phẳng</a:t>
            </a:r>
            <a:endParaRPr sz="1800">
              <a:latin typeface="Arial"/>
              <a:cs typeface="Arial"/>
            </a:endParaRPr>
          </a:p>
          <a:p>
            <a:pPr marL="645160" lvl="2" indent="-632460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645160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Tính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số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bậc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tự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do</a:t>
            </a:r>
            <a:r>
              <a:rPr sz="18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của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cơ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cấu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4800" y="1319926"/>
            <a:ext cx="538861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4485" indent="-286385">
              <a:lnSpc>
                <a:spcPct val="100000"/>
              </a:lnSpc>
              <a:spcBef>
                <a:spcPts val="100"/>
              </a:spcBef>
              <a:buClr>
                <a:srgbClr val="1D9A78"/>
              </a:buClr>
              <a:buFont typeface="Wingdings"/>
              <a:buChar char=""/>
              <a:tabLst>
                <a:tab pos="324485" algn="l"/>
              </a:tabLst>
            </a:pPr>
            <a:r>
              <a:rPr sz="1800" b="1" dirty="0">
                <a:latin typeface="Arial"/>
                <a:cs typeface="Arial"/>
              </a:rPr>
              <a:t>Ràng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buộc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 err="1">
                <a:latin typeface="Arial"/>
                <a:cs typeface="Arial"/>
              </a:rPr>
              <a:t>thừa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lang="en-US" sz="1800" b="1" spc="-10" dirty="0" err="1">
                <a:latin typeface="Arial"/>
                <a:cs typeface="Arial"/>
              </a:rPr>
              <a:t>Rth</a:t>
            </a:r>
            <a:r>
              <a:rPr lang="en-US" sz="1800" b="1" spc="-10" dirty="0">
                <a:latin typeface="Arial"/>
                <a:cs typeface="Arial"/>
              </a:rPr>
              <a:t>  </a:t>
            </a:r>
            <a:r>
              <a:rPr sz="1800" dirty="0" err="1">
                <a:solidFill>
                  <a:srgbClr val="0D4D3B"/>
                </a:solidFill>
                <a:latin typeface="Arial"/>
                <a:cs typeface="Arial"/>
              </a:rPr>
              <a:t>Xét</a:t>
            </a:r>
            <a:r>
              <a:rPr sz="1800" dirty="0">
                <a:solidFill>
                  <a:srgbClr val="0D4D3B"/>
                </a:solidFill>
                <a:latin typeface="Arial"/>
                <a:cs typeface="Arial"/>
              </a:rPr>
              <a:t> cơ</a:t>
            </a:r>
            <a:r>
              <a:rPr sz="1800" spc="-30" dirty="0">
                <a:solidFill>
                  <a:srgbClr val="0D4D3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D4D3B"/>
                </a:solidFill>
                <a:latin typeface="Arial"/>
                <a:cs typeface="Arial"/>
              </a:rPr>
              <a:t>cấu</a:t>
            </a:r>
            <a:r>
              <a:rPr sz="1800" spc="-5" dirty="0">
                <a:solidFill>
                  <a:srgbClr val="0D4D3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D4D3B"/>
                </a:solidFill>
                <a:latin typeface="Arial"/>
                <a:cs typeface="Arial"/>
              </a:rPr>
              <a:t>hình</a:t>
            </a:r>
            <a:r>
              <a:rPr sz="1800" spc="-15" dirty="0">
                <a:solidFill>
                  <a:srgbClr val="0D4D3B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D4D3B"/>
                </a:solidFill>
                <a:latin typeface="Arial"/>
                <a:cs typeface="Arial"/>
              </a:rPr>
              <a:t>bình</a:t>
            </a:r>
            <a:r>
              <a:rPr sz="1800" spc="-20" dirty="0">
                <a:solidFill>
                  <a:srgbClr val="0D4D3B"/>
                </a:solidFill>
                <a:latin typeface="Arial"/>
                <a:cs typeface="Arial"/>
              </a:rPr>
              <a:t> hành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423075" y="1936305"/>
            <a:ext cx="3397250" cy="1299210"/>
            <a:chOff x="423075" y="1936305"/>
            <a:chExt cx="3397250" cy="129921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86887" y="3156629"/>
              <a:ext cx="324002" cy="7831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794508" y="2951479"/>
              <a:ext cx="288290" cy="205740"/>
            </a:xfrm>
            <a:custGeom>
              <a:avLst/>
              <a:gdLst/>
              <a:ahLst/>
              <a:cxnLst/>
              <a:rect l="l" t="t" r="r" b="b"/>
              <a:pathLst>
                <a:path w="288289" h="205739">
                  <a:moveTo>
                    <a:pt x="143891" y="0"/>
                  </a:moveTo>
                  <a:lnTo>
                    <a:pt x="0" y="205232"/>
                  </a:lnTo>
                  <a:lnTo>
                    <a:pt x="287909" y="205232"/>
                  </a:lnTo>
                  <a:lnTo>
                    <a:pt x="143891" y="0"/>
                  </a:lnTo>
                  <a:close/>
                </a:path>
              </a:pathLst>
            </a:custGeom>
            <a:solidFill>
              <a:srgbClr val="FBEB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94508" y="2951479"/>
              <a:ext cx="288290" cy="205740"/>
            </a:xfrm>
            <a:custGeom>
              <a:avLst/>
              <a:gdLst/>
              <a:ahLst/>
              <a:cxnLst/>
              <a:rect l="l" t="t" r="r" b="b"/>
              <a:pathLst>
                <a:path w="288289" h="205739">
                  <a:moveTo>
                    <a:pt x="0" y="205232"/>
                  </a:moveTo>
                  <a:lnTo>
                    <a:pt x="143891" y="0"/>
                  </a:lnTo>
                  <a:lnTo>
                    <a:pt x="287909" y="205232"/>
                  </a:lnTo>
                  <a:lnTo>
                    <a:pt x="0" y="205232"/>
                  </a:lnTo>
                  <a:close/>
                </a:path>
              </a:pathLst>
            </a:custGeom>
            <a:ln w="22225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34437" y="2979210"/>
              <a:ext cx="324002" cy="7831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9167" y="2990767"/>
              <a:ext cx="324002" cy="7831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3075" y="3119672"/>
              <a:ext cx="324002" cy="7831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38315" y="2914522"/>
              <a:ext cx="288290" cy="205740"/>
            </a:xfrm>
            <a:custGeom>
              <a:avLst/>
              <a:gdLst/>
              <a:ahLst/>
              <a:cxnLst/>
              <a:rect l="l" t="t" r="r" b="b"/>
              <a:pathLst>
                <a:path w="288290" h="205739">
                  <a:moveTo>
                    <a:pt x="144018" y="0"/>
                  </a:moveTo>
                  <a:lnTo>
                    <a:pt x="0" y="205231"/>
                  </a:lnTo>
                  <a:lnTo>
                    <a:pt x="288036" y="205231"/>
                  </a:lnTo>
                  <a:lnTo>
                    <a:pt x="144018" y="0"/>
                  </a:lnTo>
                  <a:close/>
                </a:path>
              </a:pathLst>
            </a:custGeom>
            <a:solidFill>
              <a:srgbClr val="FBEB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38315" y="2114803"/>
              <a:ext cx="906144" cy="1005205"/>
            </a:xfrm>
            <a:custGeom>
              <a:avLst/>
              <a:gdLst/>
              <a:ahLst/>
              <a:cxnLst/>
              <a:rect l="l" t="t" r="r" b="b"/>
              <a:pathLst>
                <a:path w="906144" h="1005205">
                  <a:moveTo>
                    <a:pt x="0" y="1004951"/>
                  </a:moveTo>
                  <a:lnTo>
                    <a:pt x="144018" y="799719"/>
                  </a:lnTo>
                  <a:lnTo>
                    <a:pt x="288036" y="1004951"/>
                  </a:lnTo>
                  <a:lnTo>
                    <a:pt x="0" y="1004951"/>
                  </a:lnTo>
                  <a:close/>
                </a:path>
                <a:path w="906144" h="1005205">
                  <a:moveTo>
                    <a:pt x="905598" y="0"/>
                  </a:moveTo>
                  <a:lnTo>
                    <a:pt x="185547" y="792099"/>
                  </a:lnTo>
                </a:path>
              </a:pathLst>
            </a:custGeom>
            <a:ln w="22225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2196" y="2871215"/>
              <a:ext cx="169392" cy="16941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96162" y="1980310"/>
              <a:ext cx="169418" cy="16941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445259" y="2063114"/>
              <a:ext cx="1008380" cy="0"/>
            </a:xfrm>
            <a:custGeom>
              <a:avLst/>
              <a:gdLst/>
              <a:ahLst/>
              <a:cxnLst/>
              <a:rect l="l" t="t" r="r" b="b"/>
              <a:pathLst>
                <a:path w="1008380">
                  <a:moveTo>
                    <a:pt x="0" y="0"/>
                  </a:moveTo>
                  <a:lnTo>
                    <a:pt x="1008126" y="0"/>
                  </a:lnTo>
                </a:path>
              </a:pathLst>
            </a:custGeom>
            <a:ln w="22225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37955" y="1936305"/>
              <a:ext cx="238251" cy="13030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802510" y="2057399"/>
              <a:ext cx="1870710" cy="850265"/>
            </a:xfrm>
            <a:custGeom>
              <a:avLst/>
              <a:gdLst/>
              <a:ahLst/>
              <a:cxnLst/>
              <a:rect l="l" t="t" r="r" b="b"/>
              <a:pathLst>
                <a:path w="1870710" h="850264">
                  <a:moveTo>
                    <a:pt x="862583" y="0"/>
                  </a:moveTo>
                  <a:lnTo>
                    <a:pt x="1870710" y="0"/>
                  </a:lnTo>
                </a:path>
                <a:path w="1870710" h="850264">
                  <a:moveTo>
                    <a:pt x="720089" y="58038"/>
                  </a:moveTo>
                  <a:lnTo>
                    <a:pt x="0" y="850138"/>
                  </a:lnTo>
                </a:path>
              </a:pathLst>
            </a:custGeom>
            <a:ln w="22225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80845" y="2871850"/>
              <a:ext cx="169418" cy="16941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74849" y="1980945"/>
              <a:ext cx="169418" cy="16941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978149" y="2123566"/>
              <a:ext cx="720090" cy="792480"/>
            </a:xfrm>
            <a:custGeom>
              <a:avLst/>
              <a:gdLst/>
              <a:ahLst/>
              <a:cxnLst/>
              <a:rect l="l" t="t" r="r" b="b"/>
              <a:pathLst>
                <a:path w="720089" h="792480">
                  <a:moveTo>
                    <a:pt x="720089" y="0"/>
                  </a:moveTo>
                  <a:lnTo>
                    <a:pt x="0" y="792099"/>
                  </a:lnTo>
                </a:path>
              </a:pathLst>
            </a:custGeom>
            <a:ln w="22225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56483" y="2879978"/>
              <a:ext cx="169418" cy="16941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50487" y="1988946"/>
              <a:ext cx="169417" cy="169417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63422" y="2973323"/>
              <a:ext cx="1008380" cy="0"/>
            </a:xfrm>
            <a:custGeom>
              <a:avLst/>
              <a:gdLst/>
              <a:ahLst/>
              <a:cxnLst/>
              <a:rect l="l" t="t" r="r" b="b"/>
              <a:pathLst>
                <a:path w="1008380">
                  <a:moveTo>
                    <a:pt x="0" y="0"/>
                  </a:moveTo>
                  <a:lnTo>
                    <a:pt x="1008151" y="0"/>
                  </a:lnTo>
                </a:path>
              </a:pathLst>
            </a:custGeom>
            <a:ln w="22225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48523" y="2954591"/>
              <a:ext cx="238251" cy="13017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875662" y="2967608"/>
              <a:ext cx="1008380" cy="0"/>
            </a:xfrm>
            <a:custGeom>
              <a:avLst/>
              <a:gdLst/>
              <a:ahLst/>
              <a:cxnLst/>
              <a:rect l="l" t="t" r="r" b="b"/>
              <a:pathLst>
                <a:path w="1008380">
                  <a:moveTo>
                    <a:pt x="0" y="0"/>
                  </a:moveTo>
                  <a:lnTo>
                    <a:pt x="1008126" y="0"/>
                  </a:lnTo>
                </a:path>
              </a:pathLst>
            </a:custGeom>
            <a:ln w="22225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47090" y="2578861"/>
              <a:ext cx="434340" cy="314325"/>
            </a:xfrm>
            <a:custGeom>
              <a:avLst/>
              <a:gdLst/>
              <a:ahLst/>
              <a:cxnLst/>
              <a:rect l="l" t="t" r="r" b="b"/>
              <a:pathLst>
                <a:path w="434340" h="314325">
                  <a:moveTo>
                    <a:pt x="388336" y="191488"/>
                  </a:moveTo>
                  <a:lnTo>
                    <a:pt x="359587" y="197612"/>
                  </a:lnTo>
                  <a:lnTo>
                    <a:pt x="423316" y="313816"/>
                  </a:lnTo>
                  <a:lnTo>
                    <a:pt x="432274" y="204215"/>
                  </a:lnTo>
                  <a:lnTo>
                    <a:pt x="391845" y="204215"/>
                  </a:lnTo>
                  <a:lnTo>
                    <a:pt x="388336" y="191488"/>
                  </a:lnTo>
                  <a:close/>
                </a:path>
                <a:path w="434340" h="314325">
                  <a:moveTo>
                    <a:pt x="403894" y="188173"/>
                  </a:moveTo>
                  <a:lnTo>
                    <a:pt x="388336" y="191488"/>
                  </a:lnTo>
                  <a:lnTo>
                    <a:pt x="391845" y="204215"/>
                  </a:lnTo>
                  <a:lnTo>
                    <a:pt x="407149" y="200025"/>
                  </a:lnTo>
                  <a:lnTo>
                    <a:pt x="403940" y="188340"/>
                  </a:lnTo>
                  <a:lnTo>
                    <a:pt x="403894" y="188173"/>
                  </a:lnTo>
                  <a:close/>
                </a:path>
                <a:path w="434340" h="314325">
                  <a:moveTo>
                    <a:pt x="434111" y="181737"/>
                  </a:moveTo>
                  <a:lnTo>
                    <a:pt x="403894" y="188173"/>
                  </a:lnTo>
                  <a:lnTo>
                    <a:pt x="407149" y="200025"/>
                  </a:lnTo>
                  <a:lnTo>
                    <a:pt x="391845" y="204215"/>
                  </a:lnTo>
                  <a:lnTo>
                    <a:pt x="432274" y="204215"/>
                  </a:lnTo>
                  <a:lnTo>
                    <a:pt x="434090" y="181990"/>
                  </a:lnTo>
                  <a:lnTo>
                    <a:pt x="434111" y="181737"/>
                  </a:lnTo>
                  <a:close/>
                </a:path>
                <a:path w="434340" h="314325">
                  <a:moveTo>
                    <a:pt x="387345" y="187614"/>
                  </a:moveTo>
                  <a:lnTo>
                    <a:pt x="387468" y="188340"/>
                  </a:lnTo>
                  <a:lnTo>
                    <a:pt x="388336" y="191488"/>
                  </a:lnTo>
                  <a:lnTo>
                    <a:pt x="403109" y="188340"/>
                  </a:lnTo>
                  <a:lnTo>
                    <a:pt x="387629" y="188340"/>
                  </a:lnTo>
                  <a:lnTo>
                    <a:pt x="387564" y="188173"/>
                  </a:lnTo>
                  <a:lnTo>
                    <a:pt x="387268" y="187614"/>
                  </a:lnTo>
                  <a:close/>
                </a:path>
                <a:path w="434340" h="314325">
                  <a:moveTo>
                    <a:pt x="403556" y="186943"/>
                  </a:moveTo>
                  <a:lnTo>
                    <a:pt x="387083" y="186943"/>
                  </a:lnTo>
                  <a:lnTo>
                    <a:pt x="387546" y="188173"/>
                  </a:lnTo>
                  <a:lnTo>
                    <a:pt x="387629" y="188340"/>
                  </a:lnTo>
                  <a:lnTo>
                    <a:pt x="403109" y="188340"/>
                  </a:lnTo>
                  <a:lnTo>
                    <a:pt x="403894" y="188173"/>
                  </a:lnTo>
                  <a:lnTo>
                    <a:pt x="403556" y="186943"/>
                  </a:lnTo>
                  <a:close/>
                </a:path>
                <a:path w="434340" h="314325">
                  <a:moveTo>
                    <a:pt x="280276" y="45592"/>
                  </a:moveTo>
                  <a:lnTo>
                    <a:pt x="247227" y="45592"/>
                  </a:lnTo>
                  <a:lnTo>
                    <a:pt x="260686" y="52544"/>
                  </a:lnTo>
                  <a:lnTo>
                    <a:pt x="270924" y="58446"/>
                  </a:lnTo>
                  <a:lnTo>
                    <a:pt x="307052" y="83890"/>
                  </a:lnTo>
                  <a:lnTo>
                    <a:pt x="347923" y="124961"/>
                  </a:lnTo>
                  <a:lnTo>
                    <a:pt x="373078" y="160817"/>
                  </a:lnTo>
                  <a:lnTo>
                    <a:pt x="387268" y="187614"/>
                  </a:lnTo>
                  <a:lnTo>
                    <a:pt x="387083" y="186943"/>
                  </a:lnTo>
                  <a:lnTo>
                    <a:pt x="403556" y="186943"/>
                  </a:lnTo>
                  <a:lnTo>
                    <a:pt x="402196" y="181990"/>
                  </a:lnTo>
                  <a:lnTo>
                    <a:pt x="378790" y="140080"/>
                  </a:lnTo>
                  <a:lnTo>
                    <a:pt x="339864" y="92328"/>
                  </a:lnTo>
                  <a:lnTo>
                    <a:pt x="305282" y="62484"/>
                  </a:lnTo>
                  <a:lnTo>
                    <a:pt x="292988" y="53593"/>
                  </a:lnTo>
                  <a:lnTo>
                    <a:pt x="280276" y="45592"/>
                  </a:lnTo>
                  <a:close/>
                </a:path>
                <a:path w="434340" h="314325">
                  <a:moveTo>
                    <a:pt x="164124" y="19507"/>
                  </a:moveTo>
                  <a:lnTo>
                    <a:pt x="207237" y="29736"/>
                  </a:lnTo>
                  <a:lnTo>
                    <a:pt x="248525" y="46255"/>
                  </a:lnTo>
                  <a:lnTo>
                    <a:pt x="247227" y="45592"/>
                  </a:lnTo>
                  <a:lnTo>
                    <a:pt x="280276" y="45592"/>
                  </a:lnTo>
                  <a:lnTo>
                    <a:pt x="267182" y="37973"/>
                  </a:lnTo>
                  <a:lnTo>
                    <a:pt x="253784" y="31114"/>
                  </a:lnTo>
                  <a:lnTo>
                    <a:pt x="240017" y="24891"/>
                  </a:lnTo>
                  <a:lnTo>
                    <a:pt x="227141" y="19741"/>
                  </a:lnTo>
                  <a:lnTo>
                    <a:pt x="165813" y="19741"/>
                  </a:lnTo>
                  <a:lnTo>
                    <a:pt x="164124" y="19507"/>
                  </a:lnTo>
                  <a:close/>
                </a:path>
                <a:path w="434340" h="314325">
                  <a:moveTo>
                    <a:pt x="125412" y="0"/>
                  </a:moveTo>
                  <a:lnTo>
                    <a:pt x="107022" y="0"/>
                  </a:lnTo>
                  <a:lnTo>
                    <a:pt x="91668" y="888"/>
                  </a:lnTo>
                  <a:lnTo>
                    <a:pt x="45453" y="8254"/>
                  </a:lnTo>
                  <a:lnTo>
                    <a:pt x="0" y="22733"/>
                  </a:lnTo>
                  <a:lnTo>
                    <a:pt x="5575" y="37591"/>
                  </a:lnTo>
                  <a:lnTo>
                    <a:pt x="19997" y="32130"/>
                  </a:lnTo>
                  <a:lnTo>
                    <a:pt x="34434" y="27559"/>
                  </a:lnTo>
                  <a:lnTo>
                    <a:pt x="48442" y="23846"/>
                  </a:lnTo>
                  <a:lnTo>
                    <a:pt x="63580" y="20650"/>
                  </a:lnTo>
                  <a:lnTo>
                    <a:pt x="63935" y="20517"/>
                  </a:lnTo>
                  <a:lnTo>
                    <a:pt x="78124" y="18348"/>
                  </a:lnTo>
                  <a:lnTo>
                    <a:pt x="77654" y="18348"/>
                  </a:lnTo>
                  <a:lnTo>
                    <a:pt x="91106" y="16863"/>
                  </a:lnTo>
                  <a:lnTo>
                    <a:pt x="107734" y="15875"/>
                  </a:lnTo>
                  <a:lnTo>
                    <a:pt x="215913" y="15875"/>
                  </a:lnTo>
                  <a:lnTo>
                    <a:pt x="211785" y="14477"/>
                  </a:lnTo>
                  <a:lnTo>
                    <a:pt x="167805" y="4063"/>
                  </a:lnTo>
                  <a:lnTo>
                    <a:pt x="137604" y="508"/>
                  </a:lnTo>
                  <a:lnTo>
                    <a:pt x="125412" y="0"/>
                  </a:lnTo>
                  <a:close/>
                </a:path>
                <a:path w="434340" h="314325">
                  <a:moveTo>
                    <a:pt x="64945" y="20362"/>
                  </a:moveTo>
                  <a:lnTo>
                    <a:pt x="63935" y="20517"/>
                  </a:lnTo>
                  <a:lnTo>
                    <a:pt x="63579" y="20650"/>
                  </a:lnTo>
                  <a:lnTo>
                    <a:pt x="64945" y="20362"/>
                  </a:lnTo>
                  <a:close/>
                </a:path>
                <a:path w="434340" h="314325">
                  <a:moveTo>
                    <a:pt x="215913" y="15875"/>
                  </a:moveTo>
                  <a:lnTo>
                    <a:pt x="125370" y="15875"/>
                  </a:lnTo>
                  <a:lnTo>
                    <a:pt x="141155" y="16455"/>
                  </a:lnTo>
                  <a:lnTo>
                    <a:pt x="138408" y="16455"/>
                  </a:lnTo>
                  <a:lnTo>
                    <a:pt x="151739" y="17708"/>
                  </a:lnTo>
                  <a:lnTo>
                    <a:pt x="151155" y="17708"/>
                  </a:lnTo>
                  <a:lnTo>
                    <a:pt x="165813" y="19741"/>
                  </a:lnTo>
                  <a:lnTo>
                    <a:pt x="227141" y="19741"/>
                  </a:lnTo>
                  <a:lnTo>
                    <a:pt x="226047" y="19303"/>
                  </a:lnTo>
                  <a:lnTo>
                    <a:pt x="215913" y="1587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941863" y="2487107"/>
            <a:ext cx="32893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100" spc="-450" dirty="0">
                <a:latin typeface="Symbol"/>
                <a:cs typeface="Symbol"/>
              </a:rPr>
              <a:t></a:t>
            </a:r>
            <a:r>
              <a:rPr sz="1725" spc="-675" baseline="-24154" dirty="0">
                <a:latin typeface="Times New Roman"/>
                <a:cs typeface="Times New Roman"/>
              </a:rPr>
              <a:t>1</a:t>
            </a:r>
            <a:endParaRPr sz="1725" baseline="-24154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73854" y="2732886"/>
            <a:ext cx="26797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50" dirty="0">
                <a:latin typeface="Cambria Math"/>
                <a:cs typeface="Cambria Math"/>
              </a:rPr>
              <a:t>A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96160" y="1696174"/>
            <a:ext cx="26543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50" dirty="0">
                <a:latin typeface="Cambria Math"/>
                <a:cs typeface="Cambria Math"/>
              </a:rPr>
              <a:t>B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800481" y="1877189"/>
            <a:ext cx="252729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0" dirty="0">
                <a:latin typeface="Cambria Math"/>
                <a:cs typeface="Cambria Math"/>
              </a:rPr>
              <a:t>C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414651" y="2903690"/>
            <a:ext cx="144145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76020" algn="l"/>
              </a:tabLst>
            </a:pPr>
            <a:r>
              <a:rPr sz="2100" spc="-50" dirty="0">
                <a:latin typeface="Cambria Math"/>
                <a:cs typeface="Cambria Math"/>
              </a:rPr>
              <a:t>F</a:t>
            </a:r>
            <a:r>
              <a:rPr sz="2100" dirty="0">
                <a:latin typeface="Cambria Math"/>
                <a:cs typeface="Cambria Math"/>
              </a:rPr>
              <a:t>	</a:t>
            </a:r>
            <a:r>
              <a:rPr sz="3150" spc="-75" baseline="1322" dirty="0">
                <a:latin typeface="Cambria Math"/>
                <a:cs typeface="Cambria Math"/>
              </a:rPr>
              <a:t>D</a:t>
            </a:r>
            <a:endParaRPr sz="3150" baseline="1322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08561" y="2184633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098566" y="2262364"/>
            <a:ext cx="15240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080987" y="2932282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928516" y="2262999"/>
            <a:ext cx="15240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137025" y="1966912"/>
            <a:ext cx="3397250" cy="1291590"/>
            <a:chOff x="4137025" y="1966912"/>
            <a:chExt cx="3397250" cy="1291590"/>
          </a:xfrm>
        </p:grpSpPr>
        <p:sp>
          <p:nvSpPr>
            <p:cNvPr id="39" name="object 39"/>
            <p:cNvSpPr/>
            <p:nvPr/>
          </p:nvSpPr>
          <p:spPr>
            <a:xfrm>
              <a:off x="5589524" y="2990469"/>
              <a:ext cx="1008380" cy="0"/>
            </a:xfrm>
            <a:custGeom>
              <a:avLst/>
              <a:gdLst/>
              <a:ahLst/>
              <a:cxnLst/>
              <a:rect l="l" t="t" r="r" b="b"/>
              <a:pathLst>
                <a:path w="1008379">
                  <a:moveTo>
                    <a:pt x="0" y="0"/>
                  </a:moveTo>
                  <a:lnTo>
                    <a:pt x="1008126" y="0"/>
                  </a:lnTo>
                </a:path>
              </a:pathLst>
            </a:custGeom>
            <a:ln w="22225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500748" y="3179616"/>
              <a:ext cx="324002" cy="78314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508369" y="2974466"/>
              <a:ext cx="288290" cy="205104"/>
            </a:xfrm>
            <a:custGeom>
              <a:avLst/>
              <a:gdLst/>
              <a:ahLst/>
              <a:cxnLst/>
              <a:rect l="l" t="t" r="r" b="b"/>
              <a:pathLst>
                <a:path w="288290" h="205105">
                  <a:moveTo>
                    <a:pt x="144017" y="0"/>
                  </a:moveTo>
                  <a:lnTo>
                    <a:pt x="0" y="205105"/>
                  </a:lnTo>
                  <a:lnTo>
                    <a:pt x="288035" y="205105"/>
                  </a:lnTo>
                  <a:lnTo>
                    <a:pt x="144017" y="0"/>
                  </a:lnTo>
                  <a:close/>
                </a:path>
              </a:pathLst>
            </a:custGeom>
            <a:solidFill>
              <a:srgbClr val="FBEB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508369" y="2974466"/>
              <a:ext cx="288290" cy="205104"/>
            </a:xfrm>
            <a:custGeom>
              <a:avLst/>
              <a:gdLst/>
              <a:ahLst/>
              <a:cxnLst/>
              <a:rect l="l" t="t" r="r" b="b"/>
              <a:pathLst>
                <a:path w="288290" h="205105">
                  <a:moveTo>
                    <a:pt x="0" y="205105"/>
                  </a:moveTo>
                  <a:lnTo>
                    <a:pt x="144017" y="0"/>
                  </a:lnTo>
                  <a:lnTo>
                    <a:pt x="288035" y="205105"/>
                  </a:lnTo>
                  <a:lnTo>
                    <a:pt x="0" y="205105"/>
                  </a:lnTo>
                  <a:close/>
                </a:path>
              </a:pathLst>
            </a:custGeom>
            <a:ln w="22225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777105" y="3013246"/>
              <a:ext cx="324002" cy="78314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137025" y="3142659"/>
              <a:ext cx="324002" cy="78314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4152265" y="2937510"/>
              <a:ext cx="288290" cy="205104"/>
            </a:xfrm>
            <a:custGeom>
              <a:avLst/>
              <a:gdLst/>
              <a:ahLst/>
              <a:cxnLst/>
              <a:rect l="l" t="t" r="r" b="b"/>
              <a:pathLst>
                <a:path w="288289" h="205105">
                  <a:moveTo>
                    <a:pt x="144018" y="0"/>
                  </a:moveTo>
                  <a:lnTo>
                    <a:pt x="0" y="205104"/>
                  </a:lnTo>
                  <a:lnTo>
                    <a:pt x="288036" y="205104"/>
                  </a:lnTo>
                  <a:lnTo>
                    <a:pt x="144018" y="0"/>
                  </a:lnTo>
                  <a:close/>
                </a:path>
              </a:pathLst>
            </a:custGeom>
            <a:solidFill>
              <a:srgbClr val="FBEB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152265" y="2937510"/>
              <a:ext cx="288290" cy="205104"/>
            </a:xfrm>
            <a:custGeom>
              <a:avLst/>
              <a:gdLst/>
              <a:ahLst/>
              <a:cxnLst/>
              <a:rect l="l" t="t" r="r" b="b"/>
              <a:pathLst>
                <a:path w="288289" h="205105">
                  <a:moveTo>
                    <a:pt x="0" y="205104"/>
                  </a:moveTo>
                  <a:lnTo>
                    <a:pt x="144018" y="0"/>
                  </a:lnTo>
                  <a:lnTo>
                    <a:pt x="288036" y="205104"/>
                  </a:lnTo>
                  <a:lnTo>
                    <a:pt x="0" y="205104"/>
                  </a:lnTo>
                  <a:close/>
                </a:path>
              </a:pathLst>
            </a:custGeom>
            <a:ln w="22225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993383" y="3004356"/>
              <a:ext cx="324002" cy="78314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4337812" y="2137790"/>
              <a:ext cx="720090" cy="792480"/>
            </a:xfrm>
            <a:custGeom>
              <a:avLst/>
              <a:gdLst/>
              <a:ahLst/>
              <a:cxnLst/>
              <a:rect l="l" t="t" r="r" b="b"/>
              <a:pathLst>
                <a:path w="720089" h="792480">
                  <a:moveTo>
                    <a:pt x="720089" y="0"/>
                  </a:moveTo>
                  <a:lnTo>
                    <a:pt x="0" y="791972"/>
                  </a:lnTo>
                </a:path>
              </a:pathLst>
            </a:custGeom>
            <a:ln w="22225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16146" y="2894202"/>
              <a:ext cx="169417" cy="169418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10150" y="2003171"/>
              <a:ext cx="169417" cy="169417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5159247" y="2086102"/>
              <a:ext cx="1008380" cy="0"/>
            </a:xfrm>
            <a:custGeom>
              <a:avLst/>
              <a:gdLst/>
              <a:ahLst/>
              <a:cxnLst/>
              <a:rect l="l" t="t" r="r" b="b"/>
              <a:pathLst>
                <a:path w="1008379">
                  <a:moveTo>
                    <a:pt x="0" y="0"/>
                  </a:moveTo>
                  <a:lnTo>
                    <a:pt x="1008126" y="0"/>
                  </a:lnTo>
                </a:path>
              </a:pathLst>
            </a:custGeom>
            <a:ln w="22225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151943" y="1966912"/>
              <a:ext cx="238252" cy="130175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6379082" y="2080260"/>
              <a:ext cx="1033144" cy="858519"/>
            </a:xfrm>
            <a:custGeom>
              <a:avLst/>
              <a:gdLst/>
              <a:ahLst/>
              <a:cxnLst/>
              <a:rect l="l" t="t" r="r" b="b"/>
              <a:pathLst>
                <a:path w="1033145" h="858519">
                  <a:moveTo>
                    <a:pt x="0" y="0"/>
                  </a:moveTo>
                  <a:lnTo>
                    <a:pt x="1008125" y="0"/>
                  </a:lnTo>
                </a:path>
                <a:path w="1033145" h="858519">
                  <a:moveTo>
                    <a:pt x="1033144" y="66166"/>
                  </a:moveTo>
                  <a:lnTo>
                    <a:pt x="313055" y="858265"/>
                  </a:lnTo>
                </a:path>
              </a:pathLst>
            </a:custGeom>
            <a:ln w="22225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570472" y="2902838"/>
              <a:ext cx="169418" cy="169418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64476" y="2011934"/>
              <a:ext cx="169418" cy="169417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4377309" y="2996311"/>
              <a:ext cx="1008380" cy="0"/>
            </a:xfrm>
            <a:custGeom>
              <a:avLst/>
              <a:gdLst/>
              <a:ahLst/>
              <a:cxnLst/>
              <a:rect l="l" t="t" r="r" b="b"/>
              <a:pathLst>
                <a:path w="1008379">
                  <a:moveTo>
                    <a:pt x="0" y="0"/>
                  </a:moveTo>
                  <a:lnTo>
                    <a:pt x="1008126" y="0"/>
                  </a:lnTo>
                </a:path>
              </a:pathLst>
            </a:custGeom>
            <a:ln w="22225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362511" y="2977451"/>
              <a:ext cx="238125" cy="130175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4260977" y="2601722"/>
              <a:ext cx="434340" cy="314325"/>
            </a:xfrm>
            <a:custGeom>
              <a:avLst/>
              <a:gdLst/>
              <a:ahLst/>
              <a:cxnLst/>
              <a:rect l="l" t="t" r="r" b="b"/>
              <a:pathLst>
                <a:path w="434339" h="314325">
                  <a:moveTo>
                    <a:pt x="388432" y="191485"/>
                  </a:moveTo>
                  <a:lnTo>
                    <a:pt x="359663" y="197612"/>
                  </a:lnTo>
                  <a:lnTo>
                    <a:pt x="423418" y="313816"/>
                  </a:lnTo>
                  <a:lnTo>
                    <a:pt x="432375" y="204215"/>
                  </a:lnTo>
                  <a:lnTo>
                    <a:pt x="391922" y="204215"/>
                  </a:lnTo>
                  <a:lnTo>
                    <a:pt x="388432" y="191485"/>
                  </a:lnTo>
                  <a:close/>
                </a:path>
                <a:path w="434339" h="314325">
                  <a:moveTo>
                    <a:pt x="403969" y="188177"/>
                  </a:moveTo>
                  <a:lnTo>
                    <a:pt x="388432" y="191485"/>
                  </a:lnTo>
                  <a:lnTo>
                    <a:pt x="391922" y="204215"/>
                  </a:lnTo>
                  <a:lnTo>
                    <a:pt x="407162" y="200025"/>
                  </a:lnTo>
                  <a:lnTo>
                    <a:pt x="404013" y="188340"/>
                  </a:lnTo>
                  <a:lnTo>
                    <a:pt x="403969" y="188177"/>
                  </a:lnTo>
                  <a:close/>
                </a:path>
                <a:path w="434339" h="314325">
                  <a:moveTo>
                    <a:pt x="434213" y="181737"/>
                  </a:moveTo>
                  <a:lnTo>
                    <a:pt x="403969" y="188177"/>
                  </a:lnTo>
                  <a:lnTo>
                    <a:pt x="407162" y="200025"/>
                  </a:lnTo>
                  <a:lnTo>
                    <a:pt x="391922" y="204215"/>
                  </a:lnTo>
                  <a:lnTo>
                    <a:pt x="432375" y="204215"/>
                  </a:lnTo>
                  <a:lnTo>
                    <a:pt x="434181" y="182117"/>
                  </a:lnTo>
                  <a:lnTo>
                    <a:pt x="434213" y="181737"/>
                  </a:lnTo>
                  <a:close/>
                </a:path>
                <a:path w="434339" h="314325">
                  <a:moveTo>
                    <a:pt x="387435" y="187603"/>
                  </a:moveTo>
                  <a:lnTo>
                    <a:pt x="387526" y="188177"/>
                  </a:lnTo>
                  <a:lnTo>
                    <a:pt x="388432" y="191485"/>
                  </a:lnTo>
                  <a:lnTo>
                    <a:pt x="403200" y="188340"/>
                  </a:lnTo>
                  <a:lnTo>
                    <a:pt x="387731" y="188340"/>
                  </a:lnTo>
                  <a:lnTo>
                    <a:pt x="387665" y="188177"/>
                  </a:lnTo>
                  <a:lnTo>
                    <a:pt x="387368" y="187603"/>
                  </a:lnTo>
                  <a:close/>
                </a:path>
                <a:path w="434339" h="314325">
                  <a:moveTo>
                    <a:pt x="290570" y="51990"/>
                  </a:moveTo>
                  <a:lnTo>
                    <a:pt x="259888" y="51990"/>
                  </a:lnTo>
                  <a:lnTo>
                    <a:pt x="271690" y="58835"/>
                  </a:lnTo>
                  <a:lnTo>
                    <a:pt x="284116" y="66777"/>
                  </a:lnTo>
                  <a:lnTo>
                    <a:pt x="318076" y="93434"/>
                  </a:lnTo>
                  <a:lnTo>
                    <a:pt x="348584" y="125583"/>
                  </a:lnTo>
                  <a:lnTo>
                    <a:pt x="372819" y="160194"/>
                  </a:lnTo>
                  <a:lnTo>
                    <a:pt x="384676" y="182117"/>
                  </a:lnTo>
                  <a:lnTo>
                    <a:pt x="387223" y="187070"/>
                  </a:lnTo>
                  <a:lnTo>
                    <a:pt x="387650" y="188177"/>
                  </a:lnTo>
                  <a:lnTo>
                    <a:pt x="387731" y="188340"/>
                  </a:lnTo>
                  <a:lnTo>
                    <a:pt x="403200" y="188340"/>
                  </a:lnTo>
                  <a:lnTo>
                    <a:pt x="403969" y="188177"/>
                  </a:lnTo>
                  <a:lnTo>
                    <a:pt x="402336" y="182117"/>
                  </a:lnTo>
                  <a:lnTo>
                    <a:pt x="378840" y="140080"/>
                  </a:lnTo>
                  <a:lnTo>
                    <a:pt x="339978" y="92455"/>
                  </a:lnTo>
                  <a:lnTo>
                    <a:pt x="305435" y="62483"/>
                  </a:lnTo>
                  <a:lnTo>
                    <a:pt x="293115" y="53593"/>
                  </a:lnTo>
                  <a:lnTo>
                    <a:pt x="290570" y="51990"/>
                  </a:lnTo>
                  <a:close/>
                </a:path>
                <a:path w="434339" h="314325">
                  <a:moveTo>
                    <a:pt x="317929" y="93434"/>
                  </a:moveTo>
                  <a:lnTo>
                    <a:pt x="320044" y="95285"/>
                  </a:lnTo>
                  <a:lnTo>
                    <a:pt x="318331" y="93653"/>
                  </a:lnTo>
                  <a:lnTo>
                    <a:pt x="317929" y="93434"/>
                  </a:lnTo>
                  <a:close/>
                </a:path>
                <a:path w="434339" h="314325">
                  <a:moveTo>
                    <a:pt x="233721" y="22317"/>
                  </a:moveTo>
                  <a:lnTo>
                    <a:pt x="179586" y="22317"/>
                  </a:lnTo>
                  <a:lnTo>
                    <a:pt x="193783" y="25710"/>
                  </a:lnTo>
                  <a:lnTo>
                    <a:pt x="207260" y="29717"/>
                  </a:lnTo>
                  <a:lnTo>
                    <a:pt x="247346" y="45592"/>
                  </a:lnTo>
                  <a:lnTo>
                    <a:pt x="261608" y="52987"/>
                  </a:lnTo>
                  <a:lnTo>
                    <a:pt x="259888" y="51990"/>
                  </a:lnTo>
                  <a:lnTo>
                    <a:pt x="290570" y="51990"/>
                  </a:lnTo>
                  <a:lnTo>
                    <a:pt x="280415" y="45592"/>
                  </a:lnTo>
                  <a:lnTo>
                    <a:pt x="267335" y="37973"/>
                  </a:lnTo>
                  <a:lnTo>
                    <a:pt x="253873" y="31114"/>
                  </a:lnTo>
                  <a:lnTo>
                    <a:pt x="240157" y="24891"/>
                  </a:lnTo>
                  <a:lnTo>
                    <a:pt x="233721" y="22317"/>
                  </a:lnTo>
                  <a:close/>
                </a:path>
                <a:path w="434339" h="314325">
                  <a:moveTo>
                    <a:pt x="247376" y="45592"/>
                  </a:moveTo>
                  <a:lnTo>
                    <a:pt x="247142" y="45592"/>
                  </a:lnTo>
                  <a:lnTo>
                    <a:pt x="248969" y="46420"/>
                  </a:lnTo>
                  <a:lnTo>
                    <a:pt x="247376" y="45592"/>
                  </a:lnTo>
                  <a:close/>
                </a:path>
                <a:path w="434339" h="314325">
                  <a:moveTo>
                    <a:pt x="125374" y="0"/>
                  </a:moveTo>
                  <a:lnTo>
                    <a:pt x="107187" y="0"/>
                  </a:lnTo>
                  <a:lnTo>
                    <a:pt x="91694" y="888"/>
                  </a:lnTo>
                  <a:lnTo>
                    <a:pt x="45593" y="8254"/>
                  </a:lnTo>
                  <a:lnTo>
                    <a:pt x="0" y="22732"/>
                  </a:lnTo>
                  <a:lnTo>
                    <a:pt x="5587" y="37591"/>
                  </a:lnTo>
                  <a:lnTo>
                    <a:pt x="19985" y="32130"/>
                  </a:lnTo>
                  <a:lnTo>
                    <a:pt x="34295" y="27590"/>
                  </a:lnTo>
                  <a:lnTo>
                    <a:pt x="48448" y="23872"/>
                  </a:lnTo>
                  <a:lnTo>
                    <a:pt x="63644" y="20651"/>
                  </a:lnTo>
                  <a:lnTo>
                    <a:pt x="63999" y="20517"/>
                  </a:lnTo>
                  <a:lnTo>
                    <a:pt x="78238" y="18344"/>
                  </a:lnTo>
                  <a:lnTo>
                    <a:pt x="77801" y="18344"/>
                  </a:lnTo>
                  <a:lnTo>
                    <a:pt x="91164" y="16863"/>
                  </a:lnTo>
                  <a:lnTo>
                    <a:pt x="107823" y="15875"/>
                  </a:lnTo>
                  <a:lnTo>
                    <a:pt x="215990" y="15875"/>
                  </a:lnTo>
                  <a:lnTo>
                    <a:pt x="211836" y="14477"/>
                  </a:lnTo>
                  <a:lnTo>
                    <a:pt x="167767" y="4063"/>
                  </a:lnTo>
                  <a:lnTo>
                    <a:pt x="137668" y="507"/>
                  </a:lnTo>
                  <a:lnTo>
                    <a:pt x="125374" y="0"/>
                  </a:lnTo>
                  <a:close/>
                </a:path>
                <a:path w="434339" h="314325">
                  <a:moveTo>
                    <a:pt x="49150" y="23723"/>
                  </a:moveTo>
                  <a:lnTo>
                    <a:pt x="49015" y="23723"/>
                  </a:lnTo>
                  <a:lnTo>
                    <a:pt x="48448" y="23872"/>
                  </a:lnTo>
                  <a:lnTo>
                    <a:pt x="49150" y="23723"/>
                  </a:lnTo>
                  <a:close/>
                </a:path>
                <a:path w="434339" h="314325">
                  <a:moveTo>
                    <a:pt x="215990" y="15875"/>
                  </a:moveTo>
                  <a:lnTo>
                    <a:pt x="125414" y="15875"/>
                  </a:lnTo>
                  <a:lnTo>
                    <a:pt x="141412" y="16456"/>
                  </a:lnTo>
                  <a:lnTo>
                    <a:pt x="138563" y="16456"/>
                  </a:lnTo>
                  <a:lnTo>
                    <a:pt x="151821" y="17705"/>
                  </a:lnTo>
                  <a:lnTo>
                    <a:pt x="151265" y="17705"/>
                  </a:lnTo>
                  <a:lnTo>
                    <a:pt x="165674" y="19730"/>
                  </a:lnTo>
                  <a:lnTo>
                    <a:pt x="165334" y="19730"/>
                  </a:lnTo>
                  <a:lnTo>
                    <a:pt x="180253" y="22476"/>
                  </a:lnTo>
                  <a:lnTo>
                    <a:pt x="179586" y="22317"/>
                  </a:lnTo>
                  <a:lnTo>
                    <a:pt x="233721" y="22317"/>
                  </a:lnTo>
                  <a:lnTo>
                    <a:pt x="226187" y="19303"/>
                  </a:lnTo>
                  <a:lnTo>
                    <a:pt x="215990" y="15875"/>
                  </a:lnTo>
                  <a:close/>
                </a:path>
                <a:path w="434339" h="314325">
                  <a:moveTo>
                    <a:pt x="64987" y="20366"/>
                  </a:moveTo>
                  <a:lnTo>
                    <a:pt x="63999" y="20517"/>
                  </a:lnTo>
                  <a:lnTo>
                    <a:pt x="63643" y="20651"/>
                  </a:lnTo>
                  <a:lnTo>
                    <a:pt x="64987" y="2036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4655787" y="2509968"/>
            <a:ext cx="32893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100" spc="-450" dirty="0">
                <a:latin typeface="Symbol"/>
                <a:cs typeface="Symbol"/>
              </a:rPr>
              <a:t></a:t>
            </a:r>
            <a:r>
              <a:rPr sz="1725" spc="-675" baseline="-24154" dirty="0">
                <a:latin typeface="Times New Roman"/>
                <a:cs typeface="Times New Roman"/>
              </a:rPr>
              <a:t>1</a:t>
            </a:r>
            <a:endParaRPr sz="1725" baseline="-24154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987817" y="2755746"/>
            <a:ext cx="26797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50" dirty="0">
                <a:latin typeface="Cambria Math"/>
                <a:cs typeface="Cambria Math"/>
              </a:rPr>
              <a:t>A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985864" y="1723225"/>
            <a:ext cx="308991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03530" algn="l"/>
                <a:tab pos="2836545" algn="l"/>
              </a:tabLst>
            </a:pPr>
            <a:r>
              <a:rPr sz="3000" spc="-75" baseline="1388" dirty="0">
                <a:latin typeface="Times New Roman"/>
                <a:cs typeface="Times New Roman"/>
              </a:rPr>
              <a:t>2</a:t>
            </a:r>
            <a:r>
              <a:rPr sz="3000" baseline="1388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Cambria Math"/>
                <a:cs typeface="Cambria Math"/>
              </a:rPr>
              <a:t>E</a:t>
            </a:r>
            <a:r>
              <a:rPr sz="2100" dirty="0">
                <a:latin typeface="Cambria Math"/>
                <a:cs typeface="Cambria Math"/>
              </a:rPr>
              <a:t>	</a:t>
            </a:r>
            <a:r>
              <a:rPr sz="3150" spc="-75" baseline="1322" dirty="0">
                <a:latin typeface="Cambria Math"/>
                <a:cs typeface="Cambria Math"/>
              </a:rPr>
              <a:t>B</a:t>
            </a:r>
            <a:endParaRPr sz="3150" baseline="1322">
              <a:latin typeface="Cambria Math"/>
              <a:cs typeface="Cambria Math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527170" y="1900177"/>
            <a:ext cx="227329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100" spc="-50" dirty="0">
                <a:latin typeface="Cambria Math"/>
                <a:cs typeface="Cambria Math"/>
              </a:rPr>
              <a:t>C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522460" y="2207493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699851" y="1755373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812428" y="2285351"/>
            <a:ext cx="15240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794847" y="2955269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235105" y="2919184"/>
            <a:ext cx="27813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50" dirty="0">
                <a:latin typeface="Cambria Math"/>
                <a:cs typeface="Cambria Math"/>
              </a:rPr>
              <a:t>D</a:t>
            </a:r>
            <a:endParaRPr sz="2100">
              <a:latin typeface="Cambria Math"/>
              <a:cs typeface="Cambria Math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7775702" y="2034158"/>
            <a:ext cx="963930" cy="1060450"/>
            <a:chOff x="7775702" y="2034158"/>
            <a:chExt cx="963930" cy="1060450"/>
          </a:xfrm>
        </p:grpSpPr>
        <p:sp>
          <p:nvSpPr>
            <p:cNvPr id="69" name="object 69"/>
            <p:cNvSpPr/>
            <p:nvPr/>
          </p:nvSpPr>
          <p:spPr>
            <a:xfrm>
              <a:off x="7897368" y="2168778"/>
              <a:ext cx="720090" cy="792480"/>
            </a:xfrm>
            <a:custGeom>
              <a:avLst/>
              <a:gdLst/>
              <a:ahLst/>
              <a:cxnLst/>
              <a:rect l="l" t="t" r="r" b="b"/>
              <a:pathLst>
                <a:path w="720090" h="792480">
                  <a:moveTo>
                    <a:pt x="720089" y="0"/>
                  </a:moveTo>
                  <a:lnTo>
                    <a:pt x="0" y="792099"/>
                  </a:lnTo>
                </a:path>
              </a:pathLst>
            </a:custGeom>
            <a:ln w="22225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775702" y="2925191"/>
              <a:ext cx="169418" cy="169418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69706" y="2034158"/>
              <a:ext cx="169418" cy="169417"/>
            </a:xfrm>
            <a:prstGeom prst="rect">
              <a:avLst/>
            </a:prstGeom>
          </p:spPr>
        </p:pic>
      </p:grpSp>
      <p:sp>
        <p:nvSpPr>
          <p:cNvPr id="72" name="object 72"/>
          <p:cNvSpPr txBox="1"/>
          <p:nvPr/>
        </p:nvSpPr>
        <p:spPr>
          <a:xfrm>
            <a:off x="8023245" y="2316339"/>
            <a:ext cx="15240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522716" y="2950172"/>
            <a:ext cx="220979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100" spc="-50" dirty="0">
                <a:latin typeface="Cambria Math"/>
                <a:cs typeface="Cambria Math"/>
              </a:rPr>
              <a:t>F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8372600" y="1769580"/>
            <a:ext cx="25654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50" dirty="0">
                <a:latin typeface="Cambria Math"/>
                <a:cs typeface="Cambria Math"/>
              </a:rPr>
              <a:t>E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489833" y="2275458"/>
            <a:ext cx="222885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3200" spc="-65" dirty="0">
                <a:latin typeface="Symbol"/>
                <a:cs typeface="Symbol"/>
              </a:rPr>
              <a:t>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450507" y="3272995"/>
            <a:ext cx="732790" cy="3460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dirty="0">
                <a:latin typeface="Cambria Math"/>
                <a:cs typeface="Cambria Math"/>
              </a:rPr>
              <a:t>W</a:t>
            </a:r>
            <a:r>
              <a:rPr sz="2100" spc="-30" dirty="0">
                <a:latin typeface="Cambria Math"/>
                <a:cs typeface="Cambria Math"/>
              </a:rPr>
              <a:t> </a:t>
            </a:r>
            <a:r>
              <a:rPr sz="2000" dirty="0">
                <a:latin typeface="Symbol"/>
                <a:cs typeface="Symbol"/>
              </a:rPr>
              <a:t>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5066678" y="3257113"/>
            <a:ext cx="70866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dirty="0">
                <a:latin typeface="Cambria Math"/>
                <a:cs typeface="Cambria Math"/>
              </a:rPr>
              <a:t>W</a:t>
            </a:r>
            <a:r>
              <a:rPr sz="2100" spc="-65" dirty="0">
                <a:latin typeface="Cambria Math"/>
                <a:cs typeface="Cambria Math"/>
              </a:rPr>
              <a:t> </a:t>
            </a:r>
            <a:r>
              <a:rPr sz="2000" spc="-20" dirty="0">
                <a:latin typeface="Symbol"/>
                <a:cs typeface="Symbol"/>
              </a:rPr>
              <a:t></a:t>
            </a:r>
            <a:r>
              <a:rPr sz="2000" spc="-22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7749556" y="3249231"/>
            <a:ext cx="87566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dirty="0">
                <a:latin typeface="Cambria Math"/>
                <a:cs typeface="Cambria Math"/>
              </a:rPr>
              <a:t>W</a:t>
            </a:r>
            <a:r>
              <a:rPr sz="2100" spc="-30" dirty="0">
                <a:latin typeface="Cambria Math"/>
                <a:cs typeface="Cambria Math"/>
              </a:rPr>
              <a:t> </a:t>
            </a:r>
            <a:r>
              <a:rPr sz="2000" dirty="0">
                <a:latin typeface="Symbol"/>
                <a:cs typeface="Symbol"/>
              </a:rPr>
              <a:t>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Symbol"/>
                <a:cs typeface="Symbol"/>
              </a:rPr>
              <a:t></a:t>
            </a:r>
            <a:r>
              <a:rPr sz="2000" spc="-25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2971800" y="6221666"/>
            <a:ext cx="2624455" cy="382270"/>
            <a:chOff x="2971800" y="6221666"/>
            <a:chExt cx="2624455" cy="382270"/>
          </a:xfrm>
        </p:grpSpPr>
        <p:sp>
          <p:nvSpPr>
            <p:cNvPr id="80" name="object 80"/>
            <p:cNvSpPr/>
            <p:nvPr/>
          </p:nvSpPr>
          <p:spPr>
            <a:xfrm>
              <a:off x="2978150" y="6228016"/>
              <a:ext cx="2611755" cy="369570"/>
            </a:xfrm>
            <a:custGeom>
              <a:avLst/>
              <a:gdLst/>
              <a:ahLst/>
              <a:cxnLst/>
              <a:rect l="l" t="t" r="r" b="b"/>
              <a:pathLst>
                <a:path w="2611754" h="369570">
                  <a:moveTo>
                    <a:pt x="2549905" y="0"/>
                  </a:moveTo>
                  <a:lnTo>
                    <a:pt x="61594" y="0"/>
                  </a:lnTo>
                  <a:lnTo>
                    <a:pt x="37611" y="4837"/>
                  </a:lnTo>
                  <a:lnTo>
                    <a:pt x="18033" y="18029"/>
                  </a:lnTo>
                  <a:lnTo>
                    <a:pt x="4837" y="37595"/>
                  </a:lnTo>
                  <a:lnTo>
                    <a:pt x="0" y="61556"/>
                  </a:lnTo>
                  <a:lnTo>
                    <a:pt x="0" y="307784"/>
                  </a:lnTo>
                  <a:lnTo>
                    <a:pt x="4837" y="331740"/>
                  </a:lnTo>
                  <a:lnTo>
                    <a:pt x="18033" y="351307"/>
                  </a:lnTo>
                  <a:lnTo>
                    <a:pt x="37611" y="364502"/>
                  </a:lnTo>
                  <a:lnTo>
                    <a:pt x="61594" y="369341"/>
                  </a:lnTo>
                  <a:lnTo>
                    <a:pt x="2549905" y="369341"/>
                  </a:lnTo>
                  <a:lnTo>
                    <a:pt x="2573815" y="364502"/>
                  </a:lnTo>
                  <a:lnTo>
                    <a:pt x="2593355" y="351307"/>
                  </a:lnTo>
                  <a:lnTo>
                    <a:pt x="2606538" y="331740"/>
                  </a:lnTo>
                  <a:lnTo>
                    <a:pt x="2611374" y="307784"/>
                  </a:lnTo>
                  <a:lnTo>
                    <a:pt x="2611374" y="61556"/>
                  </a:lnTo>
                  <a:lnTo>
                    <a:pt x="2606538" y="37595"/>
                  </a:lnTo>
                  <a:lnTo>
                    <a:pt x="2593355" y="18029"/>
                  </a:lnTo>
                  <a:lnTo>
                    <a:pt x="2573815" y="4837"/>
                  </a:lnTo>
                  <a:lnTo>
                    <a:pt x="2549905" y="0"/>
                  </a:lnTo>
                  <a:close/>
                </a:path>
              </a:pathLst>
            </a:custGeom>
            <a:solidFill>
              <a:srgbClr val="FBEB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2978150" y="6228016"/>
              <a:ext cx="2611755" cy="369570"/>
            </a:xfrm>
            <a:custGeom>
              <a:avLst/>
              <a:gdLst/>
              <a:ahLst/>
              <a:cxnLst/>
              <a:rect l="l" t="t" r="r" b="b"/>
              <a:pathLst>
                <a:path w="2611754" h="369570">
                  <a:moveTo>
                    <a:pt x="0" y="61556"/>
                  </a:moveTo>
                  <a:lnTo>
                    <a:pt x="4837" y="37595"/>
                  </a:lnTo>
                  <a:lnTo>
                    <a:pt x="18033" y="18029"/>
                  </a:lnTo>
                  <a:lnTo>
                    <a:pt x="37611" y="4837"/>
                  </a:lnTo>
                  <a:lnTo>
                    <a:pt x="61594" y="0"/>
                  </a:lnTo>
                  <a:lnTo>
                    <a:pt x="2549905" y="0"/>
                  </a:lnTo>
                  <a:lnTo>
                    <a:pt x="2573815" y="4837"/>
                  </a:lnTo>
                  <a:lnTo>
                    <a:pt x="2593355" y="18029"/>
                  </a:lnTo>
                  <a:lnTo>
                    <a:pt x="2606538" y="37595"/>
                  </a:lnTo>
                  <a:lnTo>
                    <a:pt x="2611374" y="61556"/>
                  </a:lnTo>
                  <a:lnTo>
                    <a:pt x="2611374" y="307784"/>
                  </a:lnTo>
                  <a:lnTo>
                    <a:pt x="2606538" y="331740"/>
                  </a:lnTo>
                  <a:lnTo>
                    <a:pt x="2593355" y="351307"/>
                  </a:lnTo>
                  <a:lnTo>
                    <a:pt x="2573815" y="364502"/>
                  </a:lnTo>
                  <a:lnTo>
                    <a:pt x="2549905" y="369341"/>
                  </a:lnTo>
                  <a:lnTo>
                    <a:pt x="61594" y="369341"/>
                  </a:lnTo>
                  <a:lnTo>
                    <a:pt x="37611" y="364502"/>
                  </a:lnTo>
                  <a:lnTo>
                    <a:pt x="18033" y="351307"/>
                  </a:lnTo>
                  <a:lnTo>
                    <a:pt x="4837" y="331740"/>
                  </a:lnTo>
                  <a:lnTo>
                    <a:pt x="0" y="307784"/>
                  </a:lnTo>
                  <a:lnTo>
                    <a:pt x="0" y="61556"/>
                  </a:lnTo>
                  <a:close/>
                </a:path>
              </a:pathLst>
            </a:custGeom>
            <a:ln w="12700">
              <a:solidFill>
                <a:srgbClr val="126F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 txBox="1"/>
          <p:nvPr/>
        </p:nvSpPr>
        <p:spPr>
          <a:xfrm>
            <a:off x="244246" y="3584449"/>
            <a:ext cx="7357109" cy="29768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36550" indent="-285750">
              <a:lnSpc>
                <a:spcPct val="100000"/>
              </a:lnSpc>
              <a:spcBef>
                <a:spcPts val="114"/>
              </a:spcBef>
              <a:buFont typeface="Wingdings"/>
              <a:buChar char=""/>
              <a:tabLst>
                <a:tab pos="336550" algn="l"/>
              </a:tabLst>
            </a:pPr>
            <a:r>
              <a:rPr sz="1800" dirty="0">
                <a:latin typeface="Arial"/>
                <a:cs typeface="Arial"/>
              </a:rPr>
              <a:t>Số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BTD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 cơ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cấu:</a:t>
            </a:r>
            <a:r>
              <a:rPr sz="3150" baseline="-3968" dirty="0">
                <a:latin typeface="Cambria Math"/>
                <a:cs typeface="Cambria Math"/>
              </a:rPr>
              <a:t>W</a:t>
            </a:r>
            <a:r>
              <a:rPr sz="3150" spc="37" baseline="-3968" dirty="0">
                <a:latin typeface="Cambria Math"/>
                <a:cs typeface="Cambria Math"/>
              </a:rPr>
              <a:t> </a:t>
            </a:r>
            <a:r>
              <a:rPr sz="3000" baseline="-4166" dirty="0">
                <a:latin typeface="Symbol"/>
                <a:cs typeface="Symbol"/>
              </a:rPr>
              <a:t></a:t>
            </a:r>
            <a:r>
              <a:rPr sz="3000" spc="-97" baseline="-4166" dirty="0">
                <a:latin typeface="Times New Roman"/>
                <a:cs typeface="Times New Roman"/>
              </a:rPr>
              <a:t> </a:t>
            </a:r>
            <a:r>
              <a:rPr sz="3000" spc="112" baseline="-4166" dirty="0">
                <a:latin typeface="Times New Roman"/>
                <a:cs typeface="Times New Roman"/>
              </a:rPr>
              <a:t>3</a:t>
            </a:r>
            <a:r>
              <a:rPr sz="3000" spc="112" baseline="-4166" dirty="0">
                <a:latin typeface="Symbol"/>
                <a:cs typeface="Symbol"/>
              </a:rPr>
              <a:t></a:t>
            </a:r>
            <a:r>
              <a:rPr sz="3000" spc="-359" baseline="-4166" dirty="0">
                <a:latin typeface="Times New Roman"/>
                <a:cs typeface="Times New Roman"/>
              </a:rPr>
              <a:t> </a:t>
            </a:r>
            <a:r>
              <a:rPr sz="3000" spc="-15" baseline="-4166" dirty="0">
                <a:latin typeface="Times New Roman"/>
                <a:cs typeface="Times New Roman"/>
              </a:rPr>
              <a:t>4</a:t>
            </a:r>
            <a:r>
              <a:rPr sz="3000" spc="-270" baseline="-4166" dirty="0">
                <a:latin typeface="Times New Roman"/>
                <a:cs typeface="Times New Roman"/>
              </a:rPr>
              <a:t> </a:t>
            </a:r>
            <a:r>
              <a:rPr sz="3000" spc="-30" baseline="-4166" dirty="0">
                <a:latin typeface="Symbol"/>
                <a:cs typeface="Symbol"/>
              </a:rPr>
              <a:t></a:t>
            </a:r>
            <a:r>
              <a:rPr sz="3000" spc="-307" baseline="-4166" dirty="0">
                <a:latin typeface="Times New Roman"/>
                <a:cs typeface="Times New Roman"/>
              </a:rPr>
              <a:t> </a:t>
            </a:r>
            <a:r>
              <a:rPr sz="3900" spc="-52" baseline="-6410" dirty="0">
                <a:latin typeface="Symbol"/>
                <a:cs typeface="Symbol"/>
              </a:rPr>
              <a:t></a:t>
            </a:r>
            <a:r>
              <a:rPr sz="3000" spc="-52" baseline="-4166" dirty="0">
                <a:latin typeface="Times New Roman"/>
                <a:cs typeface="Times New Roman"/>
              </a:rPr>
              <a:t>2</a:t>
            </a:r>
            <a:r>
              <a:rPr sz="3000" spc="-405" baseline="-4166" dirty="0">
                <a:latin typeface="Times New Roman"/>
                <a:cs typeface="Times New Roman"/>
              </a:rPr>
              <a:t> </a:t>
            </a:r>
            <a:r>
              <a:rPr sz="3000" spc="-15" baseline="-4166" dirty="0">
                <a:latin typeface="Symbol"/>
                <a:cs typeface="Symbol"/>
              </a:rPr>
              <a:t></a:t>
            </a:r>
            <a:r>
              <a:rPr sz="3000" spc="-405" baseline="-4166" dirty="0">
                <a:latin typeface="Times New Roman"/>
                <a:cs typeface="Times New Roman"/>
              </a:rPr>
              <a:t> </a:t>
            </a:r>
            <a:r>
              <a:rPr sz="3000" spc="-15" baseline="-4166" dirty="0">
                <a:latin typeface="Times New Roman"/>
                <a:cs typeface="Times New Roman"/>
              </a:rPr>
              <a:t>6</a:t>
            </a:r>
            <a:r>
              <a:rPr sz="3000" spc="-270" baseline="-4166" dirty="0">
                <a:latin typeface="Times New Roman"/>
                <a:cs typeface="Times New Roman"/>
              </a:rPr>
              <a:t> </a:t>
            </a:r>
            <a:r>
              <a:rPr sz="3000" spc="-30" baseline="-4166" dirty="0">
                <a:latin typeface="Symbol"/>
                <a:cs typeface="Symbol"/>
              </a:rPr>
              <a:t></a:t>
            </a:r>
            <a:r>
              <a:rPr sz="3000" spc="-217" baseline="-4166" dirty="0">
                <a:latin typeface="Times New Roman"/>
                <a:cs typeface="Times New Roman"/>
              </a:rPr>
              <a:t> </a:t>
            </a:r>
            <a:r>
              <a:rPr sz="3000" spc="-89" baseline="-4166" dirty="0">
                <a:latin typeface="Times New Roman"/>
                <a:cs typeface="Times New Roman"/>
              </a:rPr>
              <a:t>0</a:t>
            </a:r>
            <a:r>
              <a:rPr sz="3900" spc="-89" baseline="-6410" dirty="0">
                <a:latin typeface="Symbol"/>
                <a:cs typeface="Symbol"/>
              </a:rPr>
              <a:t></a:t>
            </a:r>
            <a:r>
              <a:rPr sz="3900" spc="-284" baseline="-6410" dirty="0">
                <a:latin typeface="Times New Roman"/>
                <a:cs typeface="Times New Roman"/>
              </a:rPr>
              <a:t> </a:t>
            </a:r>
            <a:r>
              <a:rPr sz="3000" baseline="-4166" dirty="0">
                <a:latin typeface="Symbol"/>
                <a:cs typeface="Symbol"/>
              </a:rPr>
              <a:t></a:t>
            </a:r>
            <a:r>
              <a:rPr sz="3000" spc="-37" baseline="-4166" dirty="0">
                <a:latin typeface="Times New Roman"/>
                <a:cs typeface="Times New Roman"/>
              </a:rPr>
              <a:t> </a:t>
            </a:r>
            <a:r>
              <a:rPr sz="3000" spc="-75" baseline="-4166" dirty="0">
                <a:latin typeface="Times New Roman"/>
                <a:cs typeface="Times New Roman"/>
              </a:rPr>
              <a:t>0</a:t>
            </a:r>
            <a:endParaRPr sz="3000" baseline="-4166">
              <a:latin typeface="Times New Roman"/>
              <a:cs typeface="Times New Roman"/>
            </a:endParaRPr>
          </a:p>
          <a:p>
            <a:pPr marL="336550" indent="-285750">
              <a:lnSpc>
                <a:spcPts val="2135"/>
              </a:lnSpc>
              <a:spcBef>
                <a:spcPts val="1370"/>
              </a:spcBef>
              <a:buFont typeface="Wingdings"/>
              <a:buChar char=""/>
              <a:tabLst>
                <a:tab pos="336550" algn="l"/>
              </a:tabLst>
            </a:pPr>
            <a:r>
              <a:rPr sz="2700" baseline="3086" dirty="0">
                <a:latin typeface="Arial"/>
                <a:cs typeface="Arial"/>
              </a:rPr>
              <a:t>Số</a:t>
            </a:r>
            <a:r>
              <a:rPr sz="2700" spc="-30" baseline="3086" dirty="0">
                <a:latin typeface="Arial"/>
                <a:cs typeface="Arial"/>
              </a:rPr>
              <a:t> </a:t>
            </a:r>
            <a:r>
              <a:rPr sz="2700" baseline="3086" dirty="0">
                <a:latin typeface="Arial"/>
                <a:cs typeface="Arial"/>
              </a:rPr>
              <a:t>BTD</a:t>
            </a:r>
            <a:r>
              <a:rPr sz="2700" spc="-37" baseline="3086" dirty="0">
                <a:latin typeface="Arial"/>
                <a:cs typeface="Arial"/>
              </a:rPr>
              <a:t> </a:t>
            </a:r>
            <a:r>
              <a:rPr sz="2700" baseline="3086" dirty="0">
                <a:latin typeface="Arial"/>
                <a:cs typeface="Arial"/>
              </a:rPr>
              <a:t>thực</a:t>
            </a:r>
            <a:r>
              <a:rPr sz="2700" spc="-30" baseline="3086" dirty="0">
                <a:latin typeface="Arial"/>
                <a:cs typeface="Arial"/>
              </a:rPr>
              <a:t> </a:t>
            </a:r>
            <a:r>
              <a:rPr sz="2700" baseline="3086" dirty="0">
                <a:latin typeface="Arial"/>
                <a:cs typeface="Arial"/>
              </a:rPr>
              <a:t>tế</a:t>
            </a:r>
            <a:r>
              <a:rPr sz="2700" spc="-22" baseline="3086" dirty="0">
                <a:latin typeface="Arial"/>
                <a:cs typeface="Arial"/>
              </a:rPr>
              <a:t> </a:t>
            </a:r>
            <a:r>
              <a:rPr sz="2700" baseline="3086" dirty="0">
                <a:latin typeface="Arial"/>
                <a:cs typeface="Arial"/>
              </a:rPr>
              <a:t>là</a:t>
            </a:r>
            <a:r>
              <a:rPr sz="2700" spc="-22" baseline="3086" dirty="0">
                <a:latin typeface="Arial"/>
                <a:cs typeface="Arial"/>
              </a:rPr>
              <a:t> </a:t>
            </a:r>
            <a:r>
              <a:rPr sz="2700" baseline="3086" dirty="0">
                <a:latin typeface="Arial"/>
                <a:cs typeface="Arial"/>
              </a:rPr>
              <a:t>1</a:t>
            </a:r>
            <a:r>
              <a:rPr sz="2700" spc="-22" baseline="3086" dirty="0">
                <a:latin typeface="Arial"/>
                <a:cs typeface="Arial"/>
              </a:rPr>
              <a:t> </a:t>
            </a:r>
            <a:r>
              <a:rPr sz="2700" baseline="3086" dirty="0">
                <a:latin typeface="Arial"/>
                <a:cs typeface="Arial"/>
              </a:rPr>
              <a:t>vì:</a:t>
            </a:r>
            <a:r>
              <a:rPr sz="2700" spc="412" baseline="3086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Thêm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khâu 5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nghĩa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thêm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3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BTD</a:t>
            </a:r>
            <a:endParaRPr sz="1800">
              <a:latin typeface="Arial"/>
              <a:cs typeface="Arial"/>
            </a:endParaRPr>
          </a:p>
          <a:p>
            <a:pPr marL="2749550">
              <a:lnSpc>
                <a:spcPts val="2135"/>
              </a:lnSpc>
            </a:pPr>
            <a:r>
              <a:rPr sz="1800" dirty="0">
                <a:latin typeface="Arial"/>
                <a:cs typeface="Arial"/>
              </a:rPr>
              <a:t>Thêm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2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khớp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E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F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nghĩa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thêm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4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ràng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buộc</a:t>
            </a:r>
            <a:endParaRPr sz="1800">
              <a:latin typeface="Arial"/>
              <a:cs typeface="Arial"/>
            </a:endParaRPr>
          </a:p>
          <a:p>
            <a:pPr marL="2764155">
              <a:lnSpc>
                <a:spcPct val="100000"/>
              </a:lnSpc>
              <a:spcBef>
                <a:spcPts val="515"/>
              </a:spcBef>
            </a:pPr>
            <a:r>
              <a:rPr sz="1800" dirty="0">
                <a:latin typeface="Arial"/>
                <a:cs typeface="Arial"/>
              </a:rPr>
              <a:t>→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Thừa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ràng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buộc.</a:t>
            </a:r>
            <a:endParaRPr sz="1800">
              <a:latin typeface="Arial"/>
              <a:cs typeface="Arial"/>
            </a:endParaRPr>
          </a:p>
          <a:p>
            <a:pPr marL="294640">
              <a:lnSpc>
                <a:spcPct val="100000"/>
              </a:lnSpc>
              <a:spcBef>
                <a:spcPts val="715"/>
              </a:spcBef>
            </a:pPr>
            <a:r>
              <a:rPr sz="1800" dirty="0">
                <a:latin typeface="Arial"/>
                <a:cs typeface="Arial"/>
              </a:rPr>
              <a:t>BTD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thực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tế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cơ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cấu: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3150" baseline="1322" dirty="0">
                <a:latin typeface="Cambria Math"/>
                <a:cs typeface="Cambria Math"/>
              </a:rPr>
              <a:t>W</a:t>
            </a:r>
            <a:r>
              <a:rPr sz="3150" spc="30" baseline="1322" dirty="0">
                <a:latin typeface="Cambria Math"/>
                <a:cs typeface="Cambria Math"/>
              </a:rPr>
              <a:t> </a:t>
            </a:r>
            <a:r>
              <a:rPr sz="3000" baseline="1388" dirty="0">
                <a:latin typeface="Symbol"/>
                <a:cs typeface="Symbol"/>
              </a:rPr>
              <a:t></a:t>
            </a:r>
            <a:r>
              <a:rPr sz="3000" spc="-97" baseline="1388" dirty="0">
                <a:latin typeface="Times New Roman"/>
                <a:cs typeface="Times New Roman"/>
              </a:rPr>
              <a:t> </a:t>
            </a:r>
            <a:r>
              <a:rPr sz="3000" spc="112" baseline="1388" dirty="0">
                <a:latin typeface="Times New Roman"/>
                <a:cs typeface="Times New Roman"/>
              </a:rPr>
              <a:t>3</a:t>
            </a:r>
            <a:r>
              <a:rPr sz="3000" spc="112" baseline="1388" dirty="0">
                <a:latin typeface="Symbol"/>
                <a:cs typeface="Symbol"/>
              </a:rPr>
              <a:t></a:t>
            </a:r>
            <a:r>
              <a:rPr sz="3000" spc="-359" baseline="1388" dirty="0">
                <a:latin typeface="Times New Roman"/>
                <a:cs typeface="Times New Roman"/>
              </a:rPr>
              <a:t> </a:t>
            </a:r>
            <a:r>
              <a:rPr sz="3000" spc="-15" baseline="1388" dirty="0">
                <a:latin typeface="Times New Roman"/>
                <a:cs typeface="Times New Roman"/>
              </a:rPr>
              <a:t>4</a:t>
            </a:r>
            <a:r>
              <a:rPr sz="3000" spc="-270" baseline="1388" dirty="0">
                <a:latin typeface="Times New Roman"/>
                <a:cs typeface="Times New Roman"/>
              </a:rPr>
              <a:t> </a:t>
            </a:r>
            <a:r>
              <a:rPr sz="3000" spc="-30" baseline="1388" dirty="0">
                <a:latin typeface="Symbol"/>
                <a:cs typeface="Symbol"/>
              </a:rPr>
              <a:t></a:t>
            </a:r>
            <a:r>
              <a:rPr sz="3000" spc="-315" baseline="1388" dirty="0">
                <a:latin typeface="Times New Roman"/>
                <a:cs typeface="Times New Roman"/>
              </a:rPr>
              <a:t> </a:t>
            </a:r>
            <a:r>
              <a:rPr sz="3900" spc="-52" baseline="-2136" dirty="0">
                <a:latin typeface="Symbol"/>
                <a:cs typeface="Symbol"/>
              </a:rPr>
              <a:t></a:t>
            </a:r>
            <a:r>
              <a:rPr sz="3000" spc="-52" baseline="1388" dirty="0">
                <a:latin typeface="Times New Roman"/>
                <a:cs typeface="Times New Roman"/>
              </a:rPr>
              <a:t>2</a:t>
            </a:r>
            <a:r>
              <a:rPr sz="3000" spc="-405" baseline="1388" dirty="0">
                <a:latin typeface="Times New Roman"/>
                <a:cs typeface="Times New Roman"/>
              </a:rPr>
              <a:t> </a:t>
            </a:r>
            <a:r>
              <a:rPr sz="3000" spc="-15" baseline="1388" dirty="0">
                <a:latin typeface="Symbol"/>
                <a:cs typeface="Symbol"/>
              </a:rPr>
              <a:t></a:t>
            </a:r>
            <a:r>
              <a:rPr sz="3000" spc="-405" baseline="1388" dirty="0">
                <a:latin typeface="Times New Roman"/>
                <a:cs typeface="Times New Roman"/>
              </a:rPr>
              <a:t> </a:t>
            </a:r>
            <a:r>
              <a:rPr sz="3000" spc="-15" baseline="1388" dirty="0">
                <a:latin typeface="Times New Roman"/>
                <a:cs typeface="Times New Roman"/>
              </a:rPr>
              <a:t>6</a:t>
            </a:r>
            <a:r>
              <a:rPr sz="3000" spc="-270" baseline="1388" dirty="0">
                <a:latin typeface="Times New Roman"/>
                <a:cs typeface="Times New Roman"/>
              </a:rPr>
              <a:t> </a:t>
            </a:r>
            <a:r>
              <a:rPr sz="3000" spc="-30" baseline="1388" dirty="0">
                <a:latin typeface="Symbol"/>
                <a:cs typeface="Symbol"/>
              </a:rPr>
              <a:t></a:t>
            </a:r>
            <a:r>
              <a:rPr sz="3000" spc="-225" baseline="1388" dirty="0">
                <a:latin typeface="Times New Roman"/>
                <a:cs typeface="Times New Roman"/>
              </a:rPr>
              <a:t> </a:t>
            </a:r>
            <a:r>
              <a:rPr sz="3000" spc="-15" baseline="1388" dirty="0">
                <a:latin typeface="Times New Roman"/>
                <a:cs typeface="Times New Roman"/>
              </a:rPr>
              <a:t>0</a:t>
            </a:r>
            <a:r>
              <a:rPr sz="3000" spc="-270" baseline="1388" dirty="0">
                <a:latin typeface="Times New Roman"/>
                <a:cs typeface="Times New Roman"/>
              </a:rPr>
              <a:t> </a:t>
            </a:r>
            <a:r>
              <a:rPr sz="3000" spc="-82" baseline="1388" dirty="0">
                <a:latin typeface="Symbol"/>
                <a:cs typeface="Symbol"/>
              </a:rPr>
              <a:t></a:t>
            </a:r>
            <a:r>
              <a:rPr sz="3000" spc="-82" baseline="1388" dirty="0">
                <a:latin typeface="Times New Roman"/>
                <a:cs typeface="Times New Roman"/>
              </a:rPr>
              <a:t>1</a:t>
            </a:r>
            <a:r>
              <a:rPr sz="3900" spc="-82" baseline="-2136" dirty="0">
                <a:latin typeface="Symbol"/>
                <a:cs typeface="Symbol"/>
              </a:rPr>
              <a:t></a:t>
            </a:r>
            <a:r>
              <a:rPr sz="3900" spc="-284" baseline="-2136" dirty="0">
                <a:latin typeface="Times New Roman"/>
                <a:cs typeface="Times New Roman"/>
              </a:rPr>
              <a:t> </a:t>
            </a:r>
            <a:r>
              <a:rPr sz="3000" spc="-30" baseline="1388" dirty="0">
                <a:latin typeface="Symbol"/>
                <a:cs typeface="Symbol"/>
              </a:rPr>
              <a:t></a:t>
            </a:r>
            <a:r>
              <a:rPr sz="3000" spc="-322" baseline="1388" dirty="0">
                <a:latin typeface="Times New Roman"/>
                <a:cs typeface="Times New Roman"/>
              </a:rPr>
              <a:t> </a:t>
            </a:r>
            <a:r>
              <a:rPr sz="3000" spc="-75" baseline="1388" dirty="0">
                <a:latin typeface="Times New Roman"/>
                <a:cs typeface="Times New Roman"/>
              </a:rPr>
              <a:t>1</a:t>
            </a:r>
            <a:endParaRPr sz="3000" baseline="1388">
              <a:latin typeface="Times New Roman"/>
              <a:cs typeface="Times New Roman"/>
            </a:endParaRPr>
          </a:p>
          <a:p>
            <a:pPr marL="274320">
              <a:lnSpc>
                <a:spcPct val="100000"/>
              </a:lnSpc>
              <a:spcBef>
                <a:spcPts val="1525"/>
              </a:spcBef>
            </a:pPr>
            <a:r>
              <a:rPr sz="1800" dirty="0">
                <a:latin typeface="Arial"/>
                <a:cs typeface="Arial"/>
              </a:rPr>
              <a:t>Công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thức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tính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BTD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cơ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khi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có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thêm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ràng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buộc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thừa:</a:t>
            </a:r>
            <a:endParaRPr sz="1800">
              <a:latin typeface="Arial"/>
              <a:cs typeface="Arial"/>
            </a:endParaRPr>
          </a:p>
          <a:p>
            <a:pPr marL="2764790">
              <a:lnSpc>
                <a:spcPct val="100000"/>
              </a:lnSpc>
              <a:spcBef>
                <a:spcPts val="1140"/>
              </a:spcBef>
            </a:pPr>
            <a:r>
              <a:rPr sz="2100" dirty="0">
                <a:latin typeface="Cambria Math"/>
                <a:cs typeface="Cambria Math"/>
              </a:rPr>
              <a:t>W</a:t>
            </a:r>
            <a:r>
              <a:rPr sz="2100" spc="10" dirty="0">
                <a:latin typeface="Cambria Math"/>
                <a:cs typeface="Cambria Math"/>
              </a:rPr>
              <a:t> </a:t>
            </a:r>
            <a:r>
              <a:rPr sz="2000" dirty="0">
                <a:latin typeface="Symbol"/>
                <a:cs typeface="Symbol"/>
              </a:rPr>
              <a:t>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30" dirty="0">
                <a:latin typeface="Times New Roman"/>
                <a:cs typeface="Times New Roman"/>
              </a:rPr>
              <a:t>3</a:t>
            </a:r>
            <a:r>
              <a:rPr sz="2100" spc="-130" dirty="0">
                <a:latin typeface="Cambria Math"/>
                <a:cs typeface="Cambria Math"/>
              </a:rPr>
              <a:t>n</a:t>
            </a:r>
            <a:r>
              <a:rPr sz="2000" spc="-130" dirty="0">
                <a:latin typeface="Symbol"/>
                <a:cs typeface="Symbol"/>
              </a:rPr>
              <a:t></a:t>
            </a:r>
            <a:r>
              <a:rPr sz="2000" spc="-210" dirty="0">
                <a:latin typeface="Times New Roman"/>
                <a:cs typeface="Times New Roman"/>
              </a:rPr>
              <a:t> </a:t>
            </a:r>
            <a:r>
              <a:rPr sz="3900" spc="-307" baseline="-3205" dirty="0">
                <a:latin typeface="Symbol"/>
                <a:cs typeface="Symbol"/>
              </a:rPr>
              <a:t></a:t>
            </a:r>
            <a:r>
              <a:rPr sz="2000" spc="-204" dirty="0">
                <a:latin typeface="Times New Roman"/>
                <a:cs typeface="Times New Roman"/>
              </a:rPr>
              <a:t>2</a:t>
            </a:r>
            <a:r>
              <a:rPr sz="2100" spc="-204" dirty="0">
                <a:latin typeface="Cambria Math"/>
                <a:cs typeface="Cambria Math"/>
              </a:rPr>
              <a:t>T</a:t>
            </a:r>
            <a:r>
              <a:rPr sz="2100" spc="-185" dirty="0">
                <a:latin typeface="Cambria Math"/>
                <a:cs typeface="Cambria Math"/>
              </a:rPr>
              <a:t> </a:t>
            </a:r>
            <a:r>
              <a:rPr sz="2000" spc="-150" dirty="0">
                <a:latin typeface="Symbol"/>
                <a:cs typeface="Symbol"/>
              </a:rPr>
              <a:t></a:t>
            </a:r>
            <a:r>
              <a:rPr sz="2100" spc="-150" dirty="0">
                <a:latin typeface="Cambria Math"/>
                <a:cs typeface="Cambria Math"/>
              </a:rPr>
              <a:t>C</a:t>
            </a:r>
            <a:r>
              <a:rPr sz="2000" spc="-150" dirty="0">
                <a:latin typeface="Symbol"/>
                <a:cs typeface="Symbol"/>
              </a:rPr>
              <a:t></a:t>
            </a:r>
            <a:r>
              <a:rPr sz="2100" spc="-150" dirty="0">
                <a:latin typeface="Cambria Math"/>
                <a:cs typeface="Cambria Math"/>
              </a:rPr>
              <a:t>R</a:t>
            </a:r>
            <a:r>
              <a:rPr sz="1800" spc="-225" baseline="-23148" dirty="0">
                <a:latin typeface="Cambria Math"/>
                <a:cs typeface="Cambria Math"/>
              </a:rPr>
              <a:t>th</a:t>
            </a:r>
            <a:r>
              <a:rPr sz="1800" spc="-172" baseline="-23148" dirty="0">
                <a:latin typeface="Cambria Math"/>
                <a:cs typeface="Cambria Math"/>
              </a:rPr>
              <a:t> </a:t>
            </a:r>
            <a:r>
              <a:rPr sz="3900" spc="-75" baseline="-3205" dirty="0">
                <a:latin typeface="Symbol"/>
                <a:cs typeface="Symbol"/>
              </a:rPr>
              <a:t></a:t>
            </a:r>
            <a:endParaRPr sz="3900" baseline="-3205">
              <a:latin typeface="Symbol"/>
              <a:cs typeface="Symbol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5898896" y="586231"/>
            <a:ext cx="2118360" cy="382270"/>
            <a:chOff x="5898896" y="586231"/>
            <a:chExt cx="2118360" cy="382270"/>
          </a:xfrm>
        </p:grpSpPr>
        <p:sp>
          <p:nvSpPr>
            <p:cNvPr id="84" name="object 84"/>
            <p:cNvSpPr/>
            <p:nvPr/>
          </p:nvSpPr>
          <p:spPr>
            <a:xfrm>
              <a:off x="5905246" y="592581"/>
              <a:ext cx="2105660" cy="369570"/>
            </a:xfrm>
            <a:custGeom>
              <a:avLst/>
              <a:gdLst/>
              <a:ahLst/>
              <a:cxnLst/>
              <a:rect l="l" t="t" r="r" b="b"/>
              <a:pathLst>
                <a:path w="2105659" h="369569">
                  <a:moveTo>
                    <a:pt x="2043937" y="0"/>
                  </a:moveTo>
                  <a:lnTo>
                    <a:pt x="61594" y="0"/>
                  </a:lnTo>
                  <a:lnTo>
                    <a:pt x="37611" y="4835"/>
                  </a:lnTo>
                  <a:lnTo>
                    <a:pt x="18034" y="18018"/>
                  </a:lnTo>
                  <a:lnTo>
                    <a:pt x="4837" y="37558"/>
                  </a:lnTo>
                  <a:lnTo>
                    <a:pt x="0" y="61467"/>
                  </a:lnTo>
                  <a:lnTo>
                    <a:pt x="0" y="307720"/>
                  </a:lnTo>
                  <a:lnTo>
                    <a:pt x="4837" y="331704"/>
                  </a:lnTo>
                  <a:lnTo>
                    <a:pt x="18033" y="351281"/>
                  </a:lnTo>
                  <a:lnTo>
                    <a:pt x="37611" y="364478"/>
                  </a:lnTo>
                  <a:lnTo>
                    <a:pt x="61594" y="369315"/>
                  </a:lnTo>
                  <a:lnTo>
                    <a:pt x="2043937" y="369315"/>
                  </a:lnTo>
                  <a:lnTo>
                    <a:pt x="2067847" y="364478"/>
                  </a:lnTo>
                  <a:lnTo>
                    <a:pt x="2087387" y="351281"/>
                  </a:lnTo>
                  <a:lnTo>
                    <a:pt x="2100570" y="331704"/>
                  </a:lnTo>
                  <a:lnTo>
                    <a:pt x="2105405" y="307720"/>
                  </a:lnTo>
                  <a:lnTo>
                    <a:pt x="2105405" y="61467"/>
                  </a:lnTo>
                  <a:lnTo>
                    <a:pt x="2100570" y="37558"/>
                  </a:lnTo>
                  <a:lnTo>
                    <a:pt x="2087387" y="18018"/>
                  </a:lnTo>
                  <a:lnTo>
                    <a:pt x="2067847" y="4835"/>
                  </a:lnTo>
                  <a:lnTo>
                    <a:pt x="2043937" y="0"/>
                  </a:lnTo>
                  <a:close/>
                </a:path>
              </a:pathLst>
            </a:custGeom>
            <a:solidFill>
              <a:srgbClr val="FBEB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5905246" y="592581"/>
              <a:ext cx="2105660" cy="369570"/>
            </a:xfrm>
            <a:custGeom>
              <a:avLst/>
              <a:gdLst/>
              <a:ahLst/>
              <a:cxnLst/>
              <a:rect l="l" t="t" r="r" b="b"/>
              <a:pathLst>
                <a:path w="2105659" h="369569">
                  <a:moveTo>
                    <a:pt x="0" y="61467"/>
                  </a:moveTo>
                  <a:lnTo>
                    <a:pt x="4837" y="37558"/>
                  </a:lnTo>
                  <a:lnTo>
                    <a:pt x="18034" y="18018"/>
                  </a:lnTo>
                  <a:lnTo>
                    <a:pt x="37611" y="4835"/>
                  </a:lnTo>
                  <a:lnTo>
                    <a:pt x="61594" y="0"/>
                  </a:lnTo>
                  <a:lnTo>
                    <a:pt x="2043937" y="0"/>
                  </a:lnTo>
                  <a:lnTo>
                    <a:pt x="2067847" y="4835"/>
                  </a:lnTo>
                  <a:lnTo>
                    <a:pt x="2087387" y="18018"/>
                  </a:lnTo>
                  <a:lnTo>
                    <a:pt x="2100570" y="37558"/>
                  </a:lnTo>
                  <a:lnTo>
                    <a:pt x="2105405" y="61467"/>
                  </a:lnTo>
                  <a:lnTo>
                    <a:pt x="2105405" y="307720"/>
                  </a:lnTo>
                  <a:lnTo>
                    <a:pt x="2100570" y="331704"/>
                  </a:lnTo>
                  <a:lnTo>
                    <a:pt x="2087387" y="351281"/>
                  </a:lnTo>
                  <a:lnTo>
                    <a:pt x="2067847" y="364478"/>
                  </a:lnTo>
                  <a:lnTo>
                    <a:pt x="2043937" y="369315"/>
                  </a:lnTo>
                  <a:lnTo>
                    <a:pt x="61594" y="369315"/>
                  </a:lnTo>
                  <a:lnTo>
                    <a:pt x="37611" y="364478"/>
                  </a:lnTo>
                  <a:lnTo>
                    <a:pt x="18033" y="351281"/>
                  </a:lnTo>
                  <a:lnTo>
                    <a:pt x="4837" y="331704"/>
                  </a:lnTo>
                  <a:lnTo>
                    <a:pt x="0" y="307720"/>
                  </a:lnTo>
                  <a:lnTo>
                    <a:pt x="0" y="61467"/>
                  </a:lnTo>
                  <a:close/>
                </a:path>
              </a:pathLst>
            </a:custGeom>
            <a:ln w="12700">
              <a:solidFill>
                <a:srgbClr val="126F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5925480" y="495251"/>
            <a:ext cx="1993264" cy="4248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100" dirty="0">
                <a:latin typeface="Cambria Math"/>
                <a:cs typeface="Cambria Math"/>
              </a:rPr>
              <a:t>W</a:t>
            </a:r>
            <a:r>
              <a:rPr sz="2100" spc="-15" dirty="0">
                <a:latin typeface="Cambria Math"/>
                <a:cs typeface="Cambria Math"/>
              </a:rPr>
              <a:t> </a:t>
            </a:r>
            <a:r>
              <a:rPr sz="2000" dirty="0">
                <a:latin typeface="Symbol"/>
                <a:cs typeface="Symbol"/>
              </a:rPr>
              <a:t>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30" dirty="0">
                <a:latin typeface="Times New Roman"/>
                <a:cs typeface="Times New Roman"/>
              </a:rPr>
              <a:t>3</a:t>
            </a:r>
            <a:r>
              <a:rPr sz="2100" spc="-130" dirty="0">
                <a:latin typeface="Cambria Math"/>
                <a:cs typeface="Cambria Math"/>
              </a:rPr>
              <a:t>n</a:t>
            </a:r>
            <a:r>
              <a:rPr sz="2000" spc="-130" dirty="0">
                <a:latin typeface="Symbol"/>
                <a:cs typeface="Symbol"/>
              </a:rPr>
              <a:t></a:t>
            </a:r>
            <a:r>
              <a:rPr sz="2000" spc="-210" dirty="0">
                <a:latin typeface="Times New Roman"/>
                <a:cs typeface="Times New Roman"/>
              </a:rPr>
              <a:t> </a:t>
            </a:r>
            <a:r>
              <a:rPr sz="3900" spc="-307" baseline="-3205" dirty="0">
                <a:latin typeface="Symbol"/>
                <a:cs typeface="Symbol"/>
              </a:rPr>
              <a:t></a:t>
            </a:r>
            <a:r>
              <a:rPr sz="2000" spc="-204" dirty="0">
                <a:latin typeface="Times New Roman"/>
                <a:cs typeface="Times New Roman"/>
              </a:rPr>
              <a:t>2</a:t>
            </a:r>
            <a:r>
              <a:rPr sz="2100" spc="-204" dirty="0">
                <a:latin typeface="Cambria Math"/>
                <a:cs typeface="Cambria Math"/>
              </a:rPr>
              <a:t>T</a:t>
            </a:r>
            <a:r>
              <a:rPr sz="2100" spc="-185" dirty="0">
                <a:latin typeface="Cambria Math"/>
                <a:cs typeface="Cambria Math"/>
              </a:rPr>
              <a:t> </a:t>
            </a:r>
            <a:r>
              <a:rPr sz="2000" spc="-25" dirty="0">
                <a:latin typeface="Symbol"/>
                <a:cs typeface="Symbol"/>
              </a:rPr>
              <a:t></a:t>
            </a:r>
            <a:r>
              <a:rPr sz="2100" spc="-25" dirty="0">
                <a:latin typeface="Cambria Math"/>
                <a:cs typeface="Cambria Math"/>
              </a:rPr>
              <a:t>C</a:t>
            </a:r>
            <a:r>
              <a:rPr sz="3900" spc="-37" baseline="-3205" dirty="0">
                <a:latin typeface="Symbol"/>
                <a:cs typeface="Symbol"/>
              </a:rPr>
              <a:t></a:t>
            </a:r>
            <a:endParaRPr sz="3900" baseline="-3205">
              <a:latin typeface="Symbol"/>
              <a:cs typeface="Symbo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8728329" y="120522"/>
            <a:ext cx="297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1.19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217728" y="120522"/>
            <a:ext cx="314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NHH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4192" y="118110"/>
            <a:ext cx="60553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solidFill>
                  <a:srgbClr val="0D4D3B"/>
                </a:solidFill>
                <a:latin typeface="Times New Roman"/>
                <a:cs typeface="Times New Roman"/>
              </a:rPr>
              <a:t>CHƯƠNG</a:t>
            </a:r>
            <a:r>
              <a:rPr sz="2200" b="1" spc="-40" dirty="0">
                <a:solidFill>
                  <a:srgbClr val="0D4D3B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D4D3B"/>
                </a:solidFill>
                <a:latin typeface="Times New Roman"/>
                <a:cs typeface="Times New Roman"/>
              </a:rPr>
              <a:t>1</a:t>
            </a:r>
            <a:r>
              <a:rPr sz="2200" b="1" spc="-35" dirty="0">
                <a:solidFill>
                  <a:srgbClr val="0D4D3B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D4D3B"/>
                </a:solidFill>
                <a:latin typeface="Times New Roman"/>
                <a:cs typeface="Times New Roman"/>
              </a:rPr>
              <a:t>–</a:t>
            </a:r>
            <a:r>
              <a:rPr sz="2200" b="1" spc="-55" dirty="0">
                <a:solidFill>
                  <a:srgbClr val="0D4D3B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D4D3B"/>
                </a:solidFill>
                <a:latin typeface="Times New Roman"/>
                <a:cs typeface="Times New Roman"/>
              </a:rPr>
              <a:t>PHÂN</a:t>
            </a:r>
            <a:r>
              <a:rPr sz="2200" b="1" spc="-65" dirty="0">
                <a:solidFill>
                  <a:srgbClr val="0D4D3B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D4D3B"/>
                </a:solidFill>
                <a:latin typeface="Times New Roman"/>
                <a:cs typeface="Times New Roman"/>
              </a:rPr>
              <a:t>TÍCH</a:t>
            </a:r>
            <a:r>
              <a:rPr sz="2200" b="1" spc="-60" dirty="0">
                <a:solidFill>
                  <a:srgbClr val="0D4D3B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D4D3B"/>
                </a:solidFill>
                <a:latin typeface="Times New Roman"/>
                <a:cs typeface="Times New Roman"/>
              </a:rPr>
              <a:t>CẤU</a:t>
            </a:r>
            <a:r>
              <a:rPr sz="2200" b="1" spc="-70" dirty="0">
                <a:solidFill>
                  <a:srgbClr val="0D4D3B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D4D3B"/>
                </a:solidFill>
                <a:latin typeface="Times New Roman"/>
                <a:cs typeface="Times New Roman"/>
              </a:rPr>
              <a:t>TRÚC</a:t>
            </a:r>
            <a:r>
              <a:rPr sz="2200" b="1" spc="-55" dirty="0">
                <a:solidFill>
                  <a:srgbClr val="0D4D3B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D4D3B"/>
                </a:solidFill>
                <a:latin typeface="Times New Roman"/>
                <a:cs typeface="Times New Roman"/>
              </a:rPr>
              <a:t>CƠ</a:t>
            </a:r>
            <a:r>
              <a:rPr sz="2200" b="1" spc="-50" dirty="0">
                <a:solidFill>
                  <a:srgbClr val="0D4D3B"/>
                </a:solidFill>
                <a:latin typeface="Times New Roman"/>
                <a:cs typeface="Times New Roman"/>
              </a:rPr>
              <a:t> </a:t>
            </a:r>
            <a:r>
              <a:rPr sz="2200" b="1" spc="-25" dirty="0">
                <a:solidFill>
                  <a:srgbClr val="0D4D3B"/>
                </a:solidFill>
                <a:latin typeface="Times New Roman"/>
                <a:cs typeface="Times New Roman"/>
              </a:rPr>
              <a:t>CẤU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0200" y="448436"/>
            <a:ext cx="3843654" cy="805815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455930" lvl="1" indent="-443230">
              <a:lnSpc>
                <a:spcPct val="100000"/>
              </a:lnSpc>
              <a:spcBef>
                <a:spcPts val="1010"/>
              </a:spcBef>
              <a:buAutoNum type="arabicPeriod" startAt="3"/>
              <a:tabLst>
                <a:tab pos="455930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Cơ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cấu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phẳng</a:t>
            </a:r>
            <a:endParaRPr sz="1800">
              <a:latin typeface="Arial"/>
              <a:cs typeface="Arial"/>
            </a:endParaRPr>
          </a:p>
          <a:p>
            <a:pPr marL="645160" lvl="2" indent="-632460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645160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Tính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số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bậc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tự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do</a:t>
            </a:r>
            <a:r>
              <a:rPr sz="18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của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cơ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cấu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4454" y="1393078"/>
            <a:ext cx="425831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1D9A78"/>
              </a:buClr>
              <a:buFont typeface="Wingdings"/>
              <a:buChar char=""/>
              <a:tabLst>
                <a:tab pos="299085" algn="l"/>
              </a:tabLst>
            </a:pPr>
            <a:r>
              <a:rPr sz="1800" b="1" dirty="0">
                <a:latin typeface="Arial"/>
                <a:cs typeface="Arial"/>
              </a:rPr>
              <a:t>Ràng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buộc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trùng</a:t>
            </a:r>
            <a:r>
              <a:rPr sz="1800" b="1" spc="-380" dirty="0">
                <a:latin typeface="Arial"/>
                <a:cs typeface="Arial"/>
              </a:rPr>
              <a:t> </a:t>
            </a:r>
            <a:r>
              <a:rPr sz="3150" baseline="-5291" dirty="0">
                <a:latin typeface="Cambria Math"/>
                <a:cs typeface="Cambria Math"/>
              </a:rPr>
              <a:t>R</a:t>
            </a:r>
            <a:r>
              <a:rPr sz="3150" spc="712" baseline="-5291" dirty="0">
                <a:latin typeface="Cambria Math"/>
                <a:cs typeface="Cambria Math"/>
              </a:rPr>
              <a:t> 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Xét cơ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</a:t>
            </a:r>
            <a:r>
              <a:rPr sz="1800" spc="-25" dirty="0">
                <a:latin typeface="Arial"/>
                <a:cs typeface="Arial"/>
              </a:rPr>
              <a:t> nêm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1863" y="1574812"/>
            <a:ext cx="5285740" cy="146558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R="893444" algn="ctr">
              <a:lnSpc>
                <a:spcPct val="100000"/>
              </a:lnSpc>
              <a:spcBef>
                <a:spcPts val="295"/>
              </a:spcBef>
            </a:pPr>
            <a:r>
              <a:rPr sz="1200" spc="-25" dirty="0">
                <a:latin typeface="Cambria Math"/>
                <a:cs typeface="Cambria Math"/>
              </a:rPr>
              <a:t>tr</a:t>
            </a:r>
            <a:endParaRPr sz="1200">
              <a:latin typeface="Cambria Math"/>
              <a:cs typeface="Cambria Math"/>
            </a:endParaRPr>
          </a:p>
          <a:p>
            <a:pPr marL="388620" indent="-285750">
              <a:lnSpc>
                <a:spcPct val="100000"/>
              </a:lnSpc>
              <a:spcBef>
                <a:spcPts val="320"/>
              </a:spcBef>
              <a:buFont typeface="Wingdings"/>
              <a:buChar char=""/>
              <a:tabLst>
                <a:tab pos="388620" algn="l"/>
              </a:tabLst>
            </a:pPr>
            <a:r>
              <a:rPr sz="1800" dirty="0">
                <a:latin typeface="Arial"/>
                <a:cs typeface="Arial"/>
              </a:rPr>
              <a:t>Số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BTD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cơ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cấu:</a:t>
            </a:r>
            <a:r>
              <a:rPr sz="1800" spc="135" dirty="0">
                <a:latin typeface="Arial"/>
                <a:cs typeface="Arial"/>
              </a:rPr>
              <a:t> </a:t>
            </a:r>
            <a:r>
              <a:rPr sz="3150" baseline="-2645" dirty="0">
                <a:latin typeface="Cambria Math"/>
                <a:cs typeface="Cambria Math"/>
              </a:rPr>
              <a:t>W</a:t>
            </a:r>
            <a:r>
              <a:rPr sz="3150" spc="22" baseline="-2645" dirty="0">
                <a:latin typeface="Cambria Math"/>
                <a:cs typeface="Cambria Math"/>
              </a:rPr>
              <a:t> </a:t>
            </a:r>
            <a:r>
              <a:rPr sz="3000" baseline="-2777" dirty="0">
                <a:latin typeface="Symbol"/>
                <a:cs typeface="Symbol"/>
              </a:rPr>
              <a:t></a:t>
            </a:r>
            <a:r>
              <a:rPr sz="3000" spc="-104" baseline="-2777" dirty="0">
                <a:latin typeface="Times New Roman"/>
                <a:cs typeface="Times New Roman"/>
              </a:rPr>
              <a:t> </a:t>
            </a:r>
            <a:r>
              <a:rPr sz="3000" spc="112" baseline="-2777" dirty="0">
                <a:latin typeface="Times New Roman"/>
                <a:cs typeface="Times New Roman"/>
              </a:rPr>
              <a:t>3</a:t>
            </a:r>
            <a:r>
              <a:rPr sz="3000" spc="112" baseline="-2777" dirty="0">
                <a:latin typeface="Symbol"/>
                <a:cs typeface="Symbol"/>
              </a:rPr>
              <a:t></a:t>
            </a:r>
            <a:r>
              <a:rPr sz="3000" spc="-359" baseline="-2777" dirty="0">
                <a:latin typeface="Times New Roman"/>
                <a:cs typeface="Times New Roman"/>
              </a:rPr>
              <a:t> </a:t>
            </a:r>
            <a:r>
              <a:rPr sz="3000" spc="-15" baseline="-2777" dirty="0">
                <a:latin typeface="Times New Roman"/>
                <a:cs typeface="Times New Roman"/>
              </a:rPr>
              <a:t>2</a:t>
            </a:r>
            <a:r>
              <a:rPr sz="3000" spc="-270" baseline="-2777" dirty="0">
                <a:latin typeface="Times New Roman"/>
                <a:cs typeface="Times New Roman"/>
              </a:rPr>
              <a:t> </a:t>
            </a:r>
            <a:r>
              <a:rPr sz="3000" spc="-30" baseline="-2777" dirty="0">
                <a:latin typeface="Symbol"/>
                <a:cs typeface="Symbol"/>
              </a:rPr>
              <a:t></a:t>
            </a:r>
            <a:r>
              <a:rPr sz="3000" spc="-225" baseline="-2777" dirty="0">
                <a:latin typeface="Times New Roman"/>
                <a:cs typeface="Times New Roman"/>
              </a:rPr>
              <a:t> </a:t>
            </a:r>
            <a:r>
              <a:rPr sz="3000" spc="-15" baseline="-2777" dirty="0">
                <a:latin typeface="Times New Roman"/>
                <a:cs typeface="Times New Roman"/>
              </a:rPr>
              <a:t>2</a:t>
            </a:r>
            <a:r>
              <a:rPr sz="3000" spc="-405" baseline="-2777" dirty="0">
                <a:latin typeface="Times New Roman"/>
                <a:cs typeface="Times New Roman"/>
              </a:rPr>
              <a:t> </a:t>
            </a:r>
            <a:r>
              <a:rPr sz="3000" spc="-15" baseline="-2777" dirty="0">
                <a:latin typeface="Symbol"/>
                <a:cs typeface="Symbol"/>
              </a:rPr>
              <a:t></a:t>
            </a:r>
            <a:r>
              <a:rPr sz="3000" spc="-457" baseline="-2777" dirty="0">
                <a:latin typeface="Times New Roman"/>
                <a:cs typeface="Times New Roman"/>
              </a:rPr>
              <a:t> </a:t>
            </a:r>
            <a:r>
              <a:rPr sz="3000" spc="-15" baseline="-2777" dirty="0">
                <a:latin typeface="Times New Roman"/>
                <a:cs typeface="Times New Roman"/>
              </a:rPr>
              <a:t>3</a:t>
            </a:r>
            <a:r>
              <a:rPr sz="3000" spc="-359" baseline="-2777" dirty="0">
                <a:latin typeface="Times New Roman"/>
                <a:cs typeface="Times New Roman"/>
              </a:rPr>
              <a:t> </a:t>
            </a:r>
            <a:r>
              <a:rPr sz="3000" spc="-30" baseline="-2777" dirty="0">
                <a:latin typeface="Symbol"/>
                <a:cs typeface="Symbol"/>
              </a:rPr>
              <a:t></a:t>
            </a:r>
            <a:r>
              <a:rPr sz="3000" spc="-270" baseline="-2777" dirty="0">
                <a:latin typeface="Times New Roman"/>
                <a:cs typeface="Times New Roman"/>
              </a:rPr>
              <a:t> </a:t>
            </a:r>
            <a:r>
              <a:rPr sz="3000" baseline="-2777" dirty="0">
                <a:latin typeface="Times New Roman"/>
                <a:cs typeface="Times New Roman"/>
              </a:rPr>
              <a:t>0</a:t>
            </a:r>
            <a:r>
              <a:rPr sz="3000" spc="-60" baseline="-2777" dirty="0">
                <a:latin typeface="Times New Roman"/>
                <a:cs typeface="Times New Roman"/>
              </a:rPr>
              <a:t> </a:t>
            </a:r>
            <a:r>
              <a:rPr sz="3000" baseline="-2777" dirty="0">
                <a:latin typeface="Symbol"/>
                <a:cs typeface="Symbol"/>
              </a:rPr>
              <a:t></a:t>
            </a:r>
            <a:r>
              <a:rPr sz="3000" spc="-60" baseline="-2777" dirty="0">
                <a:latin typeface="Times New Roman"/>
                <a:cs typeface="Times New Roman"/>
              </a:rPr>
              <a:t> </a:t>
            </a:r>
            <a:r>
              <a:rPr sz="3000" spc="-75" baseline="-2777" dirty="0">
                <a:latin typeface="Times New Roman"/>
                <a:cs typeface="Times New Roman"/>
              </a:rPr>
              <a:t>0</a:t>
            </a:r>
            <a:endParaRPr sz="3000" baseline="-2777">
              <a:latin typeface="Times New Roman"/>
              <a:cs typeface="Times New Roman"/>
            </a:endParaRPr>
          </a:p>
          <a:p>
            <a:pPr marL="388620" indent="-285750">
              <a:lnSpc>
                <a:spcPct val="100000"/>
              </a:lnSpc>
              <a:spcBef>
                <a:spcPts val="1060"/>
              </a:spcBef>
              <a:buFont typeface="Wingdings"/>
              <a:buChar char=""/>
              <a:tabLst>
                <a:tab pos="388620" algn="l"/>
              </a:tabLst>
            </a:pPr>
            <a:r>
              <a:rPr sz="2700" baseline="1543" dirty="0">
                <a:latin typeface="Arial"/>
                <a:cs typeface="Arial"/>
              </a:rPr>
              <a:t>Cơ</a:t>
            </a:r>
            <a:r>
              <a:rPr sz="2700" spc="-60" baseline="1543" dirty="0">
                <a:latin typeface="Arial"/>
                <a:cs typeface="Arial"/>
              </a:rPr>
              <a:t> </a:t>
            </a:r>
            <a:r>
              <a:rPr sz="2700" baseline="1543" dirty="0">
                <a:latin typeface="Arial"/>
                <a:cs typeface="Arial"/>
              </a:rPr>
              <a:t>cấu</a:t>
            </a:r>
            <a:r>
              <a:rPr sz="2700" spc="-37" baseline="1543" dirty="0">
                <a:latin typeface="Arial"/>
                <a:cs typeface="Arial"/>
              </a:rPr>
              <a:t> </a:t>
            </a:r>
            <a:r>
              <a:rPr sz="2700" baseline="1543" dirty="0">
                <a:latin typeface="Arial"/>
                <a:cs typeface="Arial"/>
              </a:rPr>
              <a:t>vẫn</a:t>
            </a:r>
            <a:r>
              <a:rPr sz="2700" spc="-22" baseline="1543" dirty="0">
                <a:latin typeface="Arial"/>
                <a:cs typeface="Arial"/>
              </a:rPr>
              <a:t> </a:t>
            </a:r>
            <a:r>
              <a:rPr sz="2700" baseline="1543" dirty="0">
                <a:latin typeface="Arial"/>
                <a:cs typeface="Arial"/>
              </a:rPr>
              <a:t>có</a:t>
            </a:r>
            <a:r>
              <a:rPr sz="2700" spc="-37" baseline="1543" dirty="0">
                <a:latin typeface="Arial"/>
                <a:cs typeface="Arial"/>
              </a:rPr>
              <a:t> </a:t>
            </a:r>
            <a:r>
              <a:rPr sz="2700" baseline="1543" dirty="0">
                <a:latin typeface="Arial"/>
                <a:cs typeface="Arial"/>
              </a:rPr>
              <a:t>khả</a:t>
            </a:r>
            <a:r>
              <a:rPr sz="2700" spc="-44" baseline="1543" dirty="0">
                <a:latin typeface="Arial"/>
                <a:cs typeface="Arial"/>
              </a:rPr>
              <a:t> </a:t>
            </a:r>
            <a:r>
              <a:rPr sz="2700" baseline="1543" dirty="0">
                <a:latin typeface="Arial"/>
                <a:cs typeface="Arial"/>
              </a:rPr>
              <a:t>năng</a:t>
            </a:r>
            <a:r>
              <a:rPr sz="2700" spc="-15" baseline="1543" dirty="0">
                <a:latin typeface="Arial"/>
                <a:cs typeface="Arial"/>
              </a:rPr>
              <a:t> </a:t>
            </a:r>
            <a:r>
              <a:rPr sz="2700" baseline="1543" dirty="0">
                <a:latin typeface="Arial"/>
                <a:cs typeface="Arial"/>
              </a:rPr>
              <a:t>chuyển động</a:t>
            </a:r>
            <a:r>
              <a:rPr sz="2700" spc="120" baseline="1543" dirty="0">
                <a:latin typeface="Arial"/>
                <a:cs typeface="Arial"/>
              </a:rPr>
              <a:t> </a:t>
            </a:r>
            <a:r>
              <a:rPr sz="2000" spc="-65" dirty="0">
                <a:latin typeface="Symbol"/>
                <a:cs typeface="Symbol"/>
              </a:rPr>
              <a:t></a:t>
            </a:r>
            <a:r>
              <a:rPr sz="2100" spc="-65" dirty="0">
                <a:latin typeface="Cambria Math"/>
                <a:cs typeface="Cambria Math"/>
              </a:rPr>
              <a:t>W</a:t>
            </a:r>
            <a:r>
              <a:rPr sz="2100" spc="5" dirty="0">
                <a:latin typeface="Cambria Math"/>
                <a:cs typeface="Cambria Math"/>
              </a:rPr>
              <a:t> </a:t>
            </a:r>
            <a:r>
              <a:rPr sz="2000" spc="-20" dirty="0">
                <a:latin typeface="Symbol"/>
                <a:cs typeface="Symbol"/>
              </a:rPr>
              <a:t></a:t>
            </a:r>
            <a:r>
              <a:rPr sz="2000" spc="-22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120"/>
              </a:spcBef>
            </a:pPr>
            <a:r>
              <a:rPr sz="1800" dirty="0">
                <a:latin typeface="Arial"/>
                <a:cs typeface="Arial"/>
              </a:rPr>
              <a:t>Khi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tháo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khớp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A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Khâu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2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có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ràng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buộc: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i="1" spc="-25" dirty="0">
                <a:latin typeface="Arial"/>
                <a:cs typeface="Arial"/>
              </a:rPr>
              <a:t>Q</a:t>
            </a:r>
            <a:r>
              <a:rPr sz="1800" i="1" spc="-37" baseline="-20833" dirty="0">
                <a:latin typeface="Arial"/>
                <a:cs typeface="Arial"/>
              </a:rPr>
              <a:t>z</a:t>
            </a:r>
            <a:endParaRPr sz="1800" baseline="-20833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320535" y="1772411"/>
            <a:ext cx="2505710" cy="2397125"/>
            <a:chOff x="6320535" y="1772411"/>
            <a:chExt cx="2505710" cy="239712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20535" y="1772411"/>
              <a:ext cx="2316734" cy="232283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727063" y="2023617"/>
              <a:ext cx="2099310" cy="1208405"/>
            </a:xfrm>
            <a:custGeom>
              <a:avLst/>
              <a:gdLst/>
              <a:ahLst/>
              <a:cxnLst/>
              <a:rect l="l" t="t" r="r" b="b"/>
              <a:pathLst>
                <a:path w="2099309" h="1208405">
                  <a:moveTo>
                    <a:pt x="76200" y="127000"/>
                  </a:moveTo>
                  <a:lnTo>
                    <a:pt x="72390" y="114300"/>
                  </a:lnTo>
                  <a:lnTo>
                    <a:pt x="38100" y="0"/>
                  </a:lnTo>
                  <a:lnTo>
                    <a:pt x="0" y="127000"/>
                  </a:lnTo>
                  <a:lnTo>
                    <a:pt x="28575" y="127000"/>
                  </a:lnTo>
                  <a:lnTo>
                    <a:pt x="28575" y="521081"/>
                  </a:lnTo>
                  <a:lnTo>
                    <a:pt x="0" y="521081"/>
                  </a:lnTo>
                  <a:lnTo>
                    <a:pt x="38100" y="648081"/>
                  </a:lnTo>
                  <a:lnTo>
                    <a:pt x="72390" y="533781"/>
                  </a:lnTo>
                  <a:lnTo>
                    <a:pt x="76200" y="521081"/>
                  </a:lnTo>
                  <a:lnTo>
                    <a:pt x="47625" y="521081"/>
                  </a:lnTo>
                  <a:lnTo>
                    <a:pt x="47625" y="127000"/>
                  </a:lnTo>
                  <a:lnTo>
                    <a:pt x="76200" y="127000"/>
                  </a:lnTo>
                  <a:close/>
                </a:path>
                <a:path w="2099309" h="1208405">
                  <a:moveTo>
                    <a:pt x="2098929" y="1169797"/>
                  </a:moveTo>
                  <a:lnTo>
                    <a:pt x="2067179" y="1160272"/>
                  </a:lnTo>
                  <a:lnTo>
                    <a:pt x="1971929" y="1131697"/>
                  </a:lnTo>
                  <a:lnTo>
                    <a:pt x="1971929" y="1160272"/>
                  </a:lnTo>
                  <a:lnTo>
                    <a:pt x="1666875" y="1160272"/>
                  </a:lnTo>
                  <a:lnTo>
                    <a:pt x="1666875" y="1131697"/>
                  </a:lnTo>
                  <a:lnTo>
                    <a:pt x="1539875" y="1169797"/>
                  </a:lnTo>
                  <a:lnTo>
                    <a:pt x="1666875" y="1207897"/>
                  </a:lnTo>
                  <a:lnTo>
                    <a:pt x="1666875" y="1179322"/>
                  </a:lnTo>
                  <a:lnTo>
                    <a:pt x="1971929" y="1179322"/>
                  </a:lnTo>
                  <a:lnTo>
                    <a:pt x="1971929" y="1207897"/>
                  </a:lnTo>
                  <a:lnTo>
                    <a:pt x="2067179" y="1179322"/>
                  </a:lnTo>
                  <a:lnTo>
                    <a:pt x="2098929" y="116979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20535" y="4095229"/>
              <a:ext cx="2304161" cy="7379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7204727" y="1899004"/>
            <a:ext cx="26797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50" dirty="0">
                <a:latin typeface="Cambria Math"/>
                <a:cs typeface="Cambria Math"/>
              </a:rPr>
              <a:t>A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44585" y="2980270"/>
            <a:ext cx="26543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50" dirty="0">
                <a:latin typeface="Cambria Math"/>
                <a:cs typeface="Cambria Math"/>
              </a:rPr>
              <a:t>B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215130" y="2653286"/>
            <a:ext cx="252729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0" dirty="0">
                <a:latin typeface="Cambria Math"/>
                <a:cs typeface="Cambria Math"/>
              </a:rPr>
              <a:t>C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675881" y="1689354"/>
            <a:ext cx="295910" cy="276225"/>
          </a:xfrm>
          <a:custGeom>
            <a:avLst/>
            <a:gdLst/>
            <a:ahLst/>
            <a:cxnLst/>
            <a:rect l="l" t="t" r="r" b="b"/>
            <a:pathLst>
              <a:path w="295909" h="276225">
                <a:moveTo>
                  <a:pt x="295528" y="275971"/>
                </a:moveTo>
                <a:lnTo>
                  <a:pt x="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503761" y="1481053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119998" y="2344166"/>
            <a:ext cx="283845" cy="299720"/>
          </a:xfrm>
          <a:custGeom>
            <a:avLst/>
            <a:gdLst/>
            <a:ahLst/>
            <a:cxnLst/>
            <a:rect l="l" t="t" r="r" b="b"/>
            <a:pathLst>
              <a:path w="283845" h="299719">
                <a:moveTo>
                  <a:pt x="0" y="299466"/>
                </a:moveTo>
                <a:lnTo>
                  <a:pt x="283464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452348" y="2158979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939153" y="3727830"/>
            <a:ext cx="381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Giá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806778" y="1284177"/>
            <a:ext cx="23812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0" dirty="0">
                <a:latin typeface="Cambria Math"/>
                <a:cs typeface="Cambria Math"/>
              </a:rPr>
              <a:t>y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769129" y="3361035"/>
            <a:ext cx="23241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0" dirty="0">
                <a:latin typeface="Cambria Math"/>
                <a:cs typeface="Cambria Math"/>
              </a:rPr>
              <a:t>x</a:t>
            </a:r>
            <a:endParaRPr sz="2100">
              <a:latin typeface="Cambria Math"/>
              <a:cs typeface="Cambria Math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026465" y="1516761"/>
            <a:ext cx="1941830" cy="1943100"/>
            <a:chOff x="7026465" y="1516761"/>
            <a:chExt cx="1941830" cy="1943100"/>
          </a:xfrm>
        </p:grpSpPr>
        <p:sp>
          <p:nvSpPr>
            <p:cNvPr id="22" name="object 22"/>
            <p:cNvSpPr/>
            <p:nvPr/>
          </p:nvSpPr>
          <p:spPr>
            <a:xfrm>
              <a:off x="7035419" y="3451733"/>
              <a:ext cx="1932305" cy="0"/>
            </a:xfrm>
            <a:custGeom>
              <a:avLst/>
              <a:gdLst/>
              <a:ahLst/>
              <a:cxnLst/>
              <a:rect l="l" t="t" r="r" b="b"/>
              <a:pathLst>
                <a:path w="1932304">
                  <a:moveTo>
                    <a:pt x="0" y="0"/>
                  </a:moveTo>
                  <a:lnTo>
                    <a:pt x="1932304" y="0"/>
                  </a:lnTo>
                </a:path>
              </a:pathLst>
            </a:custGeom>
            <a:ln w="158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034403" y="1516761"/>
              <a:ext cx="0" cy="1932305"/>
            </a:xfrm>
            <a:custGeom>
              <a:avLst/>
              <a:gdLst/>
              <a:ahLst/>
              <a:cxnLst/>
              <a:rect l="l" t="t" r="r" b="b"/>
              <a:pathLst>
                <a:path h="1932304">
                  <a:moveTo>
                    <a:pt x="0" y="1932304"/>
                  </a:moveTo>
                  <a:lnTo>
                    <a:pt x="0" y="0"/>
                  </a:lnTo>
                </a:path>
              </a:pathLst>
            </a:custGeom>
            <a:ln w="158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08482" y="3172714"/>
            <a:ext cx="4799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Khi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thêm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khớp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A</a:t>
            </a:r>
            <a:r>
              <a:rPr sz="1800" dirty="0">
                <a:latin typeface="Arial"/>
                <a:cs typeface="Arial"/>
              </a:rPr>
              <a:t>: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Khâu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2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có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2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ràng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buộc: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T</a:t>
            </a:r>
            <a:r>
              <a:rPr sz="1800" i="1" spc="8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i="1" spc="-50" dirty="0">
                <a:latin typeface="Arial"/>
                <a:cs typeface="Arial"/>
              </a:rPr>
              <a:t>Q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001259" y="3305302"/>
            <a:ext cx="482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3065" algn="l"/>
              </a:tabLst>
            </a:pPr>
            <a:r>
              <a:rPr sz="1200" i="1" spc="-50" dirty="0">
                <a:latin typeface="Arial"/>
                <a:cs typeface="Arial"/>
              </a:rPr>
              <a:t>x</a:t>
            </a:r>
            <a:r>
              <a:rPr sz="1200" i="1" dirty="0">
                <a:latin typeface="Arial"/>
                <a:cs typeface="Arial"/>
              </a:rPr>
              <a:t>	</a:t>
            </a:r>
            <a:r>
              <a:rPr sz="1200" i="1" spc="-50" dirty="0">
                <a:latin typeface="Arial"/>
                <a:cs typeface="Arial"/>
              </a:rPr>
              <a:t>z</a:t>
            </a:r>
            <a:endParaRPr sz="1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49554" y="3619627"/>
            <a:ext cx="4037965" cy="1297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→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Ràng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buộc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Q</a:t>
            </a:r>
            <a:r>
              <a:rPr sz="1800" i="1" baseline="-20833" dirty="0">
                <a:latin typeface="Arial"/>
                <a:cs typeface="Arial"/>
              </a:rPr>
              <a:t>z</a:t>
            </a:r>
            <a:r>
              <a:rPr sz="1800" i="1" spc="240" baseline="-20833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bị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trùng.</a:t>
            </a:r>
            <a:endParaRPr sz="1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775"/>
              </a:spcBef>
            </a:pPr>
            <a:r>
              <a:rPr sz="1800" dirty="0">
                <a:latin typeface="Arial"/>
                <a:cs typeface="Arial"/>
              </a:rPr>
              <a:t>BTD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thực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tế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cơ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cấu:</a:t>
            </a:r>
            <a:endParaRPr sz="1800">
              <a:latin typeface="Arial"/>
              <a:cs typeface="Arial"/>
            </a:endParaRPr>
          </a:p>
          <a:p>
            <a:pPr marL="900430">
              <a:lnSpc>
                <a:spcPct val="100000"/>
              </a:lnSpc>
              <a:spcBef>
                <a:spcPts val="790"/>
              </a:spcBef>
            </a:pPr>
            <a:r>
              <a:rPr sz="2100" dirty="0">
                <a:latin typeface="Cambria Math"/>
                <a:cs typeface="Cambria Math"/>
              </a:rPr>
              <a:t>W</a:t>
            </a:r>
            <a:r>
              <a:rPr sz="2100" spc="-5" dirty="0">
                <a:latin typeface="Cambria Math"/>
                <a:cs typeface="Cambria Math"/>
              </a:rPr>
              <a:t> </a:t>
            </a:r>
            <a:r>
              <a:rPr sz="2000" dirty="0">
                <a:latin typeface="Symbol"/>
                <a:cs typeface="Symbol"/>
              </a:rPr>
              <a:t>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75" dirty="0">
                <a:latin typeface="Times New Roman"/>
                <a:cs typeface="Times New Roman"/>
              </a:rPr>
              <a:t>3</a:t>
            </a:r>
            <a:r>
              <a:rPr sz="2000" spc="75" dirty="0">
                <a:latin typeface="Symbol"/>
                <a:cs typeface="Symbol"/>
              </a:rPr>
              <a:t></a:t>
            </a:r>
            <a:r>
              <a:rPr sz="2000" spc="-2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2</a:t>
            </a:r>
            <a:r>
              <a:rPr sz="2000" spc="-18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Symbol"/>
                <a:cs typeface="Symbol"/>
              </a:rPr>
              <a:t></a:t>
            </a:r>
            <a:r>
              <a:rPr sz="2000" spc="-210" dirty="0">
                <a:latin typeface="Times New Roman"/>
                <a:cs typeface="Times New Roman"/>
              </a:rPr>
              <a:t> </a:t>
            </a:r>
            <a:r>
              <a:rPr sz="3900" spc="-52" baseline="-3205" dirty="0">
                <a:latin typeface="Symbol"/>
                <a:cs typeface="Symbol"/>
              </a:rPr>
              <a:t></a:t>
            </a:r>
            <a:r>
              <a:rPr sz="2000" spc="-35" dirty="0">
                <a:latin typeface="Times New Roman"/>
                <a:cs typeface="Times New Roman"/>
              </a:rPr>
              <a:t>2</a:t>
            </a:r>
            <a:r>
              <a:rPr sz="2000" spc="-2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Symbol"/>
                <a:cs typeface="Symbol"/>
              </a:rPr>
              <a:t></a:t>
            </a:r>
            <a:r>
              <a:rPr sz="2000" spc="-3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3</a:t>
            </a:r>
            <a:r>
              <a:rPr sz="2000" spc="-24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Symbol"/>
                <a:cs typeface="Symbol"/>
              </a:rPr>
              <a:t></a:t>
            </a:r>
            <a:r>
              <a:rPr sz="2000" spc="-1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0</a:t>
            </a:r>
            <a:r>
              <a:rPr sz="2000" spc="-18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Symbol"/>
                <a:cs typeface="Symbol"/>
              </a:rPr>
              <a:t></a:t>
            </a:r>
            <a:r>
              <a:rPr sz="2000" spc="-1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0</a:t>
            </a:r>
            <a:r>
              <a:rPr sz="2000" spc="-18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Symbol"/>
                <a:cs typeface="Symbol"/>
              </a:rPr>
              <a:t></a:t>
            </a:r>
            <a:r>
              <a:rPr sz="2000" spc="-50" dirty="0">
                <a:latin typeface="Times New Roman"/>
                <a:cs typeface="Times New Roman"/>
              </a:rPr>
              <a:t>1</a:t>
            </a:r>
            <a:r>
              <a:rPr sz="3900" spc="-75" baseline="-3205" dirty="0">
                <a:latin typeface="Symbol"/>
                <a:cs typeface="Symbol"/>
              </a:rPr>
              <a:t></a:t>
            </a:r>
            <a:r>
              <a:rPr sz="3900" spc="-292" baseline="-320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Symbol"/>
                <a:cs typeface="Symbol"/>
              </a:rPr>
              <a:t></a:t>
            </a:r>
            <a:r>
              <a:rPr sz="2000" spc="-21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349872" y="607441"/>
            <a:ext cx="2624455" cy="382270"/>
            <a:chOff x="6349872" y="607441"/>
            <a:chExt cx="2624455" cy="382270"/>
          </a:xfrm>
        </p:grpSpPr>
        <p:sp>
          <p:nvSpPr>
            <p:cNvPr id="28" name="object 28"/>
            <p:cNvSpPr/>
            <p:nvPr/>
          </p:nvSpPr>
          <p:spPr>
            <a:xfrm>
              <a:off x="6356222" y="613791"/>
              <a:ext cx="2611755" cy="369570"/>
            </a:xfrm>
            <a:custGeom>
              <a:avLst/>
              <a:gdLst/>
              <a:ahLst/>
              <a:cxnLst/>
              <a:rect l="l" t="t" r="r" b="b"/>
              <a:pathLst>
                <a:path w="2611754" h="369569">
                  <a:moveTo>
                    <a:pt x="2549905" y="0"/>
                  </a:moveTo>
                  <a:lnTo>
                    <a:pt x="61594" y="0"/>
                  </a:lnTo>
                  <a:lnTo>
                    <a:pt x="37611" y="4837"/>
                  </a:lnTo>
                  <a:lnTo>
                    <a:pt x="18034" y="18034"/>
                  </a:lnTo>
                  <a:lnTo>
                    <a:pt x="4837" y="37611"/>
                  </a:lnTo>
                  <a:lnTo>
                    <a:pt x="0" y="61595"/>
                  </a:lnTo>
                  <a:lnTo>
                    <a:pt x="0" y="307721"/>
                  </a:lnTo>
                  <a:lnTo>
                    <a:pt x="4837" y="331704"/>
                  </a:lnTo>
                  <a:lnTo>
                    <a:pt x="18034" y="351282"/>
                  </a:lnTo>
                  <a:lnTo>
                    <a:pt x="37611" y="364478"/>
                  </a:lnTo>
                  <a:lnTo>
                    <a:pt x="61594" y="369316"/>
                  </a:lnTo>
                  <a:lnTo>
                    <a:pt x="2549905" y="369316"/>
                  </a:lnTo>
                  <a:lnTo>
                    <a:pt x="2573889" y="364478"/>
                  </a:lnTo>
                  <a:lnTo>
                    <a:pt x="2593467" y="351282"/>
                  </a:lnTo>
                  <a:lnTo>
                    <a:pt x="2606663" y="331704"/>
                  </a:lnTo>
                  <a:lnTo>
                    <a:pt x="2611501" y="307721"/>
                  </a:lnTo>
                  <a:lnTo>
                    <a:pt x="2611501" y="61595"/>
                  </a:lnTo>
                  <a:lnTo>
                    <a:pt x="2606663" y="37611"/>
                  </a:lnTo>
                  <a:lnTo>
                    <a:pt x="2593467" y="18034"/>
                  </a:lnTo>
                  <a:lnTo>
                    <a:pt x="2573889" y="4837"/>
                  </a:lnTo>
                  <a:lnTo>
                    <a:pt x="2549905" y="0"/>
                  </a:lnTo>
                  <a:close/>
                </a:path>
              </a:pathLst>
            </a:custGeom>
            <a:solidFill>
              <a:srgbClr val="FBEB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356222" y="613791"/>
              <a:ext cx="2611755" cy="369570"/>
            </a:xfrm>
            <a:custGeom>
              <a:avLst/>
              <a:gdLst/>
              <a:ahLst/>
              <a:cxnLst/>
              <a:rect l="l" t="t" r="r" b="b"/>
              <a:pathLst>
                <a:path w="2611754" h="369569">
                  <a:moveTo>
                    <a:pt x="0" y="61595"/>
                  </a:moveTo>
                  <a:lnTo>
                    <a:pt x="4837" y="37611"/>
                  </a:lnTo>
                  <a:lnTo>
                    <a:pt x="18034" y="18034"/>
                  </a:lnTo>
                  <a:lnTo>
                    <a:pt x="37611" y="4837"/>
                  </a:lnTo>
                  <a:lnTo>
                    <a:pt x="61594" y="0"/>
                  </a:lnTo>
                  <a:lnTo>
                    <a:pt x="2549905" y="0"/>
                  </a:lnTo>
                  <a:lnTo>
                    <a:pt x="2573889" y="4837"/>
                  </a:lnTo>
                  <a:lnTo>
                    <a:pt x="2593467" y="18034"/>
                  </a:lnTo>
                  <a:lnTo>
                    <a:pt x="2606663" y="37611"/>
                  </a:lnTo>
                  <a:lnTo>
                    <a:pt x="2611501" y="61595"/>
                  </a:lnTo>
                  <a:lnTo>
                    <a:pt x="2611501" y="307721"/>
                  </a:lnTo>
                  <a:lnTo>
                    <a:pt x="2606663" y="331704"/>
                  </a:lnTo>
                  <a:lnTo>
                    <a:pt x="2593467" y="351282"/>
                  </a:lnTo>
                  <a:lnTo>
                    <a:pt x="2573889" y="364478"/>
                  </a:lnTo>
                  <a:lnTo>
                    <a:pt x="2549905" y="369316"/>
                  </a:lnTo>
                  <a:lnTo>
                    <a:pt x="61594" y="369316"/>
                  </a:lnTo>
                  <a:lnTo>
                    <a:pt x="37611" y="364478"/>
                  </a:lnTo>
                  <a:lnTo>
                    <a:pt x="18034" y="351282"/>
                  </a:lnTo>
                  <a:lnTo>
                    <a:pt x="4837" y="331704"/>
                  </a:lnTo>
                  <a:lnTo>
                    <a:pt x="0" y="307721"/>
                  </a:lnTo>
                  <a:lnTo>
                    <a:pt x="0" y="61595"/>
                  </a:lnTo>
                  <a:close/>
                </a:path>
              </a:pathLst>
            </a:custGeom>
            <a:ln w="12700">
              <a:solidFill>
                <a:srgbClr val="126F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349409" y="521115"/>
            <a:ext cx="2590165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100" dirty="0">
                <a:latin typeface="Cambria Math"/>
                <a:cs typeface="Cambria Math"/>
              </a:rPr>
              <a:t>W</a:t>
            </a:r>
            <a:r>
              <a:rPr sz="2100" spc="10" dirty="0">
                <a:latin typeface="Cambria Math"/>
                <a:cs typeface="Cambria Math"/>
              </a:rPr>
              <a:t> </a:t>
            </a:r>
            <a:r>
              <a:rPr sz="2000" dirty="0">
                <a:latin typeface="Symbol"/>
                <a:cs typeface="Symbol"/>
              </a:rPr>
              <a:t>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30" dirty="0">
                <a:latin typeface="Times New Roman"/>
                <a:cs typeface="Times New Roman"/>
              </a:rPr>
              <a:t>3</a:t>
            </a:r>
            <a:r>
              <a:rPr sz="2100" spc="-130" dirty="0">
                <a:latin typeface="Cambria Math"/>
                <a:cs typeface="Cambria Math"/>
              </a:rPr>
              <a:t>n</a:t>
            </a:r>
            <a:r>
              <a:rPr sz="2000" spc="-130" dirty="0">
                <a:latin typeface="Symbol"/>
                <a:cs typeface="Symbol"/>
              </a:rPr>
              <a:t></a:t>
            </a:r>
            <a:r>
              <a:rPr sz="2000" spc="-210" dirty="0">
                <a:latin typeface="Times New Roman"/>
                <a:cs typeface="Times New Roman"/>
              </a:rPr>
              <a:t> </a:t>
            </a:r>
            <a:r>
              <a:rPr sz="3900" spc="-307" baseline="-3205" dirty="0">
                <a:latin typeface="Symbol"/>
                <a:cs typeface="Symbol"/>
              </a:rPr>
              <a:t></a:t>
            </a:r>
            <a:r>
              <a:rPr sz="2000" spc="-204" dirty="0">
                <a:latin typeface="Times New Roman"/>
                <a:cs typeface="Times New Roman"/>
              </a:rPr>
              <a:t>2</a:t>
            </a:r>
            <a:r>
              <a:rPr sz="2100" spc="-204" dirty="0">
                <a:latin typeface="Cambria Math"/>
                <a:cs typeface="Cambria Math"/>
              </a:rPr>
              <a:t>T</a:t>
            </a:r>
            <a:r>
              <a:rPr sz="2100" spc="-185" dirty="0">
                <a:latin typeface="Cambria Math"/>
                <a:cs typeface="Cambria Math"/>
              </a:rPr>
              <a:t> </a:t>
            </a:r>
            <a:r>
              <a:rPr sz="2000" spc="-150" dirty="0">
                <a:latin typeface="Symbol"/>
                <a:cs typeface="Symbol"/>
              </a:rPr>
              <a:t></a:t>
            </a:r>
            <a:r>
              <a:rPr sz="2100" spc="-150" dirty="0">
                <a:latin typeface="Cambria Math"/>
                <a:cs typeface="Cambria Math"/>
              </a:rPr>
              <a:t>C</a:t>
            </a:r>
            <a:r>
              <a:rPr sz="2000" spc="-150" dirty="0">
                <a:latin typeface="Symbol"/>
                <a:cs typeface="Symbol"/>
              </a:rPr>
              <a:t></a:t>
            </a:r>
            <a:r>
              <a:rPr sz="2100" spc="-150" dirty="0">
                <a:latin typeface="Cambria Math"/>
                <a:cs typeface="Cambria Math"/>
              </a:rPr>
              <a:t>R</a:t>
            </a:r>
            <a:r>
              <a:rPr sz="1800" spc="-225" baseline="-23148" dirty="0">
                <a:latin typeface="Cambria Math"/>
                <a:cs typeface="Cambria Math"/>
              </a:rPr>
              <a:t>th</a:t>
            </a:r>
            <a:r>
              <a:rPr sz="1800" spc="-172" baseline="-23148" dirty="0">
                <a:latin typeface="Cambria Math"/>
                <a:cs typeface="Cambria Math"/>
              </a:rPr>
              <a:t> </a:t>
            </a:r>
            <a:r>
              <a:rPr sz="3900" spc="-75" baseline="-3205" dirty="0">
                <a:latin typeface="Symbol"/>
                <a:cs typeface="Symbol"/>
              </a:rPr>
              <a:t></a:t>
            </a:r>
            <a:endParaRPr sz="3900" baseline="-3205">
              <a:latin typeface="Symbol"/>
              <a:cs typeface="Symbo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765425" y="6086944"/>
            <a:ext cx="3065780" cy="435609"/>
            <a:chOff x="2765425" y="6086944"/>
            <a:chExt cx="3065780" cy="435609"/>
          </a:xfrm>
        </p:grpSpPr>
        <p:sp>
          <p:nvSpPr>
            <p:cNvPr id="32" name="object 32"/>
            <p:cNvSpPr/>
            <p:nvPr/>
          </p:nvSpPr>
          <p:spPr>
            <a:xfrm>
              <a:off x="2771775" y="6093294"/>
              <a:ext cx="3053080" cy="422909"/>
            </a:xfrm>
            <a:custGeom>
              <a:avLst/>
              <a:gdLst/>
              <a:ahLst/>
              <a:cxnLst/>
              <a:rect l="l" t="t" r="r" b="b"/>
              <a:pathLst>
                <a:path w="3053079" h="422909">
                  <a:moveTo>
                    <a:pt x="2982595" y="0"/>
                  </a:moveTo>
                  <a:lnTo>
                    <a:pt x="70485" y="0"/>
                  </a:lnTo>
                  <a:lnTo>
                    <a:pt x="43076" y="5537"/>
                  </a:lnTo>
                  <a:lnTo>
                    <a:pt x="20669" y="20637"/>
                  </a:lnTo>
                  <a:lnTo>
                    <a:pt x="5548" y="43033"/>
                  </a:lnTo>
                  <a:lnTo>
                    <a:pt x="0" y="70459"/>
                  </a:lnTo>
                  <a:lnTo>
                    <a:pt x="0" y="352298"/>
                  </a:lnTo>
                  <a:lnTo>
                    <a:pt x="5548" y="379723"/>
                  </a:lnTo>
                  <a:lnTo>
                    <a:pt x="20669" y="402120"/>
                  </a:lnTo>
                  <a:lnTo>
                    <a:pt x="43076" y="417220"/>
                  </a:lnTo>
                  <a:lnTo>
                    <a:pt x="70485" y="422757"/>
                  </a:lnTo>
                  <a:lnTo>
                    <a:pt x="2982595" y="422757"/>
                  </a:lnTo>
                  <a:lnTo>
                    <a:pt x="3010056" y="417220"/>
                  </a:lnTo>
                  <a:lnTo>
                    <a:pt x="3032458" y="402120"/>
                  </a:lnTo>
                  <a:lnTo>
                    <a:pt x="3047549" y="379723"/>
                  </a:lnTo>
                  <a:lnTo>
                    <a:pt x="3053079" y="352298"/>
                  </a:lnTo>
                  <a:lnTo>
                    <a:pt x="3053079" y="70459"/>
                  </a:lnTo>
                  <a:lnTo>
                    <a:pt x="3047549" y="43033"/>
                  </a:lnTo>
                  <a:lnTo>
                    <a:pt x="3032458" y="20637"/>
                  </a:lnTo>
                  <a:lnTo>
                    <a:pt x="3010056" y="5537"/>
                  </a:lnTo>
                  <a:lnTo>
                    <a:pt x="2982595" y="0"/>
                  </a:lnTo>
                  <a:close/>
                </a:path>
              </a:pathLst>
            </a:custGeom>
            <a:solidFill>
              <a:srgbClr val="FBEB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771775" y="6093294"/>
              <a:ext cx="3053080" cy="422909"/>
            </a:xfrm>
            <a:custGeom>
              <a:avLst/>
              <a:gdLst/>
              <a:ahLst/>
              <a:cxnLst/>
              <a:rect l="l" t="t" r="r" b="b"/>
              <a:pathLst>
                <a:path w="3053079" h="422909">
                  <a:moveTo>
                    <a:pt x="0" y="70459"/>
                  </a:moveTo>
                  <a:lnTo>
                    <a:pt x="5548" y="43033"/>
                  </a:lnTo>
                  <a:lnTo>
                    <a:pt x="20669" y="20637"/>
                  </a:lnTo>
                  <a:lnTo>
                    <a:pt x="43076" y="5537"/>
                  </a:lnTo>
                  <a:lnTo>
                    <a:pt x="70485" y="0"/>
                  </a:lnTo>
                  <a:lnTo>
                    <a:pt x="2982595" y="0"/>
                  </a:lnTo>
                  <a:lnTo>
                    <a:pt x="3010056" y="5537"/>
                  </a:lnTo>
                  <a:lnTo>
                    <a:pt x="3032458" y="20637"/>
                  </a:lnTo>
                  <a:lnTo>
                    <a:pt x="3047549" y="43033"/>
                  </a:lnTo>
                  <a:lnTo>
                    <a:pt x="3053079" y="70459"/>
                  </a:lnTo>
                  <a:lnTo>
                    <a:pt x="3053079" y="352298"/>
                  </a:lnTo>
                  <a:lnTo>
                    <a:pt x="3047549" y="379723"/>
                  </a:lnTo>
                  <a:lnTo>
                    <a:pt x="3032458" y="402120"/>
                  </a:lnTo>
                  <a:lnTo>
                    <a:pt x="3010056" y="417220"/>
                  </a:lnTo>
                  <a:lnTo>
                    <a:pt x="2982595" y="422757"/>
                  </a:lnTo>
                  <a:lnTo>
                    <a:pt x="70485" y="422757"/>
                  </a:lnTo>
                  <a:lnTo>
                    <a:pt x="43076" y="417220"/>
                  </a:lnTo>
                  <a:lnTo>
                    <a:pt x="20669" y="402120"/>
                  </a:lnTo>
                  <a:lnTo>
                    <a:pt x="5548" y="379723"/>
                  </a:lnTo>
                  <a:lnTo>
                    <a:pt x="0" y="352298"/>
                  </a:lnTo>
                  <a:lnTo>
                    <a:pt x="0" y="70459"/>
                  </a:lnTo>
                  <a:close/>
                </a:path>
              </a:pathLst>
            </a:custGeom>
            <a:ln w="12700">
              <a:solidFill>
                <a:srgbClr val="126F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93369" y="5056123"/>
            <a:ext cx="7909559" cy="141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100"/>
              </a:spcBef>
              <a:tabLst>
                <a:tab pos="6681470" algn="l"/>
              </a:tabLst>
            </a:pPr>
            <a:r>
              <a:rPr sz="1800" i="1" spc="-20" dirty="0">
                <a:solidFill>
                  <a:srgbClr val="FF0000"/>
                </a:solidFill>
                <a:latin typeface="Arial"/>
                <a:cs typeface="Arial"/>
              </a:rPr>
              <a:t>Trong </a:t>
            </a:r>
            <a:r>
              <a:rPr sz="1800" i="1" dirty="0">
                <a:solidFill>
                  <a:srgbClr val="FF0000"/>
                </a:solidFill>
                <a:latin typeface="Arial"/>
                <a:cs typeface="Arial"/>
              </a:rPr>
              <a:t>tất</a:t>
            </a:r>
            <a:r>
              <a:rPr sz="1800" i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FF0000"/>
                </a:solidFill>
                <a:latin typeface="Arial"/>
                <a:cs typeface="Arial"/>
              </a:rPr>
              <a:t>cả</a:t>
            </a:r>
            <a:r>
              <a:rPr sz="1800" i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FF0000"/>
                </a:solidFill>
                <a:latin typeface="Arial"/>
                <a:cs typeface="Arial"/>
              </a:rPr>
              <a:t>các</a:t>
            </a:r>
            <a:r>
              <a:rPr sz="1800" i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FF0000"/>
                </a:solidFill>
                <a:latin typeface="Arial"/>
                <a:cs typeface="Arial"/>
              </a:rPr>
              <a:t>cơ</a:t>
            </a:r>
            <a:r>
              <a:rPr sz="1800" i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FF0000"/>
                </a:solidFill>
                <a:latin typeface="Arial"/>
                <a:cs typeface="Arial"/>
              </a:rPr>
              <a:t>cấu</a:t>
            </a:r>
            <a:r>
              <a:rPr sz="1800" i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FF0000"/>
                </a:solidFill>
                <a:latin typeface="Arial"/>
                <a:cs typeface="Arial"/>
              </a:rPr>
              <a:t>phẳng</a:t>
            </a:r>
            <a:r>
              <a:rPr sz="1800" i="1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FF0000"/>
                </a:solidFill>
                <a:latin typeface="Arial"/>
                <a:cs typeface="Arial"/>
              </a:rPr>
              <a:t>chỉ</a:t>
            </a:r>
            <a:r>
              <a:rPr sz="1800" i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FF0000"/>
                </a:solidFill>
                <a:latin typeface="Arial"/>
                <a:cs typeface="Arial"/>
              </a:rPr>
              <a:t>duy</a:t>
            </a:r>
            <a:r>
              <a:rPr sz="1800" i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FF0000"/>
                </a:solidFill>
                <a:latin typeface="Arial"/>
                <a:cs typeface="Arial"/>
              </a:rPr>
              <a:t>nhất cơ</a:t>
            </a:r>
            <a:r>
              <a:rPr sz="1800" i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FF0000"/>
                </a:solidFill>
                <a:latin typeface="Arial"/>
                <a:cs typeface="Arial"/>
              </a:rPr>
              <a:t>cấu</a:t>
            </a:r>
            <a:r>
              <a:rPr sz="1800" i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FF0000"/>
                </a:solidFill>
                <a:latin typeface="Arial"/>
                <a:cs typeface="Arial"/>
              </a:rPr>
              <a:t>nêm</a:t>
            </a:r>
            <a:r>
              <a:rPr sz="1800" i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FF0000"/>
                </a:solidFill>
                <a:latin typeface="Arial"/>
                <a:cs typeface="Arial"/>
              </a:rPr>
              <a:t>có</a:t>
            </a:r>
            <a:r>
              <a:rPr sz="1800" i="1" spc="-20" dirty="0">
                <a:solidFill>
                  <a:srgbClr val="FF0000"/>
                </a:solidFill>
                <a:latin typeface="Arial"/>
                <a:cs typeface="Arial"/>
              </a:rPr>
              <a:t> ràng</a:t>
            </a:r>
            <a:r>
              <a:rPr sz="1800" i="1" dirty="0">
                <a:solidFill>
                  <a:srgbClr val="FF0000"/>
                </a:solidFill>
                <a:latin typeface="Arial"/>
                <a:cs typeface="Arial"/>
              </a:rPr>
              <a:t>	buộc</a:t>
            </a:r>
            <a:r>
              <a:rPr sz="1800" i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spc="-10" dirty="0">
                <a:solidFill>
                  <a:srgbClr val="FF0000"/>
                </a:solidFill>
                <a:latin typeface="Arial"/>
                <a:cs typeface="Arial"/>
              </a:rPr>
              <a:t>trùng</a:t>
            </a:r>
            <a:endParaRPr sz="1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1810"/>
              </a:spcBef>
            </a:pPr>
            <a:r>
              <a:rPr sz="1800" dirty="0">
                <a:latin typeface="Arial"/>
                <a:cs typeface="Arial"/>
              </a:rPr>
              <a:t>Công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thức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tính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BTD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cơ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khi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có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thêm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ràng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buộc thừa,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ràng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buộc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trùng:</a:t>
            </a:r>
            <a:endParaRPr sz="1800">
              <a:latin typeface="Arial"/>
              <a:cs typeface="Arial"/>
            </a:endParaRPr>
          </a:p>
          <a:p>
            <a:pPr marR="360680" algn="ctr">
              <a:lnSpc>
                <a:spcPct val="100000"/>
              </a:lnSpc>
              <a:spcBef>
                <a:spcPts val="1650"/>
              </a:spcBef>
            </a:pPr>
            <a:r>
              <a:rPr sz="2100" dirty="0">
                <a:latin typeface="Cambria Math"/>
                <a:cs typeface="Cambria Math"/>
              </a:rPr>
              <a:t>W</a:t>
            </a:r>
            <a:r>
              <a:rPr sz="2100" spc="10" dirty="0">
                <a:latin typeface="Cambria Math"/>
                <a:cs typeface="Cambria Math"/>
              </a:rPr>
              <a:t> </a:t>
            </a:r>
            <a:r>
              <a:rPr sz="2000" dirty="0">
                <a:latin typeface="Symbol"/>
                <a:cs typeface="Symbol"/>
              </a:rPr>
              <a:t>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30" dirty="0">
                <a:latin typeface="Times New Roman"/>
                <a:cs typeface="Times New Roman"/>
              </a:rPr>
              <a:t>3</a:t>
            </a:r>
            <a:r>
              <a:rPr sz="2100" spc="-130" dirty="0">
                <a:latin typeface="Cambria Math"/>
                <a:cs typeface="Cambria Math"/>
              </a:rPr>
              <a:t>n</a:t>
            </a:r>
            <a:r>
              <a:rPr sz="2000" spc="-130" dirty="0">
                <a:latin typeface="Symbol"/>
                <a:cs typeface="Symbol"/>
              </a:rPr>
              <a:t></a:t>
            </a:r>
            <a:r>
              <a:rPr sz="2000" spc="-210" dirty="0">
                <a:latin typeface="Times New Roman"/>
                <a:cs typeface="Times New Roman"/>
              </a:rPr>
              <a:t> </a:t>
            </a:r>
            <a:r>
              <a:rPr sz="3900" spc="-307" baseline="-3205" dirty="0">
                <a:latin typeface="Symbol"/>
                <a:cs typeface="Symbol"/>
              </a:rPr>
              <a:t></a:t>
            </a:r>
            <a:r>
              <a:rPr sz="2000" spc="-204" dirty="0">
                <a:latin typeface="Times New Roman"/>
                <a:cs typeface="Times New Roman"/>
              </a:rPr>
              <a:t>2</a:t>
            </a:r>
            <a:r>
              <a:rPr sz="2100" spc="-204" dirty="0">
                <a:latin typeface="Cambria Math"/>
                <a:cs typeface="Cambria Math"/>
              </a:rPr>
              <a:t>T</a:t>
            </a:r>
            <a:r>
              <a:rPr sz="2100" spc="-185" dirty="0">
                <a:latin typeface="Cambria Math"/>
                <a:cs typeface="Cambria Math"/>
              </a:rPr>
              <a:t> </a:t>
            </a:r>
            <a:r>
              <a:rPr sz="2000" spc="-145" dirty="0">
                <a:latin typeface="Symbol"/>
                <a:cs typeface="Symbol"/>
              </a:rPr>
              <a:t></a:t>
            </a:r>
            <a:r>
              <a:rPr sz="2100" spc="-145" dirty="0">
                <a:latin typeface="Cambria Math"/>
                <a:cs typeface="Cambria Math"/>
              </a:rPr>
              <a:t>C</a:t>
            </a:r>
            <a:r>
              <a:rPr sz="2000" spc="-145" dirty="0">
                <a:latin typeface="Symbol"/>
                <a:cs typeface="Symbol"/>
              </a:rPr>
              <a:t></a:t>
            </a:r>
            <a:r>
              <a:rPr sz="2100" spc="-145" dirty="0">
                <a:latin typeface="Cambria Math"/>
                <a:cs typeface="Cambria Math"/>
              </a:rPr>
              <a:t>R</a:t>
            </a:r>
            <a:r>
              <a:rPr sz="1800" spc="-217" baseline="-23148" dirty="0">
                <a:latin typeface="Cambria Math"/>
                <a:cs typeface="Cambria Math"/>
              </a:rPr>
              <a:t>th</a:t>
            </a:r>
            <a:r>
              <a:rPr sz="1800" spc="142" baseline="-23148" dirty="0">
                <a:latin typeface="Cambria Math"/>
                <a:cs typeface="Cambria Math"/>
              </a:rPr>
              <a:t> </a:t>
            </a:r>
            <a:r>
              <a:rPr sz="2000" spc="-254" dirty="0">
                <a:latin typeface="Symbol"/>
                <a:cs typeface="Symbol"/>
              </a:rPr>
              <a:t></a:t>
            </a:r>
            <a:r>
              <a:rPr sz="2100" spc="-254" dirty="0">
                <a:latin typeface="Cambria Math"/>
                <a:cs typeface="Cambria Math"/>
              </a:rPr>
              <a:t>R</a:t>
            </a:r>
            <a:r>
              <a:rPr sz="1800" spc="-382" baseline="-23148" dirty="0">
                <a:latin typeface="Cambria Math"/>
                <a:cs typeface="Cambria Math"/>
              </a:rPr>
              <a:t>tr</a:t>
            </a:r>
            <a:r>
              <a:rPr sz="1800" spc="22" baseline="-23148" dirty="0">
                <a:latin typeface="Cambria Math"/>
                <a:cs typeface="Cambria Math"/>
              </a:rPr>
              <a:t> </a:t>
            </a:r>
            <a:r>
              <a:rPr sz="3900" spc="-75" baseline="-3205" dirty="0">
                <a:latin typeface="Symbol"/>
                <a:cs typeface="Symbol"/>
              </a:rPr>
              <a:t></a:t>
            </a:r>
            <a:endParaRPr sz="3900" baseline="-3205">
              <a:latin typeface="Symbol"/>
              <a:cs typeface="Symbo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728329" y="120522"/>
            <a:ext cx="297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1.20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17728" y="120522"/>
            <a:ext cx="314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NHH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4425" y="237997"/>
            <a:ext cx="1276350" cy="363855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539621" y="118110"/>
            <a:ext cx="60655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solidFill>
                  <a:srgbClr val="0D4D3B"/>
                </a:solidFill>
                <a:latin typeface="Times New Roman"/>
                <a:cs typeface="Times New Roman"/>
              </a:rPr>
              <a:t>CHƯƠNG</a:t>
            </a:r>
            <a:r>
              <a:rPr sz="2200" b="1" spc="-30" dirty="0">
                <a:solidFill>
                  <a:srgbClr val="0D4D3B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D4D3B"/>
                </a:solidFill>
                <a:latin typeface="Times New Roman"/>
                <a:cs typeface="Times New Roman"/>
              </a:rPr>
              <a:t>1</a:t>
            </a:r>
            <a:r>
              <a:rPr sz="2200" b="1" spc="-45" dirty="0">
                <a:solidFill>
                  <a:srgbClr val="0D4D3B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D4D3B"/>
                </a:solidFill>
                <a:latin typeface="Times New Roman"/>
                <a:cs typeface="Times New Roman"/>
              </a:rPr>
              <a:t>–</a:t>
            </a:r>
            <a:r>
              <a:rPr sz="2200" b="1" spc="-50" dirty="0">
                <a:solidFill>
                  <a:srgbClr val="0D4D3B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D4D3B"/>
                </a:solidFill>
                <a:latin typeface="Times New Roman"/>
                <a:cs typeface="Times New Roman"/>
              </a:rPr>
              <a:t>PHÂN</a:t>
            </a:r>
            <a:r>
              <a:rPr sz="2200" b="1" spc="-40" dirty="0">
                <a:solidFill>
                  <a:srgbClr val="0D4D3B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D4D3B"/>
                </a:solidFill>
                <a:latin typeface="Times New Roman"/>
                <a:cs typeface="Times New Roman"/>
              </a:rPr>
              <a:t>TÍCH</a:t>
            </a:r>
            <a:r>
              <a:rPr sz="2200" b="1" spc="-45" dirty="0">
                <a:solidFill>
                  <a:srgbClr val="0D4D3B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D4D3B"/>
                </a:solidFill>
                <a:latin typeface="Times New Roman"/>
                <a:cs typeface="Times New Roman"/>
              </a:rPr>
              <a:t>CẤU</a:t>
            </a:r>
            <a:r>
              <a:rPr sz="2200" b="1" spc="-55" dirty="0">
                <a:solidFill>
                  <a:srgbClr val="0D4D3B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D4D3B"/>
                </a:solidFill>
                <a:latin typeface="Times New Roman"/>
                <a:cs typeface="Times New Roman"/>
              </a:rPr>
              <a:t>TRÚC</a:t>
            </a:r>
            <a:r>
              <a:rPr sz="2200" b="1" spc="-45" dirty="0">
                <a:solidFill>
                  <a:srgbClr val="0D4D3B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D4D3B"/>
                </a:solidFill>
                <a:latin typeface="Times New Roman"/>
                <a:cs typeface="Times New Roman"/>
              </a:rPr>
              <a:t>CƠ</a:t>
            </a:r>
            <a:r>
              <a:rPr sz="2200" b="1" spc="-45" dirty="0">
                <a:solidFill>
                  <a:srgbClr val="0D4D3B"/>
                </a:solidFill>
                <a:latin typeface="Times New Roman"/>
                <a:cs typeface="Times New Roman"/>
              </a:rPr>
              <a:t> </a:t>
            </a:r>
            <a:r>
              <a:rPr sz="2200" b="1" spc="-25" dirty="0">
                <a:solidFill>
                  <a:srgbClr val="0D4D3B"/>
                </a:solidFill>
                <a:latin typeface="Times New Roman"/>
                <a:cs typeface="Times New Roman"/>
              </a:rPr>
              <a:t>CẤU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0200" y="448436"/>
            <a:ext cx="3843654" cy="805815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455295" lvl="1" indent="-442595">
              <a:lnSpc>
                <a:spcPct val="100000"/>
              </a:lnSpc>
              <a:spcBef>
                <a:spcPts val="1010"/>
              </a:spcBef>
              <a:buAutoNum type="arabicPeriod" startAt="3"/>
              <a:tabLst>
                <a:tab pos="455295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Cơ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cấu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phẳng</a:t>
            </a:r>
            <a:endParaRPr sz="1800">
              <a:latin typeface="Arial"/>
              <a:cs typeface="Arial"/>
            </a:endParaRPr>
          </a:p>
          <a:p>
            <a:pPr marL="645160" lvl="2" indent="-632460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645160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Tính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số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bậc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tự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do</a:t>
            </a:r>
            <a:r>
              <a:rPr sz="18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của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cơ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cấu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473455"/>
            <a:ext cx="9144000" cy="549275"/>
            <a:chOff x="0" y="473455"/>
            <a:chExt cx="9144000" cy="549275"/>
          </a:xfrm>
        </p:grpSpPr>
        <p:sp>
          <p:nvSpPr>
            <p:cNvPr id="6" name="object 6"/>
            <p:cNvSpPr/>
            <p:nvPr/>
          </p:nvSpPr>
          <p:spPr>
            <a:xfrm>
              <a:off x="0" y="47663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6350">
              <a:solidFill>
                <a:srgbClr val="1D9A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94680" y="646937"/>
              <a:ext cx="2105660" cy="369570"/>
            </a:xfrm>
            <a:custGeom>
              <a:avLst/>
              <a:gdLst/>
              <a:ahLst/>
              <a:cxnLst/>
              <a:rect l="l" t="t" r="r" b="b"/>
              <a:pathLst>
                <a:path w="2105659" h="369569">
                  <a:moveTo>
                    <a:pt x="2043811" y="0"/>
                  </a:moveTo>
                  <a:lnTo>
                    <a:pt x="61468" y="0"/>
                  </a:lnTo>
                  <a:lnTo>
                    <a:pt x="37558" y="4837"/>
                  </a:lnTo>
                  <a:lnTo>
                    <a:pt x="18018" y="18034"/>
                  </a:lnTo>
                  <a:lnTo>
                    <a:pt x="4835" y="37611"/>
                  </a:lnTo>
                  <a:lnTo>
                    <a:pt x="0" y="61595"/>
                  </a:lnTo>
                  <a:lnTo>
                    <a:pt x="0" y="307721"/>
                  </a:lnTo>
                  <a:lnTo>
                    <a:pt x="4835" y="331704"/>
                  </a:lnTo>
                  <a:lnTo>
                    <a:pt x="18018" y="351281"/>
                  </a:lnTo>
                  <a:lnTo>
                    <a:pt x="37558" y="364478"/>
                  </a:lnTo>
                  <a:lnTo>
                    <a:pt x="61468" y="369315"/>
                  </a:lnTo>
                  <a:lnTo>
                    <a:pt x="2043811" y="369315"/>
                  </a:lnTo>
                  <a:lnTo>
                    <a:pt x="2067794" y="364478"/>
                  </a:lnTo>
                  <a:lnTo>
                    <a:pt x="2087372" y="351282"/>
                  </a:lnTo>
                  <a:lnTo>
                    <a:pt x="2100568" y="331704"/>
                  </a:lnTo>
                  <a:lnTo>
                    <a:pt x="2105405" y="307721"/>
                  </a:lnTo>
                  <a:lnTo>
                    <a:pt x="2105405" y="61595"/>
                  </a:lnTo>
                  <a:lnTo>
                    <a:pt x="2100568" y="37611"/>
                  </a:lnTo>
                  <a:lnTo>
                    <a:pt x="2087372" y="18034"/>
                  </a:lnTo>
                  <a:lnTo>
                    <a:pt x="2067794" y="4837"/>
                  </a:lnTo>
                  <a:lnTo>
                    <a:pt x="2043811" y="0"/>
                  </a:lnTo>
                  <a:close/>
                </a:path>
              </a:pathLst>
            </a:custGeom>
            <a:solidFill>
              <a:srgbClr val="FBEB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194680" y="646937"/>
              <a:ext cx="2105660" cy="369570"/>
            </a:xfrm>
            <a:custGeom>
              <a:avLst/>
              <a:gdLst/>
              <a:ahLst/>
              <a:cxnLst/>
              <a:rect l="l" t="t" r="r" b="b"/>
              <a:pathLst>
                <a:path w="2105659" h="369569">
                  <a:moveTo>
                    <a:pt x="0" y="61595"/>
                  </a:moveTo>
                  <a:lnTo>
                    <a:pt x="4835" y="37611"/>
                  </a:lnTo>
                  <a:lnTo>
                    <a:pt x="18018" y="18034"/>
                  </a:lnTo>
                  <a:lnTo>
                    <a:pt x="37558" y="4837"/>
                  </a:lnTo>
                  <a:lnTo>
                    <a:pt x="61468" y="0"/>
                  </a:lnTo>
                  <a:lnTo>
                    <a:pt x="2043811" y="0"/>
                  </a:lnTo>
                  <a:lnTo>
                    <a:pt x="2067794" y="4837"/>
                  </a:lnTo>
                  <a:lnTo>
                    <a:pt x="2087372" y="18034"/>
                  </a:lnTo>
                  <a:lnTo>
                    <a:pt x="2100568" y="37611"/>
                  </a:lnTo>
                  <a:lnTo>
                    <a:pt x="2105405" y="61595"/>
                  </a:lnTo>
                  <a:lnTo>
                    <a:pt x="2105405" y="307721"/>
                  </a:lnTo>
                  <a:lnTo>
                    <a:pt x="2100568" y="331704"/>
                  </a:lnTo>
                  <a:lnTo>
                    <a:pt x="2087372" y="351282"/>
                  </a:lnTo>
                  <a:lnTo>
                    <a:pt x="2067794" y="364478"/>
                  </a:lnTo>
                  <a:lnTo>
                    <a:pt x="2043811" y="369315"/>
                  </a:lnTo>
                  <a:lnTo>
                    <a:pt x="61468" y="369315"/>
                  </a:lnTo>
                  <a:lnTo>
                    <a:pt x="37558" y="364478"/>
                  </a:lnTo>
                  <a:lnTo>
                    <a:pt x="18018" y="351281"/>
                  </a:lnTo>
                  <a:lnTo>
                    <a:pt x="4835" y="331704"/>
                  </a:lnTo>
                  <a:lnTo>
                    <a:pt x="0" y="307721"/>
                  </a:lnTo>
                  <a:lnTo>
                    <a:pt x="0" y="61595"/>
                  </a:lnTo>
                  <a:close/>
                </a:path>
              </a:pathLst>
            </a:custGeom>
            <a:ln w="12700">
              <a:solidFill>
                <a:srgbClr val="126F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04800" y="1268377"/>
            <a:ext cx="6536690" cy="263842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24485" indent="-286385">
              <a:lnSpc>
                <a:spcPct val="100000"/>
              </a:lnSpc>
              <a:spcBef>
                <a:spcPts val="780"/>
              </a:spcBef>
              <a:buClr>
                <a:srgbClr val="1D9A78"/>
              </a:buClr>
              <a:buFont typeface="Wingdings"/>
              <a:buChar char=""/>
              <a:tabLst>
                <a:tab pos="324485" algn="l"/>
              </a:tabLst>
            </a:pPr>
            <a:r>
              <a:rPr sz="2700" b="1" baseline="3086" dirty="0">
                <a:latin typeface="Arial"/>
                <a:cs typeface="Arial"/>
              </a:rPr>
              <a:t>BTD</a:t>
            </a:r>
            <a:r>
              <a:rPr sz="2700" b="1" spc="-30" baseline="3086" dirty="0">
                <a:latin typeface="Arial"/>
                <a:cs typeface="Arial"/>
              </a:rPr>
              <a:t> </a:t>
            </a:r>
            <a:r>
              <a:rPr sz="2700" b="1" spc="-15" baseline="3086" dirty="0">
                <a:latin typeface="Arial"/>
                <a:cs typeface="Arial"/>
              </a:rPr>
              <a:t>thừa</a:t>
            </a:r>
            <a:r>
              <a:rPr sz="2700" b="1" spc="-292" baseline="3086" dirty="0">
                <a:latin typeface="Arial"/>
                <a:cs typeface="Arial"/>
              </a:rPr>
              <a:t> </a:t>
            </a:r>
            <a:r>
              <a:rPr sz="2100" spc="-690" dirty="0">
                <a:latin typeface="Cambria Math"/>
                <a:cs typeface="Cambria Math"/>
              </a:rPr>
              <a:t>W</a:t>
            </a:r>
            <a:r>
              <a:rPr sz="1800" spc="-644" baseline="-23148" dirty="0">
                <a:latin typeface="Cambria Math"/>
                <a:cs typeface="Cambria Math"/>
              </a:rPr>
              <a:t>t</a:t>
            </a:r>
            <a:r>
              <a:rPr sz="1800" spc="-254" baseline="-23148" dirty="0">
                <a:latin typeface="Cambria Math"/>
                <a:cs typeface="Cambria Math"/>
              </a:rPr>
              <a:t>h</a:t>
            </a:r>
            <a:r>
              <a:rPr sz="2700" spc="-52" baseline="3086" dirty="0">
                <a:latin typeface="Arial"/>
                <a:cs typeface="Arial"/>
              </a:rPr>
              <a:t>:</a:t>
            </a:r>
            <a:r>
              <a:rPr sz="2700" spc="-7" baseline="3086" dirty="0">
                <a:latin typeface="Arial"/>
                <a:cs typeface="Arial"/>
              </a:rPr>
              <a:t> </a:t>
            </a:r>
            <a:r>
              <a:rPr sz="2700" baseline="3086" dirty="0">
                <a:solidFill>
                  <a:srgbClr val="0D4D3B"/>
                </a:solidFill>
                <a:latin typeface="Arial"/>
                <a:cs typeface="Arial"/>
              </a:rPr>
              <a:t>Xét</a:t>
            </a:r>
            <a:r>
              <a:rPr sz="2700" spc="7" baseline="3086" dirty="0">
                <a:solidFill>
                  <a:srgbClr val="0D4D3B"/>
                </a:solidFill>
                <a:latin typeface="Arial"/>
                <a:cs typeface="Arial"/>
              </a:rPr>
              <a:t> </a:t>
            </a:r>
            <a:r>
              <a:rPr sz="2700" baseline="3086" dirty="0">
                <a:solidFill>
                  <a:srgbClr val="0D4D3B"/>
                </a:solidFill>
                <a:latin typeface="Arial"/>
                <a:cs typeface="Arial"/>
              </a:rPr>
              <a:t>cơ</a:t>
            </a:r>
            <a:r>
              <a:rPr sz="2700" spc="-15" baseline="3086" dirty="0">
                <a:solidFill>
                  <a:srgbClr val="0D4D3B"/>
                </a:solidFill>
                <a:latin typeface="Arial"/>
                <a:cs typeface="Arial"/>
              </a:rPr>
              <a:t> </a:t>
            </a:r>
            <a:r>
              <a:rPr sz="2700" baseline="3086" dirty="0">
                <a:solidFill>
                  <a:srgbClr val="0D4D3B"/>
                </a:solidFill>
                <a:latin typeface="Arial"/>
                <a:cs typeface="Arial"/>
              </a:rPr>
              <a:t>cấu</a:t>
            </a:r>
            <a:r>
              <a:rPr sz="2700" spc="-7" baseline="3086" dirty="0">
                <a:solidFill>
                  <a:srgbClr val="0D4D3B"/>
                </a:solidFill>
                <a:latin typeface="Arial"/>
                <a:cs typeface="Arial"/>
              </a:rPr>
              <a:t> </a:t>
            </a:r>
            <a:r>
              <a:rPr sz="2700" spc="-37" baseline="3086" dirty="0">
                <a:solidFill>
                  <a:srgbClr val="0D4D3B"/>
                </a:solidFill>
                <a:latin typeface="Arial"/>
                <a:cs typeface="Arial"/>
              </a:rPr>
              <a:t>cam</a:t>
            </a:r>
            <a:endParaRPr sz="2700" baseline="3086">
              <a:latin typeface="Arial"/>
              <a:cs typeface="Arial"/>
            </a:endParaRPr>
          </a:p>
          <a:p>
            <a:pPr marL="612140" lvl="1" indent="-285750">
              <a:lnSpc>
                <a:spcPct val="100000"/>
              </a:lnSpc>
              <a:spcBef>
                <a:spcPts val="685"/>
              </a:spcBef>
              <a:buFont typeface="Wingdings"/>
              <a:buChar char=""/>
              <a:tabLst>
                <a:tab pos="612140" algn="l"/>
              </a:tabLst>
            </a:pPr>
            <a:r>
              <a:rPr sz="1800" dirty="0">
                <a:latin typeface="Arial"/>
                <a:cs typeface="Arial"/>
              </a:rPr>
              <a:t>Số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BTD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cơ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cấu:</a:t>
            </a:r>
            <a:r>
              <a:rPr sz="1800" spc="325" dirty="0">
                <a:latin typeface="Arial"/>
                <a:cs typeface="Arial"/>
              </a:rPr>
              <a:t> </a:t>
            </a:r>
            <a:r>
              <a:rPr sz="3150" baseline="-2645" dirty="0">
                <a:latin typeface="Cambria Math"/>
                <a:cs typeface="Cambria Math"/>
              </a:rPr>
              <a:t>W</a:t>
            </a:r>
            <a:r>
              <a:rPr sz="3150" spc="22" baseline="-2645" dirty="0">
                <a:latin typeface="Cambria Math"/>
                <a:cs typeface="Cambria Math"/>
              </a:rPr>
              <a:t> </a:t>
            </a:r>
            <a:r>
              <a:rPr sz="3000" baseline="-2777" dirty="0">
                <a:latin typeface="Symbol"/>
                <a:cs typeface="Symbol"/>
              </a:rPr>
              <a:t></a:t>
            </a:r>
            <a:r>
              <a:rPr sz="3000" spc="-104" baseline="-2777" dirty="0">
                <a:latin typeface="Times New Roman"/>
                <a:cs typeface="Times New Roman"/>
              </a:rPr>
              <a:t> </a:t>
            </a:r>
            <a:r>
              <a:rPr sz="3000" spc="112" baseline="-2777" dirty="0">
                <a:latin typeface="Times New Roman"/>
                <a:cs typeface="Times New Roman"/>
              </a:rPr>
              <a:t>3</a:t>
            </a:r>
            <a:r>
              <a:rPr sz="3000" spc="112" baseline="-2777" dirty="0">
                <a:latin typeface="Symbol"/>
                <a:cs typeface="Symbol"/>
              </a:rPr>
              <a:t></a:t>
            </a:r>
            <a:r>
              <a:rPr sz="3000" spc="-450" baseline="-2777" dirty="0">
                <a:latin typeface="Times New Roman"/>
                <a:cs typeface="Times New Roman"/>
              </a:rPr>
              <a:t> </a:t>
            </a:r>
            <a:r>
              <a:rPr sz="3000" spc="-15" baseline="-2777" dirty="0">
                <a:latin typeface="Times New Roman"/>
                <a:cs typeface="Times New Roman"/>
              </a:rPr>
              <a:t>3</a:t>
            </a:r>
            <a:r>
              <a:rPr sz="3000" spc="-367" baseline="-2777" dirty="0">
                <a:latin typeface="Times New Roman"/>
                <a:cs typeface="Times New Roman"/>
              </a:rPr>
              <a:t> </a:t>
            </a:r>
            <a:r>
              <a:rPr sz="3000" spc="-30" baseline="-2777" dirty="0">
                <a:latin typeface="Symbol"/>
                <a:cs typeface="Symbol"/>
              </a:rPr>
              <a:t></a:t>
            </a:r>
            <a:r>
              <a:rPr sz="3000" spc="-217" baseline="-2777" dirty="0">
                <a:latin typeface="Times New Roman"/>
                <a:cs typeface="Times New Roman"/>
              </a:rPr>
              <a:t> </a:t>
            </a:r>
            <a:r>
              <a:rPr sz="3000" spc="-15" baseline="-2777" dirty="0">
                <a:latin typeface="Times New Roman"/>
                <a:cs typeface="Times New Roman"/>
              </a:rPr>
              <a:t>2</a:t>
            </a:r>
            <a:r>
              <a:rPr sz="3000" spc="-412" baseline="-2777" dirty="0">
                <a:latin typeface="Times New Roman"/>
                <a:cs typeface="Times New Roman"/>
              </a:rPr>
              <a:t> </a:t>
            </a:r>
            <a:r>
              <a:rPr sz="3000" spc="-15" baseline="-2777" dirty="0">
                <a:latin typeface="Symbol"/>
                <a:cs typeface="Symbol"/>
              </a:rPr>
              <a:t></a:t>
            </a:r>
            <a:r>
              <a:rPr sz="3000" spc="-450" baseline="-2777" dirty="0">
                <a:latin typeface="Times New Roman"/>
                <a:cs typeface="Times New Roman"/>
              </a:rPr>
              <a:t> </a:t>
            </a:r>
            <a:r>
              <a:rPr sz="3000" spc="-15" baseline="-2777" dirty="0">
                <a:latin typeface="Times New Roman"/>
                <a:cs typeface="Times New Roman"/>
              </a:rPr>
              <a:t>3</a:t>
            </a:r>
            <a:r>
              <a:rPr sz="3000" spc="-367" baseline="-2777" dirty="0">
                <a:latin typeface="Times New Roman"/>
                <a:cs typeface="Times New Roman"/>
              </a:rPr>
              <a:t> </a:t>
            </a:r>
            <a:r>
              <a:rPr sz="3000" spc="82" baseline="-2777" dirty="0">
                <a:latin typeface="Symbol"/>
                <a:cs typeface="Symbol"/>
              </a:rPr>
              <a:t></a:t>
            </a:r>
            <a:r>
              <a:rPr sz="3000" spc="82" baseline="-2777" dirty="0">
                <a:latin typeface="Times New Roman"/>
                <a:cs typeface="Times New Roman"/>
              </a:rPr>
              <a:t>1</a:t>
            </a:r>
            <a:r>
              <a:rPr sz="3000" spc="-284" baseline="-2777" dirty="0">
                <a:latin typeface="Times New Roman"/>
                <a:cs typeface="Times New Roman"/>
              </a:rPr>
              <a:t> </a:t>
            </a:r>
            <a:r>
              <a:rPr sz="3000" baseline="-2777" dirty="0">
                <a:latin typeface="Symbol"/>
                <a:cs typeface="Symbol"/>
              </a:rPr>
              <a:t></a:t>
            </a:r>
            <a:r>
              <a:rPr sz="3000" spc="-7" baseline="-2777" dirty="0">
                <a:latin typeface="Times New Roman"/>
                <a:cs typeface="Times New Roman"/>
              </a:rPr>
              <a:t> </a:t>
            </a:r>
            <a:r>
              <a:rPr sz="3000" spc="-75" baseline="-2777" dirty="0">
                <a:latin typeface="Times New Roman"/>
                <a:cs typeface="Times New Roman"/>
              </a:rPr>
              <a:t>2</a:t>
            </a:r>
            <a:endParaRPr sz="3000" baseline="-2777">
              <a:latin typeface="Times New Roman"/>
              <a:cs typeface="Times New Roman"/>
            </a:endParaRPr>
          </a:p>
          <a:p>
            <a:pPr marL="612775" marR="43180" lvl="1" indent="-287020" algn="just">
              <a:lnSpc>
                <a:spcPct val="150000"/>
              </a:lnSpc>
              <a:spcBef>
                <a:spcPts val="785"/>
              </a:spcBef>
              <a:buFont typeface="Wingdings"/>
              <a:buChar char=""/>
              <a:tabLst>
                <a:tab pos="612775" algn="l"/>
              </a:tabLst>
            </a:pPr>
            <a:r>
              <a:rPr sz="1800" dirty="0">
                <a:latin typeface="Arial"/>
                <a:cs typeface="Arial"/>
              </a:rPr>
              <a:t>Số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BTD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thực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tế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1.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Vì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khi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cố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định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chuyển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động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quay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của </a:t>
            </a:r>
            <a:r>
              <a:rPr sz="1800" dirty="0">
                <a:latin typeface="Arial"/>
                <a:cs typeface="Arial"/>
              </a:rPr>
              <a:t>con</a:t>
            </a:r>
            <a:r>
              <a:rPr sz="1800" spc="4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lăn</a:t>
            </a:r>
            <a:r>
              <a:rPr sz="1800" spc="4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(loại</a:t>
            </a:r>
            <a:r>
              <a:rPr sz="1800" spc="4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bỏ</a:t>
            </a:r>
            <a:r>
              <a:rPr sz="1800" spc="4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spc="4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BTD</a:t>
            </a:r>
            <a:r>
              <a:rPr sz="1800" spc="4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thừa</a:t>
            </a:r>
            <a:r>
              <a:rPr sz="1800" spc="4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4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</a:t>
            </a:r>
            <a:r>
              <a:rPr sz="1800" spc="4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lăn)</a:t>
            </a:r>
            <a:r>
              <a:rPr sz="1800" spc="4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không</a:t>
            </a:r>
            <a:r>
              <a:rPr sz="1800" spc="434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ảnh </a:t>
            </a:r>
            <a:r>
              <a:rPr sz="1800" dirty="0">
                <a:latin typeface="Arial"/>
                <a:cs typeface="Arial"/>
              </a:rPr>
              <a:t>hưởng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đến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hoạt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động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cơ</a:t>
            </a:r>
            <a:r>
              <a:rPr sz="1800" spc="-20" dirty="0">
                <a:latin typeface="Arial"/>
                <a:cs typeface="Arial"/>
              </a:rPr>
              <a:t> cấu.</a:t>
            </a:r>
            <a:endParaRPr sz="1800">
              <a:latin typeface="Arial"/>
              <a:cs typeface="Arial"/>
            </a:endParaRPr>
          </a:p>
          <a:p>
            <a:pPr marL="274320" algn="just">
              <a:lnSpc>
                <a:spcPct val="100000"/>
              </a:lnSpc>
              <a:spcBef>
                <a:spcPts val="1500"/>
              </a:spcBef>
            </a:pPr>
            <a:r>
              <a:rPr sz="1800" dirty="0">
                <a:latin typeface="Arial"/>
                <a:cs typeface="Arial"/>
              </a:rPr>
              <a:t>→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BTD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thực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tế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cơ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cấu: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029207" y="4317238"/>
            <a:ext cx="1934210" cy="2431415"/>
            <a:chOff x="6029207" y="4317238"/>
            <a:chExt cx="1934210" cy="2431415"/>
          </a:xfrm>
        </p:grpSpPr>
        <p:sp>
          <p:nvSpPr>
            <p:cNvPr id="11" name="object 11"/>
            <p:cNvSpPr/>
            <p:nvPr/>
          </p:nvSpPr>
          <p:spPr>
            <a:xfrm>
              <a:off x="6038732" y="5590209"/>
              <a:ext cx="1374775" cy="1149350"/>
            </a:xfrm>
            <a:custGeom>
              <a:avLst/>
              <a:gdLst/>
              <a:ahLst/>
              <a:cxnLst/>
              <a:rect l="l" t="t" r="r" b="b"/>
              <a:pathLst>
                <a:path w="1374775" h="1149350">
                  <a:moveTo>
                    <a:pt x="804535" y="0"/>
                  </a:moveTo>
                  <a:lnTo>
                    <a:pt x="757502" y="2056"/>
                  </a:lnTo>
                  <a:lnTo>
                    <a:pt x="710518" y="8933"/>
                  </a:lnTo>
                  <a:lnTo>
                    <a:pt x="663479" y="19544"/>
                  </a:lnTo>
                  <a:lnTo>
                    <a:pt x="616282" y="32803"/>
                  </a:lnTo>
                  <a:lnTo>
                    <a:pt x="568823" y="47625"/>
                  </a:lnTo>
                  <a:lnTo>
                    <a:pt x="520118" y="65494"/>
                  </a:lnTo>
                  <a:lnTo>
                    <a:pt x="470236" y="87135"/>
                  </a:lnTo>
                  <a:lnTo>
                    <a:pt x="372844" y="132817"/>
                  </a:lnTo>
                  <a:lnTo>
                    <a:pt x="328285" y="152400"/>
                  </a:lnTo>
                  <a:lnTo>
                    <a:pt x="276433" y="171559"/>
                  </a:lnTo>
                  <a:lnTo>
                    <a:pt x="227701" y="187520"/>
                  </a:lnTo>
                  <a:lnTo>
                    <a:pt x="183445" y="203183"/>
                  </a:lnTo>
                  <a:lnTo>
                    <a:pt x="145024" y="221449"/>
                  </a:lnTo>
                  <a:lnTo>
                    <a:pt x="113333" y="243085"/>
                  </a:lnTo>
                  <a:lnTo>
                    <a:pt x="66049" y="291271"/>
                  </a:lnTo>
                  <a:lnTo>
                    <a:pt x="30831" y="341742"/>
                  </a:lnTo>
                  <a:lnTo>
                    <a:pt x="7677" y="394500"/>
                  </a:lnTo>
                  <a:lnTo>
                    <a:pt x="0" y="464449"/>
                  </a:lnTo>
                  <a:lnTo>
                    <a:pt x="1339" y="507499"/>
                  </a:lnTo>
                  <a:lnTo>
                    <a:pt x="7846" y="551590"/>
                  </a:lnTo>
                  <a:lnTo>
                    <a:pt x="21199" y="592924"/>
                  </a:lnTo>
                  <a:lnTo>
                    <a:pt x="43578" y="630656"/>
                  </a:lnTo>
                  <a:lnTo>
                    <a:pt x="73554" y="666748"/>
                  </a:lnTo>
                  <a:lnTo>
                    <a:pt x="172017" y="768564"/>
                  </a:lnTo>
                  <a:lnTo>
                    <a:pt x="204634" y="799950"/>
                  </a:lnTo>
                  <a:lnTo>
                    <a:pt x="273548" y="864387"/>
                  </a:lnTo>
                  <a:lnTo>
                    <a:pt x="309560" y="900257"/>
                  </a:lnTo>
                  <a:lnTo>
                    <a:pt x="346477" y="937914"/>
                  </a:lnTo>
                  <a:lnTo>
                    <a:pt x="385633" y="975122"/>
                  </a:lnTo>
                  <a:lnTo>
                    <a:pt x="428361" y="1009650"/>
                  </a:lnTo>
                  <a:lnTo>
                    <a:pt x="465965" y="1035937"/>
                  </a:lnTo>
                  <a:lnTo>
                    <a:pt x="506202" y="1061939"/>
                  </a:lnTo>
                  <a:lnTo>
                    <a:pt x="548110" y="1086227"/>
                  </a:lnTo>
                  <a:lnTo>
                    <a:pt x="590726" y="1107373"/>
                  </a:lnTo>
                  <a:lnTo>
                    <a:pt x="633085" y="1123950"/>
                  </a:lnTo>
                  <a:lnTo>
                    <a:pt x="686887" y="1137882"/>
                  </a:lnTo>
                  <a:lnTo>
                    <a:pt x="742035" y="1145825"/>
                  </a:lnTo>
                  <a:lnTo>
                    <a:pt x="796301" y="1148782"/>
                  </a:lnTo>
                  <a:lnTo>
                    <a:pt x="847461" y="1147758"/>
                  </a:lnTo>
                  <a:lnTo>
                    <a:pt x="894951" y="1142307"/>
                  </a:lnTo>
                  <a:lnTo>
                    <a:pt x="940012" y="1132130"/>
                  </a:lnTo>
                  <a:lnTo>
                    <a:pt x="982835" y="1118456"/>
                  </a:lnTo>
                  <a:lnTo>
                    <a:pt x="1023610" y="1102512"/>
                  </a:lnTo>
                  <a:lnTo>
                    <a:pt x="1061864" y="1085007"/>
                  </a:lnTo>
                  <a:lnTo>
                    <a:pt x="1097619" y="1065158"/>
                  </a:lnTo>
                  <a:lnTo>
                    <a:pt x="1132087" y="1041961"/>
                  </a:lnTo>
                  <a:lnTo>
                    <a:pt x="1166485" y="1014412"/>
                  </a:lnTo>
                  <a:lnTo>
                    <a:pt x="1202503" y="982452"/>
                  </a:lnTo>
                  <a:lnTo>
                    <a:pt x="1238986" y="946546"/>
                  </a:lnTo>
                  <a:lnTo>
                    <a:pt x="1273159" y="906474"/>
                  </a:lnTo>
                  <a:lnTo>
                    <a:pt x="1302248" y="862012"/>
                  </a:lnTo>
                  <a:lnTo>
                    <a:pt x="1321783" y="822332"/>
                  </a:lnTo>
                  <a:lnTo>
                    <a:pt x="1339021" y="778973"/>
                  </a:lnTo>
                  <a:lnTo>
                    <a:pt x="1353399" y="733308"/>
                  </a:lnTo>
                  <a:lnTo>
                    <a:pt x="1364358" y="686710"/>
                  </a:lnTo>
                  <a:lnTo>
                    <a:pt x="1371336" y="640549"/>
                  </a:lnTo>
                  <a:lnTo>
                    <a:pt x="1374261" y="594185"/>
                  </a:lnTo>
                  <a:lnTo>
                    <a:pt x="1373583" y="546694"/>
                  </a:lnTo>
                  <a:lnTo>
                    <a:pt x="1369296" y="499049"/>
                  </a:lnTo>
                  <a:lnTo>
                    <a:pt x="1361395" y="452222"/>
                  </a:lnTo>
                  <a:lnTo>
                    <a:pt x="1349873" y="407187"/>
                  </a:lnTo>
                  <a:lnTo>
                    <a:pt x="1333172" y="362000"/>
                  </a:lnTo>
                  <a:lnTo>
                    <a:pt x="1310722" y="315442"/>
                  </a:lnTo>
                  <a:lnTo>
                    <a:pt x="1283999" y="269570"/>
                  </a:lnTo>
                  <a:lnTo>
                    <a:pt x="1254478" y="226441"/>
                  </a:lnTo>
                  <a:lnTo>
                    <a:pt x="1223635" y="188112"/>
                  </a:lnTo>
                  <a:lnTo>
                    <a:pt x="1191481" y="154699"/>
                  </a:lnTo>
                  <a:lnTo>
                    <a:pt x="1156969" y="124829"/>
                  </a:lnTo>
                  <a:lnTo>
                    <a:pt x="1120207" y="98331"/>
                  </a:lnTo>
                  <a:lnTo>
                    <a:pt x="1081305" y="75032"/>
                  </a:lnTo>
                  <a:lnTo>
                    <a:pt x="1040374" y="54762"/>
                  </a:lnTo>
                  <a:lnTo>
                    <a:pt x="996571" y="37145"/>
                  </a:lnTo>
                  <a:lnTo>
                    <a:pt x="949824" y="22289"/>
                  </a:lnTo>
                  <a:lnTo>
                    <a:pt x="901394" y="10765"/>
                  </a:lnTo>
                  <a:lnTo>
                    <a:pt x="852544" y="3144"/>
                  </a:lnTo>
                  <a:lnTo>
                    <a:pt x="804535" y="0"/>
                  </a:lnTo>
                  <a:close/>
                </a:path>
              </a:pathLst>
            </a:custGeom>
            <a:solidFill>
              <a:srgbClr val="FBEB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038732" y="5590209"/>
              <a:ext cx="1374775" cy="1149350"/>
            </a:xfrm>
            <a:custGeom>
              <a:avLst/>
              <a:gdLst/>
              <a:ahLst/>
              <a:cxnLst/>
              <a:rect l="l" t="t" r="r" b="b"/>
              <a:pathLst>
                <a:path w="1374775" h="1149350">
                  <a:moveTo>
                    <a:pt x="1223635" y="188112"/>
                  </a:moveTo>
                  <a:lnTo>
                    <a:pt x="1191481" y="154699"/>
                  </a:lnTo>
                  <a:lnTo>
                    <a:pt x="1156969" y="124829"/>
                  </a:lnTo>
                  <a:lnTo>
                    <a:pt x="1120207" y="98331"/>
                  </a:lnTo>
                  <a:lnTo>
                    <a:pt x="1081305" y="75032"/>
                  </a:lnTo>
                  <a:lnTo>
                    <a:pt x="1040374" y="54762"/>
                  </a:lnTo>
                  <a:lnTo>
                    <a:pt x="996571" y="37145"/>
                  </a:lnTo>
                  <a:lnTo>
                    <a:pt x="949824" y="22289"/>
                  </a:lnTo>
                  <a:lnTo>
                    <a:pt x="901394" y="10765"/>
                  </a:lnTo>
                  <a:lnTo>
                    <a:pt x="852544" y="3144"/>
                  </a:lnTo>
                  <a:lnTo>
                    <a:pt x="804535" y="0"/>
                  </a:lnTo>
                  <a:lnTo>
                    <a:pt x="757502" y="2056"/>
                  </a:lnTo>
                  <a:lnTo>
                    <a:pt x="710518" y="8933"/>
                  </a:lnTo>
                  <a:lnTo>
                    <a:pt x="663479" y="19544"/>
                  </a:lnTo>
                  <a:lnTo>
                    <a:pt x="616282" y="32803"/>
                  </a:lnTo>
                  <a:lnTo>
                    <a:pt x="568823" y="47625"/>
                  </a:lnTo>
                  <a:lnTo>
                    <a:pt x="520118" y="65494"/>
                  </a:lnTo>
                  <a:lnTo>
                    <a:pt x="470236" y="87135"/>
                  </a:lnTo>
                  <a:lnTo>
                    <a:pt x="420653" y="110319"/>
                  </a:lnTo>
                  <a:lnTo>
                    <a:pt x="372844" y="132817"/>
                  </a:lnTo>
                  <a:lnTo>
                    <a:pt x="328285" y="152400"/>
                  </a:lnTo>
                  <a:lnTo>
                    <a:pt x="276433" y="171559"/>
                  </a:lnTo>
                  <a:lnTo>
                    <a:pt x="227701" y="187520"/>
                  </a:lnTo>
                  <a:lnTo>
                    <a:pt x="183445" y="203183"/>
                  </a:lnTo>
                  <a:lnTo>
                    <a:pt x="145024" y="221449"/>
                  </a:lnTo>
                  <a:lnTo>
                    <a:pt x="113333" y="243085"/>
                  </a:lnTo>
                  <a:lnTo>
                    <a:pt x="66049" y="291271"/>
                  </a:lnTo>
                  <a:lnTo>
                    <a:pt x="30831" y="341742"/>
                  </a:lnTo>
                  <a:lnTo>
                    <a:pt x="7677" y="394500"/>
                  </a:lnTo>
                  <a:lnTo>
                    <a:pt x="0" y="464449"/>
                  </a:lnTo>
                  <a:lnTo>
                    <a:pt x="1339" y="507499"/>
                  </a:lnTo>
                  <a:lnTo>
                    <a:pt x="7846" y="551590"/>
                  </a:lnTo>
                  <a:lnTo>
                    <a:pt x="21199" y="592924"/>
                  </a:lnTo>
                  <a:lnTo>
                    <a:pt x="43578" y="630656"/>
                  </a:lnTo>
                  <a:lnTo>
                    <a:pt x="73554" y="666748"/>
                  </a:lnTo>
                  <a:lnTo>
                    <a:pt x="107102" y="701647"/>
                  </a:lnTo>
                  <a:lnTo>
                    <a:pt x="140198" y="735799"/>
                  </a:lnTo>
                  <a:lnTo>
                    <a:pt x="172017" y="768564"/>
                  </a:lnTo>
                  <a:lnTo>
                    <a:pt x="204634" y="799950"/>
                  </a:lnTo>
                  <a:lnTo>
                    <a:pt x="238371" y="831408"/>
                  </a:lnTo>
                  <a:lnTo>
                    <a:pt x="273548" y="864387"/>
                  </a:lnTo>
                  <a:lnTo>
                    <a:pt x="309560" y="900257"/>
                  </a:lnTo>
                  <a:lnTo>
                    <a:pt x="346477" y="937914"/>
                  </a:lnTo>
                  <a:lnTo>
                    <a:pt x="385633" y="975122"/>
                  </a:lnTo>
                  <a:lnTo>
                    <a:pt x="428361" y="1009650"/>
                  </a:lnTo>
                  <a:lnTo>
                    <a:pt x="465965" y="1035937"/>
                  </a:lnTo>
                  <a:lnTo>
                    <a:pt x="506202" y="1061939"/>
                  </a:lnTo>
                  <a:lnTo>
                    <a:pt x="548110" y="1086227"/>
                  </a:lnTo>
                  <a:lnTo>
                    <a:pt x="590726" y="1107373"/>
                  </a:lnTo>
                  <a:lnTo>
                    <a:pt x="633085" y="1123950"/>
                  </a:lnTo>
                  <a:lnTo>
                    <a:pt x="686887" y="1137882"/>
                  </a:lnTo>
                  <a:lnTo>
                    <a:pt x="742035" y="1145825"/>
                  </a:lnTo>
                  <a:lnTo>
                    <a:pt x="796301" y="1148782"/>
                  </a:lnTo>
                  <a:lnTo>
                    <a:pt x="847461" y="1147758"/>
                  </a:lnTo>
                  <a:lnTo>
                    <a:pt x="894951" y="1142307"/>
                  </a:lnTo>
                  <a:lnTo>
                    <a:pt x="940012" y="1132130"/>
                  </a:lnTo>
                  <a:lnTo>
                    <a:pt x="982835" y="1118456"/>
                  </a:lnTo>
                  <a:lnTo>
                    <a:pt x="1023610" y="1102512"/>
                  </a:lnTo>
                  <a:lnTo>
                    <a:pt x="1061864" y="1085007"/>
                  </a:lnTo>
                  <a:lnTo>
                    <a:pt x="1097619" y="1065158"/>
                  </a:lnTo>
                  <a:lnTo>
                    <a:pt x="1132087" y="1041961"/>
                  </a:lnTo>
                  <a:lnTo>
                    <a:pt x="1166485" y="1014412"/>
                  </a:lnTo>
                  <a:lnTo>
                    <a:pt x="1202503" y="982452"/>
                  </a:lnTo>
                  <a:lnTo>
                    <a:pt x="1238986" y="946546"/>
                  </a:lnTo>
                  <a:lnTo>
                    <a:pt x="1273159" y="906474"/>
                  </a:lnTo>
                  <a:lnTo>
                    <a:pt x="1302248" y="862012"/>
                  </a:lnTo>
                  <a:lnTo>
                    <a:pt x="1321783" y="822332"/>
                  </a:lnTo>
                  <a:lnTo>
                    <a:pt x="1339021" y="778973"/>
                  </a:lnTo>
                  <a:lnTo>
                    <a:pt x="1353399" y="733308"/>
                  </a:lnTo>
                  <a:lnTo>
                    <a:pt x="1364358" y="686710"/>
                  </a:lnTo>
                  <a:lnTo>
                    <a:pt x="1371336" y="640549"/>
                  </a:lnTo>
                  <a:lnTo>
                    <a:pt x="1374261" y="594185"/>
                  </a:lnTo>
                  <a:lnTo>
                    <a:pt x="1373583" y="546694"/>
                  </a:lnTo>
                  <a:lnTo>
                    <a:pt x="1369296" y="499049"/>
                  </a:lnTo>
                  <a:lnTo>
                    <a:pt x="1361395" y="452222"/>
                  </a:lnTo>
                  <a:lnTo>
                    <a:pt x="1349873" y="407187"/>
                  </a:lnTo>
                  <a:lnTo>
                    <a:pt x="1333172" y="362000"/>
                  </a:lnTo>
                  <a:lnTo>
                    <a:pt x="1310722" y="315442"/>
                  </a:lnTo>
                  <a:lnTo>
                    <a:pt x="1283999" y="269570"/>
                  </a:lnTo>
                  <a:lnTo>
                    <a:pt x="1254478" y="226441"/>
                  </a:lnTo>
                  <a:lnTo>
                    <a:pt x="1223635" y="188112"/>
                  </a:lnTo>
                  <a:close/>
                </a:path>
              </a:pathLst>
            </a:custGeom>
            <a:ln w="19050">
              <a:solidFill>
                <a:srgbClr val="126F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060946" y="5164074"/>
              <a:ext cx="575945" cy="576580"/>
            </a:xfrm>
            <a:custGeom>
              <a:avLst/>
              <a:gdLst/>
              <a:ahLst/>
              <a:cxnLst/>
              <a:rect l="l" t="t" r="r" b="b"/>
              <a:pathLst>
                <a:path w="575945" h="576579">
                  <a:moveTo>
                    <a:pt x="287908" y="0"/>
                  </a:moveTo>
                  <a:lnTo>
                    <a:pt x="241209" y="3771"/>
                  </a:lnTo>
                  <a:lnTo>
                    <a:pt x="196908" y="14691"/>
                  </a:lnTo>
                  <a:lnTo>
                    <a:pt x="155599" y="32164"/>
                  </a:lnTo>
                  <a:lnTo>
                    <a:pt x="117875" y="55595"/>
                  </a:lnTo>
                  <a:lnTo>
                    <a:pt x="84328" y="84391"/>
                  </a:lnTo>
                  <a:lnTo>
                    <a:pt x="55550" y="117957"/>
                  </a:lnTo>
                  <a:lnTo>
                    <a:pt x="32136" y="155699"/>
                  </a:lnTo>
                  <a:lnTo>
                    <a:pt x="14678" y="197022"/>
                  </a:lnTo>
                  <a:lnTo>
                    <a:pt x="3768" y="241333"/>
                  </a:lnTo>
                  <a:lnTo>
                    <a:pt x="0" y="288035"/>
                  </a:lnTo>
                  <a:lnTo>
                    <a:pt x="3768" y="334760"/>
                  </a:lnTo>
                  <a:lnTo>
                    <a:pt x="14678" y="379084"/>
                  </a:lnTo>
                  <a:lnTo>
                    <a:pt x="32136" y="420414"/>
                  </a:lnTo>
                  <a:lnTo>
                    <a:pt x="55550" y="458157"/>
                  </a:lnTo>
                  <a:lnTo>
                    <a:pt x="84328" y="491720"/>
                  </a:lnTo>
                  <a:lnTo>
                    <a:pt x="117875" y="520510"/>
                  </a:lnTo>
                  <a:lnTo>
                    <a:pt x="155599" y="543934"/>
                  </a:lnTo>
                  <a:lnTo>
                    <a:pt x="196908" y="561400"/>
                  </a:lnTo>
                  <a:lnTo>
                    <a:pt x="241209" y="572314"/>
                  </a:lnTo>
                  <a:lnTo>
                    <a:pt x="287908" y="576084"/>
                  </a:lnTo>
                  <a:lnTo>
                    <a:pt x="334642" y="572314"/>
                  </a:lnTo>
                  <a:lnTo>
                    <a:pt x="378971" y="561400"/>
                  </a:lnTo>
                  <a:lnTo>
                    <a:pt x="420301" y="543934"/>
                  </a:lnTo>
                  <a:lnTo>
                    <a:pt x="458042" y="520510"/>
                  </a:lnTo>
                  <a:lnTo>
                    <a:pt x="491601" y="491720"/>
                  </a:lnTo>
                  <a:lnTo>
                    <a:pt x="520386" y="458157"/>
                  </a:lnTo>
                  <a:lnTo>
                    <a:pt x="543804" y="420414"/>
                  </a:lnTo>
                  <a:lnTo>
                    <a:pt x="561265" y="379084"/>
                  </a:lnTo>
                  <a:lnTo>
                    <a:pt x="572176" y="334760"/>
                  </a:lnTo>
                  <a:lnTo>
                    <a:pt x="575945" y="288035"/>
                  </a:lnTo>
                  <a:lnTo>
                    <a:pt x="572176" y="241333"/>
                  </a:lnTo>
                  <a:lnTo>
                    <a:pt x="561265" y="197022"/>
                  </a:lnTo>
                  <a:lnTo>
                    <a:pt x="543804" y="155699"/>
                  </a:lnTo>
                  <a:lnTo>
                    <a:pt x="520386" y="117957"/>
                  </a:lnTo>
                  <a:lnTo>
                    <a:pt x="491601" y="84391"/>
                  </a:lnTo>
                  <a:lnTo>
                    <a:pt x="458042" y="55595"/>
                  </a:lnTo>
                  <a:lnTo>
                    <a:pt x="420301" y="32164"/>
                  </a:lnTo>
                  <a:lnTo>
                    <a:pt x="378971" y="14691"/>
                  </a:lnTo>
                  <a:lnTo>
                    <a:pt x="334642" y="3771"/>
                  </a:lnTo>
                  <a:lnTo>
                    <a:pt x="287908" y="0"/>
                  </a:lnTo>
                  <a:close/>
                </a:path>
              </a:pathLst>
            </a:custGeom>
            <a:solidFill>
              <a:srgbClr val="E8F3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060946" y="5164074"/>
              <a:ext cx="575945" cy="576580"/>
            </a:xfrm>
            <a:custGeom>
              <a:avLst/>
              <a:gdLst/>
              <a:ahLst/>
              <a:cxnLst/>
              <a:rect l="l" t="t" r="r" b="b"/>
              <a:pathLst>
                <a:path w="575945" h="576579">
                  <a:moveTo>
                    <a:pt x="0" y="288035"/>
                  </a:moveTo>
                  <a:lnTo>
                    <a:pt x="3768" y="241333"/>
                  </a:lnTo>
                  <a:lnTo>
                    <a:pt x="14678" y="197022"/>
                  </a:lnTo>
                  <a:lnTo>
                    <a:pt x="32136" y="155699"/>
                  </a:lnTo>
                  <a:lnTo>
                    <a:pt x="55550" y="117957"/>
                  </a:lnTo>
                  <a:lnTo>
                    <a:pt x="84328" y="84391"/>
                  </a:lnTo>
                  <a:lnTo>
                    <a:pt x="117875" y="55595"/>
                  </a:lnTo>
                  <a:lnTo>
                    <a:pt x="155599" y="32164"/>
                  </a:lnTo>
                  <a:lnTo>
                    <a:pt x="196908" y="14691"/>
                  </a:lnTo>
                  <a:lnTo>
                    <a:pt x="241209" y="3771"/>
                  </a:lnTo>
                  <a:lnTo>
                    <a:pt x="287908" y="0"/>
                  </a:lnTo>
                  <a:lnTo>
                    <a:pt x="334642" y="3771"/>
                  </a:lnTo>
                  <a:lnTo>
                    <a:pt x="378971" y="14691"/>
                  </a:lnTo>
                  <a:lnTo>
                    <a:pt x="420301" y="32164"/>
                  </a:lnTo>
                  <a:lnTo>
                    <a:pt x="458042" y="55595"/>
                  </a:lnTo>
                  <a:lnTo>
                    <a:pt x="491601" y="84391"/>
                  </a:lnTo>
                  <a:lnTo>
                    <a:pt x="520386" y="117957"/>
                  </a:lnTo>
                  <a:lnTo>
                    <a:pt x="543804" y="155699"/>
                  </a:lnTo>
                  <a:lnTo>
                    <a:pt x="561265" y="197022"/>
                  </a:lnTo>
                  <a:lnTo>
                    <a:pt x="572176" y="241333"/>
                  </a:lnTo>
                  <a:lnTo>
                    <a:pt x="575945" y="288035"/>
                  </a:lnTo>
                  <a:lnTo>
                    <a:pt x="572176" y="334760"/>
                  </a:lnTo>
                  <a:lnTo>
                    <a:pt x="561265" y="379084"/>
                  </a:lnTo>
                  <a:lnTo>
                    <a:pt x="543804" y="420414"/>
                  </a:lnTo>
                  <a:lnTo>
                    <a:pt x="520386" y="458157"/>
                  </a:lnTo>
                  <a:lnTo>
                    <a:pt x="491601" y="491720"/>
                  </a:lnTo>
                  <a:lnTo>
                    <a:pt x="458042" y="520510"/>
                  </a:lnTo>
                  <a:lnTo>
                    <a:pt x="420301" y="543934"/>
                  </a:lnTo>
                  <a:lnTo>
                    <a:pt x="378971" y="561400"/>
                  </a:lnTo>
                  <a:lnTo>
                    <a:pt x="334642" y="572314"/>
                  </a:lnTo>
                  <a:lnTo>
                    <a:pt x="287908" y="576084"/>
                  </a:lnTo>
                  <a:lnTo>
                    <a:pt x="241209" y="572314"/>
                  </a:lnTo>
                  <a:lnTo>
                    <a:pt x="196908" y="561400"/>
                  </a:lnTo>
                  <a:lnTo>
                    <a:pt x="155599" y="543934"/>
                  </a:lnTo>
                  <a:lnTo>
                    <a:pt x="117875" y="520510"/>
                  </a:lnTo>
                  <a:lnTo>
                    <a:pt x="84328" y="491720"/>
                  </a:lnTo>
                  <a:lnTo>
                    <a:pt x="55550" y="458157"/>
                  </a:lnTo>
                  <a:lnTo>
                    <a:pt x="32136" y="420414"/>
                  </a:lnTo>
                  <a:lnTo>
                    <a:pt x="14678" y="379084"/>
                  </a:lnTo>
                  <a:lnTo>
                    <a:pt x="3768" y="334760"/>
                  </a:lnTo>
                  <a:lnTo>
                    <a:pt x="0" y="288035"/>
                  </a:lnTo>
                  <a:close/>
                </a:path>
              </a:pathLst>
            </a:custGeom>
            <a:ln w="19049">
              <a:solidFill>
                <a:srgbClr val="126F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225665" y="4326763"/>
              <a:ext cx="257810" cy="1280160"/>
            </a:xfrm>
            <a:custGeom>
              <a:avLst/>
              <a:gdLst/>
              <a:ahLst/>
              <a:cxnLst/>
              <a:rect l="l" t="t" r="r" b="b"/>
              <a:pathLst>
                <a:path w="257809" h="1280160">
                  <a:moveTo>
                    <a:pt x="128904" y="0"/>
                  </a:moveTo>
                  <a:lnTo>
                    <a:pt x="78759" y="10122"/>
                  </a:lnTo>
                  <a:lnTo>
                    <a:pt x="37782" y="37734"/>
                  </a:lnTo>
                  <a:lnTo>
                    <a:pt x="10140" y="78706"/>
                  </a:lnTo>
                  <a:lnTo>
                    <a:pt x="0" y="128905"/>
                  </a:lnTo>
                  <a:lnTo>
                    <a:pt x="0" y="1150874"/>
                  </a:lnTo>
                  <a:lnTo>
                    <a:pt x="10140" y="1201070"/>
                  </a:lnTo>
                  <a:lnTo>
                    <a:pt x="37782" y="1242037"/>
                  </a:lnTo>
                  <a:lnTo>
                    <a:pt x="78759" y="1269645"/>
                  </a:lnTo>
                  <a:lnTo>
                    <a:pt x="128904" y="1279766"/>
                  </a:lnTo>
                  <a:lnTo>
                    <a:pt x="179050" y="1269645"/>
                  </a:lnTo>
                  <a:lnTo>
                    <a:pt x="220027" y="1242037"/>
                  </a:lnTo>
                  <a:lnTo>
                    <a:pt x="247669" y="1201070"/>
                  </a:lnTo>
                  <a:lnTo>
                    <a:pt x="257809" y="1150874"/>
                  </a:lnTo>
                  <a:lnTo>
                    <a:pt x="257809" y="128905"/>
                  </a:lnTo>
                  <a:lnTo>
                    <a:pt x="247669" y="78706"/>
                  </a:lnTo>
                  <a:lnTo>
                    <a:pt x="220027" y="37734"/>
                  </a:lnTo>
                  <a:lnTo>
                    <a:pt x="179050" y="10122"/>
                  </a:lnTo>
                  <a:lnTo>
                    <a:pt x="128904" y="0"/>
                  </a:lnTo>
                  <a:close/>
                </a:path>
              </a:pathLst>
            </a:custGeom>
            <a:solidFill>
              <a:srgbClr val="FBEB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225665" y="4326763"/>
              <a:ext cx="257810" cy="1280160"/>
            </a:xfrm>
            <a:custGeom>
              <a:avLst/>
              <a:gdLst/>
              <a:ahLst/>
              <a:cxnLst/>
              <a:rect l="l" t="t" r="r" b="b"/>
              <a:pathLst>
                <a:path w="257809" h="1280160">
                  <a:moveTo>
                    <a:pt x="0" y="128905"/>
                  </a:moveTo>
                  <a:lnTo>
                    <a:pt x="10140" y="78706"/>
                  </a:lnTo>
                  <a:lnTo>
                    <a:pt x="37782" y="37734"/>
                  </a:lnTo>
                  <a:lnTo>
                    <a:pt x="78759" y="10122"/>
                  </a:lnTo>
                  <a:lnTo>
                    <a:pt x="128904" y="0"/>
                  </a:lnTo>
                  <a:lnTo>
                    <a:pt x="179050" y="10122"/>
                  </a:lnTo>
                  <a:lnTo>
                    <a:pt x="220027" y="37734"/>
                  </a:lnTo>
                  <a:lnTo>
                    <a:pt x="247669" y="78706"/>
                  </a:lnTo>
                  <a:lnTo>
                    <a:pt x="257809" y="128905"/>
                  </a:lnTo>
                  <a:lnTo>
                    <a:pt x="257809" y="1150874"/>
                  </a:lnTo>
                  <a:lnTo>
                    <a:pt x="247669" y="1201070"/>
                  </a:lnTo>
                  <a:lnTo>
                    <a:pt x="220027" y="1242037"/>
                  </a:lnTo>
                  <a:lnTo>
                    <a:pt x="179050" y="1269645"/>
                  </a:lnTo>
                  <a:lnTo>
                    <a:pt x="128904" y="1279766"/>
                  </a:lnTo>
                  <a:lnTo>
                    <a:pt x="78759" y="1269645"/>
                  </a:lnTo>
                  <a:lnTo>
                    <a:pt x="37782" y="1242037"/>
                  </a:lnTo>
                  <a:lnTo>
                    <a:pt x="10140" y="1201070"/>
                  </a:lnTo>
                  <a:lnTo>
                    <a:pt x="0" y="1150874"/>
                  </a:lnTo>
                  <a:lnTo>
                    <a:pt x="0" y="128905"/>
                  </a:lnTo>
                  <a:close/>
                </a:path>
              </a:pathLst>
            </a:custGeom>
            <a:ln w="19050">
              <a:solidFill>
                <a:srgbClr val="126F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58178" y="4517618"/>
              <a:ext cx="432053" cy="24475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758178" y="4517618"/>
              <a:ext cx="432434" cy="245110"/>
            </a:xfrm>
            <a:custGeom>
              <a:avLst/>
              <a:gdLst/>
              <a:ahLst/>
              <a:cxnLst/>
              <a:rect l="l" t="t" r="r" b="b"/>
              <a:pathLst>
                <a:path w="432434" h="245110">
                  <a:moveTo>
                    <a:pt x="0" y="244754"/>
                  </a:moveTo>
                  <a:lnTo>
                    <a:pt x="432053" y="244754"/>
                  </a:lnTo>
                  <a:lnTo>
                    <a:pt x="432053" y="0"/>
                  </a:lnTo>
                  <a:lnTo>
                    <a:pt x="0" y="0"/>
                  </a:lnTo>
                  <a:lnTo>
                    <a:pt x="0" y="244754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21575" y="4515586"/>
              <a:ext cx="432053" cy="24475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521575" y="4515586"/>
              <a:ext cx="432434" cy="245110"/>
            </a:xfrm>
            <a:custGeom>
              <a:avLst/>
              <a:gdLst/>
              <a:ahLst/>
              <a:cxnLst/>
              <a:rect l="l" t="t" r="r" b="b"/>
              <a:pathLst>
                <a:path w="432434" h="245110">
                  <a:moveTo>
                    <a:pt x="0" y="244754"/>
                  </a:moveTo>
                  <a:lnTo>
                    <a:pt x="432053" y="244754"/>
                  </a:lnTo>
                  <a:lnTo>
                    <a:pt x="432053" y="0"/>
                  </a:lnTo>
                  <a:lnTo>
                    <a:pt x="0" y="0"/>
                  </a:lnTo>
                  <a:lnTo>
                    <a:pt x="0" y="244754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90562" y="5410708"/>
              <a:ext cx="127000" cy="1270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716395" y="6051524"/>
              <a:ext cx="257810" cy="243204"/>
            </a:xfrm>
            <a:custGeom>
              <a:avLst/>
              <a:gdLst/>
              <a:ahLst/>
              <a:cxnLst/>
              <a:rect l="l" t="t" r="r" b="b"/>
              <a:pathLst>
                <a:path w="257809" h="243204">
                  <a:moveTo>
                    <a:pt x="128904" y="0"/>
                  </a:moveTo>
                  <a:lnTo>
                    <a:pt x="78759" y="9536"/>
                  </a:lnTo>
                  <a:lnTo>
                    <a:pt x="37782" y="35542"/>
                  </a:lnTo>
                  <a:lnTo>
                    <a:pt x="10140" y="74114"/>
                  </a:lnTo>
                  <a:lnTo>
                    <a:pt x="0" y="121348"/>
                  </a:lnTo>
                  <a:lnTo>
                    <a:pt x="10140" y="168580"/>
                  </a:lnTo>
                  <a:lnTo>
                    <a:pt x="37782" y="207148"/>
                  </a:lnTo>
                  <a:lnTo>
                    <a:pt x="78759" y="233149"/>
                  </a:lnTo>
                  <a:lnTo>
                    <a:pt x="128904" y="242684"/>
                  </a:lnTo>
                  <a:lnTo>
                    <a:pt x="179103" y="233149"/>
                  </a:lnTo>
                  <a:lnTo>
                    <a:pt x="220075" y="207148"/>
                  </a:lnTo>
                  <a:lnTo>
                    <a:pt x="247687" y="168580"/>
                  </a:lnTo>
                  <a:lnTo>
                    <a:pt x="257809" y="121348"/>
                  </a:lnTo>
                  <a:lnTo>
                    <a:pt x="247687" y="74114"/>
                  </a:lnTo>
                  <a:lnTo>
                    <a:pt x="220075" y="35542"/>
                  </a:lnTo>
                  <a:lnTo>
                    <a:pt x="179103" y="9536"/>
                  </a:lnTo>
                  <a:lnTo>
                    <a:pt x="128904" y="0"/>
                  </a:lnTo>
                  <a:close/>
                </a:path>
              </a:pathLst>
            </a:custGeom>
            <a:solidFill>
              <a:srgbClr val="E8F3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716395" y="6051524"/>
              <a:ext cx="257810" cy="243204"/>
            </a:xfrm>
            <a:custGeom>
              <a:avLst/>
              <a:gdLst/>
              <a:ahLst/>
              <a:cxnLst/>
              <a:rect l="l" t="t" r="r" b="b"/>
              <a:pathLst>
                <a:path w="257809" h="243204">
                  <a:moveTo>
                    <a:pt x="0" y="121348"/>
                  </a:moveTo>
                  <a:lnTo>
                    <a:pt x="10140" y="74114"/>
                  </a:lnTo>
                  <a:lnTo>
                    <a:pt x="37782" y="35542"/>
                  </a:lnTo>
                  <a:lnTo>
                    <a:pt x="78759" y="9536"/>
                  </a:lnTo>
                  <a:lnTo>
                    <a:pt x="128904" y="0"/>
                  </a:lnTo>
                  <a:lnTo>
                    <a:pt x="179103" y="9536"/>
                  </a:lnTo>
                  <a:lnTo>
                    <a:pt x="220075" y="35542"/>
                  </a:lnTo>
                  <a:lnTo>
                    <a:pt x="247687" y="74114"/>
                  </a:lnTo>
                  <a:lnTo>
                    <a:pt x="257809" y="121348"/>
                  </a:lnTo>
                  <a:lnTo>
                    <a:pt x="247687" y="168580"/>
                  </a:lnTo>
                  <a:lnTo>
                    <a:pt x="220075" y="207148"/>
                  </a:lnTo>
                  <a:lnTo>
                    <a:pt x="179103" y="233149"/>
                  </a:lnTo>
                  <a:lnTo>
                    <a:pt x="128904" y="242684"/>
                  </a:lnTo>
                  <a:lnTo>
                    <a:pt x="78759" y="233149"/>
                  </a:lnTo>
                  <a:lnTo>
                    <a:pt x="37782" y="207148"/>
                  </a:lnTo>
                  <a:lnTo>
                    <a:pt x="10140" y="168580"/>
                  </a:lnTo>
                  <a:lnTo>
                    <a:pt x="0" y="121348"/>
                  </a:lnTo>
                  <a:close/>
                </a:path>
              </a:pathLst>
            </a:custGeom>
            <a:ln w="19050">
              <a:solidFill>
                <a:srgbClr val="126F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620510" y="6141847"/>
              <a:ext cx="440690" cy="179705"/>
            </a:xfrm>
            <a:custGeom>
              <a:avLst/>
              <a:gdLst/>
              <a:ahLst/>
              <a:cxnLst/>
              <a:rect l="l" t="t" r="r" b="b"/>
              <a:pathLst>
                <a:path w="440690" h="179704">
                  <a:moveTo>
                    <a:pt x="220218" y="0"/>
                  </a:moveTo>
                  <a:lnTo>
                    <a:pt x="0" y="179171"/>
                  </a:lnTo>
                  <a:lnTo>
                    <a:pt x="440436" y="179171"/>
                  </a:lnTo>
                  <a:lnTo>
                    <a:pt x="220218" y="0"/>
                  </a:lnTo>
                  <a:close/>
                </a:path>
              </a:pathLst>
            </a:custGeom>
            <a:solidFill>
              <a:srgbClr val="C7F5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620510" y="6141847"/>
              <a:ext cx="440690" cy="179705"/>
            </a:xfrm>
            <a:custGeom>
              <a:avLst/>
              <a:gdLst/>
              <a:ahLst/>
              <a:cxnLst/>
              <a:rect l="l" t="t" r="r" b="b"/>
              <a:pathLst>
                <a:path w="440690" h="179704">
                  <a:moveTo>
                    <a:pt x="0" y="179171"/>
                  </a:moveTo>
                  <a:lnTo>
                    <a:pt x="220218" y="0"/>
                  </a:lnTo>
                  <a:lnTo>
                    <a:pt x="440436" y="179171"/>
                  </a:lnTo>
                  <a:lnTo>
                    <a:pt x="0" y="179171"/>
                  </a:lnTo>
                  <a:close/>
                </a:path>
              </a:pathLst>
            </a:custGeom>
            <a:ln w="19050">
              <a:solidFill>
                <a:srgbClr val="126F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81927" y="6109347"/>
              <a:ext cx="127000" cy="12705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01460" y="6339310"/>
              <a:ext cx="486003" cy="87867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7483475" y="4915408"/>
              <a:ext cx="470534" cy="558800"/>
            </a:xfrm>
            <a:custGeom>
              <a:avLst/>
              <a:gdLst/>
              <a:ahLst/>
              <a:cxnLst/>
              <a:rect l="l" t="t" r="r" b="b"/>
              <a:pathLst>
                <a:path w="470534" h="558800">
                  <a:moveTo>
                    <a:pt x="0" y="115062"/>
                  </a:moveTo>
                  <a:lnTo>
                    <a:pt x="433197" y="0"/>
                  </a:lnTo>
                </a:path>
                <a:path w="470534" h="558800">
                  <a:moveTo>
                    <a:pt x="153416" y="558800"/>
                  </a:moveTo>
                  <a:lnTo>
                    <a:pt x="470153" y="482473"/>
                  </a:lnTo>
                </a:path>
              </a:pathLst>
            </a:custGeom>
            <a:ln w="6350">
              <a:solidFill>
                <a:srgbClr val="1D9A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960888" y="4726418"/>
            <a:ext cx="154305" cy="819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  <a:spcBef>
                <a:spcPts val="1455"/>
              </a:spcBef>
            </a:pPr>
            <a:r>
              <a:rPr sz="2000" spc="-50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408036" y="6008217"/>
            <a:ext cx="526415" cy="194310"/>
          </a:xfrm>
          <a:custGeom>
            <a:avLst/>
            <a:gdLst/>
            <a:ahLst/>
            <a:cxnLst/>
            <a:rect l="l" t="t" r="r" b="b"/>
            <a:pathLst>
              <a:path w="526415" h="194310">
                <a:moveTo>
                  <a:pt x="0" y="193852"/>
                </a:moveTo>
                <a:lnTo>
                  <a:pt x="526288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7960096" y="5797986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488828" y="5900152"/>
            <a:ext cx="26797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50" dirty="0">
                <a:latin typeface="Cambria Math"/>
                <a:cs typeface="Cambria Math"/>
              </a:rPr>
              <a:t>A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771384" y="5258778"/>
            <a:ext cx="26543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50" dirty="0">
                <a:latin typeface="Cambria Math"/>
                <a:cs typeface="Cambria Math"/>
              </a:rPr>
              <a:t>B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954780" y="4171444"/>
            <a:ext cx="252729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0" dirty="0">
                <a:latin typeface="Cambria Math"/>
                <a:cs typeface="Cambria Math"/>
              </a:rPr>
              <a:t>C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439027" y="4458461"/>
            <a:ext cx="945515" cy="1722755"/>
          </a:xfrm>
          <a:custGeom>
            <a:avLst/>
            <a:gdLst/>
            <a:ahLst/>
            <a:cxnLst/>
            <a:rect l="l" t="t" r="r" b="b"/>
            <a:pathLst>
              <a:path w="945515" h="1722754">
                <a:moveTo>
                  <a:pt x="741045" y="1590484"/>
                </a:moveTo>
                <a:lnTo>
                  <a:pt x="708647" y="1596288"/>
                </a:lnTo>
                <a:lnTo>
                  <a:pt x="706729" y="1589201"/>
                </a:lnTo>
                <a:lnTo>
                  <a:pt x="705485" y="1584566"/>
                </a:lnTo>
                <a:lnTo>
                  <a:pt x="698500" y="1568373"/>
                </a:lnTo>
                <a:lnTo>
                  <a:pt x="673735" y="1523504"/>
                </a:lnTo>
                <a:lnTo>
                  <a:pt x="643001" y="1482598"/>
                </a:lnTo>
                <a:lnTo>
                  <a:pt x="606933" y="1446339"/>
                </a:lnTo>
                <a:lnTo>
                  <a:pt x="566293" y="1415427"/>
                </a:lnTo>
                <a:lnTo>
                  <a:pt x="521335" y="1390332"/>
                </a:lnTo>
                <a:lnTo>
                  <a:pt x="472694" y="1371612"/>
                </a:lnTo>
                <a:lnTo>
                  <a:pt x="461352" y="1368526"/>
                </a:lnTo>
                <a:lnTo>
                  <a:pt x="456044" y="1367066"/>
                </a:lnTo>
                <a:lnTo>
                  <a:pt x="403098" y="1357655"/>
                </a:lnTo>
                <a:lnTo>
                  <a:pt x="366014" y="1355813"/>
                </a:lnTo>
                <a:lnTo>
                  <a:pt x="343281" y="1356296"/>
                </a:lnTo>
                <a:lnTo>
                  <a:pt x="346252" y="1356296"/>
                </a:lnTo>
                <a:lnTo>
                  <a:pt x="327710" y="1357655"/>
                </a:lnTo>
                <a:lnTo>
                  <a:pt x="328231" y="1357655"/>
                </a:lnTo>
                <a:lnTo>
                  <a:pt x="309968" y="1359992"/>
                </a:lnTo>
                <a:lnTo>
                  <a:pt x="310197" y="1359992"/>
                </a:lnTo>
                <a:lnTo>
                  <a:pt x="257937" y="1371917"/>
                </a:lnTo>
                <a:lnTo>
                  <a:pt x="208153" y="1391399"/>
                </a:lnTo>
                <a:lnTo>
                  <a:pt x="162179" y="1417561"/>
                </a:lnTo>
                <a:lnTo>
                  <a:pt x="120650" y="1450035"/>
                </a:lnTo>
                <a:lnTo>
                  <a:pt x="84074" y="1488020"/>
                </a:lnTo>
                <a:lnTo>
                  <a:pt x="53213" y="1530972"/>
                </a:lnTo>
                <a:lnTo>
                  <a:pt x="28702" y="1578483"/>
                </a:lnTo>
                <a:lnTo>
                  <a:pt x="11303" y="1629740"/>
                </a:lnTo>
                <a:lnTo>
                  <a:pt x="1397" y="1684324"/>
                </a:lnTo>
                <a:lnTo>
                  <a:pt x="0" y="1702955"/>
                </a:lnTo>
                <a:lnTo>
                  <a:pt x="12700" y="1703933"/>
                </a:lnTo>
                <a:lnTo>
                  <a:pt x="14033" y="1686267"/>
                </a:lnTo>
                <a:lnTo>
                  <a:pt x="16522" y="1666455"/>
                </a:lnTo>
                <a:lnTo>
                  <a:pt x="19723" y="1649069"/>
                </a:lnTo>
                <a:lnTo>
                  <a:pt x="23787" y="1632089"/>
                </a:lnTo>
                <a:lnTo>
                  <a:pt x="28625" y="1615325"/>
                </a:lnTo>
                <a:lnTo>
                  <a:pt x="33921" y="1599679"/>
                </a:lnTo>
                <a:lnTo>
                  <a:pt x="34023" y="1599374"/>
                </a:lnTo>
                <a:lnTo>
                  <a:pt x="55168" y="1552956"/>
                </a:lnTo>
                <a:lnTo>
                  <a:pt x="64160" y="1537487"/>
                </a:lnTo>
                <a:lnTo>
                  <a:pt x="72885" y="1523974"/>
                </a:lnTo>
                <a:lnTo>
                  <a:pt x="105689" y="1482598"/>
                </a:lnTo>
                <a:lnTo>
                  <a:pt x="142036" y="1448308"/>
                </a:lnTo>
                <a:lnTo>
                  <a:pt x="154635" y="1438503"/>
                </a:lnTo>
                <a:lnTo>
                  <a:pt x="155282" y="1437982"/>
                </a:lnTo>
                <a:lnTo>
                  <a:pt x="158864" y="1435506"/>
                </a:lnTo>
                <a:lnTo>
                  <a:pt x="169456" y="1428000"/>
                </a:lnTo>
                <a:lnTo>
                  <a:pt x="169773" y="1427746"/>
                </a:lnTo>
                <a:lnTo>
                  <a:pt x="183515" y="1419123"/>
                </a:lnTo>
                <a:lnTo>
                  <a:pt x="230098" y="1395514"/>
                </a:lnTo>
                <a:lnTo>
                  <a:pt x="278130" y="1379448"/>
                </a:lnTo>
                <a:lnTo>
                  <a:pt x="278003" y="1379448"/>
                </a:lnTo>
                <a:lnTo>
                  <a:pt x="295148" y="1375600"/>
                </a:lnTo>
                <a:lnTo>
                  <a:pt x="311924" y="1372590"/>
                </a:lnTo>
                <a:lnTo>
                  <a:pt x="311607" y="1372590"/>
                </a:lnTo>
                <a:lnTo>
                  <a:pt x="329349" y="1370317"/>
                </a:lnTo>
                <a:lnTo>
                  <a:pt x="328688" y="1370317"/>
                </a:lnTo>
                <a:lnTo>
                  <a:pt x="346671" y="1368996"/>
                </a:lnTo>
                <a:lnTo>
                  <a:pt x="342963" y="1368996"/>
                </a:lnTo>
                <a:lnTo>
                  <a:pt x="365988" y="1368526"/>
                </a:lnTo>
                <a:lnTo>
                  <a:pt x="384340" y="1368996"/>
                </a:lnTo>
                <a:lnTo>
                  <a:pt x="401866" y="1370317"/>
                </a:lnTo>
                <a:lnTo>
                  <a:pt x="419214" y="1372590"/>
                </a:lnTo>
                <a:lnTo>
                  <a:pt x="436295" y="1375600"/>
                </a:lnTo>
                <a:lnTo>
                  <a:pt x="436105" y="1375600"/>
                </a:lnTo>
                <a:lnTo>
                  <a:pt x="453199" y="1379448"/>
                </a:lnTo>
                <a:lnTo>
                  <a:pt x="501002" y="1395260"/>
                </a:lnTo>
                <a:lnTo>
                  <a:pt x="545655" y="1417561"/>
                </a:lnTo>
                <a:lnTo>
                  <a:pt x="585343" y="1444942"/>
                </a:lnTo>
                <a:lnTo>
                  <a:pt x="621487" y="1477899"/>
                </a:lnTo>
                <a:lnTo>
                  <a:pt x="654278" y="1517523"/>
                </a:lnTo>
                <a:lnTo>
                  <a:pt x="679500" y="1558848"/>
                </a:lnTo>
                <a:lnTo>
                  <a:pt x="696099" y="1598536"/>
                </a:lnTo>
                <a:lnTo>
                  <a:pt x="665988" y="1603921"/>
                </a:lnTo>
                <a:lnTo>
                  <a:pt x="725805" y="1722208"/>
                </a:lnTo>
                <a:lnTo>
                  <a:pt x="738517" y="1612303"/>
                </a:lnTo>
                <a:lnTo>
                  <a:pt x="738619" y="1611363"/>
                </a:lnTo>
                <a:lnTo>
                  <a:pt x="741045" y="1590484"/>
                </a:lnTo>
                <a:close/>
              </a:path>
              <a:path w="945515" h="1722754">
                <a:moveTo>
                  <a:pt x="945515" y="127000"/>
                </a:moveTo>
                <a:lnTo>
                  <a:pt x="941705" y="114300"/>
                </a:lnTo>
                <a:lnTo>
                  <a:pt x="907415" y="0"/>
                </a:lnTo>
                <a:lnTo>
                  <a:pt x="869315" y="127000"/>
                </a:lnTo>
                <a:lnTo>
                  <a:pt x="901065" y="127000"/>
                </a:lnTo>
                <a:lnTo>
                  <a:pt x="901065" y="578612"/>
                </a:lnTo>
                <a:lnTo>
                  <a:pt x="869315" y="578612"/>
                </a:lnTo>
                <a:lnTo>
                  <a:pt x="907415" y="705612"/>
                </a:lnTo>
                <a:lnTo>
                  <a:pt x="941705" y="591312"/>
                </a:lnTo>
                <a:lnTo>
                  <a:pt x="945515" y="578612"/>
                </a:lnTo>
                <a:lnTo>
                  <a:pt x="913765" y="578612"/>
                </a:lnTo>
                <a:lnTo>
                  <a:pt x="913765" y="127000"/>
                </a:lnTo>
                <a:lnTo>
                  <a:pt x="945515" y="1270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1571138" y="4009585"/>
            <a:ext cx="2518410" cy="3460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dirty="0">
                <a:latin typeface="Cambria Math"/>
                <a:cs typeface="Cambria Math"/>
              </a:rPr>
              <a:t>W</a:t>
            </a:r>
            <a:r>
              <a:rPr sz="2100" spc="-45" dirty="0">
                <a:latin typeface="Cambria Math"/>
                <a:cs typeface="Cambria Math"/>
              </a:rPr>
              <a:t> </a:t>
            </a:r>
            <a:r>
              <a:rPr sz="2000" dirty="0">
                <a:latin typeface="Symbol"/>
                <a:cs typeface="Symbol"/>
              </a:rPr>
              <a:t>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75" dirty="0">
                <a:latin typeface="Times New Roman"/>
                <a:cs typeface="Times New Roman"/>
              </a:rPr>
              <a:t>3</a:t>
            </a:r>
            <a:r>
              <a:rPr sz="2000" spc="75" dirty="0">
                <a:latin typeface="Symbol"/>
                <a:cs typeface="Symbol"/>
              </a:rPr>
              <a:t></a:t>
            </a:r>
            <a:r>
              <a:rPr sz="2000" spc="-30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3</a:t>
            </a:r>
            <a:r>
              <a:rPr sz="2000" spc="-24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Symbol"/>
                <a:cs typeface="Symbol"/>
              </a:rPr>
              <a:t></a:t>
            </a:r>
            <a:r>
              <a:rPr sz="2000" spc="-1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2</a:t>
            </a:r>
            <a:r>
              <a:rPr sz="2000" spc="-2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Symbol"/>
                <a:cs typeface="Symbol"/>
              </a:rPr>
              <a:t></a:t>
            </a:r>
            <a:r>
              <a:rPr sz="2000" spc="-30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3</a:t>
            </a:r>
            <a:r>
              <a:rPr sz="2000" spc="-240" dirty="0">
                <a:latin typeface="Times New Roman"/>
                <a:cs typeface="Times New Roman"/>
              </a:rPr>
              <a:t> </a:t>
            </a:r>
            <a:r>
              <a:rPr sz="2000" spc="95" dirty="0">
                <a:latin typeface="Symbol"/>
                <a:cs typeface="Symbol"/>
              </a:rPr>
              <a:t></a:t>
            </a:r>
            <a:r>
              <a:rPr sz="2000" spc="95" dirty="0">
                <a:latin typeface="Times New Roman"/>
                <a:cs typeface="Times New Roman"/>
              </a:rPr>
              <a:t>1</a:t>
            </a:r>
            <a:r>
              <a:rPr sz="2000" spc="95" dirty="0">
                <a:latin typeface="Symbol"/>
                <a:cs typeface="Symbol"/>
              </a:rPr>
              <a:t></a:t>
            </a:r>
            <a:r>
              <a:rPr sz="2000" spc="95" dirty="0">
                <a:latin typeface="Times New Roman"/>
                <a:cs typeface="Times New Roman"/>
              </a:rPr>
              <a:t>1</a:t>
            </a:r>
            <a:r>
              <a:rPr sz="2000" spc="-18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Symbol"/>
                <a:cs typeface="Symbol"/>
              </a:rPr>
              <a:t></a:t>
            </a:r>
            <a:r>
              <a:rPr sz="2000" spc="-22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41121" y="4534280"/>
            <a:ext cx="57658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Công</a:t>
            </a:r>
            <a:r>
              <a:rPr sz="1800" spc="1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thức</a:t>
            </a:r>
            <a:r>
              <a:rPr sz="1800" spc="1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tính</a:t>
            </a:r>
            <a:r>
              <a:rPr sz="1800" spc="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BTD</a:t>
            </a:r>
            <a:r>
              <a:rPr sz="1800" spc="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1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cơ</a:t>
            </a:r>
            <a:r>
              <a:rPr sz="1800" spc="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</a:t>
            </a:r>
            <a:r>
              <a:rPr sz="1800" spc="1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khi</a:t>
            </a:r>
            <a:r>
              <a:rPr sz="1800" spc="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có</a:t>
            </a:r>
            <a:r>
              <a:rPr sz="1800" spc="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ràng</a:t>
            </a:r>
            <a:r>
              <a:rPr sz="1800" spc="1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buộc</a:t>
            </a:r>
            <a:r>
              <a:rPr sz="1800" spc="1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thừa, </a:t>
            </a:r>
            <a:r>
              <a:rPr sz="1800" dirty="0">
                <a:latin typeface="Arial"/>
                <a:cs typeface="Arial"/>
              </a:rPr>
              <a:t>ràng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buộc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trùng,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BTD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thừa:</a:t>
            </a:r>
            <a:endParaRPr sz="18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214788" y="549607"/>
            <a:ext cx="1993264" cy="4248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100" dirty="0">
                <a:latin typeface="Cambria Math"/>
                <a:cs typeface="Cambria Math"/>
              </a:rPr>
              <a:t>W</a:t>
            </a:r>
            <a:r>
              <a:rPr sz="2100" spc="-15" dirty="0">
                <a:latin typeface="Cambria Math"/>
                <a:cs typeface="Cambria Math"/>
              </a:rPr>
              <a:t> </a:t>
            </a:r>
            <a:r>
              <a:rPr sz="2000" dirty="0">
                <a:latin typeface="Symbol"/>
                <a:cs typeface="Symbol"/>
              </a:rPr>
              <a:t>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30" dirty="0">
                <a:latin typeface="Times New Roman"/>
                <a:cs typeface="Times New Roman"/>
              </a:rPr>
              <a:t>3</a:t>
            </a:r>
            <a:r>
              <a:rPr sz="2100" spc="-130" dirty="0">
                <a:latin typeface="Cambria Math"/>
                <a:cs typeface="Cambria Math"/>
              </a:rPr>
              <a:t>n</a:t>
            </a:r>
            <a:r>
              <a:rPr sz="2000" spc="-130" dirty="0">
                <a:latin typeface="Symbol"/>
                <a:cs typeface="Symbol"/>
              </a:rPr>
              <a:t></a:t>
            </a:r>
            <a:r>
              <a:rPr sz="2000" spc="-210" dirty="0">
                <a:latin typeface="Times New Roman"/>
                <a:cs typeface="Times New Roman"/>
              </a:rPr>
              <a:t> </a:t>
            </a:r>
            <a:r>
              <a:rPr sz="3900" spc="-307" baseline="-3205" dirty="0">
                <a:latin typeface="Symbol"/>
                <a:cs typeface="Symbol"/>
              </a:rPr>
              <a:t></a:t>
            </a:r>
            <a:r>
              <a:rPr sz="2000" spc="-204" dirty="0">
                <a:latin typeface="Times New Roman"/>
                <a:cs typeface="Times New Roman"/>
              </a:rPr>
              <a:t>2</a:t>
            </a:r>
            <a:r>
              <a:rPr sz="2100" spc="-204" dirty="0">
                <a:latin typeface="Cambria Math"/>
                <a:cs typeface="Cambria Math"/>
              </a:rPr>
              <a:t>T</a:t>
            </a:r>
            <a:r>
              <a:rPr sz="2100" spc="-185" dirty="0">
                <a:latin typeface="Cambria Math"/>
                <a:cs typeface="Cambria Math"/>
              </a:rPr>
              <a:t> </a:t>
            </a:r>
            <a:r>
              <a:rPr sz="2000" spc="-25" dirty="0">
                <a:latin typeface="Symbol"/>
                <a:cs typeface="Symbol"/>
              </a:rPr>
              <a:t></a:t>
            </a:r>
            <a:r>
              <a:rPr sz="2100" spc="-25" dirty="0">
                <a:latin typeface="Cambria Math"/>
                <a:cs typeface="Cambria Math"/>
              </a:rPr>
              <a:t>C</a:t>
            </a:r>
            <a:r>
              <a:rPr sz="3900" spc="-37" baseline="-3205" dirty="0">
                <a:latin typeface="Symbol"/>
                <a:cs typeface="Symbol"/>
              </a:rPr>
              <a:t></a:t>
            </a:r>
            <a:endParaRPr sz="3900" baseline="-3205">
              <a:latin typeface="Symbol"/>
              <a:cs typeface="Symbo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146797" y="5628525"/>
            <a:ext cx="3792220" cy="435609"/>
            <a:chOff x="1146797" y="5628525"/>
            <a:chExt cx="3792220" cy="435609"/>
          </a:xfrm>
        </p:grpSpPr>
        <p:sp>
          <p:nvSpPr>
            <p:cNvPr id="40" name="object 40"/>
            <p:cNvSpPr/>
            <p:nvPr/>
          </p:nvSpPr>
          <p:spPr>
            <a:xfrm>
              <a:off x="1153147" y="5634875"/>
              <a:ext cx="3779520" cy="422909"/>
            </a:xfrm>
            <a:custGeom>
              <a:avLst/>
              <a:gdLst/>
              <a:ahLst/>
              <a:cxnLst/>
              <a:rect l="l" t="t" r="r" b="b"/>
              <a:pathLst>
                <a:path w="3779520" h="422910">
                  <a:moveTo>
                    <a:pt x="3708412" y="0"/>
                  </a:moveTo>
                  <a:lnTo>
                    <a:pt x="70459" y="0"/>
                  </a:lnTo>
                  <a:lnTo>
                    <a:pt x="43033" y="5537"/>
                  </a:lnTo>
                  <a:lnTo>
                    <a:pt x="20637" y="20637"/>
                  </a:lnTo>
                  <a:lnTo>
                    <a:pt x="5537" y="43033"/>
                  </a:lnTo>
                  <a:lnTo>
                    <a:pt x="0" y="70459"/>
                  </a:lnTo>
                  <a:lnTo>
                    <a:pt x="0" y="352285"/>
                  </a:lnTo>
                  <a:lnTo>
                    <a:pt x="5537" y="379710"/>
                  </a:lnTo>
                  <a:lnTo>
                    <a:pt x="20637" y="402107"/>
                  </a:lnTo>
                  <a:lnTo>
                    <a:pt x="43033" y="417207"/>
                  </a:lnTo>
                  <a:lnTo>
                    <a:pt x="70459" y="422744"/>
                  </a:lnTo>
                  <a:lnTo>
                    <a:pt x="3708412" y="422744"/>
                  </a:lnTo>
                  <a:lnTo>
                    <a:pt x="3735874" y="417207"/>
                  </a:lnTo>
                  <a:lnTo>
                    <a:pt x="3758276" y="402107"/>
                  </a:lnTo>
                  <a:lnTo>
                    <a:pt x="3773367" y="379710"/>
                  </a:lnTo>
                  <a:lnTo>
                    <a:pt x="3778897" y="352285"/>
                  </a:lnTo>
                  <a:lnTo>
                    <a:pt x="3778897" y="70459"/>
                  </a:lnTo>
                  <a:lnTo>
                    <a:pt x="3773367" y="43033"/>
                  </a:lnTo>
                  <a:lnTo>
                    <a:pt x="3758276" y="20637"/>
                  </a:lnTo>
                  <a:lnTo>
                    <a:pt x="3735874" y="5537"/>
                  </a:lnTo>
                  <a:lnTo>
                    <a:pt x="3708412" y="0"/>
                  </a:lnTo>
                  <a:close/>
                </a:path>
              </a:pathLst>
            </a:custGeom>
            <a:solidFill>
              <a:srgbClr val="FBEB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153147" y="5634875"/>
              <a:ext cx="3779520" cy="422909"/>
            </a:xfrm>
            <a:custGeom>
              <a:avLst/>
              <a:gdLst/>
              <a:ahLst/>
              <a:cxnLst/>
              <a:rect l="l" t="t" r="r" b="b"/>
              <a:pathLst>
                <a:path w="3779520" h="422910">
                  <a:moveTo>
                    <a:pt x="0" y="70459"/>
                  </a:moveTo>
                  <a:lnTo>
                    <a:pt x="5537" y="43033"/>
                  </a:lnTo>
                  <a:lnTo>
                    <a:pt x="20637" y="20637"/>
                  </a:lnTo>
                  <a:lnTo>
                    <a:pt x="43033" y="5537"/>
                  </a:lnTo>
                  <a:lnTo>
                    <a:pt x="70459" y="0"/>
                  </a:lnTo>
                  <a:lnTo>
                    <a:pt x="3708412" y="0"/>
                  </a:lnTo>
                  <a:lnTo>
                    <a:pt x="3735874" y="5537"/>
                  </a:lnTo>
                  <a:lnTo>
                    <a:pt x="3758276" y="20637"/>
                  </a:lnTo>
                  <a:lnTo>
                    <a:pt x="3773367" y="43033"/>
                  </a:lnTo>
                  <a:lnTo>
                    <a:pt x="3778897" y="70459"/>
                  </a:lnTo>
                  <a:lnTo>
                    <a:pt x="3778897" y="352285"/>
                  </a:lnTo>
                  <a:lnTo>
                    <a:pt x="3773367" y="379710"/>
                  </a:lnTo>
                  <a:lnTo>
                    <a:pt x="3758276" y="402107"/>
                  </a:lnTo>
                  <a:lnTo>
                    <a:pt x="3735874" y="417207"/>
                  </a:lnTo>
                  <a:lnTo>
                    <a:pt x="3708412" y="422744"/>
                  </a:lnTo>
                  <a:lnTo>
                    <a:pt x="70459" y="422744"/>
                  </a:lnTo>
                  <a:lnTo>
                    <a:pt x="43033" y="417207"/>
                  </a:lnTo>
                  <a:lnTo>
                    <a:pt x="20637" y="402107"/>
                  </a:lnTo>
                  <a:lnTo>
                    <a:pt x="5537" y="379710"/>
                  </a:lnTo>
                  <a:lnTo>
                    <a:pt x="0" y="352285"/>
                  </a:lnTo>
                  <a:lnTo>
                    <a:pt x="0" y="70459"/>
                  </a:lnTo>
                  <a:close/>
                </a:path>
              </a:pathLst>
            </a:custGeom>
            <a:ln w="12699">
              <a:solidFill>
                <a:srgbClr val="126F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1148818" y="5581303"/>
            <a:ext cx="3702685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100" dirty="0">
                <a:latin typeface="Cambria Math"/>
                <a:cs typeface="Cambria Math"/>
              </a:rPr>
              <a:t>W</a:t>
            </a:r>
            <a:r>
              <a:rPr sz="2100" spc="10" dirty="0">
                <a:latin typeface="Cambria Math"/>
                <a:cs typeface="Cambria Math"/>
              </a:rPr>
              <a:t> </a:t>
            </a:r>
            <a:r>
              <a:rPr sz="2000" dirty="0">
                <a:latin typeface="Symbol"/>
                <a:cs typeface="Symbol"/>
              </a:rPr>
              <a:t>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-130" dirty="0">
                <a:latin typeface="Times New Roman"/>
                <a:cs typeface="Times New Roman"/>
              </a:rPr>
              <a:t>3</a:t>
            </a:r>
            <a:r>
              <a:rPr sz="2100" spc="-130" dirty="0">
                <a:latin typeface="Cambria Math"/>
                <a:cs typeface="Cambria Math"/>
              </a:rPr>
              <a:t>n</a:t>
            </a:r>
            <a:r>
              <a:rPr sz="2000" spc="-130" dirty="0">
                <a:latin typeface="Symbol"/>
                <a:cs typeface="Symbol"/>
              </a:rPr>
              <a:t></a:t>
            </a:r>
            <a:r>
              <a:rPr sz="2000" spc="-210" dirty="0">
                <a:latin typeface="Times New Roman"/>
                <a:cs typeface="Times New Roman"/>
              </a:rPr>
              <a:t> </a:t>
            </a:r>
            <a:r>
              <a:rPr sz="3900" spc="-307" baseline="-3205" dirty="0">
                <a:latin typeface="Symbol"/>
                <a:cs typeface="Symbol"/>
              </a:rPr>
              <a:t></a:t>
            </a:r>
            <a:r>
              <a:rPr sz="2000" spc="-204" dirty="0">
                <a:latin typeface="Times New Roman"/>
                <a:cs typeface="Times New Roman"/>
              </a:rPr>
              <a:t>2</a:t>
            </a:r>
            <a:r>
              <a:rPr sz="2100" spc="-204" dirty="0">
                <a:latin typeface="Cambria Math"/>
                <a:cs typeface="Cambria Math"/>
              </a:rPr>
              <a:t>T</a:t>
            </a:r>
            <a:r>
              <a:rPr sz="2100" spc="-185" dirty="0">
                <a:latin typeface="Cambria Math"/>
                <a:cs typeface="Cambria Math"/>
              </a:rPr>
              <a:t> </a:t>
            </a:r>
            <a:r>
              <a:rPr sz="2000" spc="-145" dirty="0">
                <a:latin typeface="Symbol"/>
                <a:cs typeface="Symbol"/>
              </a:rPr>
              <a:t></a:t>
            </a:r>
            <a:r>
              <a:rPr sz="2100" spc="-145" dirty="0">
                <a:latin typeface="Cambria Math"/>
                <a:cs typeface="Cambria Math"/>
              </a:rPr>
              <a:t>C</a:t>
            </a:r>
            <a:r>
              <a:rPr sz="2000" spc="-145" dirty="0">
                <a:latin typeface="Symbol"/>
                <a:cs typeface="Symbol"/>
              </a:rPr>
              <a:t></a:t>
            </a:r>
            <a:r>
              <a:rPr sz="2100" spc="-145" dirty="0">
                <a:latin typeface="Cambria Math"/>
                <a:cs typeface="Cambria Math"/>
              </a:rPr>
              <a:t>R</a:t>
            </a:r>
            <a:r>
              <a:rPr sz="1800" spc="-217" baseline="-23148" dirty="0">
                <a:latin typeface="Cambria Math"/>
                <a:cs typeface="Cambria Math"/>
              </a:rPr>
              <a:t>th</a:t>
            </a:r>
            <a:r>
              <a:rPr sz="1800" spc="150" baseline="-23148" dirty="0">
                <a:latin typeface="Cambria Math"/>
                <a:cs typeface="Cambria Math"/>
              </a:rPr>
              <a:t> </a:t>
            </a:r>
            <a:r>
              <a:rPr sz="2000" spc="-254" dirty="0">
                <a:latin typeface="Symbol"/>
                <a:cs typeface="Symbol"/>
              </a:rPr>
              <a:t></a:t>
            </a:r>
            <a:r>
              <a:rPr sz="2100" spc="-254" dirty="0">
                <a:latin typeface="Cambria Math"/>
                <a:cs typeface="Cambria Math"/>
              </a:rPr>
              <a:t>R</a:t>
            </a:r>
            <a:r>
              <a:rPr sz="1800" spc="-382" baseline="-23148" dirty="0">
                <a:latin typeface="Cambria Math"/>
                <a:cs typeface="Cambria Math"/>
              </a:rPr>
              <a:t>tr</a:t>
            </a:r>
            <a:r>
              <a:rPr sz="1800" spc="22" baseline="-23148" dirty="0">
                <a:latin typeface="Cambria Math"/>
                <a:cs typeface="Cambria Math"/>
              </a:rPr>
              <a:t> </a:t>
            </a:r>
            <a:r>
              <a:rPr sz="3900" spc="-322" baseline="-3205" dirty="0">
                <a:latin typeface="Symbol"/>
                <a:cs typeface="Symbol"/>
              </a:rPr>
              <a:t></a:t>
            </a:r>
            <a:r>
              <a:rPr sz="3900" spc="-509" baseline="-3205" dirty="0">
                <a:latin typeface="Times New Roman"/>
                <a:cs typeface="Times New Roman"/>
              </a:rPr>
              <a:t> </a:t>
            </a:r>
            <a:r>
              <a:rPr sz="2000" spc="-365" dirty="0">
                <a:latin typeface="Symbol"/>
                <a:cs typeface="Symbol"/>
              </a:rPr>
              <a:t></a:t>
            </a:r>
            <a:r>
              <a:rPr sz="2100" spc="-365" dirty="0">
                <a:latin typeface="Cambria Math"/>
                <a:cs typeface="Cambria Math"/>
              </a:rPr>
              <a:t>W</a:t>
            </a:r>
            <a:r>
              <a:rPr sz="1800" spc="-547" baseline="-23148" dirty="0">
                <a:latin typeface="Cambria Math"/>
                <a:cs typeface="Cambria Math"/>
              </a:rPr>
              <a:t>th</a:t>
            </a:r>
            <a:endParaRPr sz="1800" baseline="-23148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728329" y="120522"/>
            <a:ext cx="297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1.21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17728" y="120522"/>
            <a:ext cx="314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NHH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1523" y="970756"/>
            <a:ext cx="8729345" cy="1515745"/>
            <a:chOff x="251523" y="970756"/>
            <a:chExt cx="8729345" cy="15157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29932" y="970756"/>
              <a:ext cx="2250849" cy="151515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51523" y="982090"/>
              <a:ext cx="7847965" cy="287020"/>
            </a:xfrm>
            <a:custGeom>
              <a:avLst/>
              <a:gdLst/>
              <a:ahLst/>
              <a:cxnLst/>
              <a:rect l="l" t="t" r="r" b="b"/>
              <a:pathLst>
                <a:path w="7847965" h="287019">
                  <a:moveTo>
                    <a:pt x="7847965" y="0"/>
                  </a:moveTo>
                  <a:lnTo>
                    <a:pt x="0" y="0"/>
                  </a:lnTo>
                  <a:lnTo>
                    <a:pt x="0" y="286638"/>
                  </a:lnTo>
                  <a:lnTo>
                    <a:pt x="7847965" y="286638"/>
                  </a:lnTo>
                  <a:lnTo>
                    <a:pt x="78479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39621" y="118110"/>
            <a:ext cx="60655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30" dirty="0"/>
              <a:t> </a:t>
            </a:r>
            <a:r>
              <a:rPr dirty="0"/>
              <a:t>1</a:t>
            </a:r>
            <a:r>
              <a:rPr spc="-45" dirty="0"/>
              <a:t> </a:t>
            </a:r>
            <a:r>
              <a:rPr dirty="0"/>
              <a:t>–</a:t>
            </a:r>
            <a:r>
              <a:rPr spc="-50" dirty="0"/>
              <a:t> </a:t>
            </a:r>
            <a:r>
              <a:rPr dirty="0"/>
              <a:t>PHÂN</a:t>
            </a:r>
            <a:r>
              <a:rPr spc="-40" dirty="0"/>
              <a:t> </a:t>
            </a:r>
            <a:r>
              <a:rPr dirty="0"/>
              <a:t>TÍCH</a:t>
            </a:r>
            <a:r>
              <a:rPr spc="-45" dirty="0"/>
              <a:t> </a:t>
            </a:r>
            <a:r>
              <a:rPr dirty="0"/>
              <a:t>CẤU</a:t>
            </a:r>
            <a:r>
              <a:rPr spc="-55" dirty="0"/>
              <a:t> </a:t>
            </a:r>
            <a:r>
              <a:rPr dirty="0"/>
              <a:t>TRÚC</a:t>
            </a:r>
            <a:r>
              <a:rPr spc="-45" dirty="0"/>
              <a:t> </a:t>
            </a:r>
            <a:r>
              <a:rPr dirty="0"/>
              <a:t>CƠ</a:t>
            </a:r>
            <a:r>
              <a:rPr spc="-45" dirty="0"/>
              <a:t> </a:t>
            </a:r>
            <a:r>
              <a:rPr spc="-25" dirty="0"/>
              <a:t>CẤU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28329" y="120522"/>
            <a:ext cx="297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1.22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30200" y="448436"/>
            <a:ext cx="7059295" cy="3405504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455930" lvl="1" indent="-443230" algn="just">
              <a:lnSpc>
                <a:spcPct val="100000"/>
              </a:lnSpc>
              <a:spcBef>
                <a:spcPts val="1010"/>
              </a:spcBef>
              <a:buAutoNum type="arabicPeriod" startAt="3"/>
              <a:tabLst>
                <a:tab pos="455930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Cơ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cấu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phẳng</a:t>
            </a:r>
            <a:endParaRPr sz="1800">
              <a:latin typeface="Arial"/>
              <a:cs typeface="Arial"/>
            </a:endParaRPr>
          </a:p>
          <a:p>
            <a:pPr marL="645160" lvl="2" indent="-632460" algn="just">
              <a:lnSpc>
                <a:spcPct val="100000"/>
              </a:lnSpc>
              <a:spcBef>
                <a:spcPts val="915"/>
              </a:spcBef>
              <a:buAutoNum type="arabicPeriod" startAt="2"/>
              <a:tabLst>
                <a:tab pos="645160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Ý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nghĩa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của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bậc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tự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do,</a:t>
            </a:r>
            <a:r>
              <a:rPr sz="18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khâu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dẫn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và</a:t>
            </a:r>
            <a:r>
              <a:rPr sz="1800" b="1" spc="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bị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dẫn,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khâu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phát</a:t>
            </a:r>
            <a:r>
              <a:rPr sz="18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động</a:t>
            </a:r>
            <a:endParaRPr sz="1800">
              <a:latin typeface="Arial"/>
              <a:cs typeface="Arial"/>
            </a:endParaRPr>
          </a:p>
          <a:p>
            <a:pPr marL="298450" lvl="3" indent="-285750" algn="just">
              <a:lnSpc>
                <a:spcPct val="100000"/>
              </a:lnSpc>
              <a:spcBef>
                <a:spcPts val="1215"/>
              </a:spcBef>
              <a:buClr>
                <a:srgbClr val="1D9A78"/>
              </a:buClr>
              <a:buFont typeface="Wingdings"/>
              <a:buChar char=""/>
              <a:tabLst>
                <a:tab pos="298450" algn="l"/>
              </a:tabLst>
            </a:pPr>
            <a:r>
              <a:rPr sz="1800" dirty="0">
                <a:latin typeface="Arial"/>
                <a:cs typeface="Arial"/>
              </a:rPr>
              <a:t>Số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BTD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bằng số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thông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số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vị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trí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độc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lập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cơ</a:t>
            </a:r>
            <a:r>
              <a:rPr sz="1800" spc="-25" dirty="0">
                <a:latin typeface="Arial"/>
                <a:cs typeface="Arial"/>
              </a:rPr>
              <a:t> cấu</a:t>
            </a:r>
            <a:endParaRPr sz="1800">
              <a:latin typeface="Arial"/>
              <a:cs typeface="Arial"/>
            </a:endParaRPr>
          </a:p>
          <a:p>
            <a:pPr marL="139065">
              <a:lnSpc>
                <a:spcPct val="100000"/>
              </a:lnSpc>
              <a:spcBef>
                <a:spcPts val="1510"/>
              </a:spcBef>
            </a:pPr>
            <a:r>
              <a:rPr sz="1800" dirty="0">
                <a:latin typeface="Arial"/>
                <a:cs typeface="Arial"/>
              </a:rPr>
              <a:t>→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Muốn xác định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vị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trí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cơ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thì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phải biết </a:t>
            </a:r>
            <a:r>
              <a:rPr sz="1800" spc="-20" dirty="0">
                <a:latin typeface="Arial"/>
                <a:cs typeface="Arial"/>
              </a:rPr>
              <a:t>BTD.</a:t>
            </a:r>
            <a:endParaRPr sz="1800">
              <a:latin typeface="Arial"/>
              <a:cs typeface="Arial"/>
            </a:endParaRPr>
          </a:p>
          <a:p>
            <a:pPr marL="298450" lvl="3" indent="-285750" algn="just">
              <a:lnSpc>
                <a:spcPct val="100000"/>
              </a:lnSpc>
              <a:spcBef>
                <a:spcPts val="1540"/>
              </a:spcBef>
              <a:buFont typeface="Wingdings"/>
              <a:buChar char=""/>
              <a:tabLst>
                <a:tab pos="298450" algn="l"/>
              </a:tabLst>
            </a:pPr>
            <a:r>
              <a:rPr sz="1800" dirty="0">
                <a:latin typeface="Arial"/>
                <a:cs typeface="Arial"/>
              </a:rPr>
              <a:t>Mỗi</a:t>
            </a:r>
            <a:r>
              <a:rPr sz="1800" spc="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khâu</a:t>
            </a:r>
            <a:r>
              <a:rPr sz="1800" spc="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dẫn</a:t>
            </a:r>
            <a:r>
              <a:rPr sz="1800" spc="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ứng</a:t>
            </a:r>
            <a:r>
              <a:rPr sz="1800" spc="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với</a:t>
            </a:r>
            <a:r>
              <a:rPr sz="1800" spc="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một</a:t>
            </a:r>
            <a:r>
              <a:rPr sz="1800" spc="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quy</a:t>
            </a:r>
            <a:r>
              <a:rPr sz="1800" spc="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luật</a:t>
            </a:r>
            <a:r>
              <a:rPr sz="1800" spc="8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chuyển</a:t>
            </a:r>
            <a:r>
              <a:rPr sz="1800" spc="9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động</a:t>
            </a:r>
            <a:r>
              <a:rPr sz="1800" spc="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cho</a:t>
            </a:r>
            <a:r>
              <a:rPr sz="1800" spc="7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trước</a:t>
            </a:r>
            <a:endParaRPr sz="1800">
              <a:latin typeface="Arial"/>
              <a:cs typeface="Arial"/>
            </a:endParaRPr>
          </a:p>
          <a:p>
            <a:pPr marL="299085" marR="668020" algn="just">
              <a:lnSpc>
                <a:spcPct val="150000"/>
              </a:lnSpc>
            </a:pPr>
            <a:r>
              <a:rPr sz="1800" dirty="0">
                <a:latin typeface="Arial"/>
                <a:cs typeface="Arial"/>
              </a:rPr>
              <a:t>→</a:t>
            </a:r>
            <a:r>
              <a:rPr sz="1800" spc="3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Số</a:t>
            </a:r>
            <a:r>
              <a:rPr sz="1800" spc="3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khâu</a:t>
            </a:r>
            <a:r>
              <a:rPr sz="1800" spc="3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dẫn</a:t>
            </a:r>
            <a:r>
              <a:rPr sz="1800" spc="3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bằng</a:t>
            </a:r>
            <a:r>
              <a:rPr sz="1800" spc="3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số</a:t>
            </a:r>
            <a:r>
              <a:rPr sz="1800" spc="3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BTD.</a:t>
            </a:r>
            <a:r>
              <a:rPr sz="1800" spc="3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Nếu</a:t>
            </a:r>
            <a:r>
              <a:rPr sz="1800" spc="3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biết</a:t>
            </a:r>
            <a:r>
              <a:rPr sz="1800" spc="3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quy</a:t>
            </a:r>
            <a:r>
              <a:rPr sz="1800" spc="3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luật</a:t>
            </a:r>
            <a:r>
              <a:rPr sz="1800" spc="33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chuyển </a:t>
            </a:r>
            <a:r>
              <a:rPr sz="1800" dirty="0">
                <a:latin typeface="Arial"/>
                <a:cs typeface="Arial"/>
              </a:rPr>
              <a:t>động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khâu</a:t>
            </a:r>
            <a:r>
              <a:rPr sz="1800" spc="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dẫn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(biết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BTD</a:t>
            </a:r>
            <a:r>
              <a:rPr sz="1800" spc="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cơ</a:t>
            </a:r>
            <a:r>
              <a:rPr sz="1800" spc="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cấu)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</a:t>
            </a:r>
            <a:r>
              <a:rPr sz="1800" spc="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xác</a:t>
            </a:r>
            <a:r>
              <a:rPr sz="1800" spc="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định</a:t>
            </a:r>
            <a:r>
              <a:rPr sz="1800" spc="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được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quy </a:t>
            </a:r>
            <a:r>
              <a:rPr sz="1800" dirty="0">
                <a:latin typeface="Arial"/>
                <a:cs typeface="Arial"/>
              </a:rPr>
              <a:t>luật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chuyển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động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các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khâu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còn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lại.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0200" y="4918964"/>
            <a:ext cx="8604885" cy="1712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6350" indent="-287020">
              <a:lnSpc>
                <a:spcPct val="15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</a:tabLst>
            </a:pPr>
            <a:r>
              <a:rPr sz="1800" dirty="0">
                <a:latin typeface="Arial"/>
                <a:cs typeface="Arial"/>
              </a:rPr>
              <a:t>Khâu</a:t>
            </a:r>
            <a:r>
              <a:rPr sz="1800" spc="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có</a:t>
            </a:r>
            <a:r>
              <a:rPr sz="1800" spc="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quy</a:t>
            </a:r>
            <a:r>
              <a:rPr sz="1800" spc="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luật</a:t>
            </a:r>
            <a:r>
              <a:rPr sz="1800" spc="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chuyển</a:t>
            </a:r>
            <a:r>
              <a:rPr sz="1800" spc="8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động</a:t>
            </a:r>
            <a:r>
              <a:rPr sz="1800" spc="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biết</a:t>
            </a:r>
            <a:r>
              <a:rPr sz="1800" spc="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trước</a:t>
            </a:r>
            <a:r>
              <a:rPr sz="1800" spc="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được</a:t>
            </a:r>
            <a:r>
              <a:rPr sz="1800" spc="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gọi</a:t>
            </a:r>
            <a:r>
              <a:rPr sz="1800" spc="9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70" dirty="0"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khâu</a:t>
            </a:r>
            <a:r>
              <a:rPr sz="1800" spc="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dẫn</a:t>
            </a:r>
            <a:r>
              <a:rPr sz="1800" dirty="0">
                <a:latin typeface="Arial"/>
                <a:cs typeface="Arial"/>
              </a:rPr>
              <a:t>,</a:t>
            </a:r>
            <a:r>
              <a:rPr sz="1800" spc="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các</a:t>
            </a:r>
            <a:r>
              <a:rPr sz="1800" spc="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khâu</a:t>
            </a:r>
            <a:r>
              <a:rPr sz="1800" spc="8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còn</a:t>
            </a:r>
            <a:r>
              <a:rPr sz="1800" spc="7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lại </a:t>
            </a:r>
            <a:r>
              <a:rPr sz="1800" dirty="0">
                <a:latin typeface="Arial"/>
                <a:cs typeface="Arial"/>
              </a:rPr>
              <a:t>gọi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các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khâu bị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dẫn</a:t>
            </a:r>
            <a:r>
              <a:rPr sz="1800" spc="-20" dirty="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1400"/>
              </a:spcBef>
              <a:buFont typeface="Wingdings"/>
              <a:buChar char=""/>
              <a:tabLst>
                <a:tab pos="299085" algn="l"/>
              </a:tabLst>
            </a:pP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Khâu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phát</a:t>
            </a:r>
            <a:r>
              <a:rPr sz="1800" spc="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động</a:t>
            </a:r>
            <a:r>
              <a:rPr sz="1800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khâu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nối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trực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tiếp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với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nguồn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năng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lượng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để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máy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chuyển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động,</a:t>
            </a:r>
            <a:endParaRPr sz="1800">
              <a:latin typeface="Arial"/>
              <a:cs typeface="Arial"/>
            </a:endParaRPr>
          </a:p>
          <a:p>
            <a:pPr marL="299085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Arial"/>
                <a:cs typeface="Arial"/>
              </a:rPr>
              <a:t>khâu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phát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động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có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thể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trùng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với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khâu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dẫn.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19431" y="2597286"/>
            <a:ext cx="1939194" cy="203172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0021" y="4139565"/>
            <a:ext cx="6067755" cy="65024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17728" y="120522"/>
            <a:ext cx="314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NHH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44192" y="118110"/>
            <a:ext cx="60553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40" dirty="0"/>
              <a:t> </a:t>
            </a:r>
            <a:r>
              <a:rPr dirty="0"/>
              <a:t>1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TÍCH</a:t>
            </a:r>
            <a:r>
              <a:rPr spc="-60" dirty="0"/>
              <a:t> </a:t>
            </a:r>
            <a:r>
              <a:rPr dirty="0"/>
              <a:t>CẤU</a:t>
            </a:r>
            <a:r>
              <a:rPr spc="-70" dirty="0"/>
              <a:t> </a:t>
            </a:r>
            <a:r>
              <a:rPr dirty="0"/>
              <a:t>TRÚC</a:t>
            </a:r>
            <a:r>
              <a:rPr spc="-55" dirty="0"/>
              <a:t> </a:t>
            </a:r>
            <a:r>
              <a:rPr dirty="0"/>
              <a:t>CƠ</a:t>
            </a:r>
            <a:r>
              <a:rPr spc="-50" dirty="0"/>
              <a:t> </a:t>
            </a:r>
            <a:r>
              <a:rPr spc="-25" dirty="0"/>
              <a:t>CẤU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0200" y="448436"/>
            <a:ext cx="2641600" cy="123444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455930" lvl="1" indent="-443230">
              <a:lnSpc>
                <a:spcPct val="100000"/>
              </a:lnSpc>
              <a:spcBef>
                <a:spcPts val="1010"/>
              </a:spcBef>
              <a:buAutoNum type="arabicPeriod" startAt="3"/>
              <a:tabLst>
                <a:tab pos="455930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Cơ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cấu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phẳng</a:t>
            </a:r>
            <a:endParaRPr sz="1800">
              <a:latin typeface="Arial"/>
              <a:cs typeface="Arial"/>
            </a:endParaRPr>
          </a:p>
          <a:p>
            <a:pPr marL="645160" lvl="2" indent="-632460">
              <a:lnSpc>
                <a:spcPct val="100000"/>
              </a:lnSpc>
              <a:spcBef>
                <a:spcPts val="915"/>
              </a:spcBef>
              <a:buAutoNum type="arabicPeriod" startAt="3"/>
              <a:tabLst>
                <a:tab pos="645160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Phân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tích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cấu 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trúc</a:t>
            </a:r>
            <a:endParaRPr sz="1800">
              <a:latin typeface="Arial"/>
              <a:cs typeface="Arial"/>
            </a:endParaRPr>
          </a:p>
          <a:p>
            <a:pPr marL="298450" lvl="3" indent="-285750">
              <a:lnSpc>
                <a:spcPct val="100000"/>
              </a:lnSpc>
              <a:spcBef>
                <a:spcPts val="1215"/>
              </a:spcBef>
              <a:buClr>
                <a:srgbClr val="1D9A78"/>
              </a:buClr>
              <a:buFont typeface="Wingdings"/>
              <a:buChar char=""/>
              <a:tabLst>
                <a:tab pos="298450" algn="l"/>
              </a:tabLst>
            </a:pPr>
            <a:r>
              <a:rPr sz="1800" b="1" spc="-10" dirty="0">
                <a:solidFill>
                  <a:srgbClr val="0D4D3B"/>
                </a:solidFill>
                <a:latin typeface="Arial"/>
                <a:cs typeface="Arial"/>
              </a:rPr>
              <a:t>Nhóm</a:t>
            </a:r>
            <a:r>
              <a:rPr sz="1800" b="1" spc="-75" dirty="0">
                <a:solidFill>
                  <a:srgbClr val="0D4D3B"/>
                </a:solidFill>
                <a:latin typeface="Arial"/>
                <a:cs typeface="Arial"/>
              </a:rPr>
              <a:t> </a:t>
            </a:r>
            <a:r>
              <a:rPr sz="1800" b="1" spc="-35" dirty="0">
                <a:solidFill>
                  <a:srgbClr val="0D4D3B"/>
                </a:solidFill>
                <a:latin typeface="Arial"/>
                <a:cs typeface="Arial"/>
              </a:rPr>
              <a:t>At-</a:t>
            </a:r>
            <a:r>
              <a:rPr sz="1800" b="1" spc="-25" dirty="0">
                <a:solidFill>
                  <a:srgbClr val="0D4D3B"/>
                </a:solidFill>
                <a:latin typeface="Arial"/>
                <a:cs typeface="Arial"/>
              </a:rPr>
              <a:t>xua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28329" y="120522"/>
            <a:ext cx="297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1.23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73786" y="1821560"/>
            <a:ext cx="6972934" cy="766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1D9A78"/>
              </a:buClr>
              <a:buChar char="•"/>
              <a:tabLst>
                <a:tab pos="299085" algn="l"/>
              </a:tabLst>
            </a:pPr>
            <a:r>
              <a:rPr sz="1800" dirty="0">
                <a:latin typeface="Arial"/>
                <a:cs typeface="Arial"/>
              </a:rPr>
              <a:t>Để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phân tích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trúc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cơ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→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tách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cơ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 thành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các</a:t>
            </a:r>
            <a:r>
              <a:rPr sz="1800" spc="-10" dirty="0">
                <a:latin typeface="Arial"/>
                <a:cs typeface="Arial"/>
              </a:rPr>
              <a:t> nhóm.</a:t>
            </a:r>
            <a:endParaRPr sz="18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1510"/>
              </a:spcBef>
              <a:buClr>
                <a:srgbClr val="1D9A78"/>
              </a:buClr>
              <a:buChar char="•"/>
              <a:tabLst>
                <a:tab pos="299085" algn="l"/>
              </a:tabLst>
            </a:pPr>
            <a:r>
              <a:rPr sz="1800" dirty="0">
                <a:latin typeface="Arial"/>
                <a:cs typeface="Arial"/>
              </a:rPr>
              <a:t>Nhóm tĩnh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định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nhóm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có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BTD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bằng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không.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3786" y="2754248"/>
            <a:ext cx="42487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1D9A78"/>
              </a:buClr>
              <a:buChar char="•"/>
              <a:tabLst>
                <a:tab pos="299085" algn="l"/>
              </a:tabLst>
            </a:pPr>
            <a:r>
              <a:rPr sz="1800" dirty="0">
                <a:latin typeface="Arial"/>
                <a:cs typeface="Arial"/>
              </a:rPr>
              <a:t>Nhóm</a:t>
            </a:r>
            <a:r>
              <a:rPr sz="1800" spc="-11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At-</a:t>
            </a:r>
            <a:r>
              <a:rPr sz="1800" dirty="0">
                <a:latin typeface="Arial"/>
                <a:cs typeface="Arial"/>
              </a:rPr>
              <a:t>xua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nhóm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tĩnh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định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tối</a:t>
            </a:r>
            <a:r>
              <a:rPr sz="1800" spc="-20" dirty="0">
                <a:latin typeface="Arial"/>
                <a:cs typeface="Arial"/>
              </a:rPr>
              <a:t> giản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776848" y="2368295"/>
            <a:ext cx="3116580" cy="1664970"/>
            <a:chOff x="5776848" y="2368295"/>
            <a:chExt cx="3116580" cy="166497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39506" y="3923201"/>
              <a:ext cx="517321" cy="8999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37273" y="3933488"/>
              <a:ext cx="517321" cy="8999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363461" y="3919727"/>
              <a:ext cx="1044575" cy="0"/>
            </a:xfrm>
            <a:custGeom>
              <a:avLst/>
              <a:gdLst/>
              <a:ahLst/>
              <a:cxnLst/>
              <a:rect l="l" t="t" r="r" b="b"/>
              <a:pathLst>
                <a:path w="1044575">
                  <a:moveTo>
                    <a:pt x="0" y="0"/>
                  </a:moveTo>
                  <a:lnTo>
                    <a:pt x="1044066" y="0"/>
                  </a:lnTo>
                </a:path>
              </a:pathLst>
            </a:custGeom>
            <a:ln w="1905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98003" y="3908424"/>
              <a:ext cx="163068" cy="9283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542022" y="3921632"/>
              <a:ext cx="1351280" cy="0"/>
            </a:xfrm>
            <a:custGeom>
              <a:avLst/>
              <a:gdLst/>
              <a:ahLst/>
              <a:cxnLst/>
              <a:rect l="l" t="t" r="r" b="b"/>
              <a:pathLst>
                <a:path w="1351279">
                  <a:moveTo>
                    <a:pt x="0" y="0"/>
                  </a:moveTo>
                  <a:lnTo>
                    <a:pt x="837692" y="0"/>
                  </a:lnTo>
                </a:path>
                <a:path w="1351279">
                  <a:moveTo>
                    <a:pt x="1179436" y="0"/>
                  </a:moveTo>
                  <a:lnTo>
                    <a:pt x="1351279" y="0"/>
                  </a:lnTo>
                </a:path>
              </a:pathLst>
            </a:custGeom>
            <a:ln w="23621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28610" y="3864863"/>
              <a:ext cx="109093" cy="10909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859398" y="2871469"/>
              <a:ext cx="441959" cy="1006475"/>
            </a:xfrm>
            <a:custGeom>
              <a:avLst/>
              <a:gdLst/>
              <a:ahLst/>
              <a:cxnLst/>
              <a:rect l="l" t="t" r="r" b="b"/>
              <a:pathLst>
                <a:path w="441960" h="1006475">
                  <a:moveTo>
                    <a:pt x="0" y="0"/>
                  </a:moveTo>
                  <a:lnTo>
                    <a:pt x="441451" y="1006093"/>
                  </a:lnTo>
                </a:path>
              </a:pathLst>
            </a:custGeom>
            <a:ln w="1905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39354" y="3148964"/>
              <a:ext cx="94705" cy="16217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494142" y="2466085"/>
              <a:ext cx="290830" cy="1413510"/>
            </a:xfrm>
            <a:custGeom>
              <a:avLst/>
              <a:gdLst/>
              <a:ahLst/>
              <a:cxnLst/>
              <a:rect l="l" t="t" r="r" b="b"/>
              <a:pathLst>
                <a:path w="290829" h="1413510">
                  <a:moveTo>
                    <a:pt x="0" y="1413383"/>
                  </a:moveTo>
                  <a:lnTo>
                    <a:pt x="117221" y="835278"/>
                  </a:lnTo>
                </a:path>
                <a:path w="290829" h="1413510">
                  <a:moveTo>
                    <a:pt x="138049" y="692658"/>
                  </a:moveTo>
                  <a:lnTo>
                    <a:pt x="290449" y="0"/>
                  </a:lnTo>
                </a:path>
              </a:pathLst>
            </a:custGeom>
            <a:ln w="1905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30108" y="2368295"/>
              <a:ext cx="109093" cy="10909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875400" y="2422778"/>
              <a:ext cx="1864360" cy="394335"/>
            </a:xfrm>
            <a:custGeom>
              <a:avLst/>
              <a:gdLst/>
              <a:ahLst/>
              <a:cxnLst/>
              <a:rect l="l" t="t" r="r" b="b"/>
              <a:pathLst>
                <a:path w="1864359" h="394335">
                  <a:moveTo>
                    <a:pt x="0" y="394335"/>
                  </a:moveTo>
                  <a:lnTo>
                    <a:pt x="1864232" y="0"/>
                  </a:lnTo>
                </a:path>
              </a:pathLst>
            </a:custGeom>
            <a:ln w="1905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76848" y="2778124"/>
              <a:ext cx="108965" cy="10909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379713" y="3839260"/>
              <a:ext cx="342265" cy="184785"/>
            </a:xfrm>
            <a:custGeom>
              <a:avLst/>
              <a:gdLst/>
              <a:ahLst/>
              <a:cxnLst/>
              <a:rect l="l" t="t" r="r" b="b"/>
              <a:pathLst>
                <a:path w="342265" h="184785">
                  <a:moveTo>
                    <a:pt x="341744" y="0"/>
                  </a:moveTo>
                  <a:lnTo>
                    <a:pt x="0" y="0"/>
                  </a:lnTo>
                  <a:lnTo>
                    <a:pt x="0" y="184226"/>
                  </a:lnTo>
                  <a:lnTo>
                    <a:pt x="341744" y="184226"/>
                  </a:lnTo>
                  <a:lnTo>
                    <a:pt x="341744" y="0"/>
                  </a:lnTo>
                  <a:close/>
                </a:path>
              </a:pathLst>
            </a:custGeom>
            <a:solidFill>
              <a:srgbClr val="F8D7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379713" y="3839260"/>
              <a:ext cx="342265" cy="184785"/>
            </a:xfrm>
            <a:custGeom>
              <a:avLst/>
              <a:gdLst/>
              <a:ahLst/>
              <a:cxnLst/>
              <a:rect l="l" t="t" r="r" b="b"/>
              <a:pathLst>
                <a:path w="342265" h="184785">
                  <a:moveTo>
                    <a:pt x="0" y="184226"/>
                  </a:moveTo>
                  <a:lnTo>
                    <a:pt x="341744" y="184226"/>
                  </a:lnTo>
                  <a:lnTo>
                    <a:pt x="341744" y="0"/>
                  </a:lnTo>
                  <a:lnTo>
                    <a:pt x="0" y="0"/>
                  </a:lnTo>
                  <a:lnTo>
                    <a:pt x="0" y="184226"/>
                  </a:lnTo>
                  <a:close/>
                </a:path>
              </a:pathLst>
            </a:custGeom>
            <a:ln w="1905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58940" y="3872483"/>
              <a:ext cx="109093" cy="10909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571739" y="3175507"/>
              <a:ext cx="109092" cy="10896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492235" y="3875150"/>
              <a:ext cx="109093" cy="108966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7658100" y="3261740"/>
              <a:ext cx="857250" cy="636270"/>
            </a:xfrm>
            <a:custGeom>
              <a:avLst/>
              <a:gdLst/>
              <a:ahLst/>
              <a:cxnLst/>
              <a:rect l="l" t="t" r="r" b="b"/>
              <a:pathLst>
                <a:path w="857250" h="636270">
                  <a:moveTo>
                    <a:pt x="856869" y="636016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084950" y="3638295"/>
              <a:ext cx="311785" cy="162560"/>
            </a:xfrm>
            <a:custGeom>
              <a:avLst/>
              <a:gdLst/>
              <a:ahLst/>
              <a:cxnLst/>
              <a:rect l="l" t="t" r="r" b="b"/>
              <a:pathLst>
                <a:path w="311785" h="162560">
                  <a:moveTo>
                    <a:pt x="178435" y="2666"/>
                  </a:moveTo>
                  <a:lnTo>
                    <a:pt x="124333" y="12699"/>
                  </a:lnTo>
                  <a:lnTo>
                    <a:pt x="76200" y="37464"/>
                  </a:lnTo>
                  <a:lnTo>
                    <a:pt x="37211" y="74802"/>
                  </a:lnTo>
                  <a:lnTo>
                    <a:pt x="10033" y="122808"/>
                  </a:lnTo>
                  <a:lnTo>
                    <a:pt x="0" y="159003"/>
                  </a:lnTo>
                  <a:lnTo>
                    <a:pt x="15621" y="162432"/>
                  </a:lnTo>
                  <a:lnTo>
                    <a:pt x="19373" y="145184"/>
                  </a:lnTo>
                  <a:lnTo>
                    <a:pt x="19468" y="144750"/>
                  </a:lnTo>
                  <a:lnTo>
                    <a:pt x="19536" y="144513"/>
                  </a:lnTo>
                  <a:lnTo>
                    <a:pt x="19640" y="144152"/>
                  </a:lnTo>
                  <a:lnTo>
                    <a:pt x="24900" y="128252"/>
                  </a:lnTo>
                  <a:lnTo>
                    <a:pt x="25001" y="128000"/>
                  </a:lnTo>
                  <a:lnTo>
                    <a:pt x="25116" y="127703"/>
                  </a:lnTo>
                  <a:lnTo>
                    <a:pt x="31488" y="113394"/>
                  </a:lnTo>
                  <a:lnTo>
                    <a:pt x="40259" y="97916"/>
                  </a:lnTo>
                  <a:lnTo>
                    <a:pt x="46111" y="89661"/>
                  </a:lnTo>
                  <a:lnTo>
                    <a:pt x="49714" y="84524"/>
                  </a:lnTo>
                  <a:lnTo>
                    <a:pt x="85165" y="50608"/>
                  </a:lnTo>
                  <a:lnTo>
                    <a:pt x="85806" y="50290"/>
                  </a:lnTo>
                  <a:lnTo>
                    <a:pt x="99108" y="41655"/>
                  </a:lnTo>
                  <a:lnTo>
                    <a:pt x="99791" y="41274"/>
                  </a:lnTo>
                  <a:lnTo>
                    <a:pt x="114426" y="33654"/>
                  </a:lnTo>
                  <a:lnTo>
                    <a:pt x="114632" y="33654"/>
                  </a:lnTo>
                  <a:lnTo>
                    <a:pt x="129148" y="27939"/>
                  </a:lnTo>
                  <a:lnTo>
                    <a:pt x="131619" y="27177"/>
                  </a:lnTo>
                  <a:lnTo>
                    <a:pt x="144077" y="23494"/>
                  </a:lnTo>
                  <a:lnTo>
                    <a:pt x="143695" y="23494"/>
                  </a:lnTo>
                  <a:lnTo>
                    <a:pt x="161763" y="20065"/>
                  </a:lnTo>
                  <a:lnTo>
                    <a:pt x="179217" y="18551"/>
                  </a:lnTo>
                  <a:lnTo>
                    <a:pt x="248587" y="18551"/>
                  </a:lnTo>
                  <a:lnTo>
                    <a:pt x="250585" y="15365"/>
                  </a:lnTo>
                  <a:lnTo>
                    <a:pt x="244728" y="12191"/>
                  </a:lnTo>
                  <a:lnTo>
                    <a:pt x="230377" y="8127"/>
                  </a:lnTo>
                  <a:lnTo>
                    <a:pt x="216281" y="5206"/>
                  </a:lnTo>
                  <a:lnTo>
                    <a:pt x="197358" y="3047"/>
                  </a:lnTo>
                  <a:lnTo>
                    <a:pt x="178435" y="2666"/>
                  </a:lnTo>
                  <a:close/>
                </a:path>
                <a:path w="311785" h="162560">
                  <a:moveTo>
                    <a:pt x="242123" y="28856"/>
                  </a:moveTo>
                  <a:lnTo>
                    <a:pt x="233299" y="42925"/>
                  </a:lnTo>
                  <a:lnTo>
                    <a:pt x="311276" y="61975"/>
                  </a:lnTo>
                  <a:lnTo>
                    <a:pt x="289202" y="35178"/>
                  </a:lnTo>
                  <a:lnTo>
                    <a:pt x="253746" y="35178"/>
                  </a:lnTo>
                  <a:lnTo>
                    <a:pt x="242123" y="28856"/>
                  </a:lnTo>
                  <a:close/>
                </a:path>
                <a:path w="311785" h="162560">
                  <a:moveTo>
                    <a:pt x="85806" y="50290"/>
                  </a:moveTo>
                  <a:lnTo>
                    <a:pt x="85165" y="50608"/>
                  </a:lnTo>
                  <a:lnTo>
                    <a:pt x="84481" y="51150"/>
                  </a:lnTo>
                  <a:lnTo>
                    <a:pt x="85806" y="50290"/>
                  </a:lnTo>
                  <a:close/>
                </a:path>
                <a:path w="311785" h="162560">
                  <a:moveTo>
                    <a:pt x="250585" y="15365"/>
                  </a:moveTo>
                  <a:lnTo>
                    <a:pt x="242123" y="28856"/>
                  </a:lnTo>
                  <a:lnTo>
                    <a:pt x="253746" y="35178"/>
                  </a:lnTo>
                  <a:lnTo>
                    <a:pt x="261365" y="21208"/>
                  </a:lnTo>
                  <a:lnTo>
                    <a:pt x="250585" y="15365"/>
                  </a:lnTo>
                  <a:close/>
                </a:path>
                <a:path w="311785" h="162560">
                  <a:moveTo>
                    <a:pt x="260223" y="0"/>
                  </a:moveTo>
                  <a:lnTo>
                    <a:pt x="250585" y="15365"/>
                  </a:lnTo>
                  <a:lnTo>
                    <a:pt x="261365" y="21208"/>
                  </a:lnTo>
                  <a:lnTo>
                    <a:pt x="253746" y="35178"/>
                  </a:lnTo>
                  <a:lnTo>
                    <a:pt x="289202" y="35178"/>
                  </a:lnTo>
                  <a:lnTo>
                    <a:pt x="260223" y="0"/>
                  </a:lnTo>
                  <a:close/>
                </a:path>
                <a:path w="311785" h="162560">
                  <a:moveTo>
                    <a:pt x="114632" y="33654"/>
                  </a:moveTo>
                  <a:lnTo>
                    <a:pt x="114426" y="33654"/>
                  </a:lnTo>
                  <a:lnTo>
                    <a:pt x="113695" y="34035"/>
                  </a:lnTo>
                  <a:lnTo>
                    <a:pt x="114632" y="33654"/>
                  </a:lnTo>
                  <a:close/>
                </a:path>
                <a:path w="311785" h="162560">
                  <a:moveTo>
                    <a:pt x="238492" y="26880"/>
                  </a:moveTo>
                  <a:lnTo>
                    <a:pt x="242123" y="28856"/>
                  </a:lnTo>
                  <a:lnTo>
                    <a:pt x="243176" y="27177"/>
                  </a:lnTo>
                  <a:lnTo>
                    <a:pt x="239522" y="27177"/>
                  </a:lnTo>
                  <a:lnTo>
                    <a:pt x="238492" y="26880"/>
                  </a:lnTo>
                  <a:close/>
                </a:path>
                <a:path w="311785" h="162560">
                  <a:moveTo>
                    <a:pt x="237871" y="26542"/>
                  </a:moveTo>
                  <a:lnTo>
                    <a:pt x="238492" y="26880"/>
                  </a:lnTo>
                  <a:lnTo>
                    <a:pt x="239522" y="27177"/>
                  </a:lnTo>
                  <a:lnTo>
                    <a:pt x="237871" y="26542"/>
                  </a:lnTo>
                  <a:close/>
                </a:path>
                <a:path w="311785" h="162560">
                  <a:moveTo>
                    <a:pt x="243574" y="26542"/>
                  </a:moveTo>
                  <a:lnTo>
                    <a:pt x="237871" y="26542"/>
                  </a:lnTo>
                  <a:lnTo>
                    <a:pt x="239522" y="27177"/>
                  </a:lnTo>
                  <a:lnTo>
                    <a:pt x="243176" y="27177"/>
                  </a:lnTo>
                  <a:lnTo>
                    <a:pt x="243574" y="26542"/>
                  </a:lnTo>
                  <a:close/>
                </a:path>
                <a:path w="311785" h="162560">
                  <a:moveTo>
                    <a:pt x="248587" y="18551"/>
                  </a:moveTo>
                  <a:lnTo>
                    <a:pt x="179217" y="18551"/>
                  </a:lnTo>
                  <a:lnTo>
                    <a:pt x="196722" y="18795"/>
                  </a:lnTo>
                  <a:lnTo>
                    <a:pt x="195834" y="18795"/>
                  </a:lnTo>
                  <a:lnTo>
                    <a:pt x="214136" y="20956"/>
                  </a:lnTo>
                  <a:lnTo>
                    <a:pt x="226949" y="23494"/>
                  </a:lnTo>
                  <a:lnTo>
                    <a:pt x="226754" y="23494"/>
                  </a:lnTo>
                  <a:lnTo>
                    <a:pt x="238492" y="26880"/>
                  </a:lnTo>
                  <a:lnTo>
                    <a:pt x="237871" y="26542"/>
                  </a:lnTo>
                  <a:lnTo>
                    <a:pt x="243574" y="26542"/>
                  </a:lnTo>
                  <a:lnTo>
                    <a:pt x="248587" y="1855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023246" y="3778731"/>
            <a:ext cx="26797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50" dirty="0">
                <a:latin typeface="Cambria Math"/>
                <a:cs typeface="Cambria Math"/>
              </a:rPr>
              <a:t>A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558153" y="2603970"/>
            <a:ext cx="26543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50" dirty="0">
                <a:latin typeface="Cambria Math"/>
                <a:cs typeface="Cambria Math"/>
              </a:rPr>
              <a:t>B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698873" y="2056260"/>
            <a:ext cx="252729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0" dirty="0">
                <a:latin typeface="Cambria Math"/>
                <a:cs typeface="Cambria Math"/>
              </a:rPr>
              <a:t>C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290856" y="3935819"/>
            <a:ext cx="27813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50" dirty="0">
                <a:latin typeface="Cambria Math"/>
                <a:cs typeface="Cambria Math"/>
              </a:rPr>
              <a:t>D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395968" y="3943312"/>
            <a:ext cx="246379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50" dirty="0">
                <a:latin typeface="Cambria Math"/>
                <a:cs typeface="Cambria Math"/>
              </a:rPr>
              <a:t>F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62487" y="3524363"/>
            <a:ext cx="15240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030427" y="3217778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293989" y="2725660"/>
            <a:ext cx="360045" cy="6108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0345">
              <a:lnSpc>
                <a:spcPts val="2245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365"/>
              </a:lnSpc>
            </a:pPr>
            <a:r>
              <a:rPr sz="2100" spc="-50" dirty="0">
                <a:latin typeface="Cambria Math"/>
                <a:cs typeface="Cambria Math"/>
              </a:rPr>
              <a:t>E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839831" y="3164819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733377" y="2293853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830999" y="3974959"/>
            <a:ext cx="15240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67905" y="4385690"/>
            <a:ext cx="2954655" cy="1664970"/>
            <a:chOff x="567905" y="4385690"/>
            <a:chExt cx="2954655" cy="1664970"/>
          </a:xfrm>
        </p:grpSpPr>
        <p:pic>
          <p:nvPicPr>
            <p:cNvPr id="40" name="object 4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19706" y="5882296"/>
              <a:ext cx="109093" cy="109042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30450" y="5166486"/>
              <a:ext cx="94826" cy="162051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2285238" y="4483480"/>
              <a:ext cx="290830" cy="1413510"/>
            </a:xfrm>
            <a:custGeom>
              <a:avLst/>
              <a:gdLst/>
              <a:ahLst/>
              <a:cxnLst/>
              <a:rect l="l" t="t" r="r" b="b"/>
              <a:pathLst>
                <a:path w="290830" h="1413510">
                  <a:moveTo>
                    <a:pt x="0" y="1413459"/>
                  </a:moveTo>
                  <a:lnTo>
                    <a:pt x="117220" y="835406"/>
                  </a:lnTo>
                </a:path>
                <a:path w="290830" h="1413510">
                  <a:moveTo>
                    <a:pt x="138049" y="692785"/>
                  </a:moveTo>
                  <a:lnTo>
                    <a:pt x="290449" y="0"/>
                  </a:lnTo>
                </a:path>
              </a:pathLst>
            </a:custGeom>
            <a:ln w="1905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521203" y="4385690"/>
              <a:ext cx="109093" cy="109092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666495" y="4440173"/>
              <a:ext cx="1864360" cy="394335"/>
            </a:xfrm>
            <a:custGeom>
              <a:avLst/>
              <a:gdLst/>
              <a:ahLst/>
              <a:cxnLst/>
              <a:rect l="l" t="t" r="r" b="b"/>
              <a:pathLst>
                <a:path w="1864360" h="394335">
                  <a:moveTo>
                    <a:pt x="0" y="394334"/>
                  </a:moveTo>
                  <a:lnTo>
                    <a:pt x="1864233" y="0"/>
                  </a:lnTo>
                </a:path>
              </a:pathLst>
            </a:custGeom>
            <a:ln w="1905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67905" y="4795519"/>
              <a:ext cx="109042" cy="109093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3170809" y="5856731"/>
              <a:ext cx="342265" cy="184785"/>
            </a:xfrm>
            <a:custGeom>
              <a:avLst/>
              <a:gdLst/>
              <a:ahLst/>
              <a:cxnLst/>
              <a:rect l="l" t="t" r="r" b="b"/>
              <a:pathLst>
                <a:path w="342264" h="184785">
                  <a:moveTo>
                    <a:pt x="341744" y="0"/>
                  </a:moveTo>
                  <a:lnTo>
                    <a:pt x="0" y="0"/>
                  </a:lnTo>
                  <a:lnTo>
                    <a:pt x="0" y="184226"/>
                  </a:lnTo>
                  <a:lnTo>
                    <a:pt x="341744" y="184226"/>
                  </a:lnTo>
                  <a:lnTo>
                    <a:pt x="341744" y="0"/>
                  </a:lnTo>
                  <a:close/>
                </a:path>
              </a:pathLst>
            </a:custGeom>
            <a:solidFill>
              <a:srgbClr val="F8D7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170809" y="5856731"/>
              <a:ext cx="342265" cy="184785"/>
            </a:xfrm>
            <a:custGeom>
              <a:avLst/>
              <a:gdLst/>
              <a:ahLst/>
              <a:cxnLst/>
              <a:rect l="l" t="t" r="r" b="b"/>
              <a:pathLst>
                <a:path w="342264" h="184785">
                  <a:moveTo>
                    <a:pt x="0" y="184226"/>
                  </a:moveTo>
                  <a:lnTo>
                    <a:pt x="341744" y="184226"/>
                  </a:lnTo>
                  <a:lnTo>
                    <a:pt x="341744" y="0"/>
                  </a:lnTo>
                  <a:lnTo>
                    <a:pt x="0" y="0"/>
                  </a:lnTo>
                  <a:lnTo>
                    <a:pt x="0" y="184226"/>
                  </a:lnTo>
                  <a:close/>
                </a:path>
              </a:pathLst>
            </a:custGeom>
            <a:ln w="1905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62834" y="5192902"/>
              <a:ext cx="109092" cy="108966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283331" y="5892533"/>
              <a:ext cx="109093" cy="109042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2449194" y="5279262"/>
              <a:ext cx="857250" cy="636270"/>
            </a:xfrm>
            <a:custGeom>
              <a:avLst/>
              <a:gdLst/>
              <a:ahLst/>
              <a:cxnLst/>
              <a:rect l="l" t="t" r="r" b="b"/>
              <a:pathLst>
                <a:path w="857250" h="636270">
                  <a:moveTo>
                    <a:pt x="856869" y="635965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349248" y="4621365"/>
            <a:ext cx="26543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50" dirty="0">
                <a:latin typeface="Cambria Math"/>
                <a:cs typeface="Cambria Math"/>
              </a:rPr>
              <a:t>B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489968" y="4073654"/>
            <a:ext cx="252729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0" dirty="0">
                <a:latin typeface="Cambria Math"/>
                <a:cs typeface="Cambria Math"/>
              </a:rPr>
              <a:t>C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081951" y="5932094"/>
            <a:ext cx="27813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50" dirty="0">
                <a:latin typeface="Cambria Math"/>
                <a:cs typeface="Cambria Math"/>
              </a:rPr>
              <a:t>D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187063" y="6004103"/>
            <a:ext cx="246379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50" dirty="0">
                <a:latin typeface="Cambria Math"/>
                <a:cs typeface="Cambria Math"/>
              </a:rPr>
              <a:t>F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353583" y="5541758"/>
            <a:ext cx="15240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821523" y="5235173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085084" y="4743055"/>
            <a:ext cx="360045" cy="6108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0345">
              <a:lnSpc>
                <a:spcPts val="2245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365"/>
              </a:lnSpc>
            </a:pPr>
            <a:r>
              <a:rPr sz="2100" spc="-50" dirty="0">
                <a:latin typeface="Cambria Math"/>
                <a:cs typeface="Cambria Math"/>
              </a:rPr>
              <a:t>E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524473" y="4311248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6748398" y="5325109"/>
            <a:ext cx="1159510" cy="857885"/>
            <a:chOff x="6748398" y="5325109"/>
            <a:chExt cx="1159510" cy="857885"/>
          </a:xfrm>
        </p:grpSpPr>
        <p:sp>
          <p:nvSpPr>
            <p:cNvPr id="60" name="object 60"/>
            <p:cNvSpPr/>
            <p:nvPr/>
          </p:nvSpPr>
          <p:spPr>
            <a:xfrm>
              <a:off x="7556372" y="5989015"/>
              <a:ext cx="342265" cy="184785"/>
            </a:xfrm>
            <a:custGeom>
              <a:avLst/>
              <a:gdLst/>
              <a:ahLst/>
              <a:cxnLst/>
              <a:rect l="l" t="t" r="r" b="b"/>
              <a:pathLst>
                <a:path w="342265" h="184785">
                  <a:moveTo>
                    <a:pt x="341744" y="0"/>
                  </a:moveTo>
                  <a:lnTo>
                    <a:pt x="0" y="0"/>
                  </a:lnTo>
                  <a:lnTo>
                    <a:pt x="0" y="184226"/>
                  </a:lnTo>
                  <a:lnTo>
                    <a:pt x="341744" y="184226"/>
                  </a:lnTo>
                  <a:lnTo>
                    <a:pt x="341744" y="0"/>
                  </a:lnTo>
                  <a:close/>
                </a:path>
              </a:pathLst>
            </a:custGeom>
            <a:solidFill>
              <a:srgbClr val="F8D7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556372" y="5989015"/>
              <a:ext cx="342265" cy="184785"/>
            </a:xfrm>
            <a:custGeom>
              <a:avLst/>
              <a:gdLst/>
              <a:ahLst/>
              <a:cxnLst/>
              <a:rect l="l" t="t" r="r" b="b"/>
              <a:pathLst>
                <a:path w="342265" h="184785">
                  <a:moveTo>
                    <a:pt x="0" y="184226"/>
                  </a:moveTo>
                  <a:lnTo>
                    <a:pt x="341744" y="184226"/>
                  </a:lnTo>
                  <a:lnTo>
                    <a:pt x="341744" y="0"/>
                  </a:lnTo>
                  <a:lnTo>
                    <a:pt x="0" y="0"/>
                  </a:lnTo>
                  <a:lnTo>
                    <a:pt x="0" y="184226"/>
                  </a:lnTo>
                  <a:close/>
                </a:path>
              </a:pathLst>
            </a:custGeom>
            <a:ln w="1905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748398" y="5325109"/>
              <a:ext cx="109093" cy="109093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668894" y="6024816"/>
              <a:ext cx="109093" cy="109054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6834758" y="5411469"/>
              <a:ext cx="857250" cy="636270"/>
            </a:xfrm>
            <a:custGeom>
              <a:avLst/>
              <a:gdLst/>
              <a:ahLst/>
              <a:cxnLst/>
              <a:rect l="l" t="t" r="r" b="b"/>
              <a:pathLst>
                <a:path w="857250" h="636270">
                  <a:moveTo>
                    <a:pt x="856869" y="636054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6711694" y="5010747"/>
            <a:ext cx="25654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50" dirty="0">
                <a:latin typeface="Cambria Math"/>
                <a:cs typeface="Cambria Math"/>
              </a:rPr>
              <a:t>E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290941" y="5869521"/>
            <a:ext cx="246379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50" dirty="0">
                <a:latin typeface="Cambria Math"/>
                <a:cs typeface="Cambria Math"/>
              </a:rPr>
              <a:t>F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7739273" y="5674041"/>
            <a:ext cx="15240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207087" y="5367431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4534661" y="4611623"/>
            <a:ext cx="2062480" cy="1605915"/>
            <a:chOff x="4534661" y="4611623"/>
            <a:chExt cx="2062480" cy="1605915"/>
          </a:xfrm>
        </p:grpSpPr>
        <p:pic>
          <p:nvPicPr>
            <p:cNvPr id="70" name="object 7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186551" y="6108268"/>
              <a:ext cx="108965" cy="109042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297167" y="5392419"/>
              <a:ext cx="94826" cy="162052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6251955" y="4709413"/>
              <a:ext cx="290830" cy="1413510"/>
            </a:xfrm>
            <a:custGeom>
              <a:avLst/>
              <a:gdLst/>
              <a:ahLst/>
              <a:cxnLst/>
              <a:rect l="l" t="t" r="r" b="b"/>
              <a:pathLst>
                <a:path w="290829" h="1413510">
                  <a:moveTo>
                    <a:pt x="0" y="1413497"/>
                  </a:moveTo>
                  <a:lnTo>
                    <a:pt x="117221" y="835406"/>
                  </a:lnTo>
                </a:path>
                <a:path w="290829" h="1413510">
                  <a:moveTo>
                    <a:pt x="138049" y="692785"/>
                  </a:moveTo>
                  <a:lnTo>
                    <a:pt x="290449" y="0"/>
                  </a:lnTo>
                </a:path>
              </a:pathLst>
            </a:custGeom>
            <a:ln w="1905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87922" y="4611623"/>
              <a:ext cx="109093" cy="109093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4633213" y="4666233"/>
              <a:ext cx="1864360" cy="394335"/>
            </a:xfrm>
            <a:custGeom>
              <a:avLst/>
              <a:gdLst/>
              <a:ahLst/>
              <a:cxnLst/>
              <a:rect l="l" t="t" r="r" b="b"/>
              <a:pathLst>
                <a:path w="1864360" h="394335">
                  <a:moveTo>
                    <a:pt x="0" y="394208"/>
                  </a:moveTo>
                  <a:lnTo>
                    <a:pt x="1864233" y="0"/>
                  </a:lnTo>
                </a:path>
              </a:pathLst>
            </a:custGeom>
            <a:ln w="1905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534661" y="5021452"/>
              <a:ext cx="108965" cy="109093"/>
            </a:xfrm>
            <a:prstGeom prst="rect">
              <a:avLst/>
            </a:prstGeom>
          </p:spPr>
        </p:pic>
      </p:grpSp>
      <p:sp>
        <p:nvSpPr>
          <p:cNvPr id="76" name="object 76"/>
          <p:cNvSpPr txBox="1"/>
          <p:nvPr/>
        </p:nvSpPr>
        <p:spPr>
          <a:xfrm>
            <a:off x="4315966" y="4847298"/>
            <a:ext cx="26543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50" dirty="0">
                <a:latin typeface="Cambria Math"/>
                <a:cs typeface="Cambria Math"/>
              </a:rPr>
              <a:t>B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6456813" y="4299715"/>
            <a:ext cx="252729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0" dirty="0">
                <a:latin typeface="Cambria Math"/>
                <a:cs typeface="Cambria Math"/>
              </a:rPr>
              <a:t>C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5940084" y="5921515"/>
            <a:ext cx="27813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50" dirty="0">
                <a:latin typeface="Cambria Math"/>
                <a:cs typeface="Cambria Math"/>
              </a:rPr>
              <a:t>D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6259596" y="4968988"/>
            <a:ext cx="15240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491190" y="4537181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4424934" y="6394805"/>
            <a:ext cx="406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Nhóm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tĩnh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định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tối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giản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→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Nhóm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At-</a:t>
            </a:r>
            <a:r>
              <a:rPr sz="1800" spc="-25" dirty="0">
                <a:latin typeface="Arial"/>
                <a:cs typeface="Arial"/>
              </a:rPr>
              <a:t>xua</a:t>
            </a:r>
            <a:endParaRPr sz="1800">
              <a:latin typeface="Arial"/>
              <a:cs typeface="Aria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506374" y="6375908"/>
            <a:ext cx="2959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Nhóm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tĩnh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định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chưa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tối</a:t>
            </a:r>
            <a:r>
              <a:rPr sz="1800" spc="-20" dirty="0">
                <a:latin typeface="Arial"/>
                <a:cs typeface="Arial"/>
              </a:rPr>
              <a:t> giản</a:t>
            </a:r>
            <a:endParaRPr sz="180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445513" y="3260394"/>
            <a:ext cx="2228850" cy="391160"/>
          </a:xfrm>
          <a:prstGeom prst="rect">
            <a:avLst/>
          </a:prstGeom>
          <a:ln w="12700">
            <a:solidFill>
              <a:srgbClr val="126F55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4925">
              <a:lnSpc>
                <a:spcPts val="2400"/>
              </a:lnSpc>
            </a:pPr>
            <a:r>
              <a:rPr sz="2100" spc="-225" dirty="0">
                <a:latin typeface="Cambria Math"/>
                <a:cs typeface="Cambria Math"/>
              </a:rPr>
              <a:t>w</a:t>
            </a:r>
            <a:r>
              <a:rPr sz="1800" spc="-337" baseline="-23148" dirty="0">
                <a:latin typeface="Cambria Math"/>
                <a:cs typeface="Cambria Math"/>
              </a:rPr>
              <a:t>Axua</a:t>
            </a:r>
            <a:r>
              <a:rPr sz="1800" spc="330" baseline="-23148" dirty="0">
                <a:latin typeface="Cambria Math"/>
                <a:cs typeface="Cambria Math"/>
              </a:rPr>
              <a:t> </a:t>
            </a:r>
            <a:r>
              <a:rPr sz="2000" dirty="0">
                <a:latin typeface="Symbol"/>
                <a:cs typeface="Symbol"/>
              </a:rPr>
              <a:t>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25" dirty="0">
                <a:latin typeface="Times New Roman"/>
                <a:cs typeface="Times New Roman"/>
              </a:rPr>
              <a:t>3</a:t>
            </a:r>
            <a:r>
              <a:rPr sz="2100" spc="-125" dirty="0">
                <a:latin typeface="Cambria Math"/>
                <a:cs typeface="Cambria Math"/>
              </a:rPr>
              <a:t>n</a:t>
            </a:r>
            <a:r>
              <a:rPr sz="2000" spc="-125" dirty="0">
                <a:latin typeface="Symbol"/>
                <a:cs typeface="Symbol"/>
              </a:rPr>
              <a:t></a:t>
            </a:r>
            <a:r>
              <a:rPr sz="2000" spc="-150" dirty="0">
                <a:latin typeface="Times New Roman"/>
                <a:cs typeface="Times New Roman"/>
              </a:rPr>
              <a:t> </a:t>
            </a:r>
            <a:r>
              <a:rPr sz="2000" spc="-275" dirty="0">
                <a:latin typeface="Times New Roman"/>
                <a:cs typeface="Times New Roman"/>
              </a:rPr>
              <a:t>2</a:t>
            </a:r>
            <a:r>
              <a:rPr sz="2100" spc="-275" dirty="0">
                <a:latin typeface="Cambria Math"/>
                <a:cs typeface="Cambria Math"/>
              </a:rPr>
              <a:t>T</a:t>
            </a:r>
            <a:r>
              <a:rPr sz="2100" spc="-35" dirty="0">
                <a:latin typeface="Cambria Math"/>
                <a:cs typeface="Cambria Math"/>
              </a:rPr>
              <a:t> </a:t>
            </a:r>
            <a:r>
              <a:rPr sz="2000" dirty="0">
                <a:latin typeface="Symbol"/>
                <a:cs typeface="Symbol"/>
              </a:rPr>
              <a:t>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217728" y="120522"/>
            <a:ext cx="314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NHH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9621" y="118110"/>
            <a:ext cx="60655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30" dirty="0"/>
              <a:t> </a:t>
            </a:r>
            <a:r>
              <a:rPr dirty="0"/>
              <a:t>1</a:t>
            </a:r>
            <a:r>
              <a:rPr spc="-45" dirty="0"/>
              <a:t> </a:t>
            </a:r>
            <a:r>
              <a:rPr dirty="0"/>
              <a:t>–</a:t>
            </a:r>
            <a:r>
              <a:rPr spc="-50" dirty="0"/>
              <a:t> </a:t>
            </a:r>
            <a:r>
              <a:rPr dirty="0"/>
              <a:t>PHÂN</a:t>
            </a:r>
            <a:r>
              <a:rPr spc="-40" dirty="0"/>
              <a:t> </a:t>
            </a:r>
            <a:r>
              <a:rPr dirty="0"/>
              <a:t>TÍCH</a:t>
            </a:r>
            <a:r>
              <a:rPr spc="-45" dirty="0"/>
              <a:t> </a:t>
            </a:r>
            <a:r>
              <a:rPr dirty="0"/>
              <a:t>CẤU</a:t>
            </a:r>
            <a:r>
              <a:rPr spc="-55" dirty="0"/>
              <a:t> </a:t>
            </a:r>
            <a:r>
              <a:rPr dirty="0"/>
              <a:t>TRÚC</a:t>
            </a:r>
            <a:r>
              <a:rPr spc="-45" dirty="0"/>
              <a:t> </a:t>
            </a:r>
            <a:r>
              <a:rPr dirty="0"/>
              <a:t>CƠ</a:t>
            </a:r>
            <a:r>
              <a:rPr spc="-45" dirty="0"/>
              <a:t> </a:t>
            </a:r>
            <a:r>
              <a:rPr spc="-25" dirty="0"/>
              <a:t>CẤU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28329" y="120522"/>
            <a:ext cx="297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1.24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30200" y="448436"/>
            <a:ext cx="2844800" cy="1673225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455930" lvl="1" indent="-443230">
              <a:lnSpc>
                <a:spcPct val="100000"/>
              </a:lnSpc>
              <a:spcBef>
                <a:spcPts val="1010"/>
              </a:spcBef>
              <a:buAutoNum type="arabicPeriod" startAt="3"/>
              <a:tabLst>
                <a:tab pos="455930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Cơ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cấu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phẳng</a:t>
            </a:r>
            <a:endParaRPr sz="1800">
              <a:latin typeface="Arial"/>
              <a:cs typeface="Arial"/>
            </a:endParaRPr>
          </a:p>
          <a:p>
            <a:pPr marL="645160" lvl="2" indent="-632460">
              <a:lnSpc>
                <a:spcPct val="100000"/>
              </a:lnSpc>
              <a:spcBef>
                <a:spcPts val="915"/>
              </a:spcBef>
              <a:buAutoNum type="arabicPeriod" startAt="3"/>
              <a:tabLst>
                <a:tab pos="645160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Phân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tích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cấu 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trúc</a:t>
            </a:r>
            <a:endParaRPr sz="1800">
              <a:latin typeface="Arial"/>
              <a:cs typeface="Arial"/>
            </a:endParaRPr>
          </a:p>
          <a:p>
            <a:pPr marL="299085" lvl="3" indent="-286385">
              <a:lnSpc>
                <a:spcPct val="100000"/>
              </a:lnSpc>
              <a:spcBef>
                <a:spcPts val="1215"/>
              </a:spcBef>
              <a:buClr>
                <a:srgbClr val="1D9A78"/>
              </a:buClr>
              <a:buSzPct val="63888"/>
              <a:buFont typeface="Wingdings"/>
              <a:buChar char=""/>
              <a:tabLst>
                <a:tab pos="299085" algn="l"/>
              </a:tabLst>
            </a:pPr>
            <a:r>
              <a:rPr sz="1800" b="1" dirty="0">
                <a:solidFill>
                  <a:srgbClr val="0D4D3B"/>
                </a:solidFill>
                <a:latin typeface="Arial"/>
                <a:cs typeface="Arial"/>
              </a:rPr>
              <a:t>Nhóm</a:t>
            </a:r>
            <a:r>
              <a:rPr sz="1800" b="1" spc="-40" dirty="0">
                <a:solidFill>
                  <a:srgbClr val="0D4D3B"/>
                </a:solidFill>
                <a:latin typeface="Arial"/>
                <a:cs typeface="Arial"/>
              </a:rPr>
              <a:t> </a:t>
            </a:r>
            <a:r>
              <a:rPr sz="1800" b="1" spc="-35" dirty="0">
                <a:solidFill>
                  <a:srgbClr val="0D4D3B"/>
                </a:solidFill>
                <a:latin typeface="Arial"/>
                <a:cs typeface="Arial"/>
              </a:rPr>
              <a:t>At-</a:t>
            </a:r>
            <a:r>
              <a:rPr sz="1800" b="1" spc="-25" dirty="0">
                <a:solidFill>
                  <a:srgbClr val="0D4D3B"/>
                </a:solidFill>
                <a:latin typeface="Arial"/>
                <a:cs typeface="Arial"/>
              </a:rPr>
              <a:t>xua</a:t>
            </a:r>
            <a:endParaRPr sz="1800">
              <a:latin typeface="Arial"/>
              <a:cs typeface="Arial"/>
            </a:endParaRPr>
          </a:p>
          <a:p>
            <a:pPr marL="342265" indent="-286385">
              <a:lnSpc>
                <a:spcPct val="100000"/>
              </a:lnSpc>
              <a:spcBef>
                <a:spcPts val="1290"/>
              </a:spcBef>
              <a:buClr>
                <a:srgbClr val="1D9A78"/>
              </a:buClr>
              <a:buSzPct val="63888"/>
              <a:buFont typeface="Arial"/>
              <a:buChar char="•"/>
              <a:tabLst>
                <a:tab pos="342265" algn="l"/>
              </a:tabLst>
            </a:pPr>
            <a:r>
              <a:rPr sz="1800" b="1" i="1" dirty="0">
                <a:latin typeface="Arial"/>
                <a:cs typeface="Arial"/>
              </a:rPr>
              <a:t>Hạng</a:t>
            </a:r>
            <a:r>
              <a:rPr sz="1800" b="1" i="1" spc="-2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của</a:t>
            </a:r>
            <a:r>
              <a:rPr sz="1800" b="1" i="1" spc="-3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nhóm</a:t>
            </a:r>
            <a:r>
              <a:rPr sz="1800" b="1" i="1" spc="-50" dirty="0">
                <a:latin typeface="Arial"/>
                <a:cs typeface="Arial"/>
              </a:rPr>
              <a:t> </a:t>
            </a:r>
            <a:r>
              <a:rPr sz="1800" b="1" i="1" spc="-10" dirty="0">
                <a:latin typeface="Arial"/>
                <a:cs typeface="Arial"/>
              </a:rPr>
              <a:t>Atxua: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9591" y="2204897"/>
            <a:ext cx="2228850" cy="391160"/>
          </a:xfrm>
          <a:prstGeom prst="rect">
            <a:avLst/>
          </a:prstGeom>
          <a:ln w="12700">
            <a:solidFill>
              <a:srgbClr val="126F55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4925">
              <a:lnSpc>
                <a:spcPts val="2400"/>
              </a:lnSpc>
            </a:pPr>
            <a:r>
              <a:rPr sz="2100" spc="-225" dirty="0">
                <a:latin typeface="Cambria Math"/>
                <a:cs typeface="Cambria Math"/>
              </a:rPr>
              <a:t>w</a:t>
            </a:r>
            <a:r>
              <a:rPr sz="1800" spc="-337" baseline="-23148" dirty="0">
                <a:latin typeface="Cambria Math"/>
                <a:cs typeface="Cambria Math"/>
              </a:rPr>
              <a:t>Axua</a:t>
            </a:r>
            <a:r>
              <a:rPr sz="1800" spc="330" baseline="-23148" dirty="0">
                <a:latin typeface="Cambria Math"/>
                <a:cs typeface="Cambria Math"/>
              </a:rPr>
              <a:t> </a:t>
            </a:r>
            <a:r>
              <a:rPr sz="2000" dirty="0">
                <a:latin typeface="Symbol"/>
                <a:cs typeface="Symbol"/>
              </a:rPr>
              <a:t>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25" dirty="0">
                <a:latin typeface="Times New Roman"/>
                <a:cs typeface="Times New Roman"/>
              </a:rPr>
              <a:t>3</a:t>
            </a:r>
            <a:r>
              <a:rPr sz="2100" spc="-125" dirty="0">
                <a:latin typeface="Cambria Math"/>
                <a:cs typeface="Cambria Math"/>
              </a:rPr>
              <a:t>n</a:t>
            </a:r>
            <a:r>
              <a:rPr sz="2000" spc="-125" dirty="0">
                <a:latin typeface="Symbol"/>
                <a:cs typeface="Symbol"/>
              </a:rPr>
              <a:t></a:t>
            </a:r>
            <a:r>
              <a:rPr sz="2000" spc="-150" dirty="0">
                <a:latin typeface="Times New Roman"/>
                <a:cs typeface="Times New Roman"/>
              </a:rPr>
              <a:t> </a:t>
            </a:r>
            <a:r>
              <a:rPr sz="2000" spc="-275" dirty="0">
                <a:latin typeface="Times New Roman"/>
                <a:cs typeface="Times New Roman"/>
              </a:rPr>
              <a:t>2</a:t>
            </a:r>
            <a:r>
              <a:rPr sz="2100" spc="-275" dirty="0">
                <a:latin typeface="Cambria Math"/>
                <a:cs typeface="Cambria Math"/>
              </a:rPr>
              <a:t>T</a:t>
            </a:r>
            <a:r>
              <a:rPr sz="2100" spc="-35" dirty="0">
                <a:latin typeface="Cambria Math"/>
                <a:cs typeface="Cambria Math"/>
              </a:rPr>
              <a:t> </a:t>
            </a:r>
            <a:r>
              <a:rPr sz="2000" dirty="0">
                <a:latin typeface="Symbol"/>
                <a:cs typeface="Symbol"/>
              </a:rPr>
              <a:t>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693792" y="482473"/>
            <a:ext cx="0" cy="4228465"/>
          </a:xfrm>
          <a:custGeom>
            <a:avLst/>
            <a:gdLst/>
            <a:ahLst/>
            <a:cxnLst/>
            <a:rect l="l" t="t" r="r" b="b"/>
            <a:pathLst>
              <a:path h="4228465">
                <a:moveTo>
                  <a:pt x="0" y="0"/>
                </a:moveTo>
                <a:lnTo>
                  <a:pt x="0" y="4228338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/>
              <a:t>n</a:t>
            </a:r>
            <a:r>
              <a:rPr spc="-15" dirty="0"/>
              <a:t> </a:t>
            </a:r>
            <a:r>
              <a:rPr dirty="0"/>
              <a:t>=</a:t>
            </a:r>
            <a:r>
              <a:rPr spc="-10" dirty="0"/>
              <a:t> </a:t>
            </a:r>
            <a:r>
              <a:rPr dirty="0"/>
              <a:t>2, T</a:t>
            </a:r>
            <a:r>
              <a:rPr spc="-15" dirty="0"/>
              <a:t> </a:t>
            </a:r>
            <a:r>
              <a:rPr dirty="0"/>
              <a:t>=</a:t>
            </a:r>
            <a:r>
              <a:rPr spc="-10" dirty="0"/>
              <a:t> </a:t>
            </a:r>
            <a:r>
              <a:rPr dirty="0"/>
              <a:t>3</a:t>
            </a:r>
            <a:r>
              <a:rPr spc="-10" dirty="0"/>
              <a:t> </a:t>
            </a:r>
            <a:r>
              <a:rPr dirty="0"/>
              <a:t>→</a:t>
            </a:r>
            <a:r>
              <a:rPr spc="-10" dirty="0"/>
              <a:t> </a:t>
            </a:r>
            <a:r>
              <a:rPr dirty="0"/>
              <a:t>2</a:t>
            </a:r>
            <a:r>
              <a:rPr spc="-10" dirty="0"/>
              <a:t> </a:t>
            </a:r>
            <a:r>
              <a:rPr dirty="0"/>
              <a:t>khâu</a:t>
            </a:r>
            <a:r>
              <a:rPr spc="5" dirty="0"/>
              <a:t> </a:t>
            </a:r>
            <a:r>
              <a:rPr dirty="0"/>
              <a:t>3</a:t>
            </a:r>
            <a:r>
              <a:rPr spc="-10" dirty="0"/>
              <a:t> </a:t>
            </a:r>
            <a:r>
              <a:rPr dirty="0"/>
              <a:t>khớp</a:t>
            </a:r>
            <a:r>
              <a:rPr spc="-10" dirty="0"/>
              <a:t> </a:t>
            </a:r>
            <a:r>
              <a:rPr dirty="0"/>
              <a:t>→</a:t>
            </a:r>
            <a:r>
              <a:rPr spc="-15" dirty="0"/>
              <a:t> </a:t>
            </a:r>
            <a:r>
              <a:rPr dirty="0"/>
              <a:t>hạng </a:t>
            </a:r>
            <a:r>
              <a:rPr spc="-50" dirty="0"/>
              <a:t>2</a:t>
            </a: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/>
              <a:t>n</a:t>
            </a:r>
            <a:r>
              <a:rPr spc="-15" dirty="0"/>
              <a:t> </a:t>
            </a:r>
            <a:r>
              <a:rPr dirty="0"/>
              <a:t>=</a:t>
            </a:r>
            <a:r>
              <a:rPr spc="-10" dirty="0"/>
              <a:t> </a:t>
            </a:r>
            <a:r>
              <a:rPr dirty="0"/>
              <a:t>4, T</a:t>
            </a:r>
            <a:r>
              <a:rPr spc="-15" dirty="0"/>
              <a:t> </a:t>
            </a:r>
            <a:r>
              <a:rPr dirty="0"/>
              <a:t>=</a:t>
            </a:r>
            <a:r>
              <a:rPr spc="-10" dirty="0"/>
              <a:t> </a:t>
            </a:r>
            <a:r>
              <a:rPr dirty="0"/>
              <a:t>6</a:t>
            </a:r>
            <a:r>
              <a:rPr spc="-10" dirty="0"/>
              <a:t> </a:t>
            </a:r>
            <a:r>
              <a:rPr dirty="0"/>
              <a:t>→</a:t>
            </a:r>
            <a:r>
              <a:rPr spc="-10" dirty="0"/>
              <a:t> </a:t>
            </a:r>
            <a:r>
              <a:rPr dirty="0"/>
              <a:t>4</a:t>
            </a:r>
            <a:r>
              <a:rPr spc="-10" dirty="0"/>
              <a:t> </a:t>
            </a:r>
            <a:r>
              <a:rPr dirty="0"/>
              <a:t>khâu</a:t>
            </a:r>
            <a:r>
              <a:rPr spc="5" dirty="0"/>
              <a:t> </a:t>
            </a:r>
            <a:r>
              <a:rPr dirty="0"/>
              <a:t>6</a:t>
            </a:r>
            <a:r>
              <a:rPr spc="-10" dirty="0"/>
              <a:t> </a:t>
            </a:r>
            <a:r>
              <a:rPr dirty="0"/>
              <a:t>khớp</a:t>
            </a:r>
            <a:r>
              <a:rPr spc="-10" dirty="0"/>
              <a:t> </a:t>
            </a:r>
            <a:r>
              <a:rPr dirty="0"/>
              <a:t>→</a:t>
            </a:r>
            <a:r>
              <a:rPr spc="-15" dirty="0"/>
              <a:t> </a:t>
            </a:r>
            <a:r>
              <a:rPr dirty="0"/>
              <a:t>hạng </a:t>
            </a:r>
            <a:r>
              <a:rPr spc="-50" dirty="0"/>
              <a:t>3</a:t>
            </a: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/>
              <a:t>n</a:t>
            </a:r>
            <a:r>
              <a:rPr spc="-15" dirty="0"/>
              <a:t> </a:t>
            </a:r>
            <a:r>
              <a:rPr dirty="0"/>
              <a:t>=</a:t>
            </a:r>
            <a:r>
              <a:rPr spc="-10" dirty="0"/>
              <a:t> </a:t>
            </a:r>
            <a:r>
              <a:rPr dirty="0"/>
              <a:t>6, T</a:t>
            </a:r>
            <a:r>
              <a:rPr spc="-15" dirty="0"/>
              <a:t> </a:t>
            </a:r>
            <a:r>
              <a:rPr dirty="0"/>
              <a:t>=</a:t>
            </a:r>
            <a:r>
              <a:rPr spc="-10" dirty="0"/>
              <a:t> </a:t>
            </a:r>
            <a:r>
              <a:rPr dirty="0"/>
              <a:t>9</a:t>
            </a:r>
            <a:r>
              <a:rPr spc="-10" dirty="0"/>
              <a:t> </a:t>
            </a:r>
            <a:r>
              <a:rPr dirty="0"/>
              <a:t>→</a:t>
            </a:r>
            <a:r>
              <a:rPr spc="-10" dirty="0"/>
              <a:t> </a:t>
            </a:r>
            <a:r>
              <a:rPr dirty="0"/>
              <a:t>6</a:t>
            </a:r>
            <a:r>
              <a:rPr spc="-10" dirty="0"/>
              <a:t> </a:t>
            </a:r>
            <a:r>
              <a:rPr dirty="0"/>
              <a:t>khâu</a:t>
            </a:r>
            <a:r>
              <a:rPr spc="5" dirty="0"/>
              <a:t> </a:t>
            </a:r>
            <a:r>
              <a:rPr dirty="0"/>
              <a:t>9</a:t>
            </a:r>
            <a:r>
              <a:rPr spc="-10" dirty="0"/>
              <a:t> </a:t>
            </a:r>
            <a:r>
              <a:rPr dirty="0"/>
              <a:t>khớp</a:t>
            </a:r>
            <a:r>
              <a:rPr spc="-10" dirty="0"/>
              <a:t> </a:t>
            </a:r>
            <a:r>
              <a:rPr dirty="0"/>
              <a:t>→</a:t>
            </a:r>
            <a:r>
              <a:rPr spc="-15" dirty="0"/>
              <a:t> </a:t>
            </a:r>
            <a:r>
              <a:rPr dirty="0"/>
              <a:t>hạng </a:t>
            </a:r>
            <a:r>
              <a:rPr spc="-50" dirty="0"/>
              <a:t>4</a:t>
            </a: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/>
              <a:t>n</a:t>
            </a:r>
            <a:r>
              <a:rPr spc="-15" dirty="0"/>
              <a:t> </a:t>
            </a:r>
            <a:r>
              <a:rPr dirty="0"/>
              <a:t>=</a:t>
            </a:r>
            <a:r>
              <a:rPr spc="-15" dirty="0"/>
              <a:t> </a:t>
            </a:r>
            <a:r>
              <a:rPr dirty="0"/>
              <a:t>8, T</a:t>
            </a:r>
            <a:r>
              <a:rPr spc="-15" dirty="0"/>
              <a:t> </a:t>
            </a:r>
            <a:r>
              <a:rPr dirty="0"/>
              <a:t>=</a:t>
            </a:r>
            <a:r>
              <a:rPr spc="-15" dirty="0"/>
              <a:t> </a:t>
            </a:r>
            <a:r>
              <a:rPr dirty="0"/>
              <a:t>12</a:t>
            </a:r>
            <a:r>
              <a:rPr spc="5" dirty="0"/>
              <a:t> </a:t>
            </a:r>
            <a:r>
              <a:rPr dirty="0"/>
              <a:t>→</a:t>
            </a:r>
            <a:r>
              <a:rPr spc="-20" dirty="0"/>
              <a:t> </a:t>
            </a:r>
            <a:r>
              <a:rPr dirty="0"/>
              <a:t>8</a:t>
            </a:r>
            <a:r>
              <a:rPr spc="-10" dirty="0"/>
              <a:t> </a:t>
            </a:r>
            <a:r>
              <a:rPr dirty="0"/>
              <a:t>khâu 12</a:t>
            </a:r>
            <a:r>
              <a:rPr spc="-15" dirty="0"/>
              <a:t> </a:t>
            </a:r>
            <a:r>
              <a:rPr dirty="0"/>
              <a:t>khớp</a:t>
            </a:r>
            <a:r>
              <a:rPr spc="-10" dirty="0"/>
              <a:t> </a:t>
            </a:r>
            <a:r>
              <a:rPr dirty="0"/>
              <a:t>→</a:t>
            </a:r>
            <a:r>
              <a:rPr spc="-10" dirty="0"/>
              <a:t> </a:t>
            </a:r>
            <a:r>
              <a:rPr dirty="0"/>
              <a:t>hạng </a:t>
            </a:r>
            <a:r>
              <a:rPr spc="-50" dirty="0"/>
              <a:t>5</a:t>
            </a: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pc="-10" dirty="0"/>
              <a:t>......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139941" y="661796"/>
            <a:ext cx="18948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Arial"/>
                <a:cs typeface="Arial"/>
              </a:rPr>
              <a:t>Các</a:t>
            </a:r>
            <a:r>
              <a:rPr sz="1800" b="1" i="1" spc="-2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nhóm</a:t>
            </a:r>
            <a:r>
              <a:rPr sz="1800" b="1" i="1" spc="-100" dirty="0">
                <a:latin typeface="Arial"/>
                <a:cs typeface="Arial"/>
              </a:rPr>
              <a:t> </a:t>
            </a:r>
            <a:r>
              <a:rPr sz="1800" b="1" i="1" spc="-10" dirty="0">
                <a:latin typeface="Arial"/>
                <a:cs typeface="Arial"/>
              </a:rPr>
              <a:t>Atxua: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95046" y="1274572"/>
            <a:ext cx="8220709" cy="3439795"/>
            <a:chOff x="295046" y="1274572"/>
            <a:chExt cx="8220709" cy="343979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31612" y="1341374"/>
              <a:ext cx="108965" cy="10909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020056" y="1408176"/>
              <a:ext cx="1031240" cy="811530"/>
            </a:xfrm>
            <a:custGeom>
              <a:avLst/>
              <a:gdLst/>
              <a:ahLst/>
              <a:cxnLst/>
              <a:rect l="l" t="t" r="r" b="b"/>
              <a:pathLst>
                <a:path w="1031239" h="811530">
                  <a:moveTo>
                    <a:pt x="0" y="811402"/>
                  </a:moveTo>
                  <a:lnTo>
                    <a:pt x="526415" y="0"/>
                  </a:lnTo>
                </a:path>
                <a:path w="1031239" h="811530">
                  <a:moveTo>
                    <a:pt x="1031240" y="639826"/>
                  </a:moveTo>
                  <a:lnTo>
                    <a:pt x="605663" y="0"/>
                  </a:lnTo>
                </a:path>
              </a:pathLst>
            </a:custGeom>
            <a:ln w="1905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42839" y="2195575"/>
              <a:ext cx="109093" cy="10896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17514" y="2029459"/>
              <a:ext cx="109093" cy="10896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119496" y="3419220"/>
              <a:ext cx="354330" cy="383540"/>
            </a:xfrm>
            <a:custGeom>
              <a:avLst/>
              <a:gdLst/>
              <a:ahLst/>
              <a:cxnLst/>
              <a:rect l="l" t="t" r="r" b="b"/>
              <a:pathLst>
                <a:path w="354329" h="383539">
                  <a:moveTo>
                    <a:pt x="146303" y="0"/>
                  </a:moveTo>
                  <a:lnTo>
                    <a:pt x="0" y="111887"/>
                  </a:lnTo>
                  <a:lnTo>
                    <a:pt x="207517" y="383285"/>
                  </a:lnTo>
                  <a:lnTo>
                    <a:pt x="353822" y="271398"/>
                  </a:lnTo>
                  <a:lnTo>
                    <a:pt x="146303" y="0"/>
                  </a:lnTo>
                  <a:close/>
                </a:path>
              </a:pathLst>
            </a:custGeom>
            <a:solidFill>
              <a:srgbClr val="F8D7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119496" y="3419220"/>
              <a:ext cx="354330" cy="383540"/>
            </a:xfrm>
            <a:custGeom>
              <a:avLst/>
              <a:gdLst/>
              <a:ahLst/>
              <a:cxnLst/>
              <a:rect l="l" t="t" r="r" b="b"/>
              <a:pathLst>
                <a:path w="354329" h="383539">
                  <a:moveTo>
                    <a:pt x="146303" y="0"/>
                  </a:moveTo>
                  <a:lnTo>
                    <a:pt x="353822" y="271398"/>
                  </a:lnTo>
                  <a:lnTo>
                    <a:pt x="207517" y="383285"/>
                  </a:lnTo>
                  <a:lnTo>
                    <a:pt x="0" y="111887"/>
                  </a:lnTo>
                  <a:lnTo>
                    <a:pt x="146303" y="0"/>
                  </a:lnTo>
                  <a:close/>
                </a:path>
              </a:pathLst>
            </a:custGeom>
            <a:ln w="1905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250558" y="3571113"/>
              <a:ext cx="379730" cy="362585"/>
            </a:xfrm>
            <a:custGeom>
              <a:avLst/>
              <a:gdLst/>
              <a:ahLst/>
              <a:cxnLst/>
              <a:rect l="l" t="t" r="r" b="b"/>
              <a:pathLst>
                <a:path w="379729" h="362585">
                  <a:moveTo>
                    <a:pt x="259587" y="0"/>
                  </a:moveTo>
                  <a:lnTo>
                    <a:pt x="0" y="222250"/>
                  </a:lnTo>
                  <a:lnTo>
                    <a:pt x="119887" y="362204"/>
                  </a:lnTo>
                  <a:lnTo>
                    <a:pt x="379475" y="139826"/>
                  </a:lnTo>
                  <a:lnTo>
                    <a:pt x="259587" y="0"/>
                  </a:lnTo>
                  <a:close/>
                </a:path>
              </a:pathLst>
            </a:custGeom>
            <a:solidFill>
              <a:srgbClr val="F8D7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50558" y="3571113"/>
              <a:ext cx="379730" cy="362585"/>
            </a:xfrm>
            <a:custGeom>
              <a:avLst/>
              <a:gdLst/>
              <a:ahLst/>
              <a:cxnLst/>
              <a:rect l="l" t="t" r="r" b="b"/>
              <a:pathLst>
                <a:path w="379729" h="362585">
                  <a:moveTo>
                    <a:pt x="379475" y="139826"/>
                  </a:moveTo>
                  <a:lnTo>
                    <a:pt x="119887" y="362204"/>
                  </a:lnTo>
                  <a:lnTo>
                    <a:pt x="0" y="222250"/>
                  </a:lnTo>
                  <a:lnTo>
                    <a:pt x="259587" y="0"/>
                  </a:lnTo>
                  <a:lnTo>
                    <a:pt x="379475" y="139826"/>
                  </a:lnTo>
                  <a:close/>
                </a:path>
              </a:pathLst>
            </a:custGeom>
            <a:ln w="1905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374385" y="3159251"/>
              <a:ext cx="995044" cy="527685"/>
            </a:xfrm>
            <a:custGeom>
              <a:avLst/>
              <a:gdLst/>
              <a:ahLst/>
              <a:cxnLst/>
              <a:rect l="l" t="t" r="r" b="b"/>
              <a:pathLst>
                <a:path w="995045" h="527685">
                  <a:moveTo>
                    <a:pt x="995044" y="527685"/>
                  </a:moveTo>
                  <a:lnTo>
                    <a:pt x="578992" y="5207"/>
                  </a:lnTo>
                </a:path>
                <a:path w="995045" h="527685">
                  <a:moveTo>
                    <a:pt x="505205" y="0"/>
                  </a:moveTo>
                  <a:lnTo>
                    <a:pt x="0" y="391413"/>
                  </a:lnTo>
                </a:path>
              </a:pathLst>
            </a:custGeom>
            <a:ln w="1905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66669" y="3079654"/>
              <a:ext cx="108251" cy="10825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122412" y="3398647"/>
              <a:ext cx="383540" cy="354330"/>
            </a:xfrm>
            <a:custGeom>
              <a:avLst/>
              <a:gdLst/>
              <a:ahLst/>
              <a:cxnLst/>
              <a:rect l="l" t="t" r="r" b="b"/>
              <a:pathLst>
                <a:path w="383540" h="354329">
                  <a:moveTo>
                    <a:pt x="271526" y="0"/>
                  </a:moveTo>
                  <a:lnTo>
                    <a:pt x="0" y="207517"/>
                  </a:lnTo>
                  <a:lnTo>
                    <a:pt x="111887" y="353821"/>
                  </a:lnTo>
                  <a:lnTo>
                    <a:pt x="383413" y="146303"/>
                  </a:lnTo>
                  <a:lnTo>
                    <a:pt x="271526" y="0"/>
                  </a:lnTo>
                  <a:close/>
                </a:path>
              </a:pathLst>
            </a:custGeom>
            <a:solidFill>
              <a:srgbClr val="F8D7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122412" y="3398647"/>
              <a:ext cx="383540" cy="354330"/>
            </a:xfrm>
            <a:custGeom>
              <a:avLst/>
              <a:gdLst/>
              <a:ahLst/>
              <a:cxnLst/>
              <a:rect l="l" t="t" r="r" b="b"/>
              <a:pathLst>
                <a:path w="383540" h="354329">
                  <a:moveTo>
                    <a:pt x="383413" y="146303"/>
                  </a:moveTo>
                  <a:lnTo>
                    <a:pt x="111887" y="353821"/>
                  </a:lnTo>
                  <a:lnTo>
                    <a:pt x="0" y="207517"/>
                  </a:lnTo>
                  <a:lnTo>
                    <a:pt x="271526" y="0"/>
                  </a:lnTo>
                  <a:lnTo>
                    <a:pt x="383413" y="146303"/>
                  </a:lnTo>
                  <a:close/>
                </a:path>
              </a:pathLst>
            </a:custGeom>
            <a:ln w="1905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02508" y="3201400"/>
              <a:ext cx="261889" cy="30494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309230" y="3251326"/>
              <a:ext cx="694690" cy="271145"/>
            </a:xfrm>
            <a:custGeom>
              <a:avLst/>
              <a:gdLst/>
              <a:ahLst/>
              <a:cxnLst/>
              <a:rect l="l" t="t" r="r" b="b"/>
              <a:pathLst>
                <a:path w="694690" h="271145">
                  <a:moveTo>
                    <a:pt x="0" y="270890"/>
                  </a:moveTo>
                  <a:lnTo>
                    <a:pt x="694563" y="0"/>
                  </a:lnTo>
                </a:path>
              </a:pathLst>
            </a:custGeom>
            <a:ln w="1905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27172" y="3475259"/>
              <a:ext cx="108251" cy="10826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95046" y="4710811"/>
              <a:ext cx="4379595" cy="0"/>
            </a:xfrm>
            <a:custGeom>
              <a:avLst/>
              <a:gdLst/>
              <a:ahLst/>
              <a:cxnLst/>
              <a:rect l="l" t="t" r="r" b="b"/>
              <a:pathLst>
                <a:path w="4379595">
                  <a:moveTo>
                    <a:pt x="4379061" y="0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1D9A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461377" y="1284097"/>
              <a:ext cx="711200" cy="899160"/>
            </a:xfrm>
            <a:custGeom>
              <a:avLst/>
              <a:gdLst/>
              <a:ahLst/>
              <a:cxnLst/>
              <a:rect l="l" t="t" r="r" b="b"/>
              <a:pathLst>
                <a:path w="711200" h="899160">
                  <a:moveTo>
                    <a:pt x="711073" y="899032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621269" y="1512951"/>
              <a:ext cx="354330" cy="383540"/>
            </a:xfrm>
            <a:custGeom>
              <a:avLst/>
              <a:gdLst/>
              <a:ahLst/>
              <a:cxnLst/>
              <a:rect l="l" t="t" r="r" b="b"/>
              <a:pathLst>
                <a:path w="354329" h="383539">
                  <a:moveTo>
                    <a:pt x="146430" y="0"/>
                  </a:moveTo>
                  <a:lnTo>
                    <a:pt x="0" y="111887"/>
                  </a:lnTo>
                  <a:lnTo>
                    <a:pt x="207518" y="383413"/>
                  </a:lnTo>
                  <a:lnTo>
                    <a:pt x="353949" y="271525"/>
                  </a:lnTo>
                  <a:lnTo>
                    <a:pt x="146430" y="0"/>
                  </a:lnTo>
                  <a:close/>
                </a:path>
              </a:pathLst>
            </a:custGeom>
            <a:solidFill>
              <a:srgbClr val="F8D7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621269" y="1512951"/>
              <a:ext cx="354330" cy="383540"/>
            </a:xfrm>
            <a:custGeom>
              <a:avLst/>
              <a:gdLst/>
              <a:ahLst/>
              <a:cxnLst/>
              <a:rect l="l" t="t" r="r" b="b"/>
              <a:pathLst>
                <a:path w="354329" h="383539">
                  <a:moveTo>
                    <a:pt x="146430" y="0"/>
                  </a:moveTo>
                  <a:lnTo>
                    <a:pt x="353949" y="271525"/>
                  </a:lnTo>
                  <a:lnTo>
                    <a:pt x="207518" y="383413"/>
                  </a:lnTo>
                  <a:lnTo>
                    <a:pt x="0" y="111887"/>
                  </a:lnTo>
                  <a:lnTo>
                    <a:pt x="146430" y="0"/>
                  </a:lnTo>
                  <a:close/>
                </a:path>
              </a:pathLst>
            </a:custGeom>
            <a:ln w="1905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43222" y="1646459"/>
              <a:ext cx="108267" cy="108251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14315" y="2105945"/>
              <a:ext cx="108251" cy="108267"/>
            </a:xfrm>
            <a:prstGeom prst="rect">
              <a:avLst/>
            </a:prstGeom>
          </p:spPr>
        </p:pic>
      </p:grpSp>
      <p:grpSp>
        <p:nvGrpSpPr>
          <p:cNvPr id="32" name="object 32"/>
          <p:cNvGrpSpPr/>
          <p:nvPr/>
        </p:nvGrpSpPr>
        <p:grpSpPr>
          <a:xfrm>
            <a:off x="7587202" y="5051552"/>
            <a:ext cx="1239520" cy="1039494"/>
            <a:chOff x="7587202" y="5051552"/>
            <a:chExt cx="1239520" cy="1039494"/>
          </a:xfrm>
        </p:grpSpPr>
        <p:sp>
          <p:nvSpPr>
            <p:cNvPr id="33" name="object 33"/>
            <p:cNvSpPr/>
            <p:nvPr/>
          </p:nvSpPr>
          <p:spPr>
            <a:xfrm>
              <a:off x="8033511" y="5051552"/>
              <a:ext cx="0" cy="989965"/>
            </a:xfrm>
            <a:custGeom>
              <a:avLst/>
              <a:gdLst/>
              <a:ahLst/>
              <a:cxnLst/>
              <a:rect l="l" t="t" r="r" b="b"/>
              <a:pathLst>
                <a:path h="989964">
                  <a:moveTo>
                    <a:pt x="0" y="515747"/>
                  </a:moveTo>
                  <a:lnTo>
                    <a:pt x="0" y="989431"/>
                  </a:lnTo>
                </a:path>
                <a:path h="989964">
                  <a:moveTo>
                    <a:pt x="0" y="0"/>
                  </a:moveTo>
                  <a:lnTo>
                    <a:pt x="0" y="174002"/>
                  </a:lnTo>
                </a:path>
              </a:pathLst>
            </a:custGeom>
            <a:ln w="1905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949310" y="5225554"/>
              <a:ext cx="184785" cy="342265"/>
            </a:xfrm>
            <a:custGeom>
              <a:avLst/>
              <a:gdLst/>
              <a:ahLst/>
              <a:cxnLst/>
              <a:rect l="l" t="t" r="r" b="b"/>
              <a:pathLst>
                <a:path w="184784" h="342264">
                  <a:moveTo>
                    <a:pt x="184226" y="0"/>
                  </a:moveTo>
                  <a:lnTo>
                    <a:pt x="0" y="0"/>
                  </a:lnTo>
                  <a:lnTo>
                    <a:pt x="0" y="341744"/>
                  </a:lnTo>
                  <a:lnTo>
                    <a:pt x="184226" y="341744"/>
                  </a:lnTo>
                  <a:lnTo>
                    <a:pt x="184226" y="0"/>
                  </a:lnTo>
                  <a:close/>
                </a:path>
              </a:pathLst>
            </a:custGeom>
            <a:solidFill>
              <a:srgbClr val="F8D7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949310" y="5225554"/>
              <a:ext cx="877569" cy="808990"/>
            </a:xfrm>
            <a:custGeom>
              <a:avLst/>
              <a:gdLst/>
              <a:ahLst/>
              <a:cxnLst/>
              <a:rect l="l" t="t" r="r" b="b"/>
              <a:pathLst>
                <a:path w="877570" h="808989">
                  <a:moveTo>
                    <a:pt x="0" y="341744"/>
                  </a:moveTo>
                  <a:lnTo>
                    <a:pt x="184226" y="341744"/>
                  </a:lnTo>
                  <a:lnTo>
                    <a:pt x="184226" y="0"/>
                  </a:lnTo>
                  <a:lnTo>
                    <a:pt x="0" y="0"/>
                  </a:lnTo>
                  <a:lnTo>
                    <a:pt x="0" y="341744"/>
                  </a:lnTo>
                  <a:close/>
                </a:path>
                <a:path w="877570" h="808989">
                  <a:moveTo>
                    <a:pt x="85090" y="808456"/>
                  </a:moveTo>
                  <a:lnTo>
                    <a:pt x="877062" y="808456"/>
                  </a:lnTo>
                </a:path>
              </a:pathLst>
            </a:custGeom>
            <a:ln w="1905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587202" y="5338683"/>
              <a:ext cx="362108" cy="108251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8294750" y="5981674"/>
              <a:ext cx="252095" cy="0"/>
            </a:xfrm>
            <a:custGeom>
              <a:avLst/>
              <a:gdLst/>
              <a:ahLst/>
              <a:cxnLst/>
              <a:rect l="l" t="t" r="r" b="b"/>
              <a:pathLst>
                <a:path w="252095">
                  <a:moveTo>
                    <a:pt x="0" y="0"/>
                  </a:moveTo>
                  <a:lnTo>
                    <a:pt x="251968" y="0"/>
                  </a:lnTo>
                </a:path>
              </a:pathLst>
            </a:custGeom>
            <a:ln w="1905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301989" y="6081242"/>
              <a:ext cx="252095" cy="0"/>
            </a:xfrm>
            <a:custGeom>
              <a:avLst/>
              <a:gdLst/>
              <a:ahLst/>
              <a:cxnLst/>
              <a:rect l="l" t="t" r="r" b="b"/>
              <a:pathLst>
                <a:path w="252095">
                  <a:moveTo>
                    <a:pt x="0" y="0"/>
                  </a:moveTo>
                  <a:lnTo>
                    <a:pt x="251967" y="0"/>
                  </a:lnTo>
                </a:path>
              </a:pathLst>
            </a:custGeom>
            <a:ln w="1905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121909" y="2313559"/>
            <a:ext cx="762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Hạng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i="1" spc="-50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511033" y="2313559"/>
            <a:ext cx="762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Hạng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i="1" spc="-50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184140" y="4013657"/>
            <a:ext cx="7626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Hạng</a:t>
            </a:r>
            <a:r>
              <a:rPr sz="1800" i="1" spc="-35" dirty="0">
                <a:latin typeface="Arial"/>
                <a:cs typeface="Arial"/>
              </a:rPr>
              <a:t> </a:t>
            </a:r>
            <a:r>
              <a:rPr sz="1800" i="1" spc="-50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493889" y="3978655"/>
            <a:ext cx="762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Hạng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i="1" spc="-50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877302" y="6214973"/>
            <a:ext cx="762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Hạng</a:t>
            </a:r>
            <a:r>
              <a:rPr sz="1800" i="1" spc="-25" dirty="0">
                <a:latin typeface="Arial"/>
                <a:cs typeface="Arial"/>
              </a:rPr>
              <a:t> </a:t>
            </a:r>
            <a:r>
              <a:rPr sz="1800" i="1" spc="-50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17728" y="120522"/>
            <a:ext cx="314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NHH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72288" y="4913757"/>
            <a:ext cx="4608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Không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tồn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tại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nhóm tĩnh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định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có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2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khớp</a:t>
            </a:r>
            <a:r>
              <a:rPr sz="1800" spc="-10" dirty="0">
                <a:latin typeface="Arial"/>
                <a:cs typeface="Arial"/>
              </a:rPr>
              <a:t> trong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FB01066B-56AA-EDBA-22B9-2CB7201D04E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7729" y="5272669"/>
            <a:ext cx="6676690" cy="141825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44192" y="118110"/>
            <a:ext cx="60553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40" dirty="0"/>
              <a:t> </a:t>
            </a:r>
            <a:r>
              <a:rPr dirty="0"/>
              <a:t>1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TÍCH</a:t>
            </a:r>
            <a:r>
              <a:rPr spc="-60" dirty="0"/>
              <a:t> </a:t>
            </a:r>
            <a:r>
              <a:rPr dirty="0"/>
              <a:t>CẤU</a:t>
            </a:r>
            <a:r>
              <a:rPr spc="-70" dirty="0"/>
              <a:t> </a:t>
            </a:r>
            <a:r>
              <a:rPr dirty="0"/>
              <a:t>TRÚC</a:t>
            </a:r>
            <a:r>
              <a:rPr spc="-55" dirty="0"/>
              <a:t> </a:t>
            </a:r>
            <a:r>
              <a:rPr dirty="0"/>
              <a:t>CƠ</a:t>
            </a:r>
            <a:r>
              <a:rPr spc="-50" dirty="0"/>
              <a:t> </a:t>
            </a:r>
            <a:r>
              <a:rPr spc="-25" dirty="0"/>
              <a:t>CẤU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28329" y="120522"/>
            <a:ext cx="297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1.25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30200" y="448436"/>
            <a:ext cx="8477250" cy="326390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455930" lvl="1" indent="-443230">
              <a:lnSpc>
                <a:spcPct val="100000"/>
              </a:lnSpc>
              <a:spcBef>
                <a:spcPts val="1010"/>
              </a:spcBef>
              <a:buAutoNum type="arabicPeriod" startAt="3"/>
              <a:tabLst>
                <a:tab pos="455930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Cơ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cấu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phẳng</a:t>
            </a:r>
            <a:endParaRPr sz="1800">
              <a:latin typeface="Arial"/>
              <a:cs typeface="Arial"/>
            </a:endParaRPr>
          </a:p>
          <a:p>
            <a:pPr marL="645160" lvl="2" indent="-632460">
              <a:lnSpc>
                <a:spcPct val="100000"/>
              </a:lnSpc>
              <a:spcBef>
                <a:spcPts val="915"/>
              </a:spcBef>
              <a:buAutoNum type="arabicPeriod" startAt="3"/>
              <a:tabLst>
                <a:tab pos="645160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Phân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tích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cấu 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trúc</a:t>
            </a:r>
            <a:endParaRPr sz="1800">
              <a:latin typeface="Arial"/>
              <a:cs typeface="Arial"/>
            </a:endParaRPr>
          </a:p>
          <a:p>
            <a:pPr marL="298450" lvl="3" indent="-285750">
              <a:lnSpc>
                <a:spcPct val="100000"/>
              </a:lnSpc>
              <a:spcBef>
                <a:spcPts val="1215"/>
              </a:spcBef>
              <a:buFont typeface="Wingdings"/>
              <a:buChar char=""/>
              <a:tabLst>
                <a:tab pos="298450" algn="l"/>
              </a:tabLst>
            </a:pPr>
            <a:r>
              <a:rPr sz="1800" b="1" spc="-10" dirty="0">
                <a:solidFill>
                  <a:srgbClr val="0D4D3B"/>
                </a:solidFill>
                <a:latin typeface="Arial"/>
                <a:cs typeface="Arial"/>
              </a:rPr>
              <a:t>Nhóm</a:t>
            </a:r>
            <a:r>
              <a:rPr sz="1800" b="1" spc="-75" dirty="0">
                <a:solidFill>
                  <a:srgbClr val="0D4D3B"/>
                </a:solidFill>
                <a:latin typeface="Arial"/>
                <a:cs typeface="Arial"/>
              </a:rPr>
              <a:t> </a:t>
            </a:r>
            <a:r>
              <a:rPr sz="1800" b="1" spc="-35" dirty="0">
                <a:solidFill>
                  <a:srgbClr val="0D4D3B"/>
                </a:solidFill>
                <a:latin typeface="Arial"/>
                <a:cs typeface="Arial"/>
              </a:rPr>
              <a:t>At-</a:t>
            </a:r>
            <a:r>
              <a:rPr sz="1800" b="1" spc="-25" dirty="0">
                <a:solidFill>
                  <a:srgbClr val="0D4D3B"/>
                </a:solidFill>
                <a:latin typeface="Arial"/>
                <a:cs typeface="Arial"/>
              </a:rPr>
              <a:t>xua</a:t>
            </a:r>
            <a:endParaRPr sz="1800">
              <a:latin typeface="Arial"/>
              <a:cs typeface="Arial"/>
            </a:endParaRPr>
          </a:p>
          <a:p>
            <a:pPr marL="342265" indent="-286385">
              <a:lnSpc>
                <a:spcPct val="100000"/>
              </a:lnSpc>
              <a:spcBef>
                <a:spcPts val="1290"/>
              </a:spcBef>
              <a:buFont typeface="Arial"/>
              <a:buChar char="•"/>
              <a:tabLst>
                <a:tab pos="342265" algn="l"/>
              </a:tabLst>
            </a:pPr>
            <a:r>
              <a:rPr sz="1800" b="1" i="1" dirty="0">
                <a:latin typeface="Arial"/>
                <a:cs typeface="Arial"/>
              </a:rPr>
              <a:t>Hạng</a:t>
            </a:r>
            <a:r>
              <a:rPr sz="1800" b="1" i="1" spc="-1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của</a:t>
            </a:r>
            <a:r>
              <a:rPr sz="1800" b="1" i="1" spc="-20" dirty="0">
                <a:latin typeface="Arial"/>
                <a:cs typeface="Arial"/>
              </a:rPr>
              <a:t> </a:t>
            </a:r>
            <a:r>
              <a:rPr sz="1800" b="1" i="1" spc="-10" dirty="0">
                <a:latin typeface="Arial"/>
                <a:cs typeface="Arial"/>
              </a:rPr>
              <a:t>nhóm</a:t>
            </a:r>
            <a:r>
              <a:rPr sz="1800" b="1" i="1" spc="-105" dirty="0">
                <a:latin typeface="Arial"/>
                <a:cs typeface="Arial"/>
              </a:rPr>
              <a:t> </a:t>
            </a:r>
            <a:r>
              <a:rPr sz="1800" b="1" i="1" spc="-10" dirty="0">
                <a:latin typeface="Arial"/>
                <a:cs typeface="Arial"/>
              </a:rPr>
              <a:t>Atxua:</a:t>
            </a:r>
            <a:endParaRPr sz="1800">
              <a:latin typeface="Arial"/>
              <a:cs typeface="Arial"/>
            </a:endParaRPr>
          </a:p>
          <a:p>
            <a:pPr marL="340360" marR="5080" indent="-285750">
              <a:lnSpc>
                <a:spcPct val="130000"/>
              </a:lnSpc>
              <a:spcBef>
                <a:spcPts val="865"/>
              </a:spcBef>
              <a:buFont typeface="Wingdings"/>
              <a:buChar char=""/>
              <a:tabLst>
                <a:tab pos="341630" algn="l"/>
              </a:tabLst>
            </a:pPr>
            <a:r>
              <a:rPr sz="1800" dirty="0">
                <a:latin typeface="Arial"/>
                <a:cs typeface="Arial"/>
              </a:rPr>
              <a:t>Ngoài</a:t>
            </a:r>
            <a:r>
              <a:rPr sz="1800" spc="1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các</a:t>
            </a:r>
            <a:r>
              <a:rPr sz="1800" spc="1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nhóm</a:t>
            </a:r>
            <a:r>
              <a:rPr sz="1800" spc="1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tĩnh</a:t>
            </a:r>
            <a:r>
              <a:rPr sz="1800" spc="1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định</a:t>
            </a:r>
            <a:r>
              <a:rPr sz="1800" spc="1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có</a:t>
            </a:r>
            <a:r>
              <a:rPr sz="1800" spc="1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spc="1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khớp</a:t>
            </a:r>
            <a:r>
              <a:rPr sz="1800" spc="1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trong,</a:t>
            </a:r>
            <a:r>
              <a:rPr sz="1800" spc="1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chỉ</a:t>
            </a:r>
            <a:r>
              <a:rPr sz="1800" spc="1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có</a:t>
            </a:r>
            <a:r>
              <a:rPr sz="1800" spc="1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các</a:t>
            </a:r>
            <a:r>
              <a:rPr sz="1800" spc="1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nhóm</a:t>
            </a:r>
            <a:r>
              <a:rPr sz="1800" spc="1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tĩnh</a:t>
            </a:r>
            <a:r>
              <a:rPr sz="1800" spc="1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định</a:t>
            </a:r>
            <a:r>
              <a:rPr sz="1800" spc="1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có</a:t>
            </a:r>
            <a:r>
              <a:rPr sz="1800" spc="1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từ</a:t>
            </a:r>
            <a:r>
              <a:rPr sz="1800" spc="15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3 	</a:t>
            </a:r>
            <a:r>
              <a:rPr sz="1800" dirty="0">
                <a:latin typeface="Arial"/>
                <a:cs typeface="Arial"/>
              </a:rPr>
              <a:t>khớp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trong trở</a:t>
            </a:r>
            <a:r>
              <a:rPr sz="1800" spc="-20" dirty="0">
                <a:latin typeface="Arial"/>
                <a:cs typeface="Arial"/>
              </a:rPr>
              <a:t> lên.</a:t>
            </a:r>
            <a:endParaRPr sz="1800">
              <a:latin typeface="Arial"/>
              <a:cs typeface="Arial"/>
            </a:endParaRPr>
          </a:p>
          <a:p>
            <a:pPr marL="340360" marR="5080" indent="-285750">
              <a:lnSpc>
                <a:spcPct val="130000"/>
              </a:lnSpc>
              <a:spcBef>
                <a:spcPts val="430"/>
              </a:spcBef>
              <a:buFont typeface="Wingdings"/>
              <a:buChar char=""/>
              <a:tabLst>
                <a:tab pos="341630" algn="l"/>
              </a:tabLst>
            </a:pPr>
            <a:r>
              <a:rPr sz="1800" dirty="0">
                <a:latin typeface="Arial"/>
                <a:cs typeface="Arial"/>
              </a:rPr>
              <a:t>Nếu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các</a:t>
            </a:r>
            <a:r>
              <a:rPr sz="1800" spc="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khớp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trong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nhóm</a:t>
            </a:r>
            <a:r>
              <a:rPr sz="1800" spc="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tĩnh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định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tạo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thành</a:t>
            </a:r>
            <a:r>
              <a:rPr sz="1800" spc="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spc="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đa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giác,</a:t>
            </a:r>
            <a:r>
              <a:rPr sz="1800" spc="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thì</a:t>
            </a:r>
            <a:r>
              <a:rPr sz="1800" spc="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hạng</a:t>
            </a:r>
            <a:r>
              <a:rPr sz="1800" spc="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3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nhóm 	</a:t>
            </a:r>
            <a:r>
              <a:rPr sz="1800" dirty="0">
                <a:latin typeface="Arial"/>
                <a:cs typeface="Arial"/>
              </a:rPr>
              <a:t>Atxua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lấy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bằng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số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đỉnh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giác.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62015" y="6224422"/>
            <a:ext cx="20459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latin typeface="Arial"/>
                <a:cs typeface="Arial"/>
              </a:rPr>
              <a:t>Nhóm</a:t>
            </a:r>
            <a:r>
              <a:rPr sz="1800" i="1" spc="-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Atxua</a:t>
            </a:r>
            <a:r>
              <a:rPr sz="1800" i="1" spc="-3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hạng</a:t>
            </a:r>
            <a:r>
              <a:rPr sz="1800" i="1" spc="-15" dirty="0">
                <a:latin typeface="Arial"/>
                <a:cs typeface="Arial"/>
              </a:rPr>
              <a:t> </a:t>
            </a:r>
            <a:r>
              <a:rPr sz="1800" i="1" spc="-50" dirty="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7728" y="120522"/>
            <a:ext cx="314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NHH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4930" y="3892666"/>
            <a:ext cx="3747106" cy="2251668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206875" y="3871212"/>
            <a:ext cx="4685030" cy="2283460"/>
            <a:chOff x="4206875" y="3871212"/>
            <a:chExt cx="4685030" cy="228346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03105" y="3871212"/>
              <a:ext cx="3988465" cy="228302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213225" y="4783455"/>
              <a:ext cx="717550" cy="367665"/>
            </a:xfrm>
            <a:custGeom>
              <a:avLst/>
              <a:gdLst/>
              <a:ahLst/>
              <a:cxnLst/>
              <a:rect l="l" t="t" r="r" b="b"/>
              <a:pathLst>
                <a:path w="717550" h="367664">
                  <a:moveTo>
                    <a:pt x="533908" y="0"/>
                  </a:moveTo>
                  <a:lnTo>
                    <a:pt x="533908" y="91821"/>
                  </a:lnTo>
                  <a:lnTo>
                    <a:pt x="0" y="91821"/>
                  </a:lnTo>
                  <a:lnTo>
                    <a:pt x="0" y="275463"/>
                  </a:lnTo>
                  <a:lnTo>
                    <a:pt x="533908" y="275463"/>
                  </a:lnTo>
                  <a:lnTo>
                    <a:pt x="533908" y="367284"/>
                  </a:lnTo>
                  <a:lnTo>
                    <a:pt x="717550" y="183642"/>
                  </a:lnTo>
                  <a:lnTo>
                    <a:pt x="533908" y="0"/>
                  </a:lnTo>
                  <a:close/>
                </a:path>
              </a:pathLst>
            </a:custGeom>
            <a:solidFill>
              <a:srgbClr val="1D9A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13225" y="4783455"/>
              <a:ext cx="717550" cy="367665"/>
            </a:xfrm>
            <a:custGeom>
              <a:avLst/>
              <a:gdLst/>
              <a:ahLst/>
              <a:cxnLst/>
              <a:rect l="l" t="t" r="r" b="b"/>
              <a:pathLst>
                <a:path w="717550" h="367664">
                  <a:moveTo>
                    <a:pt x="0" y="91821"/>
                  </a:moveTo>
                  <a:lnTo>
                    <a:pt x="533908" y="91821"/>
                  </a:lnTo>
                  <a:lnTo>
                    <a:pt x="533908" y="0"/>
                  </a:lnTo>
                  <a:lnTo>
                    <a:pt x="717550" y="183642"/>
                  </a:lnTo>
                  <a:lnTo>
                    <a:pt x="533908" y="367284"/>
                  </a:lnTo>
                  <a:lnTo>
                    <a:pt x="533908" y="275463"/>
                  </a:lnTo>
                  <a:lnTo>
                    <a:pt x="0" y="275463"/>
                  </a:lnTo>
                  <a:lnTo>
                    <a:pt x="0" y="91821"/>
                  </a:lnTo>
                  <a:close/>
                </a:path>
              </a:pathLst>
            </a:custGeom>
            <a:ln w="12700">
              <a:solidFill>
                <a:srgbClr val="053D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9621" y="118110"/>
            <a:ext cx="60655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30" dirty="0"/>
              <a:t> </a:t>
            </a:r>
            <a:r>
              <a:rPr dirty="0"/>
              <a:t>1</a:t>
            </a:r>
            <a:r>
              <a:rPr spc="-45" dirty="0"/>
              <a:t> </a:t>
            </a:r>
            <a:r>
              <a:rPr dirty="0"/>
              <a:t>–</a:t>
            </a:r>
            <a:r>
              <a:rPr spc="-50" dirty="0"/>
              <a:t> </a:t>
            </a:r>
            <a:r>
              <a:rPr dirty="0"/>
              <a:t>PHÂN</a:t>
            </a:r>
            <a:r>
              <a:rPr spc="-40" dirty="0"/>
              <a:t> </a:t>
            </a:r>
            <a:r>
              <a:rPr dirty="0"/>
              <a:t>TÍCH</a:t>
            </a:r>
            <a:r>
              <a:rPr spc="-45" dirty="0"/>
              <a:t> </a:t>
            </a:r>
            <a:r>
              <a:rPr dirty="0"/>
              <a:t>CẤU</a:t>
            </a:r>
            <a:r>
              <a:rPr spc="-55" dirty="0"/>
              <a:t> </a:t>
            </a:r>
            <a:r>
              <a:rPr dirty="0"/>
              <a:t>TRÚC</a:t>
            </a:r>
            <a:r>
              <a:rPr spc="-45" dirty="0"/>
              <a:t> </a:t>
            </a:r>
            <a:r>
              <a:rPr dirty="0"/>
              <a:t>CƠ</a:t>
            </a:r>
            <a:r>
              <a:rPr spc="-45" dirty="0"/>
              <a:t> </a:t>
            </a:r>
            <a:r>
              <a:rPr spc="-25" dirty="0"/>
              <a:t>CẤU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28329" y="120522"/>
            <a:ext cx="297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1.26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30200" y="448436"/>
            <a:ext cx="8555990" cy="259207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455930" lvl="1" indent="-443230">
              <a:lnSpc>
                <a:spcPct val="100000"/>
              </a:lnSpc>
              <a:spcBef>
                <a:spcPts val="1010"/>
              </a:spcBef>
              <a:buAutoNum type="arabicPeriod" startAt="3"/>
              <a:tabLst>
                <a:tab pos="455930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Cơ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cấu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phẳng</a:t>
            </a:r>
            <a:endParaRPr sz="1800">
              <a:latin typeface="Arial"/>
              <a:cs typeface="Arial"/>
            </a:endParaRPr>
          </a:p>
          <a:p>
            <a:pPr marL="645160" lvl="2" indent="-632460">
              <a:lnSpc>
                <a:spcPct val="100000"/>
              </a:lnSpc>
              <a:spcBef>
                <a:spcPts val="915"/>
              </a:spcBef>
              <a:buAutoNum type="arabicPeriod" startAt="3"/>
              <a:tabLst>
                <a:tab pos="645160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Phân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tích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cấu 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trúc</a:t>
            </a:r>
            <a:endParaRPr sz="1800">
              <a:latin typeface="Arial"/>
              <a:cs typeface="Arial"/>
            </a:endParaRPr>
          </a:p>
          <a:p>
            <a:pPr marL="298450" lvl="3" indent="-285750">
              <a:lnSpc>
                <a:spcPct val="100000"/>
              </a:lnSpc>
              <a:spcBef>
                <a:spcPts val="1215"/>
              </a:spcBef>
              <a:buFont typeface="Wingdings"/>
              <a:buChar char=""/>
              <a:tabLst>
                <a:tab pos="298450" algn="l"/>
              </a:tabLst>
            </a:pPr>
            <a:r>
              <a:rPr sz="1800" b="1" dirty="0">
                <a:solidFill>
                  <a:srgbClr val="0D4D3B"/>
                </a:solidFill>
                <a:latin typeface="Arial"/>
                <a:cs typeface="Arial"/>
              </a:rPr>
              <a:t>Nhóm</a:t>
            </a:r>
            <a:r>
              <a:rPr sz="1800" b="1" spc="-40" dirty="0">
                <a:solidFill>
                  <a:srgbClr val="0D4D3B"/>
                </a:solidFill>
                <a:latin typeface="Arial"/>
                <a:cs typeface="Arial"/>
              </a:rPr>
              <a:t> </a:t>
            </a:r>
            <a:r>
              <a:rPr sz="1800" b="1" spc="-35" dirty="0">
                <a:solidFill>
                  <a:srgbClr val="0D4D3B"/>
                </a:solidFill>
                <a:latin typeface="Arial"/>
                <a:cs typeface="Arial"/>
              </a:rPr>
              <a:t>At-</a:t>
            </a:r>
            <a:r>
              <a:rPr sz="1800" b="1" spc="-25" dirty="0">
                <a:solidFill>
                  <a:srgbClr val="0D4D3B"/>
                </a:solidFill>
                <a:latin typeface="Arial"/>
                <a:cs typeface="Arial"/>
              </a:rPr>
              <a:t>xua</a:t>
            </a:r>
            <a:endParaRPr sz="1800">
              <a:latin typeface="Arial"/>
              <a:cs typeface="Arial"/>
            </a:endParaRPr>
          </a:p>
          <a:p>
            <a:pPr marL="342265" indent="-286385">
              <a:lnSpc>
                <a:spcPct val="100000"/>
              </a:lnSpc>
              <a:spcBef>
                <a:spcPts val="1290"/>
              </a:spcBef>
              <a:buFont typeface="Arial"/>
              <a:buChar char="•"/>
              <a:tabLst>
                <a:tab pos="342265" algn="l"/>
              </a:tabLst>
            </a:pPr>
            <a:r>
              <a:rPr sz="1800" b="1" i="1" dirty="0">
                <a:latin typeface="Arial"/>
                <a:cs typeface="Arial"/>
              </a:rPr>
              <a:t>Hạng</a:t>
            </a:r>
            <a:r>
              <a:rPr sz="1800" b="1" i="1" spc="-20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của</a:t>
            </a:r>
            <a:r>
              <a:rPr sz="1800" b="1" i="1" spc="-35" dirty="0">
                <a:latin typeface="Arial"/>
                <a:cs typeface="Arial"/>
              </a:rPr>
              <a:t> </a:t>
            </a:r>
            <a:r>
              <a:rPr sz="1800" b="1" i="1" dirty="0">
                <a:latin typeface="Arial"/>
                <a:cs typeface="Arial"/>
              </a:rPr>
              <a:t>nhóm</a:t>
            </a:r>
            <a:r>
              <a:rPr sz="1800" b="1" i="1" spc="-50" dirty="0">
                <a:latin typeface="Arial"/>
                <a:cs typeface="Arial"/>
              </a:rPr>
              <a:t> </a:t>
            </a:r>
            <a:r>
              <a:rPr sz="1800" b="1" i="1" spc="-10" dirty="0">
                <a:latin typeface="Arial"/>
                <a:cs typeface="Arial"/>
              </a:rPr>
              <a:t>Atxua:</a:t>
            </a:r>
            <a:endParaRPr sz="1800">
              <a:latin typeface="Arial"/>
              <a:cs typeface="Arial"/>
            </a:endParaRPr>
          </a:p>
          <a:p>
            <a:pPr marL="340360" marR="5080" indent="-285750">
              <a:lnSpc>
                <a:spcPct val="150000"/>
              </a:lnSpc>
              <a:spcBef>
                <a:spcPts val="755"/>
              </a:spcBef>
              <a:buFont typeface="Wingdings"/>
              <a:buChar char=""/>
              <a:tabLst>
                <a:tab pos="341630" algn="l"/>
              </a:tabLst>
            </a:pPr>
            <a:r>
              <a:rPr sz="1800" dirty="0">
                <a:latin typeface="Arial"/>
                <a:cs typeface="Arial"/>
              </a:rPr>
              <a:t>Nếu</a:t>
            </a:r>
            <a:r>
              <a:rPr sz="1800" spc="20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các</a:t>
            </a:r>
            <a:r>
              <a:rPr sz="1800" spc="2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khớp</a:t>
            </a:r>
            <a:r>
              <a:rPr sz="1800" spc="2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trong</a:t>
            </a:r>
            <a:r>
              <a:rPr sz="1800" spc="2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2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một</a:t>
            </a:r>
            <a:r>
              <a:rPr sz="1800" spc="2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nhóm</a:t>
            </a:r>
            <a:r>
              <a:rPr sz="1800" spc="2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tĩnh</a:t>
            </a:r>
            <a:r>
              <a:rPr sz="1800" spc="20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định</a:t>
            </a:r>
            <a:r>
              <a:rPr sz="1800" spc="2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tạo</a:t>
            </a:r>
            <a:r>
              <a:rPr sz="1800" spc="2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thành</a:t>
            </a:r>
            <a:r>
              <a:rPr sz="1800" spc="2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nhiều</a:t>
            </a:r>
            <a:r>
              <a:rPr sz="1800" spc="20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đa</a:t>
            </a:r>
            <a:r>
              <a:rPr sz="1800" spc="2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giác</a:t>
            </a:r>
            <a:r>
              <a:rPr sz="1800" spc="20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thì</a:t>
            </a:r>
            <a:r>
              <a:rPr sz="1800" spc="21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hạng 	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nhóm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lấy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bằng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số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đỉnh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giác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nhiều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đỉnh</a:t>
            </a:r>
            <a:r>
              <a:rPr sz="1800" spc="-10" dirty="0">
                <a:latin typeface="Arial"/>
                <a:cs typeface="Arial"/>
              </a:rPr>
              <a:t> nhất.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7728" y="120522"/>
            <a:ext cx="314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NHH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0531" y="3376031"/>
            <a:ext cx="3245443" cy="28054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6272" y="3293226"/>
            <a:ext cx="3786239" cy="302419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395721" y="6377736"/>
            <a:ext cx="2032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Nhóm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Atxua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hạng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097654" y="4574794"/>
            <a:ext cx="748665" cy="445134"/>
            <a:chOff x="4097654" y="4574794"/>
            <a:chExt cx="748665" cy="445134"/>
          </a:xfrm>
        </p:grpSpPr>
        <p:sp>
          <p:nvSpPr>
            <p:cNvPr id="11" name="object 11"/>
            <p:cNvSpPr/>
            <p:nvPr/>
          </p:nvSpPr>
          <p:spPr>
            <a:xfrm>
              <a:off x="4104004" y="4581144"/>
              <a:ext cx="735965" cy="432434"/>
            </a:xfrm>
            <a:custGeom>
              <a:avLst/>
              <a:gdLst/>
              <a:ahLst/>
              <a:cxnLst/>
              <a:rect l="l" t="t" r="r" b="b"/>
              <a:pathLst>
                <a:path w="735964" h="432435">
                  <a:moveTo>
                    <a:pt x="519557" y="0"/>
                  </a:moveTo>
                  <a:lnTo>
                    <a:pt x="519557" y="107949"/>
                  </a:lnTo>
                  <a:lnTo>
                    <a:pt x="0" y="107949"/>
                  </a:lnTo>
                  <a:lnTo>
                    <a:pt x="0" y="323976"/>
                  </a:lnTo>
                  <a:lnTo>
                    <a:pt x="519557" y="323976"/>
                  </a:lnTo>
                  <a:lnTo>
                    <a:pt x="519557" y="432053"/>
                  </a:lnTo>
                  <a:lnTo>
                    <a:pt x="735584" y="216026"/>
                  </a:lnTo>
                  <a:lnTo>
                    <a:pt x="519557" y="0"/>
                  </a:lnTo>
                  <a:close/>
                </a:path>
              </a:pathLst>
            </a:custGeom>
            <a:solidFill>
              <a:srgbClr val="1D9A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104004" y="4581144"/>
              <a:ext cx="735965" cy="432434"/>
            </a:xfrm>
            <a:custGeom>
              <a:avLst/>
              <a:gdLst/>
              <a:ahLst/>
              <a:cxnLst/>
              <a:rect l="l" t="t" r="r" b="b"/>
              <a:pathLst>
                <a:path w="735964" h="432435">
                  <a:moveTo>
                    <a:pt x="0" y="107949"/>
                  </a:moveTo>
                  <a:lnTo>
                    <a:pt x="519557" y="107949"/>
                  </a:lnTo>
                  <a:lnTo>
                    <a:pt x="519557" y="0"/>
                  </a:lnTo>
                  <a:lnTo>
                    <a:pt x="735584" y="216026"/>
                  </a:lnTo>
                  <a:lnTo>
                    <a:pt x="519557" y="432053"/>
                  </a:lnTo>
                  <a:lnTo>
                    <a:pt x="519557" y="323976"/>
                  </a:lnTo>
                  <a:lnTo>
                    <a:pt x="0" y="323976"/>
                  </a:lnTo>
                  <a:lnTo>
                    <a:pt x="0" y="107949"/>
                  </a:lnTo>
                  <a:close/>
                </a:path>
              </a:pathLst>
            </a:custGeom>
            <a:ln w="12700">
              <a:solidFill>
                <a:srgbClr val="053D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9621" y="118110"/>
            <a:ext cx="60655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30" dirty="0"/>
              <a:t> </a:t>
            </a:r>
            <a:r>
              <a:rPr dirty="0"/>
              <a:t>1</a:t>
            </a:r>
            <a:r>
              <a:rPr spc="-45" dirty="0"/>
              <a:t> </a:t>
            </a:r>
            <a:r>
              <a:rPr dirty="0"/>
              <a:t>–</a:t>
            </a:r>
            <a:r>
              <a:rPr spc="-50" dirty="0"/>
              <a:t> </a:t>
            </a:r>
            <a:r>
              <a:rPr dirty="0"/>
              <a:t>PHÂN</a:t>
            </a:r>
            <a:r>
              <a:rPr spc="-40" dirty="0"/>
              <a:t> </a:t>
            </a:r>
            <a:r>
              <a:rPr dirty="0"/>
              <a:t>TÍCH</a:t>
            </a:r>
            <a:r>
              <a:rPr spc="-45" dirty="0"/>
              <a:t> </a:t>
            </a:r>
            <a:r>
              <a:rPr dirty="0"/>
              <a:t>CẤU</a:t>
            </a:r>
            <a:r>
              <a:rPr spc="-55" dirty="0"/>
              <a:t> </a:t>
            </a:r>
            <a:r>
              <a:rPr dirty="0"/>
              <a:t>TRÚC</a:t>
            </a:r>
            <a:r>
              <a:rPr spc="-45" dirty="0"/>
              <a:t> </a:t>
            </a:r>
            <a:r>
              <a:rPr dirty="0"/>
              <a:t>CƠ</a:t>
            </a:r>
            <a:r>
              <a:rPr spc="-45" dirty="0"/>
              <a:t> </a:t>
            </a:r>
            <a:r>
              <a:rPr spc="-25" dirty="0"/>
              <a:t>CẤU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28329" y="120522"/>
            <a:ext cx="297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1.27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30200" y="448436"/>
            <a:ext cx="5100320" cy="3895725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455295" lvl="1" indent="-442595">
              <a:lnSpc>
                <a:spcPct val="100000"/>
              </a:lnSpc>
              <a:spcBef>
                <a:spcPts val="1010"/>
              </a:spcBef>
              <a:buAutoNum type="arabicPeriod" startAt="3"/>
              <a:tabLst>
                <a:tab pos="455295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Cơ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cấu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phẳng</a:t>
            </a:r>
            <a:endParaRPr sz="1800">
              <a:latin typeface="Arial"/>
              <a:cs typeface="Arial"/>
            </a:endParaRPr>
          </a:p>
          <a:p>
            <a:pPr marL="645160" lvl="2" indent="-632460">
              <a:lnSpc>
                <a:spcPct val="100000"/>
              </a:lnSpc>
              <a:spcBef>
                <a:spcPts val="915"/>
              </a:spcBef>
              <a:buAutoNum type="arabicPeriod" startAt="3"/>
              <a:tabLst>
                <a:tab pos="645160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Phân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tích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cấu 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trúc</a:t>
            </a:r>
            <a:endParaRPr sz="1800">
              <a:latin typeface="Arial"/>
              <a:cs typeface="Arial"/>
            </a:endParaRPr>
          </a:p>
          <a:p>
            <a:pPr marL="298450" lvl="3" indent="-285750">
              <a:lnSpc>
                <a:spcPct val="100000"/>
              </a:lnSpc>
              <a:spcBef>
                <a:spcPts val="1215"/>
              </a:spcBef>
              <a:buClr>
                <a:srgbClr val="1D9A78"/>
              </a:buClr>
              <a:buFont typeface="Wingdings"/>
              <a:buChar char=""/>
              <a:tabLst>
                <a:tab pos="298450" algn="l"/>
              </a:tabLst>
            </a:pPr>
            <a:r>
              <a:rPr sz="1800" b="1" dirty="0">
                <a:solidFill>
                  <a:srgbClr val="0D4D3B"/>
                </a:solidFill>
                <a:latin typeface="Arial"/>
                <a:cs typeface="Arial"/>
              </a:rPr>
              <a:t>Nguyên</a:t>
            </a:r>
            <a:r>
              <a:rPr sz="1800" b="1" spc="-10" dirty="0">
                <a:solidFill>
                  <a:srgbClr val="0D4D3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4D3B"/>
                </a:solidFill>
                <a:latin typeface="Arial"/>
                <a:cs typeface="Arial"/>
              </a:rPr>
              <a:t>tắc</a:t>
            </a:r>
            <a:r>
              <a:rPr sz="1800" b="1" spc="-35" dirty="0">
                <a:solidFill>
                  <a:srgbClr val="0D4D3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4D3B"/>
                </a:solidFill>
                <a:latin typeface="Arial"/>
                <a:cs typeface="Arial"/>
              </a:rPr>
              <a:t>tách</a:t>
            </a:r>
            <a:r>
              <a:rPr sz="1800" b="1" spc="-20" dirty="0">
                <a:solidFill>
                  <a:srgbClr val="0D4D3B"/>
                </a:solidFill>
                <a:latin typeface="Arial"/>
                <a:cs typeface="Arial"/>
              </a:rPr>
              <a:t> nhóm</a:t>
            </a:r>
            <a:endParaRPr sz="1800">
              <a:latin typeface="Arial"/>
              <a:cs typeface="Arial"/>
            </a:endParaRPr>
          </a:p>
          <a:p>
            <a:pPr marL="340995" marR="5080" indent="-285750">
              <a:lnSpc>
                <a:spcPct val="150000"/>
              </a:lnSpc>
              <a:spcBef>
                <a:spcPts val="210"/>
              </a:spcBef>
              <a:buClr>
                <a:srgbClr val="1D9A78"/>
              </a:buClr>
              <a:buFont typeface="Wingdings"/>
              <a:buChar char=""/>
              <a:tabLst>
                <a:tab pos="342265" algn="l"/>
              </a:tabLst>
            </a:pPr>
            <a:r>
              <a:rPr sz="1800" dirty="0">
                <a:latin typeface="Arial"/>
                <a:cs typeface="Arial"/>
              </a:rPr>
              <a:t>Xác</a:t>
            </a:r>
            <a:r>
              <a:rPr sz="1800" spc="4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định</a:t>
            </a:r>
            <a:r>
              <a:rPr sz="1800" spc="4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được</a:t>
            </a:r>
            <a:r>
              <a:rPr sz="1800" spc="4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khâu</a:t>
            </a:r>
            <a:r>
              <a:rPr sz="1800" spc="4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dẫn</a:t>
            </a:r>
            <a:r>
              <a:rPr sz="1800" spc="4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(khâu</a:t>
            </a:r>
            <a:r>
              <a:rPr sz="1800" spc="4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dẫn</a:t>
            </a:r>
            <a:r>
              <a:rPr sz="1800" spc="4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và</a:t>
            </a:r>
            <a:r>
              <a:rPr sz="1800" spc="48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giá 	</a:t>
            </a:r>
            <a:r>
              <a:rPr sz="1800" dirty="0">
                <a:latin typeface="Arial"/>
                <a:cs typeface="Arial"/>
              </a:rPr>
              <a:t>không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thuộc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các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nhóm </a:t>
            </a:r>
            <a:r>
              <a:rPr sz="1800" spc="-10" dirty="0">
                <a:latin typeface="Arial"/>
                <a:cs typeface="Arial"/>
              </a:rPr>
              <a:t>tách).</a:t>
            </a:r>
            <a:endParaRPr sz="1800">
              <a:latin typeface="Arial"/>
              <a:cs typeface="Arial"/>
            </a:endParaRPr>
          </a:p>
          <a:p>
            <a:pPr marL="341630" indent="-285750">
              <a:lnSpc>
                <a:spcPct val="100000"/>
              </a:lnSpc>
              <a:spcBef>
                <a:spcPts val="1515"/>
              </a:spcBef>
              <a:buClr>
                <a:srgbClr val="1D9A78"/>
              </a:buClr>
              <a:buFont typeface="Wingdings"/>
              <a:buChar char=""/>
              <a:tabLst>
                <a:tab pos="341630" algn="l"/>
              </a:tabLst>
            </a:pPr>
            <a:r>
              <a:rPr sz="1800" dirty="0">
                <a:latin typeface="Arial"/>
                <a:cs typeface="Arial"/>
              </a:rPr>
              <a:t>Thay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thế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khớp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cao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bằng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khớp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thấp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(nếu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có)</a:t>
            </a:r>
            <a:endParaRPr sz="1800">
              <a:latin typeface="Arial"/>
              <a:cs typeface="Arial"/>
            </a:endParaRPr>
          </a:p>
          <a:p>
            <a:pPr marL="341630" indent="-285750">
              <a:lnSpc>
                <a:spcPct val="100000"/>
              </a:lnSpc>
              <a:spcBef>
                <a:spcPts val="1515"/>
              </a:spcBef>
              <a:buClr>
                <a:srgbClr val="1D9A78"/>
              </a:buClr>
              <a:buFont typeface="Wingdings"/>
              <a:buChar char=""/>
              <a:tabLst>
                <a:tab pos="341630" algn="l"/>
              </a:tabLst>
            </a:pPr>
            <a:r>
              <a:rPr sz="1800" dirty="0">
                <a:latin typeface="Arial"/>
                <a:cs typeface="Arial"/>
              </a:rPr>
              <a:t>Tách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nhóm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xa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khâu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dẫn</a:t>
            </a:r>
            <a:r>
              <a:rPr sz="1800" spc="-10" dirty="0">
                <a:latin typeface="Arial"/>
                <a:cs typeface="Arial"/>
              </a:rPr>
              <a:t> trước.</a:t>
            </a:r>
            <a:endParaRPr sz="1800">
              <a:latin typeface="Arial"/>
              <a:cs typeface="Arial"/>
            </a:endParaRPr>
          </a:p>
          <a:p>
            <a:pPr marL="340995" marR="5080" indent="-285750">
              <a:lnSpc>
                <a:spcPct val="150000"/>
              </a:lnSpc>
              <a:spcBef>
                <a:spcPts val="430"/>
              </a:spcBef>
              <a:buClr>
                <a:srgbClr val="1D9A78"/>
              </a:buClr>
              <a:buFont typeface="Wingdings"/>
              <a:buChar char=""/>
              <a:tabLst>
                <a:tab pos="342265" algn="l"/>
              </a:tabLst>
            </a:pPr>
            <a:r>
              <a:rPr sz="1800" dirty="0">
                <a:latin typeface="Arial"/>
                <a:cs typeface="Arial"/>
              </a:rPr>
              <a:t>Tách</a:t>
            </a:r>
            <a:r>
              <a:rPr sz="1800" spc="3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nhóm</a:t>
            </a:r>
            <a:r>
              <a:rPr sz="1800" spc="3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đơn</a:t>
            </a:r>
            <a:r>
              <a:rPr sz="1800" spc="3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giản</a:t>
            </a:r>
            <a:r>
              <a:rPr sz="1800" spc="3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trước,</a:t>
            </a:r>
            <a:r>
              <a:rPr sz="1800" spc="38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nhóm</a:t>
            </a:r>
            <a:r>
              <a:rPr sz="1800" spc="3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phức</a:t>
            </a:r>
            <a:r>
              <a:rPr sz="1800" spc="38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tạp 	</a:t>
            </a:r>
            <a:r>
              <a:rPr sz="1800" dirty="0">
                <a:latin typeface="Arial"/>
                <a:cs typeface="Arial"/>
              </a:rPr>
              <a:t>(nhóm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hạng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cao)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sau.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819394" y="712088"/>
            <a:ext cx="3116580" cy="1664970"/>
            <a:chOff x="5819394" y="712088"/>
            <a:chExt cx="3116580" cy="166497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82179" y="2266994"/>
              <a:ext cx="517321" cy="8999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79946" y="2277408"/>
              <a:ext cx="517321" cy="8999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406134" y="2263647"/>
              <a:ext cx="1043940" cy="0"/>
            </a:xfrm>
            <a:custGeom>
              <a:avLst/>
              <a:gdLst/>
              <a:ahLst/>
              <a:cxnLst/>
              <a:rect l="l" t="t" r="r" b="b"/>
              <a:pathLst>
                <a:path w="1043940">
                  <a:moveTo>
                    <a:pt x="0" y="0"/>
                  </a:moveTo>
                  <a:lnTo>
                    <a:pt x="1043939" y="0"/>
                  </a:lnTo>
                </a:path>
              </a:pathLst>
            </a:custGeom>
            <a:ln w="1905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40549" y="2252217"/>
              <a:ext cx="163068" cy="9283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584567" y="2265489"/>
              <a:ext cx="1351915" cy="0"/>
            </a:xfrm>
            <a:custGeom>
              <a:avLst/>
              <a:gdLst/>
              <a:ahLst/>
              <a:cxnLst/>
              <a:rect l="l" t="t" r="r" b="b"/>
              <a:pathLst>
                <a:path w="1351915">
                  <a:moveTo>
                    <a:pt x="0" y="0"/>
                  </a:moveTo>
                  <a:lnTo>
                    <a:pt x="837818" y="0"/>
                  </a:lnTo>
                </a:path>
                <a:path w="1351915">
                  <a:moveTo>
                    <a:pt x="1179563" y="0"/>
                  </a:moveTo>
                  <a:lnTo>
                    <a:pt x="1351406" y="0"/>
                  </a:lnTo>
                </a:path>
              </a:pathLst>
            </a:custGeom>
            <a:ln w="23495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71283" y="2208656"/>
              <a:ext cx="109093" cy="10909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902071" y="1215262"/>
              <a:ext cx="441959" cy="1006475"/>
            </a:xfrm>
            <a:custGeom>
              <a:avLst/>
              <a:gdLst/>
              <a:ahLst/>
              <a:cxnLst/>
              <a:rect l="l" t="t" r="r" b="b"/>
              <a:pathLst>
                <a:path w="441960" h="1006475">
                  <a:moveTo>
                    <a:pt x="0" y="0"/>
                  </a:moveTo>
                  <a:lnTo>
                    <a:pt x="441451" y="1006094"/>
                  </a:lnTo>
                </a:path>
              </a:pathLst>
            </a:custGeom>
            <a:ln w="1905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82026" y="1492884"/>
              <a:ext cx="94705" cy="16205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536688" y="809878"/>
              <a:ext cx="290830" cy="1413510"/>
            </a:xfrm>
            <a:custGeom>
              <a:avLst/>
              <a:gdLst/>
              <a:ahLst/>
              <a:cxnLst/>
              <a:rect l="l" t="t" r="r" b="b"/>
              <a:pathLst>
                <a:path w="290829" h="1413510">
                  <a:moveTo>
                    <a:pt x="0" y="1413510"/>
                  </a:moveTo>
                  <a:lnTo>
                    <a:pt x="117220" y="835406"/>
                  </a:lnTo>
                </a:path>
                <a:path w="290829" h="1413510">
                  <a:moveTo>
                    <a:pt x="138175" y="692785"/>
                  </a:moveTo>
                  <a:lnTo>
                    <a:pt x="290575" y="0"/>
                  </a:lnTo>
                </a:path>
              </a:pathLst>
            </a:custGeom>
            <a:ln w="1905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72654" y="712088"/>
              <a:ext cx="109093" cy="10909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918073" y="766571"/>
              <a:ext cx="1864360" cy="394335"/>
            </a:xfrm>
            <a:custGeom>
              <a:avLst/>
              <a:gdLst/>
              <a:ahLst/>
              <a:cxnLst/>
              <a:rect l="l" t="t" r="r" b="b"/>
              <a:pathLst>
                <a:path w="1864359" h="394334">
                  <a:moveTo>
                    <a:pt x="0" y="394335"/>
                  </a:moveTo>
                  <a:lnTo>
                    <a:pt x="1864105" y="0"/>
                  </a:lnTo>
                </a:path>
              </a:pathLst>
            </a:custGeom>
            <a:ln w="1905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19394" y="1121918"/>
              <a:ext cx="109092" cy="10909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422386" y="2183180"/>
              <a:ext cx="342265" cy="184785"/>
            </a:xfrm>
            <a:custGeom>
              <a:avLst/>
              <a:gdLst/>
              <a:ahLst/>
              <a:cxnLst/>
              <a:rect l="l" t="t" r="r" b="b"/>
              <a:pathLst>
                <a:path w="342265" h="184785">
                  <a:moveTo>
                    <a:pt x="341744" y="0"/>
                  </a:moveTo>
                  <a:lnTo>
                    <a:pt x="0" y="0"/>
                  </a:lnTo>
                  <a:lnTo>
                    <a:pt x="0" y="184226"/>
                  </a:lnTo>
                  <a:lnTo>
                    <a:pt x="341744" y="184226"/>
                  </a:lnTo>
                  <a:lnTo>
                    <a:pt x="341744" y="0"/>
                  </a:lnTo>
                  <a:close/>
                </a:path>
              </a:pathLst>
            </a:custGeom>
            <a:solidFill>
              <a:srgbClr val="F8D7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422386" y="2183180"/>
              <a:ext cx="342265" cy="184785"/>
            </a:xfrm>
            <a:custGeom>
              <a:avLst/>
              <a:gdLst/>
              <a:ahLst/>
              <a:cxnLst/>
              <a:rect l="l" t="t" r="r" b="b"/>
              <a:pathLst>
                <a:path w="342265" h="184785">
                  <a:moveTo>
                    <a:pt x="0" y="184226"/>
                  </a:moveTo>
                  <a:lnTo>
                    <a:pt x="341744" y="184226"/>
                  </a:lnTo>
                  <a:lnTo>
                    <a:pt x="341744" y="0"/>
                  </a:lnTo>
                  <a:lnTo>
                    <a:pt x="0" y="0"/>
                  </a:lnTo>
                  <a:lnTo>
                    <a:pt x="0" y="184226"/>
                  </a:lnTo>
                  <a:close/>
                </a:path>
              </a:pathLst>
            </a:custGeom>
            <a:ln w="1905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01613" y="2216277"/>
              <a:ext cx="108965" cy="10909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14411" y="1519301"/>
              <a:ext cx="108966" cy="10896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534908" y="2218944"/>
              <a:ext cx="108966" cy="10909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700645" y="1605661"/>
              <a:ext cx="857250" cy="636270"/>
            </a:xfrm>
            <a:custGeom>
              <a:avLst/>
              <a:gdLst/>
              <a:ahLst/>
              <a:cxnLst/>
              <a:rect l="l" t="t" r="r" b="b"/>
              <a:pathLst>
                <a:path w="857250" h="636269">
                  <a:moveTo>
                    <a:pt x="856996" y="636015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127623" y="1982088"/>
              <a:ext cx="311150" cy="162560"/>
            </a:xfrm>
            <a:custGeom>
              <a:avLst/>
              <a:gdLst/>
              <a:ahLst/>
              <a:cxnLst/>
              <a:rect l="l" t="t" r="r" b="b"/>
              <a:pathLst>
                <a:path w="311150" h="162560">
                  <a:moveTo>
                    <a:pt x="178435" y="2666"/>
                  </a:moveTo>
                  <a:lnTo>
                    <a:pt x="124332" y="12700"/>
                  </a:lnTo>
                  <a:lnTo>
                    <a:pt x="76200" y="37464"/>
                  </a:lnTo>
                  <a:lnTo>
                    <a:pt x="37084" y="74930"/>
                  </a:lnTo>
                  <a:lnTo>
                    <a:pt x="9905" y="122809"/>
                  </a:lnTo>
                  <a:lnTo>
                    <a:pt x="0" y="159003"/>
                  </a:lnTo>
                  <a:lnTo>
                    <a:pt x="15493" y="162433"/>
                  </a:lnTo>
                  <a:lnTo>
                    <a:pt x="19265" y="145279"/>
                  </a:lnTo>
                  <a:lnTo>
                    <a:pt x="24643" y="128777"/>
                  </a:lnTo>
                  <a:lnTo>
                    <a:pt x="31881" y="112512"/>
                  </a:lnTo>
                  <a:lnTo>
                    <a:pt x="31954" y="112347"/>
                  </a:lnTo>
                  <a:lnTo>
                    <a:pt x="40131" y="97916"/>
                  </a:lnTo>
                  <a:lnTo>
                    <a:pt x="46021" y="89662"/>
                  </a:lnTo>
                  <a:lnTo>
                    <a:pt x="49784" y="84327"/>
                  </a:lnTo>
                  <a:lnTo>
                    <a:pt x="59913" y="72788"/>
                  </a:lnTo>
                  <a:lnTo>
                    <a:pt x="72678" y="60414"/>
                  </a:lnTo>
                  <a:lnTo>
                    <a:pt x="85163" y="50605"/>
                  </a:lnTo>
                  <a:lnTo>
                    <a:pt x="85806" y="50290"/>
                  </a:lnTo>
                  <a:lnTo>
                    <a:pt x="99108" y="41656"/>
                  </a:lnTo>
                  <a:lnTo>
                    <a:pt x="98932" y="41656"/>
                  </a:lnTo>
                  <a:lnTo>
                    <a:pt x="113927" y="34036"/>
                  </a:lnTo>
                  <a:lnTo>
                    <a:pt x="113791" y="34036"/>
                  </a:lnTo>
                  <a:lnTo>
                    <a:pt x="129793" y="27559"/>
                  </a:lnTo>
                  <a:lnTo>
                    <a:pt x="130309" y="27559"/>
                  </a:lnTo>
                  <a:lnTo>
                    <a:pt x="144076" y="23495"/>
                  </a:lnTo>
                  <a:lnTo>
                    <a:pt x="143695" y="23495"/>
                  </a:lnTo>
                  <a:lnTo>
                    <a:pt x="161763" y="20065"/>
                  </a:lnTo>
                  <a:lnTo>
                    <a:pt x="179217" y="18551"/>
                  </a:lnTo>
                  <a:lnTo>
                    <a:pt x="248460" y="18551"/>
                  </a:lnTo>
                  <a:lnTo>
                    <a:pt x="250479" y="15332"/>
                  </a:lnTo>
                  <a:lnTo>
                    <a:pt x="244728" y="12191"/>
                  </a:lnTo>
                  <a:lnTo>
                    <a:pt x="230377" y="8127"/>
                  </a:lnTo>
                  <a:lnTo>
                    <a:pt x="216280" y="5207"/>
                  </a:lnTo>
                  <a:lnTo>
                    <a:pt x="197357" y="3048"/>
                  </a:lnTo>
                  <a:lnTo>
                    <a:pt x="178435" y="2666"/>
                  </a:lnTo>
                  <a:close/>
                </a:path>
                <a:path w="311150" h="162560">
                  <a:moveTo>
                    <a:pt x="242020" y="28818"/>
                  </a:moveTo>
                  <a:lnTo>
                    <a:pt x="233172" y="42925"/>
                  </a:lnTo>
                  <a:lnTo>
                    <a:pt x="311150" y="61975"/>
                  </a:lnTo>
                  <a:lnTo>
                    <a:pt x="289075" y="35178"/>
                  </a:lnTo>
                  <a:lnTo>
                    <a:pt x="253618" y="35178"/>
                  </a:lnTo>
                  <a:lnTo>
                    <a:pt x="242020" y="28818"/>
                  </a:lnTo>
                  <a:close/>
                </a:path>
                <a:path w="311150" h="162560">
                  <a:moveTo>
                    <a:pt x="85806" y="50290"/>
                  </a:moveTo>
                  <a:lnTo>
                    <a:pt x="85163" y="50605"/>
                  </a:lnTo>
                  <a:lnTo>
                    <a:pt x="84413" y="51194"/>
                  </a:lnTo>
                  <a:lnTo>
                    <a:pt x="85806" y="50290"/>
                  </a:lnTo>
                  <a:close/>
                </a:path>
                <a:path w="311150" h="162560">
                  <a:moveTo>
                    <a:pt x="99694" y="41275"/>
                  </a:moveTo>
                  <a:lnTo>
                    <a:pt x="98932" y="41656"/>
                  </a:lnTo>
                  <a:lnTo>
                    <a:pt x="99108" y="41656"/>
                  </a:lnTo>
                  <a:lnTo>
                    <a:pt x="99694" y="41275"/>
                  </a:lnTo>
                  <a:close/>
                </a:path>
                <a:path w="311150" h="162560">
                  <a:moveTo>
                    <a:pt x="250479" y="15332"/>
                  </a:moveTo>
                  <a:lnTo>
                    <a:pt x="242020" y="28818"/>
                  </a:lnTo>
                  <a:lnTo>
                    <a:pt x="253618" y="35178"/>
                  </a:lnTo>
                  <a:lnTo>
                    <a:pt x="261238" y="21209"/>
                  </a:lnTo>
                  <a:lnTo>
                    <a:pt x="250479" y="15332"/>
                  </a:lnTo>
                  <a:close/>
                </a:path>
                <a:path w="311150" h="162560">
                  <a:moveTo>
                    <a:pt x="260096" y="0"/>
                  </a:moveTo>
                  <a:lnTo>
                    <a:pt x="250479" y="15332"/>
                  </a:lnTo>
                  <a:lnTo>
                    <a:pt x="261238" y="21209"/>
                  </a:lnTo>
                  <a:lnTo>
                    <a:pt x="253618" y="35178"/>
                  </a:lnTo>
                  <a:lnTo>
                    <a:pt x="289075" y="35178"/>
                  </a:lnTo>
                  <a:lnTo>
                    <a:pt x="260096" y="0"/>
                  </a:lnTo>
                  <a:close/>
                </a:path>
                <a:path w="311150" h="162560">
                  <a:moveTo>
                    <a:pt x="114426" y="33782"/>
                  </a:moveTo>
                  <a:lnTo>
                    <a:pt x="113791" y="34036"/>
                  </a:lnTo>
                  <a:lnTo>
                    <a:pt x="113927" y="34036"/>
                  </a:lnTo>
                  <a:lnTo>
                    <a:pt x="114426" y="33782"/>
                  </a:lnTo>
                  <a:close/>
                </a:path>
                <a:path w="311150" h="162560">
                  <a:moveTo>
                    <a:pt x="238481" y="26877"/>
                  </a:moveTo>
                  <a:lnTo>
                    <a:pt x="242020" y="28818"/>
                  </a:lnTo>
                  <a:lnTo>
                    <a:pt x="243049" y="27177"/>
                  </a:lnTo>
                  <a:lnTo>
                    <a:pt x="239522" y="27177"/>
                  </a:lnTo>
                  <a:lnTo>
                    <a:pt x="238481" y="26877"/>
                  </a:lnTo>
                  <a:close/>
                </a:path>
                <a:path w="311150" h="162560">
                  <a:moveTo>
                    <a:pt x="130309" y="27559"/>
                  </a:moveTo>
                  <a:lnTo>
                    <a:pt x="129793" y="27559"/>
                  </a:lnTo>
                  <a:lnTo>
                    <a:pt x="128368" y="28136"/>
                  </a:lnTo>
                  <a:lnTo>
                    <a:pt x="130309" y="27559"/>
                  </a:lnTo>
                  <a:close/>
                </a:path>
                <a:path w="311150" h="162560">
                  <a:moveTo>
                    <a:pt x="237871" y="26543"/>
                  </a:moveTo>
                  <a:lnTo>
                    <a:pt x="238481" y="26877"/>
                  </a:lnTo>
                  <a:lnTo>
                    <a:pt x="239522" y="27177"/>
                  </a:lnTo>
                  <a:lnTo>
                    <a:pt x="237871" y="26543"/>
                  </a:lnTo>
                  <a:close/>
                </a:path>
                <a:path w="311150" h="162560">
                  <a:moveTo>
                    <a:pt x="243447" y="26543"/>
                  </a:moveTo>
                  <a:lnTo>
                    <a:pt x="237871" y="26543"/>
                  </a:lnTo>
                  <a:lnTo>
                    <a:pt x="239522" y="27177"/>
                  </a:lnTo>
                  <a:lnTo>
                    <a:pt x="243049" y="27177"/>
                  </a:lnTo>
                  <a:lnTo>
                    <a:pt x="243447" y="26543"/>
                  </a:lnTo>
                  <a:close/>
                </a:path>
                <a:path w="311150" h="162560">
                  <a:moveTo>
                    <a:pt x="247032" y="20827"/>
                  </a:moveTo>
                  <a:lnTo>
                    <a:pt x="213487" y="20827"/>
                  </a:lnTo>
                  <a:lnTo>
                    <a:pt x="226949" y="23495"/>
                  </a:lnTo>
                  <a:lnTo>
                    <a:pt x="226754" y="23495"/>
                  </a:lnTo>
                  <a:lnTo>
                    <a:pt x="238481" y="26877"/>
                  </a:lnTo>
                  <a:lnTo>
                    <a:pt x="237871" y="26543"/>
                  </a:lnTo>
                  <a:lnTo>
                    <a:pt x="243447" y="26543"/>
                  </a:lnTo>
                  <a:lnTo>
                    <a:pt x="246951" y="20956"/>
                  </a:lnTo>
                  <a:lnTo>
                    <a:pt x="247032" y="20827"/>
                  </a:lnTo>
                  <a:close/>
                </a:path>
                <a:path w="311150" h="162560">
                  <a:moveTo>
                    <a:pt x="248460" y="18551"/>
                  </a:moveTo>
                  <a:lnTo>
                    <a:pt x="179217" y="18551"/>
                  </a:lnTo>
                  <a:lnTo>
                    <a:pt x="196723" y="18796"/>
                  </a:lnTo>
                  <a:lnTo>
                    <a:pt x="195834" y="18796"/>
                  </a:lnTo>
                  <a:lnTo>
                    <a:pt x="214136" y="20956"/>
                  </a:lnTo>
                  <a:lnTo>
                    <a:pt x="213487" y="20827"/>
                  </a:lnTo>
                  <a:lnTo>
                    <a:pt x="247032" y="20827"/>
                  </a:lnTo>
                  <a:lnTo>
                    <a:pt x="248460" y="1855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065791" y="2122651"/>
            <a:ext cx="26797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50" dirty="0">
                <a:latin typeface="Cambria Math"/>
                <a:cs typeface="Cambria Math"/>
              </a:rPr>
              <a:t>A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600698" y="947763"/>
            <a:ext cx="26543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50" dirty="0">
                <a:latin typeface="Cambria Math"/>
                <a:cs typeface="Cambria Math"/>
              </a:rPr>
              <a:t>B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741545" y="400053"/>
            <a:ext cx="252729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0" dirty="0">
                <a:latin typeface="Cambria Math"/>
                <a:cs typeface="Cambria Math"/>
              </a:rPr>
              <a:t>C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333528" y="2279612"/>
            <a:ext cx="27813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50" dirty="0">
                <a:latin typeface="Cambria Math"/>
                <a:cs typeface="Cambria Math"/>
              </a:rPr>
              <a:t>D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438640" y="2287105"/>
            <a:ext cx="246379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50" dirty="0">
                <a:latin typeface="Cambria Math"/>
                <a:cs typeface="Cambria Math"/>
              </a:rPr>
              <a:t>F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605160" y="1868156"/>
            <a:ext cx="15240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072973" y="1561571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336534" y="1069453"/>
            <a:ext cx="360045" cy="6108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0345">
              <a:lnSpc>
                <a:spcPts val="2245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365"/>
              </a:lnSpc>
            </a:pPr>
            <a:r>
              <a:rPr sz="2100" spc="-50" dirty="0">
                <a:latin typeface="Cambria Math"/>
                <a:cs typeface="Cambria Math"/>
              </a:rPr>
              <a:t>E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882502" y="1508612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776049" y="637646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873671" y="2318752"/>
            <a:ext cx="15240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0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7765795" y="3676015"/>
            <a:ext cx="1159510" cy="857885"/>
            <a:chOff x="7765795" y="3676015"/>
            <a:chExt cx="1159510" cy="857885"/>
          </a:xfrm>
        </p:grpSpPr>
        <p:sp>
          <p:nvSpPr>
            <p:cNvPr id="38" name="object 38"/>
            <p:cNvSpPr/>
            <p:nvPr/>
          </p:nvSpPr>
          <p:spPr>
            <a:xfrm>
              <a:off x="8573769" y="4339894"/>
              <a:ext cx="342265" cy="184785"/>
            </a:xfrm>
            <a:custGeom>
              <a:avLst/>
              <a:gdLst/>
              <a:ahLst/>
              <a:cxnLst/>
              <a:rect l="l" t="t" r="r" b="b"/>
              <a:pathLst>
                <a:path w="342265" h="184785">
                  <a:moveTo>
                    <a:pt x="341744" y="0"/>
                  </a:moveTo>
                  <a:lnTo>
                    <a:pt x="0" y="0"/>
                  </a:lnTo>
                  <a:lnTo>
                    <a:pt x="0" y="184226"/>
                  </a:lnTo>
                  <a:lnTo>
                    <a:pt x="341744" y="184226"/>
                  </a:lnTo>
                  <a:lnTo>
                    <a:pt x="341744" y="0"/>
                  </a:lnTo>
                  <a:close/>
                </a:path>
              </a:pathLst>
            </a:custGeom>
            <a:solidFill>
              <a:srgbClr val="F8D7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573769" y="4339894"/>
              <a:ext cx="342265" cy="184785"/>
            </a:xfrm>
            <a:custGeom>
              <a:avLst/>
              <a:gdLst/>
              <a:ahLst/>
              <a:cxnLst/>
              <a:rect l="l" t="t" r="r" b="b"/>
              <a:pathLst>
                <a:path w="342265" h="184785">
                  <a:moveTo>
                    <a:pt x="0" y="184226"/>
                  </a:moveTo>
                  <a:lnTo>
                    <a:pt x="341744" y="184226"/>
                  </a:lnTo>
                  <a:lnTo>
                    <a:pt x="341744" y="0"/>
                  </a:lnTo>
                  <a:lnTo>
                    <a:pt x="0" y="0"/>
                  </a:lnTo>
                  <a:lnTo>
                    <a:pt x="0" y="184226"/>
                  </a:lnTo>
                  <a:close/>
                </a:path>
              </a:pathLst>
            </a:custGeom>
            <a:ln w="1905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65795" y="3676015"/>
              <a:ext cx="109093" cy="109093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86291" y="4375658"/>
              <a:ext cx="109092" cy="109093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7852155" y="3762375"/>
              <a:ext cx="857250" cy="636270"/>
            </a:xfrm>
            <a:custGeom>
              <a:avLst/>
              <a:gdLst/>
              <a:ahLst/>
              <a:cxnLst/>
              <a:rect l="l" t="t" r="r" b="b"/>
              <a:pathLst>
                <a:path w="857250" h="636270">
                  <a:moveTo>
                    <a:pt x="856869" y="636016"/>
                  </a:moveTo>
                  <a:lnTo>
                    <a:pt x="0" y="0"/>
                  </a:lnTo>
                </a:path>
              </a:pathLst>
            </a:custGeom>
            <a:ln w="1905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8308338" y="4220426"/>
            <a:ext cx="246379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50" dirty="0">
                <a:latin typeface="Cambria Math"/>
                <a:cs typeface="Cambria Math"/>
              </a:rPr>
              <a:t>F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756543" y="4024997"/>
            <a:ext cx="15240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224484" y="3718285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5788025" y="2958845"/>
            <a:ext cx="2062480" cy="1605915"/>
            <a:chOff x="5788025" y="2958845"/>
            <a:chExt cx="2062480" cy="1605915"/>
          </a:xfrm>
        </p:grpSpPr>
        <p:pic>
          <p:nvPicPr>
            <p:cNvPr id="47" name="object 4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439914" y="4455413"/>
              <a:ext cx="109092" cy="109093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550657" y="3739514"/>
              <a:ext cx="94705" cy="162179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7505319" y="3056635"/>
              <a:ext cx="290830" cy="1413510"/>
            </a:xfrm>
            <a:custGeom>
              <a:avLst/>
              <a:gdLst/>
              <a:ahLst/>
              <a:cxnLst/>
              <a:rect l="l" t="t" r="r" b="b"/>
              <a:pathLst>
                <a:path w="290829" h="1413510">
                  <a:moveTo>
                    <a:pt x="0" y="1413383"/>
                  </a:moveTo>
                  <a:lnTo>
                    <a:pt x="117221" y="835278"/>
                  </a:lnTo>
                </a:path>
                <a:path w="290829" h="1413510">
                  <a:moveTo>
                    <a:pt x="138175" y="692657"/>
                  </a:moveTo>
                  <a:lnTo>
                    <a:pt x="290575" y="0"/>
                  </a:lnTo>
                </a:path>
              </a:pathLst>
            </a:custGeom>
            <a:ln w="1905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741411" y="2958845"/>
              <a:ext cx="108966" cy="109092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5886703" y="3013328"/>
              <a:ext cx="1864360" cy="394335"/>
            </a:xfrm>
            <a:custGeom>
              <a:avLst/>
              <a:gdLst/>
              <a:ahLst/>
              <a:cxnLst/>
              <a:rect l="l" t="t" r="r" b="b"/>
              <a:pathLst>
                <a:path w="1864359" h="394335">
                  <a:moveTo>
                    <a:pt x="0" y="394335"/>
                  </a:moveTo>
                  <a:lnTo>
                    <a:pt x="1864232" y="0"/>
                  </a:lnTo>
                </a:path>
              </a:pathLst>
            </a:custGeom>
            <a:ln w="1905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88025" y="3368674"/>
              <a:ext cx="109092" cy="108965"/>
            </a:xfrm>
            <a:prstGeom prst="rect">
              <a:avLst/>
            </a:prstGeom>
          </p:spPr>
        </p:pic>
      </p:grpSp>
      <p:sp>
        <p:nvSpPr>
          <p:cNvPr id="53" name="object 53"/>
          <p:cNvSpPr txBox="1"/>
          <p:nvPr/>
        </p:nvSpPr>
        <p:spPr>
          <a:xfrm>
            <a:off x="5569456" y="3194520"/>
            <a:ext cx="26543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50" dirty="0">
                <a:latin typeface="Cambria Math"/>
                <a:cs typeface="Cambria Math"/>
              </a:rPr>
              <a:t>B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710176" y="2646810"/>
            <a:ext cx="252729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0" dirty="0">
                <a:latin typeface="Cambria Math"/>
                <a:cs typeface="Cambria Math"/>
              </a:rPr>
              <a:t>C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487686" y="3302431"/>
            <a:ext cx="52324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3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3150" spc="-75" baseline="-11904" dirty="0">
                <a:latin typeface="Cambria Math"/>
                <a:cs typeface="Cambria Math"/>
              </a:rPr>
              <a:t>E</a:t>
            </a:r>
            <a:endParaRPr sz="3150" baseline="-11904">
              <a:latin typeface="Cambria Math"/>
              <a:cs typeface="Cambria Math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744679" y="2884403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73786" y="4268686"/>
            <a:ext cx="7098030" cy="562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ts val="2290"/>
              </a:lnSpc>
              <a:spcBef>
                <a:spcPts val="105"/>
              </a:spcBef>
            </a:pPr>
            <a:r>
              <a:rPr sz="2100" spc="-50" dirty="0">
                <a:latin typeface="Cambria Math"/>
                <a:cs typeface="Cambria Math"/>
              </a:rPr>
              <a:t>D</a:t>
            </a:r>
            <a:endParaRPr sz="2100">
              <a:latin typeface="Cambria Math"/>
              <a:cs typeface="Cambria Math"/>
            </a:endParaRPr>
          </a:p>
          <a:p>
            <a:pPr marL="298450" indent="-285750">
              <a:lnSpc>
                <a:spcPts val="1930"/>
              </a:lnSpc>
              <a:buFont typeface="Wingdings"/>
              <a:buChar char=""/>
              <a:tabLst>
                <a:tab pos="298450" algn="l"/>
              </a:tabLst>
            </a:pPr>
            <a:r>
              <a:rPr sz="1800" dirty="0">
                <a:latin typeface="Arial"/>
                <a:cs typeface="Arial"/>
              </a:rPr>
              <a:t>Số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khâu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và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số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khớp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phải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thỏa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mãn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điều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kiện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bậc tự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do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nhóm.</a:t>
            </a:r>
            <a:endParaRPr sz="18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17728" y="120522"/>
            <a:ext cx="314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NHH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04571" y="4902890"/>
            <a:ext cx="8512175" cy="848360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175"/>
              </a:spcBef>
              <a:buFont typeface="Wingdings"/>
              <a:buChar char=""/>
              <a:tabLst>
                <a:tab pos="298450" algn="l"/>
              </a:tabLst>
            </a:pPr>
            <a:r>
              <a:rPr sz="1800" dirty="0">
                <a:latin typeface="Arial"/>
                <a:cs typeface="Arial"/>
              </a:rPr>
              <a:t>Sau</a:t>
            </a:r>
            <a:r>
              <a:rPr sz="1800" spc="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khi</a:t>
            </a:r>
            <a:r>
              <a:rPr sz="1800" spc="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tách,</a:t>
            </a:r>
            <a:r>
              <a:rPr sz="1800" spc="1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phần</a:t>
            </a:r>
            <a:r>
              <a:rPr sz="1800" spc="1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còn</a:t>
            </a:r>
            <a:r>
              <a:rPr sz="1800" spc="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lại</a:t>
            </a:r>
            <a:r>
              <a:rPr sz="1800" spc="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cơ</a:t>
            </a:r>
            <a:r>
              <a:rPr sz="1800" spc="1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</a:t>
            </a:r>
            <a:r>
              <a:rPr sz="1800" spc="1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phải</a:t>
            </a:r>
            <a:r>
              <a:rPr sz="1800" spc="1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1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một</a:t>
            </a:r>
            <a:r>
              <a:rPr sz="1800" spc="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cơ</a:t>
            </a:r>
            <a:r>
              <a:rPr sz="1800" spc="1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</a:t>
            </a:r>
            <a:r>
              <a:rPr sz="1800" spc="1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hoàn</a:t>
            </a:r>
            <a:r>
              <a:rPr sz="1800" spc="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chỉnh</a:t>
            </a:r>
            <a:r>
              <a:rPr sz="1800" spc="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hoặc</a:t>
            </a:r>
            <a:r>
              <a:rPr sz="1800" spc="12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còn</a:t>
            </a:r>
            <a:endParaRPr sz="1800">
              <a:latin typeface="Arial"/>
              <a:cs typeface="Arial"/>
            </a:endParaRPr>
          </a:p>
          <a:p>
            <a:pPr marL="299085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Arial"/>
                <a:cs typeface="Arial"/>
              </a:rPr>
              <a:t>lại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khâu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dẫn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nối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với</a:t>
            </a:r>
            <a:r>
              <a:rPr sz="1800" spc="-20" dirty="0">
                <a:latin typeface="Arial"/>
                <a:cs typeface="Arial"/>
              </a:rPr>
              <a:t> giá.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44192" y="118110"/>
            <a:ext cx="60553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40" dirty="0"/>
              <a:t> </a:t>
            </a:r>
            <a:r>
              <a:rPr dirty="0"/>
              <a:t>1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TÍCH</a:t>
            </a:r>
            <a:r>
              <a:rPr spc="-60" dirty="0"/>
              <a:t> </a:t>
            </a:r>
            <a:r>
              <a:rPr dirty="0"/>
              <a:t>CẤU</a:t>
            </a:r>
            <a:r>
              <a:rPr spc="-70" dirty="0"/>
              <a:t> </a:t>
            </a:r>
            <a:r>
              <a:rPr dirty="0"/>
              <a:t>TRÚC</a:t>
            </a:r>
            <a:r>
              <a:rPr spc="-55" dirty="0"/>
              <a:t> </a:t>
            </a:r>
            <a:r>
              <a:rPr dirty="0"/>
              <a:t>CƠ</a:t>
            </a:r>
            <a:r>
              <a:rPr spc="-50" dirty="0"/>
              <a:t> </a:t>
            </a:r>
            <a:r>
              <a:rPr spc="-25" dirty="0"/>
              <a:t>CẤU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28329" y="120522"/>
            <a:ext cx="297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1.28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30200" y="448436"/>
            <a:ext cx="8484870" cy="2912745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455930" lvl="1" indent="-443230" algn="just">
              <a:lnSpc>
                <a:spcPct val="100000"/>
              </a:lnSpc>
              <a:spcBef>
                <a:spcPts val="1010"/>
              </a:spcBef>
              <a:buAutoNum type="arabicPeriod" startAt="3"/>
              <a:tabLst>
                <a:tab pos="455930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Cơ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cấu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phẳng</a:t>
            </a:r>
            <a:endParaRPr sz="1800">
              <a:latin typeface="Arial"/>
              <a:cs typeface="Arial"/>
            </a:endParaRPr>
          </a:p>
          <a:p>
            <a:pPr marL="645160" lvl="2" indent="-632460" algn="just">
              <a:lnSpc>
                <a:spcPct val="100000"/>
              </a:lnSpc>
              <a:spcBef>
                <a:spcPts val="915"/>
              </a:spcBef>
              <a:buAutoNum type="arabicPeriod" startAt="3"/>
              <a:tabLst>
                <a:tab pos="645160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Phân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tích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cấu 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trúc</a:t>
            </a:r>
            <a:endParaRPr sz="1800">
              <a:latin typeface="Arial"/>
              <a:cs typeface="Arial"/>
            </a:endParaRPr>
          </a:p>
          <a:p>
            <a:pPr marL="298450" lvl="3" indent="-285750" algn="just">
              <a:lnSpc>
                <a:spcPct val="100000"/>
              </a:lnSpc>
              <a:spcBef>
                <a:spcPts val="1215"/>
              </a:spcBef>
              <a:buClr>
                <a:srgbClr val="1D9A78"/>
              </a:buClr>
              <a:buFont typeface="Wingdings"/>
              <a:buChar char=""/>
              <a:tabLst>
                <a:tab pos="298450" algn="l"/>
              </a:tabLst>
            </a:pPr>
            <a:r>
              <a:rPr sz="1800" b="1" dirty="0">
                <a:solidFill>
                  <a:srgbClr val="0D4D3B"/>
                </a:solidFill>
                <a:latin typeface="Arial"/>
                <a:cs typeface="Arial"/>
              </a:rPr>
              <a:t>Nguyên</a:t>
            </a:r>
            <a:r>
              <a:rPr sz="1800" b="1" spc="-10" dirty="0">
                <a:solidFill>
                  <a:srgbClr val="0D4D3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4D3B"/>
                </a:solidFill>
                <a:latin typeface="Arial"/>
                <a:cs typeface="Arial"/>
              </a:rPr>
              <a:t>tắc</a:t>
            </a:r>
            <a:r>
              <a:rPr sz="1800" b="1" spc="-35" dirty="0">
                <a:solidFill>
                  <a:srgbClr val="0D4D3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4D3B"/>
                </a:solidFill>
                <a:latin typeface="Arial"/>
                <a:cs typeface="Arial"/>
              </a:rPr>
              <a:t>tách</a:t>
            </a:r>
            <a:r>
              <a:rPr sz="1800" b="1" spc="-20" dirty="0">
                <a:solidFill>
                  <a:srgbClr val="0D4D3B"/>
                </a:solidFill>
                <a:latin typeface="Arial"/>
                <a:cs typeface="Arial"/>
              </a:rPr>
              <a:t> nhóm</a:t>
            </a:r>
            <a:endParaRPr sz="1800">
              <a:latin typeface="Arial"/>
              <a:cs typeface="Arial"/>
            </a:endParaRPr>
          </a:p>
          <a:p>
            <a:pPr marL="340995" marR="5080" indent="-285750" algn="just">
              <a:lnSpc>
                <a:spcPct val="150000"/>
              </a:lnSpc>
              <a:spcBef>
                <a:spcPts val="210"/>
              </a:spcBef>
              <a:buClr>
                <a:srgbClr val="1D9A78"/>
              </a:buClr>
              <a:buFont typeface="Wingdings"/>
              <a:buChar char=""/>
              <a:tabLst>
                <a:tab pos="342265" algn="l"/>
              </a:tabLst>
            </a:pPr>
            <a:r>
              <a:rPr sz="1800" dirty="0">
                <a:latin typeface="Arial"/>
                <a:cs typeface="Arial"/>
              </a:rPr>
              <a:t>Nếu</a:t>
            </a:r>
            <a:r>
              <a:rPr sz="1800" spc="2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trong</a:t>
            </a:r>
            <a:r>
              <a:rPr sz="1800" spc="2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cơ</a:t>
            </a:r>
            <a:r>
              <a:rPr sz="1800" spc="2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</a:t>
            </a:r>
            <a:r>
              <a:rPr sz="1800" spc="2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có</a:t>
            </a:r>
            <a:r>
              <a:rPr sz="1800" spc="2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khớp</a:t>
            </a:r>
            <a:r>
              <a:rPr sz="1800" spc="229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loại</a:t>
            </a:r>
            <a:r>
              <a:rPr sz="1800" spc="2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cao</a:t>
            </a:r>
            <a:r>
              <a:rPr sz="1800" spc="2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thì</a:t>
            </a:r>
            <a:r>
              <a:rPr sz="1800" spc="2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phải</a:t>
            </a:r>
            <a:r>
              <a:rPr sz="1800" spc="2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chuyển</a:t>
            </a:r>
            <a:r>
              <a:rPr sz="1800" spc="2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sang</a:t>
            </a:r>
            <a:r>
              <a:rPr sz="1800" spc="2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khớp</a:t>
            </a:r>
            <a:r>
              <a:rPr sz="1800" spc="2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loại</a:t>
            </a:r>
            <a:r>
              <a:rPr sz="1800" spc="2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thấp</a:t>
            </a:r>
            <a:r>
              <a:rPr sz="1800" spc="21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theo 	</a:t>
            </a:r>
            <a:r>
              <a:rPr sz="1800" dirty="0">
                <a:latin typeface="Arial"/>
                <a:cs typeface="Arial"/>
              </a:rPr>
              <a:t>nguyên</a:t>
            </a:r>
            <a:r>
              <a:rPr sz="1800" spc="2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tắc:</a:t>
            </a:r>
            <a:r>
              <a:rPr sz="1800" spc="2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Bậc</a:t>
            </a:r>
            <a:r>
              <a:rPr sz="1800" spc="2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tự</a:t>
            </a:r>
            <a:r>
              <a:rPr sz="1800" spc="2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do</a:t>
            </a:r>
            <a:r>
              <a:rPr sz="1800" spc="229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229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cơ</a:t>
            </a:r>
            <a:r>
              <a:rPr sz="1800" spc="2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</a:t>
            </a:r>
            <a:r>
              <a:rPr sz="1800" spc="2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và</a:t>
            </a:r>
            <a:r>
              <a:rPr sz="1800" spc="2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quy</a:t>
            </a:r>
            <a:r>
              <a:rPr sz="1800" spc="2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luật</a:t>
            </a:r>
            <a:r>
              <a:rPr sz="1800" spc="2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chuyển</a:t>
            </a:r>
            <a:r>
              <a:rPr sz="1800" spc="2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động</a:t>
            </a:r>
            <a:r>
              <a:rPr sz="1800" spc="2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2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cơ</a:t>
            </a:r>
            <a:r>
              <a:rPr sz="1800" spc="2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</a:t>
            </a:r>
            <a:r>
              <a:rPr sz="1800" spc="229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phải 	</a:t>
            </a:r>
            <a:r>
              <a:rPr sz="1800" dirty="0">
                <a:latin typeface="Arial"/>
                <a:cs typeface="Arial"/>
              </a:rPr>
              <a:t>không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được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thay</a:t>
            </a:r>
            <a:r>
              <a:rPr sz="1800" spc="-20" dirty="0">
                <a:latin typeface="Arial"/>
                <a:cs typeface="Arial"/>
              </a:rPr>
              <a:t> đổi</a:t>
            </a:r>
            <a:endParaRPr sz="1800">
              <a:latin typeface="Arial"/>
              <a:cs typeface="Arial"/>
            </a:endParaRPr>
          </a:p>
          <a:p>
            <a:pPr marL="372745" indent="-285750" algn="just">
              <a:lnSpc>
                <a:spcPct val="100000"/>
              </a:lnSpc>
              <a:spcBef>
                <a:spcPts val="1120"/>
              </a:spcBef>
              <a:buFont typeface="Wingdings"/>
              <a:buChar char=""/>
              <a:tabLst>
                <a:tab pos="372745" algn="l"/>
              </a:tabLst>
            </a:pPr>
            <a:r>
              <a:rPr sz="1800" dirty="0">
                <a:latin typeface="Arial"/>
                <a:cs typeface="Arial"/>
              </a:rPr>
              <a:t>Ví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dụ: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Thay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thế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khớp cao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A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bằng khớp</a:t>
            </a:r>
            <a:r>
              <a:rPr sz="1800" spc="-20" dirty="0">
                <a:latin typeface="Arial"/>
                <a:cs typeface="Arial"/>
              </a:rPr>
              <a:t> thấp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7728" y="120522"/>
            <a:ext cx="314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NHH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12648" y="3539109"/>
            <a:ext cx="3868420" cy="2971165"/>
            <a:chOff x="212648" y="3539109"/>
            <a:chExt cx="3868420" cy="2971165"/>
          </a:xfrm>
        </p:grpSpPr>
        <p:sp>
          <p:nvSpPr>
            <p:cNvPr id="8" name="object 8"/>
            <p:cNvSpPr/>
            <p:nvPr/>
          </p:nvSpPr>
          <p:spPr>
            <a:xfrm>
              <a:off x="354406" y="3645027"/>
              <a:ext cx="1548130" cy="2700655"/>
            </a:xfrm>
            <a:custGeom>
              <a:avLst/>
              <a:gdLst/>
              <a:ahLst/>
              <a:cxnLst/>
              <a:rect l="l" t="t" r="r" b="b"/>
              <a:pathLst>
                <a:path w="1548130" h="2700654">
                  <a:moveTo>
                    <a:pt x="203822" y="576072"/>
                  </a:moveTo>
                  <a:lnTo>
                    <a:pt x="205731" y="528827"/>
                  </a:lnTo>
                  <a:lnTo>
                    <a:pt x="211361" y="482635"/>
                  </a:lnTo>
                  <a:lnTo>
                    <a:pt x="220562" y="437641"/>
                  </a:lnTo>
                  <a:lnTo>
                    <a:pt x="233187" y="393996"/>
                  </a:lnTo>
                  <a:lnTo>
                    <a:pt x="249087" y="351847"/>
                  </a:lnTo>
                  <a:lnTo>
                    <a:pt x="268115" y="311342"/>
                  </a:lnTo>
                  <a:lnTo>
                    <a:pt x="290121" y="272631"/>
                  </a:lnTo>
                  <a:lnTo>
                    <a:pt x="314958" y="235860"/>
                  </a:lnTo>
                  <a:lnTo>
                    <a:pt x="342477" y="201179"/>
                  </a:lnTo>
                  <a:lnTo>
                    <a:pt x="372530" y="168735"/>
                  </a:lnTo>
                  <a:lnTo>
                    <a:pt x="404969" y="138677"/>
                  </a:lnTo>
                  <a:lnTo>
                    <a:pt x="439646" y="111154"/>
                  </a:lnTo>
                  <a:lnTo>
                    <a:pt x="476413" y="86313"/>
                  </a:lnTo>
                  <a:lnTo>
                    <a:pt x="515121" y="64304"/>
                  </a:lnTo>
                  <a:lnTo>
                    <a:pt x="555621" y="45273"/>
                  </a:lnTo>
                  <a:lnTo>
                    <a:pt x="597766" y="29370"/>
                  </a:lnTo>
                  <a:lnTo>
                    <a:pt x="641408" y="16743"/>
                  </a:lnTo>
                  <a:lnTo>
                    <a:pt x="686398" y="7540"/>
                  </a:lnTo>
                  <a:lnTo>
                    <a:pt x="732588" y="1909"/>
                  </a:lnTo>
                  <a:lnTo>
                    <a:pt x="779830" y="0"/>
                  </a:lnTo>
                  <a:lnTo>
                    <a:pt x="827073" y="1909"/>
                  </a:lnTo>
                  <a:lnTo>
                    <a:pt x="873264" y="7540"/>
                  </a:lnTo>
                  <a:lnTo>
                    <a:pt x="918253" y="16743"/>
                  </a:lnTo>
                  <a:lnTo>
                    <a:pt x="961892" y="29370"/>
                  </a:lnTo>
                  <a:lnTo>
                    <a:pt x="1004035" y="45273"/>
                  </a:lnTo>
                  <a:lnTo>
                    <a:pt x="1044532" y="64304"/>
                  </a:lnTo>
                  <a:lnTo>
                    <a:pt x="1083235" y="86313"/>
                  </a:lnTo>
                  <a:lnTo>
                    <a:pt x="1119997" y="111154"/>
                  </a:lnTo>
                  <a:lnTo>
                    <a:pt x="1154669" y="138677"/>
                  </a:lnTo>
                  <a:lnTo>
                    <a:pt x="1187103" y="168735"/>
                  </a:lnTo>
                  <a:lnTo>
                    <a:pt x="1217152" y="201179"/>
                  </a:lnTo>
                  <a:lnTo>
                    <a:pt x="1244666" y="235860"/>
                  </a:lnTo>
                  <a:lnTo>
                    <a:pt x="1269497" y="272631"/>
                  </a:lnTo>
                  <a:lnTo>
                    <a:pt x="1291499" y="311342"/>
                  </a:lnTo>
                  <a:lnTo>
                    <a:pt x="1310522" y="351847"/>
                  </a:lnTo>
                  <a:lnTo>
                    <a:pt x="1326418" y="393996"/>
                  </a:lnTo>
                  <a:lnTo>
                    <a:pt x="1339040" y="437641"/>
                  </a:lnTo>
                  <a:lnTo>
                    <a:pt x="1348238" y="482635"/>
                  </a:lnTo>
                  <a:lnTo>
                    <a:pt x="1353866" y="528827"/>
                  </a:lnTo>
                  <a:lnTo>
                    <a:pt x="1355775" y="576072"/>
                  </a:lnTo>
                  <a:lnTo>
                    <a:pt x="1353866" y="623316"/>
                  </a:lnTo>
                  <a:lnTo>
                    <a:pt x="1348238" y="669508"/>
                  </a:lnTo>
                  <a:lnTo>
                    <a:pt x="1339040" y="714502"/>
                  </a:lnTo>
                  <a:lnTo>
                    <a:pt x="1326418" y="758147"/>
                  </a:lnTo>
                  <a:lnTo>
                    <a:pt x="1310522" y="800296"/>
                  </a:lnTo>
                  <a:lnTo>
                    <a:pt x="1291499" y="840801"/>
                  </a:lnTo>
                  <a:lnTo>
                    <a:pt x="1269497" y="879512"/>
                  </a:lnTo>
                  <a:lnTo>
                    <a:pt x="1244666" y="916283"/>
                  </a:lnTo>
                  <a:lnTo>
                    <a:pt x="1217152" y="950964"/>
                  </a:lnTo>
                  <a:lnTo>
                    <a:pt x="1187103" y="983408"/>
                  </a:lnTo>
                  <a:lnTo>
                    <a:pt x="1154669" y="1013466"/>
                  </a:lnTo>
                  <a:lnTo>
                    <a:pt x="1119997" y="1040989"/>
                  </a:lnTo>
                  <a:lnTo>
                    <a:pt x="1083235" y="1065830"/>
                  </a:lnTo>
                  <a:lnTo>
                    <a:pt x="1044532" y="1087839"/>
                  </a:lnTo>
                  <a:lnTo>
                    <a:pt x="1004035" y="1106870"/>
                  </a:lnTo>
                  <a:lnTo>
                    <a:pt x="961892" y="1122773"/>
                  </a:lnTo>
                  <a:lnTo>
                    <a:pt x="918253" y="1135400"/>
                  </a:lnTo>
                  <a:lnTo>
                    <a:pt x="873264" y="1144603"/>
                  </a:lnTo>
                  <a:lnTo>
                    <a:pt x="827073" y="1150234"/>
                  </a:lnTo>
                  <a:lnTo>
                    <a:pt x="779830" y="1152144"/>
                  </a:lnTo>
                  <a:lnTo>
                    <a:pt x="732588" y="1150234"/>
                  </a:lnTo>
                  <a:lnTo>
                    <a:pt x="686398" y="1144603"/>
                  </a:lnTo>
                  <a:lnTo>
                    <a:pt x="641408" y="1135400"/>
                  </a:lnTo>
                  <a:lnTo>
                    <a:pt x="597766" y="1122773"/>
                  </a:lnTo>
                  <a:lnTo>
                    <a:pt x="555621" y="1106870"/>
                  </a:lnTo>
                  <a:lnTo>
                    <a:pt x="515121" y="1087839"/>
                  </a:lnTo>
                  <a:lnTo>
                    <a:pt x="476413" y="1065830"/>
                  </a:lnTo>
                  <a:lnTo>
                    <a:pt x="439646" y="1040989"/>
                  </a:lnTo>
                  <a:lnTo>
                    <a:pt x="404969" y="1013466"/>
                  </a:lnTo>
                  <a:lnTo>
                    <a:pt x="372530" y="983408"/>
                  </a:lnTo>
                  <a:lnTo>
                    <a:pt x="342477" y="950964"/>
                  </a:lnTo>
                  <a:lnTo>
                    <a:pt x="314958" y="916283"/>
                  </a:lnTo>
                  <a:lnTo>
                    <a:pt x="290121" y="879512"/>
                  </a:lnTo>
                  <a:lnTo>
                    <a:pt x="268115" y="840801"/>
                  </a:lnTo>
                  <a:lnTo>
                    <a:pt x="249087" y="800296"/>
                  </a:lnTo>
                  <a:lnTo>
                    <a:pt x="233187" y="758147"/>
                  </a:lnTo>
                  <a:lnTo>
                    <a:pt x="220562" y="714502"/>
                  </a:lnTo>
                  <a:lnTo>
                    <a:pt x="211361" y="669508"/>
                  </a:lnTo>
                  <a:lnTo>
                    <a:pt x="205731" y="623316"/>
                  </a:lnTo>
                  <a:lnTo>
                    <a:pt x="203822" y="576072"/>
                  </a:lnTo>
                  <a:close/>
                </a:path>
                <a:path w="1548130" h="2700654">
                  <a:moveTo>
                    <a:pt x="0" y="1926082"/>
                  </a:moveTo>
                  <a:lnTo>
                    <a:pt x="1522" y="1877131"/>
                  </a:lnTo>
                  <a:lnTo>
                    <a:pt x="6030" y="1828991"/>
                  </a:lnTo>
                  <a:lnTo>
                    <a:pt x="13432" y="1781751"/>
                  </a:lnTo>
                  <a:lnTo>
                    <a:pt x="23638" y="1735502"/>
                  </a:lnTo>
                  <a:lnTo>
                    <a:pt x="36557" y="1690335"/>
                  </a:lnTo>
                  <a:lnTo>
                    <a:pt x="52098" y="1646339"/>
                  </a:lnTo>
                  <a:lnTo>
                    <a:pt x="70171" y="1603607"/>
                  </a:lnTo>
                  <a:lnTo>
                    <a:pt x="90686" y="1562228"/>
                  </a:lnTo>
                  <a:lnTo>
                    <a:pt x="113550" y="1522293"/>
                  </a:lnTo>
                  <a:lnTo>
                    <a:pt x="138674" y="1483893"/>
                  </a:lnTo>
                  <a:lnTo>
                    <a:pt x="165967" y="1447118"/>
                  </a:lnTo>
                  <a:lnTo>
                    <a:pt x="195339" y="1412059"/>
                  </a:lnTo>
                  <a:lnTo>
                    <a:pt x="226698" y="1378807"/>
                  </a:lnTo>
                  <a:lnTo>
                    <a:pt x="259954" y="1347451"/>
                  </a:lnTo>
                  <a:lnTo>
                    <a:pt x="295016" y="1318084"/>
                  </a:lnTo>
                  <a:lnTo>
                    <a:pt x="331794" y="1290794"/>
                  </a:lnTo>
                  <a:lnTo>
                    <a:pt x="370197" y="1265674"/>
                  </a:lnTo>
                  <a:lnTo>
                    <a:pt x="410135" y="1242813"/>
                  </a:lnTo>
                  <a:lnTo>
                    <a:pt x="451516" y="1222302"/>
                  </a:lnTo>
                  <a:lnTo>
                    <a:pt x="494250" y="1204232"/>
                  </a:lnTo>
                  <a:lnTo>
                    <a:pt x="538246" y="1188694"/>
                  </a:lnTo>
                  <a:lnTo>
                    <a:pt x="583414" y="1175777"/>
                  </a:lnTo>
                  <a:lnTo>
                    <a:pt x="629663" y="1165573"/>
                  </a:lnTo>
                  <a:lnTo>
                    <a:pt x="676902" y="1158173"/>
                  </a:lnTo>
                  <a:lnTo>
                    <a:pt x="725041" y="1153666"/>
                  </a:lnTo>
                  <a:lnTo>
                    <a:pt x="773988" y="1152144"/>
                  </a:lnTo>
                  <a:lnTo>
                    <a:pt x="822939" y="1153666"/>
                  </a:lnTo>
                  <a:lnTo>
                    <a:pt x="871081" y="1158173"/>
                  </a:lnTo>
                  <a:lnTo>
                    <a:pt x="918324" y="1165573"/>
                  </a:lnTo>
                  <a:lnTo>
                    <a:pt x="964576" y="1175777"/>
                  </a:lnTo>
                  <a:lnTo>
                    <a:pt x="1009748" y="1188694"/>
                  </a:lnTo>
                  <a:lnTo>
                    <a:pt x="1053748" y="1204232"/>
                  </a:lnTo>
                  <a:lnTo>
                    <a:pt x="1096485" y="1222302"/>
                  </a:lnTo>
                  <a:lnTo>
                    <a:pt x="1137870" y="1242813"/>
                  </a:lnTo>
                  <a:lnTo>
                    <a:pt x="1177812" y="1265674"/>
                  </a:lnTo>
                  <a:lnTo>
                    <a:pt x="1216219" y="1290794"/>
                  </a:lnTo>
                  <a:lnTo>
                    <a:pt x="1253000" y="1318084"/>
                  </a:lnTo>
                  <a:lnTo>
                    <a:pt x="1288067" y="1347451"/>
                  </a:lnTo>
                  <a:lnTo>
                    <a:pt x="1321327" y="1378807"/>
                  </a:lnTo>
                  <a:lnTo>
                    <a:pt x="1352689" y="1412059"/>
                  </a:lnTo>
                  <a:lnTo>
                    <a:pt x="1382064" y="1447118"/>
                  </a:lnTo>
                  <a:lnTo>
                    <a:pt x="1409361" y="1483893"/>
                  </a:lnTo>
                  <a:lnTo>
                    <a:pt x="1434488" y="1522293"/>
                  </a:lnTo>
                  <a:lnTo>
                    <a:pt x="1457355" y="1562228"/>
                  </a:lnTo>
                  <a:lnTo>
                    <a:pt x="1477872" y="1603607"/>
                  </a:lnTo>
                  <a:lnTo>
                    <a:pt x="1495947" y="1646339"/>
                  </a:lnTo>
                  <a:lnTo>
                    <a:pt x="1511491" y="1690335"/>
                  </a:lnTo>
                  <a:lnTo>
                    <a:pt x="1524411" y="1735502"/>
                  </a:lnTo>
                  <a:lnTo>
                    <a:pt x="1534619" y="1781751"/>
                  </a:lnTo>
                  <a:lnTo>
                    <a:pt x="1542022" y="1828991"/>
                  </a:lnTo>
                  <a:lnTo>
                    <a:pt x="1546530" y="1877131"/>
                  </a:lnTo>
                  <a:lnTo>
                    <a:pt x="1548053" y="1926082"/>
                  </a:lnTo>
                  <a:lnTo>
                    <a:pt x="1546530" y="1975035"/>
                  </a:lnTo>
                  <a:lnTo>
                    <a:pt x="1542022" y="2023179"/>
                  </a:lnTo>
                  <a:lnTo>
                    <a:pt x="1534619" y="2070423"/>
                  </a:lnTo>
                  <a:lnTo>
                    <a:pt x="1524411" y="2116676"/>
                  </a:lnTo>
                  <a:lnTo>
                    <a:pt x="1511491" y="2161848"/>
                  </a:lnTo>
                  <a:lnTo>
                    <a:pt x="1495947" y="2205848"/>
                  </a:lnTo>
                  <a:lnTo>
                    <a:pt x="1477872" y="2248585"/>
                  </a:lnTo>
                  <a:lnTo>
                    <a:pt x="1457355" y="2289969"/>
                  </a:lnTo>
                  <a:lnTo>
                    <a:pt x="1434488" y="2329909"/>
                  </a:lnTo>
                  <a:lnTo>
                    <a:pt x="1409361" y="2368314"/>
                  </a:lnTo>
                  <a:lnTo>
                    <a:pt x="1382064" y="2405095"/>
                  </a:lnTo>
                  <a:lnTo>
                    <a:pt x="1352689" y="2440159"/>
                  </a:lnTo>
                  <a:lnTo>
                    <a:pt x="1321327" y="2473417"/>
                  </a:lnTo>
                  <a:lnTo>
                    <a:pt x="1288067" y="2504777"/>
                  </a:lnTo>
                  <a:lnTo>
                    <a:pt x="1253000" y="2534150"/>
                  </a:lnTo>
                  <a:lnTo>
                    <a:pt x="1216219" y="2561444"/>
                  </a:lnTo>
                  <a:lnTo>
                    <a:pt x="1177812" y="2586569"/>
                  </a:lnTo>
                  <a:lnTo>
                    <a:pt x="1137870" y="2609434"/>
                  </a:lnTo>
                  <a:lnTo>
                    <a:pt x="1096485" y="2629948"/>
                  </a:lnTo>
                  <a:lnTo>
                    <a:pt x="1053748" y="2648022"/>
                  </a:lnTo>
                  <a:lnTo>
                    <a:pt x="1009748" y="2663563"/>
                  </a:lnTo>
                  <a:lnTo>
                    <a:pt x="964576" y="2676482"/>
                  </a:lnTo>
                  <a:lnTo>
                    <a:pt x="918324" y="2686688"/>
                  </a:lnTo>
                  <a:lnTo>
                    <a:pt x="871081" y="2694091"/>
                  </a:lnTo>
                  <a:lnTo>
                    <a:pt x="822939" y="2698598"/>
                  </a:lnTo>
                  <a:lnTo>
                    <a:pt x="773988" y="2700121"/>
                  </a:lnTo>
                  <a:lnTo>
                    <a:pt x="725041" y="2698598"/>
                  </a:lnTo>
                  <a:lnTo>
                    <a:pt x="676902" y="2694091"/>
                  </a:lnTo>
                  <a:lnTo>
                    <a:pt x="629663" y="2686688"/>
                  </a:lnTo>
                  <a:lnTo>
                    <a:pt x="583414" y="2676482"/>
                  </a:lnTo>
                  <a:lnTo>
                    <a:pt x="538246" y="2663563"/>
                  </a:lnTo>
                  <a:lnTo>
                    <a:pt x="494250" y="2648022"/>
                  </a:lnTo>
                  <a:lnTo>
                    <a:pt x="451516" y="2629948"/>
                  </a:lnTo>
                  <a:lnTo>
                    <a:pt x="410135" y="2609434"/>
                  </a:lnTo>
                  <a:lnTo>
                    <a:pt x="370197" y="2586569"/>
                  </a:lnTo>
                  <a:lnTo>
                    <a:pt x="331794" y="2561444"/>
                  </a:lnTo>
                  <a:lnTo>
                    <a:pt x="295016" y="2534150"/>
                  </a:lnTo>
                  <a:lnTo>
                    <a:pt x="259954" y="2504777"/>
                  </a:lnTo>
                  <a:lnTo>
                    <a:pt x="226698" y="2473417"/>
                  </a:lnTo>
                  <a:lnTo>
                    <a:pt x="195339" y="2440159"/>
                  </a:lnTo>
                  <a:lnTo>
                    <a:pt x="165967" y="2405095"/>
                  </a:lnTo>
                  <a:lnTo>
                    <a:pt x="138674" y="2368314"/>
                  </a:lnTo>
                  <a:lnTo>
                    <a:pt x="113550" y="2329909"/>
                  </a:lnTo>
                  <a:lnTo>
                    <a:pt x="90686" y="2289969"/>
                  </a:lnTo>
                  <a:lnTo>
                    <a:pt x="70171" y="2248585"/>
                  </a:lnTo>
                  <a:lnTo>
                    <a:pt x="52098" y="2205848"/>
                  </a:lnTo>
                  <a:lnTo>
                    <a:pt x="36557" y="2161848"/>
                  </a:lnTo>
                  <a:lnTo>
                    <a:pt x="23638" y="2116676"/>
                  </a:lnTo>
                  <a:lnTo>
                    <a:pt x="13432" y="2070423"/>
                  </a:lnTo>
                  <a:lnTo>
                    <a:pt x="6030" y="2023179"/>
                  </a:lnTo>
                  <a:lnTo>
                    <a:pt x="1522" y="1975035"/>
                  </a:lnTo>
                  <a:lnTo>
                    <a:pt x="0" y="1926082"/>
                  </a:lnTo>
                  <a:close/>
                </a:path>
              </a:pathLst>
            </a:custGeom>
            <a:ln w="25400">
              <a:solidFill>
                <a:srgbClr val="126F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2173" y="3548634"/>
              <a:ext cx="1836420" cy="2952115"/>
            </a:xfrm>
            <a:custGeom>
              <a:avLst/>
              <a:gdLst/>
              <a:ahLst/>
              <a:cxnLst/>
              <a:rect l="l" t="t" r="r" b="b"/>
              <a:pathLst>
                <a:path w="1836420" h="2952115">
                  <a:moveTo>
                    <a:pt x="899934" y="2348725"/>
                  </a:moveTo>
                  <a:lnTo>
                    <a:pt x="899934" y="2951606"/>
                  </a:lnTo>
                </a:path>
                <a:path w="1836420" h="2952115">
                  <a:moveTo>
                    <a:pt x="899934" y="1005332"/>
                  </a:moveTo>
                  <a:lnTo>
                    <a:pt x="899934" y="2205101"/>
                  </a:lnTo>
                </a:path>
                <a:path w="1836420" h="2952115">
                  <a:moveTo>
                    <a:pt x="899934" y="0"/>
                  </a:moveTo>
                  <a:lnTo>
                    <a:pt x="899934" y="861707"/>
                  </a:lnTo>
                </a:path>
                <a:path w="1836420" h="2952115">
                  <a:moveTo>
                    <a:pt x="132232" y="672464"/>
                  </a:moveTo>
                  <a:lnTo>
                    <a:pt x="1680286" y="672464"/>
                  </a:lnTo>
                </a:path>
                <a:path w="1836420" h="2952115">
                  <a:moveTo>
                    <a:pt x="0" y="2016252"/>
                  </a:moveTo>
                  <a:lnTo>
                    <a:pt x="1835988" y="2016252"/>
                  </a:lnTo>
                </a:path>
              </a:pathLst>
            </a:custGeom>
            <a:ln w="19050">
              <a:solidFill>
                <a:srgbClr val="5C240D"/>
              </a:solidFill>
              <a:prstDash val="lg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3203" y="5753735"/>
              <a:ext cx="395998" cy="14362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58316" y="5513451"/>
              <a:ext cx="354965" cy="236854"/>
            </a:xfrm>
            <a:custGeom>
              <a:avLst/>
              <a:gdLst/>
              <a:ahLst/>
              <a:cxnLst/>
              <a:rect l="l" t="t" r="r" b="b"/>
              <a:pathLst>
                <a:path w="354965" h="236854">
                  <a:moveTo>
                    <a:pt x="354482" y="236499"/>
                  </a:moveTo>
                  <a:lnTo>
                    <a:pt x="177241" y="0"/>
                  </a:lnTo>
                  <a:lnTo>
                    <a:pt x="0" y="236499"/>
                  </a:lnTo>
                  <a:lnTo>
                    <a:pt x="354482" y="236499"/>
                  </a:lnTo>
                  <a:close/>
                </a:path>
              </a:pathLst>
            </a:custGeom>
            <a:ln w="25400">
              <a:solidFill>
                <a:srgbClr val="1674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2398" y="5488686"/>
              <a:ext cx="149148" cy="14505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6231" y="4410341"/>
              <a:ext cx="395998" cy="14362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51344" y="4170045"/>
              <a:ext cx="354965" cy="236854"/>
            </a:xfrm>
            <a:custGeom>
              <a:avLst/>
              <a:gdLst/>
              <a:ahLst/>
              <a:cxnLst/>
              <a:rect l="l" t="t" r="r" b="b"/>
              <a:pathLst>
                <a:path w="354965" h="236854">
                  <a:moveTo>
                    <a:pt x="354469" y="236473"/>
                  </a:moveTo>
                  <a:lnTo>
                    <a:pt x="177241" y="0"/>
                  </a:lnTo>
                  <a:lnTo>
                    <a:pt x="0" y="236473"/>
                  </a:lnTo>
                  <a:lnTo>
                    <a:pt x="354469" y="236473"/>
                  </a:lnTo>
                  <a:close/>
                </a:path>
              </a:pathLst>
            </a:custGeom>
            <a:ln w="25400">
              <a:solidFill>
                <a:srgbClr val="1674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5425" y="4145280"/>
              <a:ext cx="149148" cy="14503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700527" y="3992880"/>
              <a:ext cx="402590" cy="993775"/>
            </a:xfrm>
            <a:custGeom>
              <a:avLst/>
              <a:gdLst/>
              <a:ahLst/>
              <a:cxnLst/>
              <a:rect l="l" t="t" r="r" b="b"/>
              <a:pathLst>
                <a:path w="402589" h="993775">
                  <a:moveTo>
                    <a:pt x="18288" y="0"/>
                  </a:moveTo>
                  <a:lnTo>
                    <a:pt x="0" y="993648"/>
                  </a:lnTo>
                  <a:lnTo>
                    <a:pt x="402336" y="560832"/>
                  </a:lnTo>
                  <a:lnTo>
                    <a:pt x="18288" y="0"/>
                  </a:lnTo>
                  <a:close/>
                </a:path>
              </a:pathLst>
            </a:custGeom>
            <a:solidFill>
              <a:srgbClr val="F8D7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41120" y="3816096"/>
              <a:ext cx="2727325" cy="1603375"/>
            </a:xfrm>
            <a:custGeom>
              <a:avLst/>
              <a:gdLst/>
              <a:ahLst/>
              <a:cxnLst/>
              <a:rect l="l" t="t" r="r" b="b"/>
              <a:pathLst>
                <a:path w="2727325" h="1603375">
                  <a:moveTo>
                    <a:pt x="1359408" y="1170431"/>
                  </a:moveTo>
                  <a:lnTo>
                    <a:pt x="1377696" y="176783"/>
                  </a:lnTo>
                  <a:lnTo>
                    <a:pt x="1761744" y="737615"/>
                  </a:lnTo>
                  <a:lnTo>
                    <a:pt x="1359408" y="1170431"/>
                  </a:lnTo>
                  <a:close/>
                </a:path>
                <a:path w="2727325" h="1603375">
                  <a:moveTo>
                    <a:pt x="0" y="0"/>
                  </a:moveTo>
                  <a:lnTo>
                    <a:pt x="1377696" y="176783"/>
                  </a:lnTo>
                </a:path>
                <a:path w="2727325" h="1603375">
                  <a:moveTo>
                    <a:pt x="1739265" y="728598"/>
                  </a:moveTo>
                  <a:lnTo>
                    <a:pt x="2726817" y="728598"/>
                  </a:lnTo>
                </a:path>
                <a:path w="2727325" h="1603375">
                  <a:moveTo>
                    <a:pt x="1359408" y="1178686"/>
                  </a:moveTo>
                  <a:lnTo>
                    <a:pt x="1804416" y="1603247"/>
                  </a:lnTo>
                </a:path>
              </a:pathLst>
            </a:custGeom>
            <a:ln w="2540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59734" y="5607037"/>
              <a:ext cx="395998" cy="14362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974848" y="5366766"/>
              <a:ext cx="354965" cy="236854"/>
            </a:xfrm>
            <a:custGeom>
              <a:avLst/>
              <a:gdLst/>
              <a:ahLst/>
              <a:cxnLst/>
              <a:rect l="l" t="t" r="r" b="b"/>
              <a:pathLst>
                <a:path w="354964" h="236854">
                  <a:moveTo>
                    <a:pt x="354456" y="236499"/>
                  </a:moveTo>
                  <a:lnTo>
                    <a:pt x="177291" y="0"/>
                  </a:lnTo>
                  <a:lnTo>
                    <a:pt x="0" y="236499"/>
                  </a:lnTo>
                  <a:lnTo>
                    <a:pt x="354456" y="236499"/>
                  </a:lnTo>
                  <a:close/>
                </a:path>
              </a:pathLst>
            </a:custGeom>
            <a:ln w="25400">
              <a:solidFill>
                <a:srgbClr val="1674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68955" y="5342001"/>
              <a:ext cx="149097" cy="14503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10005" y="5296027"/>
              <a:ext cx="730250" cy="495934"/>
            </a:xfrm>
            <a:custGeom>
              <a:avLst/>
              <a:gdLst/>
              <a:ahLst/>
              <a:cxnLst/>
              <a:rect l="l" t="t" r="r" b="b"/>
              <a:pathLst>
                <a:path w="730250" h="495935">
                  <a:moveTo>
                    <a:pt x="654685" y="364070"/>
                  </a:moveTo>
                  <a:lnTo>
                    <a:pt x="669544" y="495846"/>
                  </a:lnTo>
                  <a:lnTo>
                    <a:pt x="726286" y="384492"/>
                  </a:lnTo>
                  <a:lnTo>
                    <a:pt x="699388" y="384492"/>
                  </a:lnTo>
                  <a:lnTo>
                    <a:pt x="680466" y="382282"/>
                  </a:lnTo>
                  <a:lnTo>
                    <a:pt x="681991" y="369033"/>
                  </a:lnTo>
                  <a:lnTo>
                    <a:pt x="654685" y="364070"/>
                  </a:lnTo>
                  <a:close/>
                </a:path>
                <a:path w="730250" h="495935">
                  <a:moveTo>
                    <a:pt x="681991" y="369033"/>
                  </a:moveTo>
                  <a:lnTo>
                    <a:pt x="680466" y="382282"/>
                  </a:lnTo>
                  <a:lnTo>
                    <a:pt x="699388" y="384492"/>
                  </a:lnTo>
                  <a:lnTo>
                    <a:pt x="700802" y="372451"/>
                  </a:lnTo>
                  <a:lnTo>
                    <a:pt x="681991" y="369033"/>
                  </a:lnTo>
                  <a:close/>
                </a:path>
                <a:path w="730250" h="495935">
                  <a:moveTo>
                    <a:pt x="700802" y="372451"/>
                  </a:moveTo>
                  <a:lnTo>
                    <a:pt x="699388" y="384492"/>
                  </a:lnTo>
                  <a:lnTo>
                    <a:pt x="726286" y="384492"/>
                  </a:lnTo>
                  <a:lnTo>
                    <a:pt x="729741" y="377710"/>
                  </a:lnTo>
                  <a:lnTo>
                    <a:pt x="700802" y="372451"/>
                  </a:lnTo>
                  <a:close/>
                </a:path>
                <a:path w="730250" h="495935">
                  <a:moveTo>
                    <a:pt x="448420" y="19056"/>
                  </a:moveTo>
                  <a:lnTo>
                    <a:pt x="333593" y="19056"/>
                  </a:lnTo>
                  <a:lnTo>
                    <a:pt x="352351" y="19599"/>
                  </a:lnTo>
                  <a:lnTo>
                    <a:pt x="350932" y="19599"/>
                  </a:lnTo>
                  <a:lnTo>
                    <a:pt x="368549" y="21004"/>
                  </a:lnTo>
                  <a:lnTo>
                    <a:pt x="367948" y="21004"/>
                  </a:lnTo>
                  <a:lnTo>
                    <a:pt x="384600" y="23058"/>
                  </a:lnTo>
                  <a:lnTo>
                    <a:pt x="385032" y="23191"/>
                  </a:lnTo>
                  <a:lnTo>
                    <a:pt x="402328" y="26214"/>
                  </a:lnTo>
                  <a:lnTo>
                    <a:pt x="418922" y="29972"/>
                  </a:lnTo>
                  <a:lnTo>
                    <a:pt x="435767" y="34798"/>
                  </a:lnTo>
                  <a:lnTo>
                    <a:pt x="452178" y="40372"/>
                  </a:lnTo>
                  <a:lnTo>
                    <a:pt x="468780" y="46802"/>
                  </a:lnTo>
                  <a:lnTo>
                    <a:pt x="469234" y="47074"/>
                  </a:lnTo>
                  <a:lnTo>
                    <a:pt x="484534" y="53980"/>
                  </a:lnTo>
                  <a:lnTo>
                    <a:pt x="501107" y="62472"/>
                  </a:lnTo>
                  <a:lnTo>
                    <a:pt x="515227" y="70678"/>
                  </a:lnTo>
                  <a:lnTo>
                    <a:pt x="528660" y="79437"/>
                  </a:lnTo>
                  <a:lnTo>
                    <a:pt x="528989" y="79580"/>
                  </a:lnTo>
                  <a:lnTo>
                    <a:pt x="529734" y="80137"/>
                  </a:lnTo>
                  <a:lnTo>
                    <a:pt x="530242" y="80468"/>
                  </a:lnTo>
                  <a:lnTo>
                    <a:pt x="543149" y="89680"/>
                  </a:lnTo>
                  <a:lnTo>
                    <a:pt x="554302" y="98446"/>
                  </a:lnTo>
                  <a:lnTo>
                    <a:pt x="566231" y="108709"/>
                  </a:lnTo>
                  <a:lnTo>
                    <a:pt x="577748" y="119507"/>
                  </a:lnTo>
                  <a:lnTo>
                    <a:pt x="578993" y="120650"/>
                  </a:lnTo>
                  <a:lnTo>
                    <a:pt x="591230" y="133436"/>
                  </a:lnTo>
                  <a:lnTo>
                    <a:pt x="600729" y="144382"/>
                  </a:lnTo>
                  <a:lnTo>
                    <a:pt x="600812" y="144526"/>
                  </a:lnTo>
                  <a:lnTo>
                    <a:pt x="611242" y="157407"/>
                  </a:lnTo>
                  <a:lnTo>
                    <a:pt x="619528" y="168739"/>
                  </a:lnTo>
                  <a:lnTo>
                    <a:pt x="629619" y="184089"/>
                  </a:lnTo>
                  <a:lnTo>
                    <a:pt x="638165" y="198696"/>
                  </a:lnTo>
                  <a:lnTo>
                    <a:pt x="643270" y="208153"/>
                  </a:lnTo>
                  <a:lnTo>
                    <a:pt x="644525" y="210439"/>
                  </a:lnTo>
                  <a:lnTo>
                    <a:pt x="663319" y="254635"/>
                  </a:lnTo>
                  <a:lnTo>
                    <a:pt x="676243" y="302155"/>
                  </a:lnTo>
                  <a:lnTo>
                    <a:pt x="680789" y="331604"/>
                  </a:lnTo>
                  <a:lnTo>
                    <a:pt x="680846" y="332038"/>
                  </a:lnTo>
                  <a:lnTo>
                    <a:pt x="680956" y="332869"/>
                  </a:lnTo>
                  <a:lnTo>
                    <a:pt x="682123" y="346570"/>
                  </a:lnTo>
                  <a:lnTo>
                    <a:pt x="682202" y="347488"/>
                  </a:lnTo>
                  <a:lnTo>
                    <a:pt x="682268" y="348263"/>
                  </a:lnTo>
                  <a:lnTo>
                    <a:pt x="682752" y="362432"/>
                  </a:lnTo>
                  <a:lnTo>
                    <a:pt x="682753" y="363931"/>
                  </a:lnTo>
                  <a:lnTo>
                    <a:pt x="682579" y="363931"/>
                  </a:lnTo>
                  <a:lnTo>
                    <a:pt x="681991" y="369033"/>
                  </a:lnTo>
                  <a:lnTo>
                    <a:pt x="700802" y="372451"/>
                  </a:lnTo>
                  <a:lnTo>
                    <a:pt x="701785" y="364070"/>
                  </a:lnTo>
                  <a:lnTo>
                    <a:pt x="701802" y="363931"/>
                  </a:lnTo>
                  <a:lnTo>
                    <a:pt x="682752" y="363931"/>
                  </a:lnTo>
                  <a:lnTo>
                    <a:pt x="682752" y="362737"/>
                  </a:lnTo>
                  <a:lnTo>
                    <a:pt x="701758" y="362737"/>
                  </a:lnTo>
                  <a:lnTo>
                    <a:pt x="701228" y="348263"/>
                  </a:lnTo>
                  <a:lnTo>
                    <a:pt x="701166" y="346570"/>
                  </a:lnTo>
                  <a:lnTo>
                    <a:pt x="694563" y="296595"/>
                  </a:lnTo>
                  <a:lnTo>
                    <a:pt x="681228" y="248158"/>
                  </a:lnTo>
                  <a:lnTo>
                    <a:pt x="661669" y="202057"/>
                  </a:lnTo>
                  <a:lnTo>
                    <a:pt x="635888" y="159004"/>
                  </a:lnTo>
                  <a:lnTo>
                    <a:pt x="604393" y="119507"/>
                  </a:lnTo>
                  <a:lnTo>
                    <a:pt x="567182" y="84328"/>
                  </a:lnTo>
                  <a:lnTo>
                    <a:pt x="525028" y="54318"/>
                  </a:lnTo>
                  <a:lnTo>
                    <a:pt x="476503" y="29337"/>
                  </a:lnTo>
                  <a:lnTo>
                    <a:pt x="459755" y="22923"/>
                  </a:lnTo>
                  <a:lnTo>
                    <a:pt x="448420" y="19056"/>
                  </a:lnTo>
                  <a:close/>
                </a:path>
                <a:path w="730250" h="495935">
                  <a:moveTo>
                    <a:pt x="333679" y="0"/>
                  </a:moveTo>
                  <a:lnTo>
                    <a:pt x="280288" y="3810"/>
                  </a:lnTo>
                  <a:lnTo>
                    <a:pt x="228295" y="15113"/>
                  </a:lnTo>
                  <a:lnTo>
                    <a:pt x="178536" y="33655"/>
                  </a:lnTo>
                  <a:lnTo>
                    <a:pt x="131724" y="59309"/>
                  </a:lnTo>
                  <a:lnTo>
                    <a:pt x="88887" y="91567"/>
                  </a:lnTo>
                  <a:lnTo>
                    <a:pt x="50749" y="130302"/>
                  </a:lnTo>
                  <a:lnTo>
                    <a:pt x="18097" y="175133"/>
                  </a:lnTo>
                  <a:lnTo>
                    <a:pt x="0" y="208153"/>
                  </a:lnTo>
                  <a:lnTo>
                    <a:pt x="16941" y="216789"/>
                  </a:lnTo>
                  <a:lnTo>
                    <a:pt x="25652" y="199968"/>
                  </a:lnTo>
                  <a:lnTo>
                    <a:pt x="34556" y="184801"/>
                  </a:lnTo>
                  <a:lnTo>
                    <a:pt x="66132" y="141608"/>
                  </a:lnTo>
                  <a:lnTo>
                    <a:pt x="102254" y="105194"/>
                  </a:lnTo>
                  <a:lnTo>
                    <a:pt x="141785" y="75466"/>
                  </a:lnTo>
                  <a:lnTo>
                    <a:pt x="187592" y="50480"/>
                  </a:lnTo>
                  <a:lnTo>
                    <a:pt x="217360" y="38540"/>
                  </a:lnTo>
                  <a:lnTo>
                    <a:pt x="217594" y="38540"/>
                  </a:lnTo>
                  <a:lnTo>
                    <a:pt x="233478" y="33401"/>
                  </a:lnTo>
                  <a:lnTo>
                    <a:pt x="249614" y="29089"/>
                  </a:lnTo>
                  <a:lnTo>
                    <a:pt x="266245" y="25598"/>
                  </a:lnTo>
                  <a:lnTo>
                    <a:pt x="266575" y="25467"/>
                  </a:lnTo>
                  <a:lnTo>
                    <a:pt x="281424" y="22923"/>
                  </a:lnTo>
                  <a:lnTo>
                    <a:pt x="281150" y="22923"/>
                  </a:lnTo>
                  <a:lnTo>
                    <a:pt x="297416" y="21004"/>
                  </a:lnTo>
                  <a:lnTo>
                    <a:pt x="298253" y="21004"/>
                  </a:lnTo>
                  <a:lnTo>
                    <a:pt x="301143" y="20447"/>
                  </a:lnTo>
                  <a:lnTo>
                    <a:pt x="303026" y="20447"/>
                  </a:lnTo>
                  <a:lnTo>
                    <a:pt x="314605" y="19599"/>
                  </a:lnTo>
                  <a:lnTo>
                    <a:pt x="308733" y="19599"/>
                  </a:lnTo>
                  <a:lnTo>
                    <a:pt x="333593" y="19056"/>
                  </a:lnTo>
                  <a:lnTo>
                    <a:pt x="448420" y="19056"/>
                  </a:lnTo>
                  <a:lnTo>
                    <a:pt x="441261" y="16637"/>
                  </a:lnTo>
                  <a:lnTo>
                    <a:pt x="387654" y="4318"/>
                  </a:lnTo>
                  <a:lnTo>
                    <a:pt x="351701" y="508"/>
                  </a:lnTo>
                  <a:lnTo>
                    <a:pt x="333679" y="0"/>
                  </a:lnTo>
                  <a:close/>
                </a:path>
                <a:path w="730250" h="495935">
                  <a:moveTo>
                    <a:pt x="467730" y="46395"/>
                  </a:moveTo>
                  <a:lnTo>
                    <a:pt x="469234" y="47074"/>
                  </a:lnTo>
                  <a:lnTo>
                    <a:pt x="468780" y="46802"/>
                  </a:lnTo>
                  <a:lnTo>
                    <a:pt x="467730" y="46395"/>
                  </a:lnTo>
                  <a:close/>
                </a:path>
                <a:path w="730250" h="495935">
                  <a:moveTo>
                    <a:pt x="217594" y="38540"/>
                  </a:moveTo>
                  <a:lnTo>
                    <a:pt x="217360" y="38540"/>
                  </a:lnTo>
                  <a:lnTo>
                    <a:pt x="215928" y="39079"/>
                  </a:lnTo>
                  <a:lnTo>
                    <a:pt x="217594" y="38540"/>
                  </a:lnTo>
                  <a:close/>
                </a:path>
                <a:path w="730250" h="495935">
                  <a:moveTo>
                    <a:pt x="267991" y="25231"/>
                  </a:moveTo>
                  <a:lnTo>
                    <a:pt x="266575" y="25467"/>
                  </a:lnTo>
                  <a:lnTo>
                    <a:pt x="266245" y="25598"/>
                  </a:lnTo>
                  <a:lnTo>
                    <a:pt x="267991" y="25231"/>
                  </a:lnTo>
                  <a:close/>
                </a:path>
                <a:path w="730250" h="495935">
                  <a:moveTo>
                    <a:pt x="383502" y="22923"/>
                  </a:moveTo>
                  <a:lnTo>
                    <a:pt x="385037" y="23191"/>
                  </a:lnTo>
                  <a:lnTo>
                    <a:pt x="384600" y="23058"/>
                  </a:lnTo>
                  <a:lnTo>
                    <a:pt x="383502" y="22923"/>
                  </a:lnTo>
                  <a:close/>
                </a:path>
                <a:path w="730250" h="495935">
                  <a:moveTo>
                    <a:pt x="302140" y="20447"/>
                  </a:moveTo>
                  <a:lnTo>
                    <a:pt x="301143" y="20447"/>
                  </a:lnTo>
                  <a:lnTo>
                    <a:pt x="298253" y="21004"/>
                  </a:lnTo>
                  <a:lnTo>
                    <a:pt x="297414" y="21004"/>
                  </a:lnTo>
                  <a:lnTo>
                    <a:pt x="302140" y="2044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41546" y="5487927"/>
            <a:ext cx="307340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900" spc="-560" dirty="0">
                <a:latin typeface="Cambria Math"/>
                <a:cs typeface="Cambria Math"/>
              </a:rPr>
              <a:t>O</a:t>
            </a:r>
            <a:r>
              <a:rPr sz="1575" spc="-75" baseline="-23809" dirty="0">
                <a:latin typeface="Times New Roman"/>
                <a:cs typeface="Times New Roman"/>
              </a:rPr>
              <a:t>1</a:t>
            </a:r>
            <a:endParaRPr sz="1575" baseline="-23809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63153" y="3823672"/>
            <a:ext cx="321945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900" spc="-25" dirty="0">
                <a:latin typeface="Cambria Math"/>
                <a:cs typeface="Cambria Math"/>
              </a:rPr>
              <a:t>O</a:t>
            </a:r>
            <a:r>
              <a:rPr sz="1575" spc="-37" baseline="-23809" dirty="0">
                <a:latin typeface="Times New Roman"/>
                <a:cs typeface="Times New Roman"/>
              </a:rPr>
              <a:t>2</a:t>
            </a:r>
            <a:endParaRPr sz="1575" baseline="-23809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24834" y="4764682"/>
            <a:ext cx="243840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50" dirty="0">
                <a:latin typeface="Cambria Math"/>
                <a:cs typeface="Cambria Math"/>
              </a:rPr>
              <a:t>A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00283" y="3362475"/>
            <a:ext cx="241300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50" dirty="0">
                <a:latin typeface="Cambria Math"/>
                <a:cs typeface="Cambria Math"/>
              </a:rPr>
              <a:t>B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668131" y="3634785"/>
            <a:ext cx="229870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spc="-50" dirty="0">
                <a:latin typeface="Cambria Math"/>
                <a:cs typeface="Cambria Math"/>
              </a:rPr>
              <a:t>C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399574" y="4824233"/>
            <a:ext cx="233045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50" dirty="0">
                <a:latin typeface="Cambria Math"/>
                <a:cs typeface="Cambria Math"/>
              </a:rPr>
              <a:t>E</a:t>
            </a:r>
            <a:endParaRPr sz="1900">
              <a:latin typeface="Cambria Math"/>
              <a:cs typeface="Cambria Math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283842" y="3755135"/>
            <a:ext cx="2701925" cy="1310005"/>
            <a:chOff x="1283842" y="3755135"/>
            <a:chExt cx="2701925" cy="1310005"/>
          </a:xfrm>
        </p:grpSpPr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89147" y="4607256"/>
              <a:ext cx="395998" cy="10799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89147" y="4387927"/>
              <a:ext cx="395998" cy="107999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3589147" y="4481067"/>
              <a:ext cx="396240" cy="19050"/>
            </a:xfrm>
            <a:custGeom>
              <a:avLst/>
              <a:gdLst/>
              <a:ahLst/>
              <a:cxnLst/>
              <a:rect l="l" t="t" r="r" b="b"/>
              <a:pathLst>
                <a:path w="396239" h="19050">
                  <a:moveTo>
                    <a:pt x="0" y="19049"/>
                  </a:moveTo>
                  <a:lnTo>
                    <a:pt x="395986" y="19049"/>
                  </a:lnTo>
                  <a:lnTo>
                    <a:pt x="395986" y="0"/>
                  </a:lnTo>
                  <a:lnTo>
                    <a:pt x="0" y="0"/>
                  </a:lnTo>
                  <a:lnTo>
                    <a:pt x="0" y="19049"/>
                  </a:lnTo>
                  <a:close/>
                </a:path>
              </a:pathLst>
            </a:custGeom>
            <a:solidFill>
              <a:srgbClr val="4661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83842" y="3755135"/>
              <a:ext cx="149225" cy="145161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30296" y="3924553"/>
              <a:ext cx="149225" cy="145033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032886" y="4476622"/>
              <a:ext cx="149225" cy="14516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638043" y="4919471"/>
              <a:ext cx="149225" cy="145160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675344" y="4215945"/>
            <a:ext cx="1397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0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07372" y="5158666"/>
            <a:ext cx="1397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023831" y="3581960"/>
            <a:ext cx="1397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0" dirty="0">
                <a:latin typeface="Times New Roman"/>
                <a:cs typeface="Times New Roman"/>
              </a:rPr>
              <a:t>3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786617" y="4337611"/>
            <a:ext cx="1397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0" dirty="0">
                <a:latin typeface="Times New Roman"/>
                <a:cs typeface="Times New Roman"/>
              </a:rPr>
              <a:t>4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576446" y="4107711"/>
            <a:ext cx="478790" cy="529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2870">
              <a:lnSpc>
                <a:spcPts val="2045"/>
              </a:lnSpc>
              <a:spcBef>
                <a:spcPts val="95"/>
              </a:spcBef>
            </a:pPr>
            <a:r>
              <a:rPr sz="1900" spc="-50" dirty="0">
                <a:latin typeface="Cambria Math"/>
                <a:cs typeface="Cambria Math"/>
              </a:rPr>
              <a:t>F</a:t>
            </a:r>
            <a:endParaRPr sz="1900">
              <a:latin typeface="Cambria Math"/>
              <a:cs typeface="Cambria Math"/>
            </a:endParaRPr>
          </a:p>
          <a:p>
            <a:pPr marL="12700">
              <a:lnSpc>
                <a:spcPts val="1925"/>
              </a:lnSpc>
              <a:tabLst>
                <a:tab pos="465455" algn="l"/>
              </a:tabLst>
            </a:pPr>
            <a:r>
              <a:rPr sz="1800" u="heavy" dirty="0">
                <a:uFill>
                  <a:solidFill>
                    <a:srgbClr val="466120"/>
                  </a:solidFill>
                </a:u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314523" y="4242868"/>
            <a:ext cx="1397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0" dirty="0">
                <a:latin typeface="Times New Roman"/>
                <a:cs typeface="Times New Roman"/>
              </a:rPr>
              <a:t>5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013667" y="4458325"/>
            <a:ext cx="443865" cy="10674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905"/>
              </a:spcBef>
            </a:pPr>
            <a:r>
              <a:rPr sz="1900" spc="-50" dirty="0">
                <a:latin typeface="Cambria Math"/>
                <a:cs typeface="Cambria Math"/>
              </a:rPr>
              <a:t>D</a:t>
            </a:r>
            <a:endParaRPr sz="1900">
              <a:latin typeface="Cambria Math"/>
              <a:cs typeface="Cambria Math"/>
            </a:endParaRPr>
          </a:p>
          <a:p>
            <a:pPr marL="12700">
              <a:lnSpc>
                <a:spcPts val="2115"/>
              </a:lnSpc>
              <a:spcBef>
                <a:spcPts val="770"/>
              </a:spcBef>
            </a:pPr>
            <a:r>
              <a:rPr sz="1800" spc="-50" dirty="0">
                <a:latin typeface="Times New Roman"/>
                <a:cs typeface="Times New Roman"/>
              </a:rPr>
              <a:t>6</a:t>
            </a:r>
            <a:endParaRPr sz="1800">
              <a:latin typeface="Times New Roman"/>
              <a:cs typeface="Times New Roman"/>
            </a:endParaRPr>
          </a:p>
          <a:p>
            <a:pPr marL="205104">
              <a:lnSpc>
                <a:spcPts val="2235"/>
              </a:lnSpc>
            </a:pPr>
            <a:r>
              <a:rPr sz="1900" spc="-50" dirty="0">
                <a:latin typeface="Cambria Math"/>
                <a:cs typeface="Cambria Math"/>
              </a:rPr>
              <a:t>O</a:t>
            </a:r>
            <a:endParaRPr sz="1900">
              <a:latin typeface="Cambria Math"/>
              <a:cs typeface="Cambria Math"/>
            </a:endParaRPr>
          </a:p>
        </p:txBody>
      </p:sp>
      <p:pic>
        <p:nvPicPr>
          <p:cNvPr id="43" name="object 4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76782" y="4733671"/>
            <a:ext cx="97396" cy="97409"/>
          </a:xfrm>
          <a:prstGeom prst="rect">
            <a:avLst/>
          </a:prstGeom>
        </p:spPr>
      </p:pic>
      <p:grpSp>
        <p:nvGrpSpPr>
          <p:cNvPr id="44" name="object 44"/>
          <p:cNvGrpSpPr/>
          <p:nvPr/>
        </p:nvGrpSpPr>
        <p:grpSpPr>
          <a:xfrm>
            <a:off x="4910454" y="3492246"/>
            <a:ext cx="3868420" cy="2971165"/>
            <a:chOff x="4910454" y="3492246"/>
            <a:chExt cx="3868420" cy="2971165"/>
          </a:xfrm>
        </p:grpSpPr>
        <p:sp>
          <p:nvSpPr>
            <p:cNvPr id="45" name="object 45"/>
            <p:cNvSpPr/>
            <p:nvPr/>
          </p:nvSpPr>
          <p:spPr>
            <a:xfrm>
              <a:off x="5052186" y="3598164"/>
              <a:ext cx="1548130" cy="2700655"/>
            </a:xfrm>
            <a:custGeom>
              <a:avLst/>
              <a:gdLst/>
              <a:ahLst/>
              <a:cxnLst/>
              <a:rect l="l" t="t" r="r" b="b"/>
              <a:pathLst>
                <a:path w="1548129" h="2700654">
                  <a:moveTo>
                    <a:pt x="203835" y="576072"/>
                  </a:moveTo>
                  <a:lnTo>
                    <a:pt x="205744" y="528810"/>
                  </a:lnTo>
                  <a:lnTo>
                    <a:pt x="211375" y="482604"/>
                  </a:lnTo>
                  <a:lnTo>
                    <a:pt x="220577" y="437600"/>
                  </a:lnTo>
                  <a:lnTo>
                    <a:pt x="233204" y="393947"/>
                  </a:lnTo>
                  <a:lnTo>
                    <a:pt x="249106" y="351793"/>
                  </a:lnTo>
                  <a:lnTo>
                    <a:pt x="268135" y="311286"/>
                  </a:lnTo>
                  <a:lnTo>
                    <a:pt x="290143" y="272574"/>
                  </a:lnTo>
                  <a:lnTo>
                    <a:pt x="314981" y="235805"/>
                  </a:lnTo>
                  <a:lnTo>
                    <a:pt x="342501" y="201127"/>
                  </a:lnTo>
                  <a:lnTo>
                    <a:pt x="372554" y="168687"/>
                  </a:lnTo>
                  <a:lnTo>
                    <a:pt x="404992" y="138635"/>
                  </a:lnTo>
                  <a:lnTo>
                    <a:pt x="439667" y="111117"/>
                  </a:lnTo>
                  <a:lnTo>
                    <a:pt x="476431" y="86283"/>
                  </a:lnTo>
                  <a:lnTo>
                    <a:pt x="515134" y="64280"/>
                  </a:lnTo>
                  <a:lnTo>
                    <a:pt x="555628" y="45255"/>
                  </a:lnTo>
                  <a:lnTo>
                    <a:pt x="597766" y="29358"/>
                  </a:lnTo>
                  <a:lnTo>
                    <a:pt x="641398" y="16736"/>
                  </a:lnTo>
                  <a:lnTo>
                    <a:pt x="686377" y="7536"/>
                  </a:lnTo>
                  <a:lnTo>
                    <a:pt x="732554" y="1908"/>
                  </a:lnTo>
                  <a:lnTo>
                    <a:pt x="779779" y="0"/>
                  </a:lnTo>
                  <a:lnTo>
                    <a:pt x="827024" y="1908"/>
                  </a:lnTo>
                  <a:lnTo>
                    <a:pt x="873216" y="7536"/>
                  </a:lnTo>
                  <a:lnTo>
                    <a:pt x="918210" y="16736"/>
                  </a:lnTo>
                  <a:lnTo>
                    <a:pt x="961855" y="29358"/>
                  </a:lnTo>
                  <a:lnTo>
                    <a:pt x="1004004" y="45255"/>
                  </a:lnTo>
                  <a:lnTo>
                    <a:pt x="1044509" y="64280"/>
                  </a:lnTo>
                  <a:lnTo>
                    <a:pt x="1083220" y="86283"/>
                  </a:lnTo>
                  <a:lnTo>
                    <a:pt x="1119991" y="111117"/>
                  </a:lnTo>
                  <a:lnTo>
                    <a:pt x="1154672" y="138635"/>
                  </a:lnTo>
                  <a:lnTo>
                    <a:pt x="1187116" y="168687"/>
                  </a:lnTo>
                  <a:lnTo>
                    <a:pt x="1217174" y="201127"/>
                  </a:lnTo>
                  <a:lnTo>
                    <a:pt x="1244697" y="235805"/>
                  </a:lnTo>
                  <a:lnTo>
                    <a:pt x="1269538" y="272574"/>
                  </a:lnTo>
                  <a:lnTo>
                    <a:pt x="1291547" y="311286"/>
                  </a:lnTo>
                  <a:lnTo>
                    <a:pt x="1310578" y="351793"/>
                  </a:lnTo>
                  <a:lnTo>
                    <a:pt x="1326481" y="393947"/>
                  </a:lnTo>
                  <a:lnTo>
                    <a:pt x="1339108" y="437600"/>
                  </a:lnTo>
                  <a:lnTo>
                    <a:pt x="1348311" y="482604"/>
                  </a:lnTo>
                  <a:lnTo>
                    <a:pt x="1353942" y="528810"/>
                  </a:lnTo>
                  <a:lnTo>
                    <a:pt x="1355852" y="576072"/>
                  </a:lnTo>
                  <a:lnTo>
                    <a:pt x="1353942" y="623316"/>
                  </a:lnTo>
                  <a:lnTo>
                    <a:pt x="1348311" y="669508"/>
                  </a:lnTo>
                  <a:lnTo>
                    <a:pt x="1339108" y="714502"/>
                  </a:lnTo>
                  <a:lnTo>
                    <a:pt x="1326481" y="758147"/>
                  </a:lnTo>
                  <a:lnTo>
                    <a:pt x="1310578" y="800296"/>
                  </a:lnTo>
                  <a:lnTo>
                    <a:pt x="1291547" y="840801"/>
                  </a:lnTo>
                  <a:lnTo>
                    <a:pt x="1269538" y="879512"/>
                  </a:lnTo>
                  <a:lnTo>
                    <a:pt x="1244697" y="916283"/>
                  </a:lnTo>
                  <a:lnTo>
                    <a:pt x="1217174" y="950964"/>
                  </a:lnTo>
                  <a:lnTo>
                    <a:pt x="1187116" y="983408"/>
                  </a:lnTo>
                  <a:lnTo>
                    <a:pt x="1154672" y="1013466"/>
                  </a:lnTo>
                  <a:lnTo>
                    <a:pt x="1119991" y="1040989"/>
                  </a:lnTo>
                  <a:lnTo>
                    <a:pt x="1083220" y="1065830"/>
                  </a:lnTo>
                  <a:lnTo>
                    <a:pt x="1044509" y="1087839"/>
                  </a:lnTo>
                  <a:lnTo>
                    <a:pt x="1004004" y="1106870"/>
                  </a:lnTo>
                  <a:lnTo>
                    <a:pt x="961855" y="1122773"/>
                  </a:lnTo>
                  <a:lnTo>
                    <a:pt x="918210" y="1135400"/>
                  </a:lnTo>
                  <a:lnTo>
                    <a:pt x="873216" y="1144603"/>
                  </a:lnTo>
                  <a:lnTo>
                    <a:pt x="827024" y="1150234"/>
                  </a:lnTo>
                  <a:lnTo>
                    <a:pt x="779779" y="1152144"/>
                  </a:lnTo>
                  <a:lnTo>
                    <a:pt x="732554" y="1150234"/>
                  </a:lnTo>
                  <a:lnTo>
                    <a:pt x="686377" y="1144603"/>
                  </a:lnTo>
                  <a:lnTo>
                    <a:pt x="641398" y="1135400"/>
                  </a:lnTo>
                  <a:lnTo>
                    <a:pt x="597766" y="1122773"/>
                  </a:lnTo>
                  <a:lnTo>
                    <a:pt x="555628" y="1106870"/>
                  </a:lnTo>
                  <a:lnTo>
                    <a:pt x="515134" y="1087839"/>
                  </a:lnTo>
                  <a:lnTo>
                    <a:pt x="476431" y="1065830"/>
                  </a:lnTo>
                  <a:lnTo>
                    <a:pt x="439667" y="1040989"/>
                  </a:lnTo>
                  <a:lnTo>
                    <a:pt x="404992" y="1013466"/>
                  </a:lnTo>
                  <a:lnTo>
                    <a:pt x="372554" y="983408"/>
                  </a:lnTo>
                  <a:lnTo>
                    <a:pt x="342501" y="950964"/>
                  </a:lnTo>
                  <a:lnTo>
                    <a:pt x="314981" y="916283"/>
                  </a:lnTo>
                  <a:lnTo>
                    <a:pt x="290143" y="879512"/>
                  </a:lnTo>
                  <a:lnTo>
                    <a:pt x="268135" y="840801"/>
                  </a:lnTo>
                  <a:lnTo>
                    <a:pt x="249106" y="800296"/>
                  </a:lnTo>
                  <a:lnTo>
                    <a:pt x="233204" y="758147"/>
                  </a:lnTo>
                  <a:lnTo>
                    <a:pt x="220577" y="714502"/>
                  </a:lnTo>
                  <a:lnTo>
                    <a:pt x="211375" y="669508"/>
                  </a:lnTo>
                  <a:lnTo>
                    <a:pt x="205744" y="623316"/>
                  </a:lnTo>
                  <a:lnTo>
                    <a:pt x="203835" y="576072"/>
                  </a:lnTo>
                  <a:close/>
                </a:path>
                <a:path w="1548129" h="2700654">
                  <a:moveTo>
                    <a:pt x="0" y="1926082"/>
                  </a:moveTo>
                  <a:lnTo>
                    <a:pt x="1522" y="1877131"/>
                  </a:lnTo>
                  <a:lnTo>
                    <a:pt x="6031" y="1828991"/>
                  </a:lnTo>
                  <a:lnTo>
                    <a:pt x="13434" y="1781751"/>
                  </a:lnTo>
                  <a:lnTo>
                    <a:pt x="23641" y="1735502"/>
                  </a:lnTo>
                  <a:lnTo>
                    <a:pt x="36561" y="1690335"/>
                  </a:lnTo>
                  <a:lnTo>
                    <a:pt x="52104" y="1646339"/>
                  </a:lnTo>
                  <a:lnTo>
                    <a:pt x="70179" y="1603607"/>
                  </a:lnTo>
                  <a:lnTo>
                    <a:pt x="90694" y="1562228"/>
                  </a:lnTo>
                  <a:lnTo>
                    <a:pt x="113560" y="1522293"/>
                  </a:lnTo>
                  <a:lnTo>
                    <a:pt x="138685" y="1483893"/>
                  </a:lnTo>
                  <a:lnTo>
                    <a:pt x="165979" y="1447118"/>
                  </a:lnTo>
                  <a:lnTo>
                    <a:pt x="195351" y="1412059"/>
                  </a:lnTo>
                  <a:lnTo>
                    <a:pt x="226710" y="1378807"/>
                  </a:lnTo>
                  <a:lnTo>
                    <a:pt x="259966" y="1347451"/>
                  </a:lnTo>
                  <a:lnTo>
                    <a:pt x="295028" y="1318084"/>
                  </a:lnTo>
                  <a:lnTo>
                    <a:pt x="331805" y="1290794"/>
                  </a:lnTo>
                  <a:lnTo>
                    <a:pt x="370206" y="1265674"/>
                  </a:lnTo>
                  <a:lnTo>
                    <a:pt x="410140" y="1242813"/>
                  </a:lnTo>
                  <a:lnTo>
                    <a:pt x="451518" y="1222302"/>
                  </a:lnTo>
                  <a:lnTo>
                    <a:pt x="494247" y="1204232"/>
                  </a:lnTo>
                  <a:lnTo>
                    <a:pt x="538238" y="1188694"/>
                  </a:lnTo>
                  <a:lnTo>
                    <a:pt x="583400" y="1175777"/>
                  </a:lnTo>
                  <a:lnTo>
                    <a:pt x="629641" y="1165573"/>
                  </a:lnTo>
                  <a:lnTo>
                    <a:pt x="676872" y="1158173"/>
                  </a:lnTo>
                  <a:lnTo>
                    <a:pt x="725001" y="1153666"/>
                  </a:lnTo>
                  <a:lnTo>
                    <a:pt x="773938" y="1152144"/>
                  </a:lnTo>
                  <a:lnTo>
                    <a:pt x="822888" y="1153666"/>
                  </a:lnTo>
                  <a:lnTo>
                    <a:pt x="871030" y="1158173"/>
                  </a:lnTo>
                  <a:lnTo>
                    <a:pt x="918273" y="1165573"/>
                  </a:lnTo>
                  <a:lnTo>
                    <a:pt x="964525" y="1175777"/>
                  </a:lnTo>
                  <a:lnTo>
                    <a:pt x="1009697" y="1188694"/>
                  </a:lnTo>
                  <a:lnTo>
                    <a:pt x="1053697" y="1204232"/>
                  </a:lnTo>
                  <a:lnTo>
                    <a:pt x="1096435" y="1222302"/>
                  </a:lnTo>
                  <a:lnTo>
                    <a:pt x="1137819" y="1242813"/>
                  </a:lnTo>
                  <a:lnTo>
                    <a:pt x="1177761" y="1265674"/>
                  </a:lnTo>
                  <a:lnTo>
                    <a:pt x="1216168" y="1290794"/>
                  </a:lnTo>
                  <a:lnTo>
                    <a:pt x="1252950" y="1318084"/>
                  </a:lnTo>
                  <a:lnTo>
                    <a:pt x="1288016" y="1347451"/>
                  </a:lnTo>
                  <a:lnTo>
                    <a:pt x="1321276" y="1378807"/>
                  </a:lnTo>
                  <a:lnTo>
                    <a:pt x="1352638" y="1412059"/>
                  </a:lnTo>
                  <a:lnTo>
                    <a:pt x="1382013" y="1447118"/>
                  </a:lnTo>
                  <a:lnTo>
                    <a:pt x="1409310" y="1483893"/>
                  </a:lnTo>
                  <a:lnTo>
                    <a:pt x="1434437" y="1522293"/>
                  </a:lnTo>
                  <a:lnTo>
                    <a:pt x="1457304" y="1562228"/>
                  </a:lnTo>
                  <a:lnTo>
                    <a:pt x="1477821" y="1603607"/>
                  </a:lnTo>
                  <a:lnTo>
                    <a:pt x="1495896" y="1646339"/>
                  </a:lnTo>
                  <a:lnTo>
                    <a:pt x="1511440" y="1690335"/>
                  </a:lnTo>
                  <a:lnTo>
                    <a:pt x="1524360" y="1735502"/>
                  </a:lnTo>
                  <a:lnTo>
                    <a:pt x="1534568" y="1781751"/>
                  </a:lnTo>
                  <a:lnTo>
                    <a:pt x="1541971" y="1828991"/>
                  </a:lnTo>
                  <a:lnTo>
                    <a:pt x="1546480" y="1877131"/>
                  </a:lnTo>
                  <a:lnTo>
                    <a:pt x="1548003" y="1926082"/>
                  </a:lnTo>
                  <a:lnTo>
                    <a:pt x="1546480" y="1975031"/>
                  </a:lnTo>
                  <a:lnTo>
                    <a:pt x="1541971" y="2023171"/>
                  </a:lnTo>
                  <a:lnTo>
                    <a:pt x="1534568" y="2070411"/>
                  </a:lnTo>
                  <a:lnTo>
                    <a:pt x="1524360" y="2116661"/>
                  </a:lnTo>
                  <a:lnTo>
                    <a:pt x="1511440" y="2161830"/>
                  </a:lnTo>
                  <a:lnTo>
                    <a:pt x="1495896" y="2205827"/>
                  </a:lnTo>
                  <a:lnTo>
                    <a:pt x="1477821" y="2248562"/>
                  </a:lnTo>
                  <a:lnTo>
                    <a:pt x="1457304" y="2289944"/>
                  </a:lnTo>
                  <a:lnTo>
                    <a:pt x="1434437" y="2329882"/>
                  </a:lnTo>
                  <a:lnTo>
                    <a:pt x="1409310" y="2368285"/>
                  </a:lnTo>
                  <a:lnTo>
                    <a:pt x="1382013" y="2405064"/>
                  </a:lnTo>
                  <a:lnTo>
                    <a:pt x="1352638" y="2440127"/>
                  </a:lnTo>
                  <a:lnTo>
                    <a:pt x="1321276" y="2473383"/>
                  </a:lnTo>
                  <a:lnTo>
                    <a:pt x="1288016" y="2504743"/>
                  </a:lnTo>
                  <a:lnTo>
                    <a:pt x="1252950" y="2534114"/>
                  </a:lnTo>
                  <a:lnTo>
                    <a:pt x="1216168" y="2561408"/>
                  </a:lnTo>
                  <a:lnTo>
                    <a:pt x="1177761" y="2586532"/>
                  </a:lnTo>
                  <a:lnTo>
                    <a:pt x="1137819" y="2609397"/>
                  </a:lnTo>
                  <a:lnTo>
                    <a:pt x="1096435" y="2629911"/>
                  </a:lnTo>
                  <a:lnTo>
                    <a:pt x="1053697" y="2647984"/>
                  </a:lnTo>
                  <a:lnTo>
                    <a:pt x="1009697" y="2663525"/>
                  </a:lnTo>
                  <a:lnTo>
                    <a:pt x="964525" y="2676444"/>
                  </a:lnTo>
                  <a:lnTo>
                    <a:pt x="918273" y="2686650"/>
                  </a:lnTo>
                  <a:lnTo>
                    <a:pt x="871030" y="2694052"/>
                  </a:lnTo>
                  <a:lnTo>
                    <a:pt x="822888" y="2698560"/>
                  </a:lnTo>
                  <a:lnTo>
                    <a:pt x="773938" y="2700083"/>
                  </a:lnTo>
                  <a:lnTo>
                    <a:pt x="725001" y="2698560"/>
                  </a:lnTo>
                  <a:lnTo>
                    <a:pt x="676872" y="2694052"/>
                  </a:lnTo>
                  <a:lnTo>
                    <a:pt x="629641" y="2686650"/>
                  </a:lnTo>
                  <a:lnTo>
                    <a:pt x="583400" y="2676444"/>
                  </a:lnTo>
                  <a:lnTo>
                    <a:pt x="538238" y="2663525"/>
                  </a:lnTo>
                  <a:lnTo>
                    <a:pt x="494247" y="2647984"/>
                  </a:lnTo>
                  <a:lnTo>
                    <a:pt x="451518" y="2629911"/>
                  </a:lnTo>
                  <a:lnTo>
                    <a:pt x="410140" y="2609397"/>
                  </a:lnTo>
                  <a:lnTo>
                    <a:pt x="370206" y="2586532"/>
                  </a:lnTo>
                  <a:lnTo>
                    <a:pt x="331805" y="2561408"/>
                  </a:lnTo>
                  <a:lnTo>
                    <a:pt x="295028" y="2534114"/>
                  </a:lnTo>
                  <a:lnTo>
                    <a:pt x="259966" y="2504743"/>
                  </a:lnTo>
                  <a:lnTo>
                    <a:pt x="226710" y="2473383"/>
                  </a:lnTo>
                  <a:lnTo>
                    <a:pt x="195351" y="2440127"/>
                  </a:lnTo>
                  <a:lnTo>
                    <a:pt x="165979" y="2405064"/>
                  </a:lnTo>
                  <a:lnTo>
                    <a:pt x="138685" y="2368285"/>
                  </a:lnTo>
                  <a:lnTo>
                    <a:pt x="113560" y="2329882"/>
                  </a:lnTo>
                  <a:lnTo>
                    <a:pt x="90694" y="2289944"/>
                  </a:lnTo>
                  <a:lnTo>
                    <a:pt x="70179" y="2248562"/>
                  </a:lnTo>
                  <a:lnTo>
                    <a:pt x="52104" y="2205827"/>
                  </a:lnTo>
                  <a:lnTo>
                    <a:pt x="36561" y="2161830"/>
                  </a:lnTo>
                  <a:lnTo>
                    <a:pt x="23641" y="2116661"/>
                  </a:lnTo>
                  <a:lnTo>
                    <a:pt x="13434" y="2070411"/>
                  </a:lnTo>
                  <a:lnTo>
                    <a:pt x="6031" y="2023171"/>
                  </a:lnTo>
                  <a:lnTo>
                    <a:pt x="1522" y="1975031"/>
                  </a:lnTo>
                  <a:lnTo>
                    <a:pt x="0" y="1926082"/>
                  </a:lnTo>
                  <a:close/>
                </a:path>
              </a:pathLst>
            </a:custGeom>
            <a:ln w="12700">
              <a:solidFill>
                <a:srgbClr val="126F5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919979" y="3501771"/>
              <a:ext cx="1836420" cy="2952115"/>
            </a:xfrm>
            <a:custGeom>
              <a:avLst/>
              <a:gdLst/>
              <a:ahLst/>
              <a:cxnLst/>
              <a:rect l="l" t="t" r="r" b="b"/>
              <a:pathLst>
                <a:path w="1836420" h="2952115">
                  <a:moveTo>
                    <a:pt x="899922" y="1005204"/>
                  </a:moveTo>
                  <a:lnTo>
                    <a:pt x="899922" y="2951568"/>
                  </a:lnTo>
                </a:path>
                <a:path w="1836420" h="2952115">
                  <a:moveTo>
                    <a:pt x="899922" y="0"/>
                  </a:moveTo>
                  <a:lnTo>
                    <a:pt x="899922" y="861580"/>
                  </a:lnTo>
                </a:path>
                <a:path w="1836420" h="2952115">
                  <a:moveTo>
                    <a:pt x="132207" y="672464"/>
                  </a:moveTo>
                  <a:lnTo>
                    <a:pt x="1680210" y="672464"/>
                  </a:lnTo>
                </a:path>
                <a:path w="1836420" h="2952115">
                  <a:moveTo>
                    <a:pt x="0" y="2016125"/>
                  </a:moveTo>
                  <a:lnTo>
                    <a:pt x="1836039" y="2016125"/>
                  </a:lnTo>
                </a:path>
              </a:pathLst>
            </a:custGeom>
            <a:ln w="19050">
              <a:solidFill>
                <a:srgbClr val="5C240D"/>
              </a:solidFill>
              <a:prstDash val="lg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633973" y="4363351"/>
              <a:ext cx="395998" cy="143624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5649086" y="4123182"/>
              <a:ext cx="354965" cy="236854"/>
            </a:xfrm>
            <a:custGeom>
              <a:avLst/>
              <a:gdLst/>
              <a:ahLst/>
              <a:cxnLst/>
              <a:rect l="l" t="t" r="r" b="b"/>
              <a:pathLst>
                <a:path w="354964" h="236854">
                  <a:moveTo>
                    <a:pt x="354584" y="236474"/>
                  </a:moveTo>
                  <a:lnTo>
                    <a:pt x="177291" y="0"/>
                  </a:lnTo>
                  <a:lnTo>
                    <a:pt x="0" y="236474"/>
                  </a:lnTo>
                  <a:lnTo>
                    <a:pt x="354584" y="236474"/>
                  </a:lnTo>
                  <a:close/>
                </a:path>
              </a:pathLst>
            </a:custGeom>
            <a:ln w="25400">
              <a:solidFill>
                <a:srgbClr val="1674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398384" y="3946017"/>
              <a:ext cx="402590" cy="993775"/>
            </a:xfrm>
            <a:custGeom>
              <a:avLst/>
              <a:gdLst/>
              <a:ahLst/>
              <a:cxnLst/>
              <a:rect l="l" t="t" r="r" b="b"/>
              <a:pathLst>
                <a:path w="402590" h="993775">
                  <a:moveTo>
                    <a:pt x="18288" y="0"/>
                  </a:moveTo>
                  <a:lnTo>
                    <a:pt x="0" y="993647"/>
                  </a:lnTo>
                  <a:lnTo>
                    <a:pt x="402336" y="560831"/>
                  </a:lnTo>
                  <a:lnTo>
                    <a:pt x="18288" y="0"/>
                  </a:lnTo>
                  <a:close/>
                </a:path>
              </a:pathLst>
            </a:custGeom>
            <a:solidFill>
              <a:srgbClr val="F8D7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038976" y="3769233"/>
              <a:ext cx="2726690" cy="1603375"/>
            </a:xfrm>
            <a:custGeom>
              <a:avLst/>
              <a:gdLst/>
              <a:ahLst/>
              <a:cxnLst/>
              <a:rect l="l" t="t" r="r" b="b"/>
              <a:pathLst>
                <a:path w="2726690" h="1603375">
                  <a:moveTo>
                    <a:pt x="1359407" y="1170432"/>
                  </a:moveTo>
                  <a:lnTo>
                    <a:pt x="1377696" y="176784"/>
                  </a:lnTo>
                  <a:lnTo>
                    <a:pt x="1761744" y="737616"/>
                  </a:lnTo>
                  <a:lnTo>
                    <a:pt x="1359407" y="1170432"/>
                  </a:lnTo>
                  <a:close/>
                </a:path>
                <a:path w="2726690" h="1603375">
                  <a:moveTo>
                    <a:pt x="0" y="0"/>
                  </a:moveTo>
                  <a:lnTo>
                    <a:pt x="1377696" y="176784"/>
                  </a:lnTo>
                </a:path>
                <a:path w="2726690" h="1603375">
                  <a:moveTo>
                    <a:pt x="1739265" y="728472"/>
                  </a:moveTo>
                  <a:lnTo>
                    <a:pt x="2726690" y="728472"/>
                  </a:lnTo>
                </a:path>
                <a:path w="2726690" h="1603375">
                  <a:moveTo>
                    <a:pt x="1359407" y="1178687"/>
                  </a:moveTo>
                  <a:lnTo>
                    <a:pt x="1804416" y="1603248"/>
                  </a:lnTo>
                </a:path>
              </a:pathLst>
            </a:custGeom>
            <a:ln w="2540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657591" y="5560136"/>
              <a:ext cx="395998" cy="143624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7672577" y="5319903"/>
              <a:ext cx="354965" cy="236854"/>
            </a:xfrm>
            <a:custGeom>
              <a:avLst/>
              <a:gdLst/>
              <a:ahLst/>
              <a:cxnLst/>
              <a:rect l="l" t="t" r="r" b="b"/>
              <a:pathLst>
                <a:path w="354965" h="236854">
                  <a:moveTo>
                    <a:pt x="354583" y="236474"/>
                  </a:moveTo>
                  <a:lnTo>
                    <a:pt x="177292" y="0"/>
                  </a:lnTo>
                  <a:lnTo>
                    <a:pt x="0" y="236474"/>
                  </a:lnTo>
                  <a:lnTo>
                    <a:pt x="354583" y="236474"/>
                  </a:lnTo>
                  <a:close/>
                </a:path>
              </a:pathLst>
            </a:custGeom>
            <a:ln w="25399">
              <a:solidFill>
                <a:srgbClr val="1674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766684" y="5295011"/>
              <a:ext cx="149225" cy="145160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5507862" y="5249164"/>
              <a:ext cx="730250" cy="495934"/>
            </a:xfrm>
            <a:custGeom>
              <a:avLst/>
              <a:gdLst/>
              <a:ahLst/>
              <a:cxnLst/>
              <a:rect l="l" t="t" r="r" b="b"/>
              <a:pathLst>
                <a:path w="730250" h="495935">
                  <a:moveTo>
                    <a:pt x="654685" y="364070"/>
                  </a:moveTo>
                  <a:lnTo>
                    <a:pt x="669416" y="495833"/>
                  </a:lnTo>
                  <a:lnTo>
                    <a:pt x="726278" y="384492"/>
                  </a:lnTo>
                  <a:lnTo>
                    <a:pt x="699388" y="384492"/>
                  </a:lnTo>
                  <a:lnTo>
                    <a:pt x="680465" y="382282"/>
                  </a:lnTo>
                  <a:lnTo>
                    <a:pt x="681991" y="369033"/>
                  </a:lnTo>
                  <a:lnTo>
                    <a:pt x="654685" y="364070"/>
                  </a:lnTo>
                  <a:close/>
                </a:path>
                <a:path w="730250" h="495935">
                  <a:moveTo>
                    <a:pt x="681991" y="369033"/>
                  </a:moveTo>
                  <a:lnTo>
                    <a:pt x="680465" y="382282"/>
                  </a:lnTo>
                  <a:lnTo>
                    <a:pt x="699388" y="384492"/>
                  </a:lnTo>
                  <a:lnTo>
                    <a:pt x="700802" y="372451"/>
                  </a:lnTo>
                  <a:lnTo>
                    <a:pt x="681991" y="369033"/>
                  </a:lnTo>
                  <a:close/>
                </a:path>
                <a:path w="730250" h="495935">
                  <a:moveTo>
                    <a:pt x="700802" y="372451"/>
                  </a:moveTo>
                  <a:lnTo>
                    <a:pt x="699388" y="384492"/>
                  </a:lnTo>
                  <a:lnTo>
                    <a:pt x="726278" y="384492"/>
                  </a:lnTo>
                  <a:lnTo>
                    <a:pt x="729741" y="377710"/>
                  </a:lnTo>
                  <a:lnTo>
                    <a:pt x="700802" y="372451"/>
                  </a:lnTo>
                  <a:close/>
                </a:path>
                <a:path w="730250" h="495935">
                  <a:moveTo>
                    <a:pt x="448509" y="19056"/>
                  </a:moveTo>
                  <a:lnTo>
                    <a:pt x="333583" y="19056"/>
                  </a:lnTo>
                  <a:lnTo>
                    <a:pt x="352291" y="19598"/>
                  </a:lnTo>
                  <a:lnTo>
                    <a:pt x="350906" y="19598"/>
                  </a:lnTo>
                  <a:lnTo>
                    <a:pt x="368498" y="21001"/>
                  </a:lnTo>
                  <a:lnTo>
                    <a:pt x="367937" y="21001"/>
                  </a:lnTo>
                  <a:lnTo>
                    <a:pt x="384563" y="23052"/>
                  </a:lnTo>
                  <a:lnTo>
                    <a:pt x="385044" y="23200"/>
                  </a:lnTo>
                  <a:lnTo>
                    <a:pt x="402215" y="26207"/>
                  </a:lnTo>
                  <a:lnTo>
                    <a:pt x="418907" y="29972"/>
                  </a:lnTo>
                  <a:lnTo>
                    <a:pt x="435727" y="34798"/>
                  </a:lnTo>
                  <a:lnTo>
                    <a:pt x="451270" y="40053"/>
                  </a:lnTo>
                  <a:lnTo>
                    <a:pt x="468780" y="46803"/>
                  </a:lnTo>
                  <a:lnTo>
                    <a:pt x="469234" y="47074"/>
                  </a:lnTo>
                  <a:lnTo>
                    <a:pt x="484534" y="53980"/>
                  </a:lnTo>
                  <a:lnTo>
                    <a:pt x="501107" y="62472"/>
                  </a:lnTo>
                  <a:lnTo>
                    <a:pt x="515227" y="70678"/>
                  </a:lnTo>
                  <a:lnTo>
                    <a:pt x="528660" y="79437"/>
                  </a:lnTo>
                  <a:lnTo>
                    <a:pt x="528989" y="79580"/>
                  </a:lnTo>
                  <a:lnTo>
                    <a:pt x="529734" y="80137"/>
                  </a:lnTo>
                  <a:lnTo>
                    <a:pt x="530293" y="80501"/>
                  </a:lnTo>
                  <a:lnTo>
                    <a:pt x="543475" y="89915"/>
                  </a:lnTo>
                  <a:lnTo>
                    <a:pt x="554196" y="98360"/>
                  </a:lnTo>
                  <a:lnTo>
                    <a:pt x="566464" y="108794"/>
                  </a:lnTo>
                  <a:lnTo>
                    <a:pt x="577874" y="119507"/>
                  </a:lnTo>
                  <a:lnTo>
                    <a:pt x="578944" y="120611"/>
                  </a:lnTo>
                  <a:lnTo>
                    <a:pt x="579283" y="120848"/>
                  </a:lnTo>
                  <a:lnTo>
                    <a:pt x="611267" y="157441"/>
                  </a:lnTo>
                  <a:lnTo>
                    <a:pt x="637967" y="198218"/>
                  </a:lnTo>
                  <a:lnTo>
                    <a:pt x="657887" y="240140"/>
                  </a:lnTo>
                  <a:lnTo>
                    <a:pt x="671113" y="280162"/>
                  </a:lnTo>
                  <a:lnTo>
                    <a:pt x="672263" y="284670"/>
                  </a:lnTo>
                  <a:lnTo>
                    <a:pt x="672419" y="284969"/>
                  </a:lnTo>
                  <a:lnTo>
                    <a:pt x="680507" y="329565"/>
                  </a:lnTo>
                  <a:lnTo>
                    <a:pt x="682754" y="363931"/>
                  </a:lnTo>
                  <a:lnTo>
                    <a:pt x="682579" y="363931"/>
                  </a:lnTo>
                  <a:lnTo>
                    <a:pt x="681991" y="369033"/>
                  </a:lnTo>
                  <a:lnTo>
                    <a:pt x="700802" y="372451"/>
                  </a:lnTo>
                  <a:lnTo>
                    <a:pt x="701785" y="364070"/>
                  </a:lnTo>
                  <a:lnTo>
                    <a:pt x="701801" y="363931"/>
                  </a:lnTo>
                  <a:lnTo>
                    <a:pt x="682751" y="363931"/>
                  </a:lnTo>
                  <a:lnTo>
                    <a:pt x="682751" y="362792"/>
                  </a:lnTo>
                  <a:lnTo>
                    <a:pt x="701760" y="362792"/>
                  </a:lnTo>
                  <a:lnTo>
                    <a:pt x="701218" y="347895"/>
                  </a:lnTo>
                  <a:lnTo>
                    <a:pt x="701119" y="345912"/>
                  </a:lnTo>
                  <a:lnTo>
                    <a:pt x="699969" y="331985"/>
                  </a:lnTo>
                  <a:lnTo>
                    <a:pt x="699842" y="330448"/>
                  </a:lnTo>
                  <a:lnTo>
                    <a:pt x="699770" y="329565"/>
                  </a:lnTo>
                  <a:lnTo>
                    <a:pt x="690879" y="280162"/>
                  </a:lnTo>
                  <a:lnTo>
                    <a:pt x="675386" y="232410"/>
                  </a:lnTo>
                  <a:lnTo>
                    <a:pt x="653669" y="187325"/>
                  </a:lnTo>
                  <a:lnTo>
                    <a:pt x="625983" y="145415"/>
                  </a:lnTo>
                  <a:lnTo>
                    <a:pt x="592582" y="107188"/>
                  </a:lnTo>
                  <a:lnTo>
                    <a:pt x="553592" y="73660"/>
                  </a:lnTo>
                  <a:lnTo>
                    <a:pt x="509524" y="45466"/>
                  </a:lnTo>
                  <a:lnTo>
                    <a:pt x="458850" y="22479"/>
                  </a:lnTo>
                  <a:lnTo>
                    <a:pt x="448509" y="19056"/>
                  </a:lnTo>
                  <a:close/>
                </a:path>
                <a:path w="730250" h="495935">
                  <a:moveTo>
                    <a:pt x="333628" y="0"/>
                  </a:moveTo>
                  <a:lnTo>
                    <a:pt x="280288" y="3810"/>
                  </a:lnTo>
                  <a:lnTo>
                    <a:pt x="228219" y="15113"/>
                  </a:lnTo>
                  <a:lnTo>
                    <a:pt x="178562" y="33655"/>
                  </a:lnTo>
                  <a:lnTo>
                    <a:pt x="131699" y="59309"/>
                  </a:lnTo>
                  <a:lnTo>
                    <a:pt x="88900" y="91567"/>
                  </a:lnTo>
                  <a:lnTo>
                    <a:pt x="50673" y="130302"/>
                  </a:lnTo>
                  <a:lnTo>
                    <a:pt x="18034" y="175133"/>
                  </a:lnTo>
                  <a:lnTo>
                    <a:pt x="0" y="208153"/>
                  </a:lnTo>
                  <a:lnTo>
                    <a:pt x="16890" y="216789"/>
                  </a:lnTo>
                  <a:lnTo>
                    <a:pt x="25622" y="199977"/>
                  </a:lnTo>
                  <a:lnTo>
                    <a:pt x="34410" y="185039"/>
                  </a:lnTo>
                  <a:lnTo>
                    <a:pt x="64984" y="142833"/>
                  </a:lnTo>
                  <a:lnTo>
                    <a:pt x="76207" y="130302"/>
                  </a:lnTo>
                  <a:lnTo>
                    <a:pt x="76532" y="129877"/>
                  </a:lnTo>
                  <a:lnTo>
                    <a:pt x="76895" y="129599"/>
                  </a:lnTo>
                  <a:lnTo>
                    <a:pt x="88651" y="117602"/>
                  </a:lnTo>
                  <a:lnTo>
                    <a:pt x="102363" y="105094"/>
                  </a:lnTo>
                  <a:lnTo>
                    <a:pt x="141740" y="75438"/>
                  </a:lnTo>
                  <a:lnTo>
                    <a:pt x="186318" y="51019"/>
                  </a:lnTo>
                  <a:lnTo>
                    <a:pt x="217276" y="38553"/>
                  </a:lnTo>
                  <a:lnTo>
                    <a:pt x="217464" y="38553"/>
                  </a:lnTo>
                  <a:lnTo>
                    <a:pt x="233356" y="33419"/>
                  </a:lnTo>
                  <a:lnTo>
                    <a:pt x="249587" y="29083"/>
                  </a:lnTo>
                  <a:lnTo>
                    <a:pt x="266207" y="25603"/>
                  </a:lnTo>
                  <a:lnTo>
                    <a:pt x="266562" y="25463"/>
                  </a:lnTo>
                  <a:lnTo>
                    <a:pt x="281480" y="22903"/>
                  </a:lnTo>
                  <a:lnTo>
                    <a:pt x="281255" y="22903"/>
                  </a:lnTo>
                  <a:lnTo>
                    <a:pt x="297423" y="21001"/>
                  </a:lnTo>
                  <a:lnTo>
                    <a:pt x="298270" y="21001"/>
                  </a:lnTo>
                  <a:lnTo>
                    <a:pt x="301144" y="20447"/>
                  </a:lnTo>
                  <a:lnTo>
                    <a:pt x="303039" y="20447"/>
                  </a:lnTo>
                  <a:lnTo>
                    <a:pt x="314589" y="19598"/>
                  </a:lnTo>
                  <a:lnTo>
                    <a:pt x="308664" y="19598"/>
                  </a:lnTo>
                  <a:lnTo>
                    <a:pt x="333583" y="19056"/>
                  </a:lnTo>
                  <a:lnTo>
                    <a:pt x="448509" y="19056"/>
                  </a:lnTo>
                  <a:lnTo>
                    <a:pt x="441198" y="16637"/>
                  </a:lnTo>
                  <a:lnTo>
                    <a:pt x="387603" y="4318"/>
                  </a:lnTo>
                  <a:lnTo>
                    <a:pt x="351663" y="508"/>
                  </a:lnTo>
                  <a:lnTo>
                    <a:pt x="333628" y="0"/>
                  </a:lnTo>
                  <a:close/>
                </a:path>
                <a:path w="730250" h="495935">
                  <a:moveTo>
                    <a:pt x="66838" y="140738"/>
                  </a:moveTo>
                  <a:lnTo>
                    <a:pt x="65319" y="142417"/>
                  </a:lnTo>
                  <a:lnTo>
                    <a:pt x="65186" y="142705"/>
                  </a:lnTo>
                  <a:lnTo>
                    <a:pt x="65467" y="142417"/>
                  </a:lnTo>
                  <a:lnTo>
                    <a:pt x="66823" y="140738"/>
                  </a:lnTo>
                  <a:close/>
                </a:path>
                <a:path w="730250" h="495935">
                  <a:moveTo>
                    <a:pt x="188075" y="50251"/>
                  </a:moveTo>
                  <a:lnTo>
                    <a:pt x="186658" y="50852"/>
                  </a:lnTo>
                  <a:lnTo>
                    <a:pt x="186417" y="51019"/>
                  </a:lnTo>
                  <a:lnTo>
                    <a:pt x="186843" y="50852"/>
                  </a:lnTo>
                  <a:lnTo>
                    <a:pt x="188075" y="50251"/>
                  </a:lnTo>
                  <a:close/>
                </a:path>
                <a:path w="730250" h="495935">
                  <a:moveTo>
                    <a:pt x="467774" y="46415"/>
                  </a:moveTo>
                  <a:lnTo>
                    <a:pt x="469234" y="47074"/>
                  </a:lnTo>
                  <a:lnTo>
                    <a:pt x="468780" y="46803"/>
                  </a:lnTo>
                  <a:lnTo>
                    <a:pt x="467774" y="46415"/>
                  </a:lnTo>
                  <a:close/>
                </a:path>
                <a:path w="730250" h="495935">
                  <a:moveTo>
                    <a:pt x="217464" y="38553"/>
                  </a:moveTo>
                  <a:lnTo>
                    <a:pt x="217276" y="38553"/>
                  </a:lnTo>
                  <a:lnTo>
                    <a:pt x="216167" y="38973"/>
                  </a:lnTo>
                  <a:lnTo>
                    <a:pt x="217464" y="38553"/>
                  </a:lnTo>
                  <a:close/>
                </a:path>
                <a:path w="730250" h="495935">
                  <a:moveTo>
                    <a:pt x="268120" y="25203"/>
                  </a:moveTo>
                  <a:lnTo>
                    <a:pt x="266562" y="25463"/>
                  </a:lnTo>
                  <a:lnTo>
                    <a:pt x="266207" y="25603"/>
                  </a:lnTo>
                  <a:lnTo>
                    <a:pt x="268120" y="25203"/>
                  </a:lnTo>
                  <a:close/>
                </a:path>
                <a:path w="730250" h="495935">
                  <a:moveTo>
                    <a:pt x="383352" y="22903"/>
                  </a:moveTo>
                  <a:lnTo>
                    <a:pt x="385048" y="23200"/>
                  </a:lnTo>
                  <a:lnTo>
                    <a:pt x="384563" y="23052"/>
                  </a:lnTo>
                  <a:lnTo>
                    <a:pt x="383352" y="22903"/>
                  </a:lnTo>
                  <a:close/>
                </a:path>
                <a:path w="730250" h="495935">
                  <a:moveTo>
                    <a:pt x="287805" y="22479"/>
                  </a:moveTo>
                  <a:lnTo>
                    <a:pt x="284869" y="22479"/>
                  </a:lnTo>
                  <a:lnTo>
                    <a:pt x="281266" y="22903"/>
                  </a:lnTo>
                  <a:lnTo>
                    <a:pt x="277740" y="22903"/>
                  </a:lnTo>
                  <a:lnTo>
                    <a:pt x="287805" y="22479"/>
                  </a:lnTo>
                  <a:close/>
                </a:path>
                <a:path w="730250" h="495935">
                  <a:moveTo>
                    <a:pt x="302132" y="20447"/>
                  </a:moveTo>
                  <a:lnTo>
                    <a:pt x="301144" y="20447"/>
                  </a:lnTo>
                  <a:lnTo>
                    <a:pt x="298270" y="21001"/>
                  </a:lnTo>
                  <a:lnTo>
                    <a:pt x="297422" y="21001"/>
                  </a:lnTo>
                  <a:lnTo>
                    <a:pt x="302132" y="2044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5460997" y="3776809"/>
            <a:ext cx="321945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900" spc="-25" dirty="0">
                <a:latin typeface="Cambria Math"/>
                <a:cs typeface="Cambria Math"/>
              </a:rPr>
              <a:t>O</a:t>
            </a:r>
            <a:r>
              <a:rPr sz="1575" spc="-37" baseline="-23809" dirty="0">
                <a:latin typeface="Times New Roman"/>
                <a:cs typeface="Times New Roman"/>
              </a:rPr>
              <a:t>2</a:t>
            </a:r>
            <a:endParaRPr sz="1575" baseline="-23809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998013" y="3315612"/>
            <a:ext cx="241300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50" dirty="0">
                <a:latin typeface="Cambria Math"/>
                <a:cs typeface="Cambria Math"/>
              </a:rPr>
              <a:t>B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365989" y="3587795"/>
            <a:ext cx="229870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spc="-50" dirty="0">
                <a:latin typeface="Cambria Math"/>
                <a:cs typeface="Cambria Math"/>
              </a:rPr>
              <a:t>C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097431" y="4777371"/>
            <a:ext cx="233045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50" dirty="0">
                <a:latin typeface="Cambria Math"/>
                <a:cs typeface="Cambria Math"/>
              </a:rPr>
              <a:t>E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364912" y="4060848"/>
            <a:ext cx="224154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50" dirty="0">
                <a:latin typeface="Cambria Math"/>
                <a:cs typeface="Cambria Math"/>
              </a:rPr>
              <a:t>F</a:t>
            </a:r>
            <a:endParaRPr sz="1900">
              <a:latin typeface="Cambria Math"/>
              <a:cs typeface="Cambria Math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7328154" y="3877564"/>
            <a:ext cx="1355090" cy="1140460"/>
            <a:chOff x="7328154" y="3877564"/>
            <a:chExt cx="1355090" cy="1140460"/>
          </a:xfrm>
        </p:grpSpPr>
        <p:pic>
          <p:nvPicPr>
            <p:cNvPr id="61" name="object 6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287004" y="4560393"/>
              <a:ext cx="395998" cy="107999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8287004" y="4556125"/>
              <a:ext cx="396240" cy="19050"/>
            </a:xfrm>
            <a:custGeom>
              <a:avLst/>
              <a:gdLst/>
              <a:ahLst/>
              <a:cxnLst/>
              <a:rect l="l" t="t" r="r" b="b"/>
              <a:pathLst>
                <a:path w="396240" h="19050">
                  <a:moveTo>
                    <a:pt x="0" y="19050"/>
                  </a:moveTo>
                  <a:lnTo>
                    <a:pt x="395986" y="19050"/>
                  </a:lnTo>
                  <a:lnTo>
                    <a:pt x="395986" y="0"/>
                  </a:lnTo>
                  <a:lnTo>
                    <a:pt x="0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4661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287004" y="4340937"/>
              <a:ext cx="395998" cy="107999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8287004" y="4434205"/>
              <a:ext cx="396240" cy="19050"/>
            </a:xfrm>
            <a:custGeom>
              <a:avLst/>
              <a:gdLst/>
              <a:ahLst/>
              <a:cxnLst/>
              <a:rect l="l" t="t" r="r" b="b"/>
              <a:pathLst>
                <a:path w="396240" h="19050">
                  <a:moveTo>
                    <a:pt x="0" y="19050"/>
                  </a:moveTo>
                  <a:lnTo>
                    <a:pt x="395986" y="19050"/>
                  </a:lnTo>
                  <a:lnTo>
                    <a:pt x="395986" y="0"/>
                  </a:lnTo>
                  <a:lnTo>
                    <a:pt x="0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4661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328154" y="3877564"/>
              <a:ext cx="149098" cy="145161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730744" y="4429760"/>
              <a:ext cx="149098" cy="145160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335901" y="4872609"/>
              <a:ext cx="149098" cy="145034"/>
            </a:xfrm>
            <a:prstGeom prst="rect">
              <a:avLst/>
            </a:prstGeom>
          </p:spPr>
        </p:pic>
      </p:grpSp>
      <p:sp>
        <p:nvSpPr>
          <p:cNvPr id="68" name="object 68"/>
          <p:cNvSpPr txBox="1"/>
          <p:nvPr/>
        </p:nvSpPr>
        <p:spPr>
          <a:xfrm>
            <a:off x="6721688" y="3535097"/>
            <a:ext cx="1397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0" dirty="0">
                <a:latin typeface="Times New Roman"/>
                <a:cs typeface="Times New Roman"/>
              </a:rPr>
              <a:t>3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484474" y="4290748"/>
            <a:ext cx="1397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0" dirty="0">
                <a:latin typeface="Times New Roman"/>
                <a:cs typeface="Times New Roman"/>
              </a:rPr>
              <a:t>4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8012252" y="4196005"/>
            <a:ext cx="1397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0" dirty="0">
                <a:latin typeface="Times New Roman"/>
                <a:cs typeface="Times New Roman"/>
              </a:rPr>
              <a:t>5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711523" y="4411596"/>
            <a:ext cx="443865" cy="106743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905"/>
              </a:spcBef>
            </a:pPr>
            <a:r>
              <a:rPr sz="1900" spc="-50" dirty="0">
                <a:latin typeface="Cambria Math"/>
                <a:cs typeface="Cambria Math"/>
              </a:rPr>
              <a:t>D</a:t>
            </a:r>
            <a:endParaRPr sz="1900">
              <a:latin typeface="Cambria Math"/>
              <a:cs typeface="Cambria Math"/>
            </a:endParaRPr>
          </a:p>
          <a:p>
            <a:pPr marL="12700">
              <a:lnSpc>
                <a:spcPts val="2115"/>
              </a:lnSpc>
              <a:spcBef>
                <a:spcPts val="765"/>
              </a:spcBef>
            </a:pPr>
            <a:r>
              <a:rPr sz="1800" spc="-50" dirty="0">
                <a:latin typeface="Times New Roman"/>
                <a:cs typeface="Times New Roman"/>
              </a:rPr>
              <a:t>6</a:t>
            </a:r>
            <a:endParaRPr sz="1800">
              <a:latin typeface="Times New Roman"/>
              <a:cs typeface="Times New Roman"/>
            </a:endParaRPr>
          </a:p>
          <a:p>
            <a:pPr marL="205104">
              <a:lnSpc>
                <a:spcPts val="2235"/>
              </a:lnSpc>
            </a:pPr>
            <a:r>
              <a:rPr sz="1900" spc="-50" dirty="0">
                <a:latin typeface="Cambria Math"/>
                <a:cs typeface="Cambria Math"/>
              </a:rPr>
              <a:t>O</a:t>
            </a:r>
            <a:endParaRPr sz="1900">
              <a:latin typeface="Cambria Math"/>
              <a:cs typeface="Cambria Math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5348732" y="3708272"/>
            <a:ext cx="849630" cy="2142490"/>
            <a:chOff x="5348732" y="3708272"/>
            <a:chExt cx="849630" cy="2142490"/>
          </a:xfrm>
        </p:grpSpPr>
        <p:pic>
          <p:nvPicPr>
            <p:cNvPr id="73" name="object 7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774563" y="4686807"/>
              <a:ext cx="97409" cy="97409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5411470" y="4431029"/>
              <a:ext cx="703580" cy="1079500"/>
            </a:xfrm>
            <a:custGeom>
              <a:avLst/>
              <a:gdLst/>
              <a:ahLst/>
              <a:cxnLst/>
              <a:rect l="l" t="t" r="r" b="b"/>
              <a:pathLst>
                <a:path w="703579" h="1079500">
                  <a:moveTo>
                    <a:pt x="703579" y="0"/>
                  </a:moveTo>
                  <a:lnTo>
                    <a:pt x="0" y="716026"/>
                  </a:lnTo>
                </a:path>
                <a:path w="703579" h="1079500">
                  <a:moveTo>
                    <a:pt x="398906" y="1078992"/>
                  </a:moveTo>
                  <a:lnTo>
                    <a:pt x="0" y="718693"/>
                  </a:lnTo>
                </a:path>
              </a:pathLst>
            </a:custGeom>
            <a:ln w="2540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5814060" y="3779519"/>
              <a:ext cx="300990" cy="651510"/>
            </a:xfrm>
            <a:custGeom>
              <a:avLst/>
              <a:gdLst/>
              <a:ahLst/>
              <a:cxnLst/>
              <a:rect l="l" t="t" r="r" b="b"/>
              <a:pathLst>
                <a:path w="300989" h="651510">
                  <a:moveTo>
                    <a:pt x="243839" y="0"/>
                  </a:moveTo>
                  <a:lnTo>
                    <a:pt x="0" y="388619"/>
                  </a:lnTo>
                  <a:lnTo>
                    <a:pt x="300989" y="651509"/>
                  </a:lnTo>
                  <a:lnTo>
                    <a:pt x="243839" y="0"/>
                  </a:lnTo>
                  <a:close/>
                </a:path>
              </a:pathLst>
            </a:custGeom>
            <a:solidFill>
              <a:srgbClr val="F8D7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814060" y="3779519"/>
              <a:ext cx="300990" cy="651510"/>
            </a:xfrm>
            <a:custGeom>
              <a:avLst/>
              <a:gdLst/>
              <a:ahLst/>
              <a:cxnLst/>
              <a:rect l="l" t="t" r="r" b="b"/>
              <a:pathLst>
                <a:path w="300989" h="651510">
                  <a:moveTo>
                    <a:pt x="0" y="388619"/>
                  </a:moveTo>
                  <a:lnTo>
                    <a:pt x="300989" y="651509"/>
                  </a:lnTo>
                  <a:lnTo>
                    <a:pt x="243839" y="0"/>
                  </a:lnTo>
                  <a:lnTo>
                    <a:pt x="0" y="388619"/>
                  </a:lnTo>
                  <a:close/>
                </a:path>
              </a:pathLst>
            </a:custGeom>
            <a:ln w="2540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640959" y="5706833"/>
              <a:ext cx="395998" cy="143624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5656072" y="5466587"/>
              <a:ext cx="354965" cy="236854"/>
            </a:xfrm>
            <a:custGeom>
              <a:avLst/>
              <a:gdLst/>
              <a:ahLst/>
              <a:cxnLst/>
              <a:rect l="l" t="t" r="r" b="b"/>
              <a:pathLst>
                <a:path w="354964" h="236854">
                  <a:moveTo>
                    <a:pt x="354456" y="236461"/>
                  </a:moveTo>
                  <a:lnTo>
                    <a:pt x="177291" y="0"/>
                  </a:lnTo>
                  <a:lnTo>
                    <a:pt x="0" y="236461"/>
                  </a:lnTo>
                  <a:lnTo>
                    <a:pt x="354456" y="236461"/>
                  </a:lnTo>
                  <a:close/>
                </a:path>
              </a:pathLst>
            </a:custGeom>
            <a:ln w="25400">
              <a:solidFill>
                <a:srgbClr val="1674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750179" y="5441695"/>
              <a:ext cx="149098" cy="145160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981700" y="3708272"/>
              <a:ext cx="149098" cy="145033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743194" y="4098289"/>
              <a:ext cx="149225" cy="145161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048883" y="4353051"/>
              <a:ext cx="149097" cy="145034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348732" y="5084698"/>
              <a:ext cx="149225" cy="145033"/>
            </a:xfrm>
            <a:prstGeom prst="rect">
              <a:avLst/>
            </a:prstGeom>
          </p:spPr>
        </p:pic>
      </p:grpSp>
      <p:sp>
        <p:nvSpPr>
          <p:cNvPr id="84" name="object 84"/>
          <p:cNvSpPr txBox="1"/>
          <p:nvPr/>
        </p:nvSpPr>
        <p:spPr>
          <a:xfrm>
            <a:off x="6117832" y="4112940"/>
            <a:ext cx="241300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spc="-50" dirty="0">
                <a:latin typeface="Cambria Math"/>
                <a:cs typeface="Cambria Math"/>
              </a:rPr>
              <a:t>G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080031" y="4924479"/>
            <a:ext cx="567055" cy="830580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90"/>
              </a:spcBef>
            </a:pPr>
            <a:r>
              <a:rPr sz="1900" spc="-65" dirty="0">
                <a:latin typeface="Cambria Math"/>
                <a:cs typeface="Cambria Math"/>
              </a:rPr>
              <a:t>H</a:t>
            </a:r>
            <a:r>
              <a:rPr sz="1900" spc="-165" dirty="0">
                <a:latin typeface="Cambria Math"/>
                <a:cs typeface="Cambria Math"/>
              </a:rPr>
              <a:t> </a:t>
            </a:r>
            <a:r>
              <a:rPr sz="2700" spc="-75" baseline="-38580" dirty="0">
                <a:latin typeface="Times New Roman"/>
                <a:cs typeface="Times New Roman"/>
              </a:rPr>
              <a:t>1</a:t>
            </a:r>
            <a:endParaRPr sz="2700" baseline="-38580">
              <a:latin typeface="Times New Roman"/>
              <a:cs typeface="Times New Roman"/>
            </a:endParaRPr>
          </a:p>
          <a:p>
            <a:pPr marL="297180">
              <a:lnSpc>
                <a:spcPct val="100000"/>
              </a:lnSpc>
              <a:spcBef>
                <a:spcPts val="890"/>
              </a:spcBef>
            </a:pPr>
            <a:r>
              <a:rPr sz="1900" spc="-560" dirty="0">
                <a:latin typeface="Cambria Math"/>
                <a:cs typeface="Cambria Math"/>
              </a:rPr>
              <a:t>O</a:t>
            </a:r>
            <a:r>
              <a:rPr sz="1575" spc="-75" baseline="-23809" dirty="0">
                <a:latin typeface="Times New Roman"/>
                <a:cs typeface="Times New Roman"/>
              </a:rPr>
              <a:t>1</a:t>
            </a:r>
            <a:endParaRPr sz="1575" baseline="-23809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5914754" y="3950134"/>
            <a:ext cx="1397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0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5639773" y="4717819"/>
            <a:ext cx="452120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700" spc="-15" baseline="-26234" dirty="0">
                <a:latin typeface="Times New Roman"/>
                <a:cs typeface="Times New Roman"/>
              </a:rPr>
              <a:t>7</a:t>
            </a:r>
            <a:r>
              <a:rPr sz="2700" spc="-165" baseline="-26234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Cambria Math"/>
                <a:cs typeface="Cambria Math"/>
              </a:rPr>
              <a:t>A</a:t>
            </a:r>
            <a:endParaRPr sz="1900">
              <a:latin typeface="Cambria Math"/>
              <a:cs typeface="Cambria Math"/>
            </a:endParaRPr>
          </a:p>
        </p:txBody>
      </p:sp>
      <p:grpSp>
        <p:nvGrpSpPr>
          <p:cNvPr id="88" name="object 88"/>
          <p:cNvGrpSpPr/>
          <p:nvPr/>
        </p:nvGrpSpPr>
        <p:grpSpPr>
          <a:xfrm>
            <a:off x="4349622" y="4538345"/>
            <a:ext cx="512445" cy="228600"/>
            <a:chOff x="4349622" y="4538345"/>
            <a:chExt cx="512445" cy="228600"/>
          </a:xfrm>
        </p:grpSpPr>
        <p:sp>
          <p:nvSpPr>
            <p:cNvPr id="89" name="object 89"/>
            <p:cNvSpPr/>
            <p:nvPr/>
          </p:nvSpPr>
          <p:spPr>
            <a:xfrm>
              <a:off x="4355972" y="4544695"/>
              <a:ext cx="499745" cy="215900"/>
            </a:xfrm>
            <a:custGeom>
              <a:avLst/>
              <a:gdLst/>
              <a:ahLst/>
              <a:cxnLst/>
              <a:rect l="l" t="t" r="r" b="b"/>
              <a:pathLst>
                <a:path w="499745" h="215900">
                  <a:moveTo>
                    <a:pt x="391667" y="0"/>
                  </a:moveTo>
                  <a:lnTo>
                    <a:pt x="391667" y="53974"/>
                  </a:lnTo>
                  <a:lnTo>
                    <a:pt x="0" y="53974"/>
                  </a:lnTo>
                  <a:lnTo>
                    <a:pt x="0" y="161924"/>
                  </a:lnTo>
                  <a:lnTo>
                    <a:pt x="391667" y="161924"/>
                  </a:lnTo>
                  <a:lnTo>
                    <a:pt x="391667" y="215899"/>
                  </a:lnTo>
                  <a:lnTo>
                    <a:pt x="499617" y="107949"/>
                  </a:lnTo>
                  <a:lnTo>
                    <a:pt x="391667" y="0"/>
                  </a:lnTo>
                  <a:close/>
                </a:path>
              </a:pathLst>
            </a:custGeom>
            <a:solidFill>
              <a:srgbClr val="1D9A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4355972" y="4544695"/>
              <a:ext cx="499745" cy="215900"/>
            </a:xfrm>
            <a:custGeom>
              <a:avLst/>
              <a:gdLst/>
              <a:ahLst/>
              <a:cxnLst/>
              <a:rect l="l" t="t" r="r" b="b"/>
              <a:pathLst>
                <a:path w="499745" h="215900">
                  <a:moveTo>
                    <a:pt x="0" y="53974"/>
                  </a:moveTo>
                  <a:lnTo>
                    <a:pt x="391667" y="53974"/>
                  </a:lnTo>
                  <a:lnTo>
                    <a:pt x="391667" y="0"/>
                  </a:lnTo>
                  <a:lnTo>
                    <a:pt x="499617" y="107949"/>
                  </a:lnTo>
                  <a:lnTo>
                    <a:pt x="391667" y="215899"/>
                  </a:lnTo>
                  <a:lnTo>
                    <a:pt x="391667" y="161924"/>
                  </a:lnTo>
                  <a:lnTo>
                    <a:pt x="0" y="161924"/>
                  </a:lnTo>
                  <a:lnTo>
                    <a:pt x="0" y="53974"/>
                  </a:lnTo>
                  <a:close/>
                </a:path>
              </a:pathLst>
            </a:custGeom>
            <a:ln w="12700">
              <a:solidFill>
                <a:srgbClr val="126F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44192" y="118110"/>
            <a:ext cx="60553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40" dirty="0"/>
              <a:t> </a:t>
            </a:r>
            <a:r>
              <a:rPr dirty="0"/>
              <a:t>1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TÍCH</a:t>
            </a:r>
            <a:r>
              <a:rPr spc="-60" dirty="0"/>
              <a:t> </a:t>
            </a:r>
            <a:r>
              <a:rPr dirty="0"/>
              <a:t>CẤU</a:t>
            </a:r>
            <a:r>
              <a:rPr spc="-70" dirty="0"/>
              <a:t> </a:t>
            </a:r>
            <a:r>
              <a:rPr dirty="0"/>
              <a:t>TRÚC</a:t>
            </a:r>
            <a:r>
              <a:rPr spc="-55" dirty="0"/>
              <a:t> </a:t>
            </a:r>
            <a:r>
              <a:rPr dirty="0"/>
              <a:t>CƠ</a:t>
            </a:r>
            <a:r>
              <a:rPr spc="-50" dirty="0"/>
              <a:t> </a:t>
            </a:r>
            <a:r>
              <a:rPr spc="-25" dirty="0"/>
              <a:t>CẤU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28329" y="120522"/>
            <a:ext cx="297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1.29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30200" y="448436"/>
            <a:ext cx="8695690" cy="342900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455930" lvl="1" indent="-443230">
              <a:lnSpc>
                <a:spcPct val="100000"/>
              </a:lnSpc>
              <a:spcBef>
                <a:spcPts val="1010"/>
              </a:spcBef>
              <a:buAutoNum type="arabicPeriod" startAt="3"/>
              <a:tabLst>
                <a:tab pos="455930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Cơ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cấu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phẳng</a:t>
            </a:r>
            <a:endParaRPr sz="1800">
              <a:latin typeface="Arial"/>
              <a:cs typeface="Arial"/>
            </a:endParaRPr>
          </a:p>
          <a:p>
            <a:pPr marL="645160" lvl="2" indent="-632460">
              <a:lnSpc>
                <a:spcPct val="100000"/>
              </a:lnSpc>
              <a:spcBef>
                <a:spcPts val="915"/>
              </a:spcBef>
              <a:buAutoNum type="arabicPeriod" startAt="3"/>
              <a:tabLst>
                <a:tab pos="645160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Phân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tích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cấu 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trúc</a:t>
            </a:r>
            <a:endParaRPr sz="1800">
              <a:latin typeface="Arial"/>
              <a:cs typeface="Arial"/>
            </a:endParaRPr>
          </a:p>
          <a:p>
            <a:pPr marL="298450" lvl="3" indent="-285750">
              <a:lnSpc>
                <a:spcPct val="100000"/>
              </a:lnSpc>
              <a:spcBef>
                <a:spcPts val="1215"/>
              </a:spcBef>
              <a:buClr>
                <a:srgbClr val="1D9A78"/>
              </a:buClr>
              <a:buFont typeface="Wingdings"/>
              <a:buChar char=""/>
              <a:tabLst>
                <a:tab pos="298450" algn="l"/>
              </a:tabLst>
            </a:pPr>
            <a:r>
              <a:rPr sz="1800" b="1" dirty="0">
                <a:solidFill>
                  <a:srgbClr val="0D4D3B"/>
                </a:solidFill>
                <a:latin typeface="Arial"/>
                <a:cs typeface="Arial"/>
              </a:rPr>
              <a:t>Xếp</a:t>
            </a:r>
            <a:r>
              <a:rPr sz="1800" b="1" spc="-25" dirty="0">
                <a:solidFill>
                  <a:srgbClr val="0D4D3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4D3B"/>
                </a:solidFill>
                <a:latin typeface="Arial"/>
                <a:cs typeface="Arial"/>
              </a:rPr>
              <a:t>hạng</a:t>
            </a:r>
            <a:r>
              <a:rPr sz="1800" b="1" spc="-35" dirty="0">
                <a:solidFill>
                  <a:srgbClr val="0D4D3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4D3B"/>
                </a:solidFill>
                <a:latin typeface="Arial"/>
                <a:cs typeface="Arial"/>
              </a:rPr>
              <a:t>(loại)</a:t>
            </a:r>
            <a:r>
              <a:rPr sz="1800" b="1" spc="-40" dirty="0">
                <a:solidFill>
                  <a:srgbClr val="0D4D3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4D3B"/>
                </a:solidFill>
                <a:latin typeface="Arial"/>
                <a:cs typeface="Arial"/>
              </a:rPr>
              <a:t>cơ</a:t>
            </a:r>
            <a:r>
              <a:rPr sz="1800" b="1" spc="-35" dirty="0">
                <a:solidFill>
                  <a:srgbClr val="0D4D3B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0D4D3B"/>
                </a:solidFill>
                <a:latin typeface="Arial"/>
                <a:cs typeface="Arial"/>
              </a:rPr>
              <a:t>cấu</a:t>
            </a:r>
            <a:endParaRPr sz="1800">
              <a:latin typeface="Arial"/>
              <a:cs typeface="Arial"/>
            </a:endParaRPr>
          </a:p>
          <a:p>
            <a:pPr marL="341630" indent="-285750">
              <a:lnSpc>
                <a:spcPct val="100000"/>
              </a:lnSpc>
              <a:spcBef>
                <a:spcPts val="1290"/>
              </a:spcBef>
              <a:buClr>
                <a:srgbClr val="1D9A78"/>
              </a:buClr>
              <a:buFont typeface="Wingdings"/>
              <a:buChar char=""/>
              <a:tabLst>
                <a:tab pos="341630" algn="l"/>
              </a:tabLst>
            </a:pPr>
            <a:r>
              <a:rPr sz="1800" dirty="0">
                <a:latin typeface="Arial"/>
                <a:cs typeface="Arial"/>
              </a:rPr>
              <a:t>Khâu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dẫn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cơ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hạng </a:t>
            </a:r>
            <a:r>
              <a:rPr sz="1800" spc="-5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  <a:p>
            <a:pPr marL="340995" marR="6985" indent="-285750">
              <a:lnSpc>
                <a:spcPct val="150000"/>
              </a:lnSpc>
              <a:spcBef>
                <a:spcPts val="434"/>
              </a:spcBef>
              <a:buClr>
                <a:srgbClr val="1D9A78"/>
              </a:buClr>
              <a:buFont typeface="Wingdings"/>
              <a:buChar char=""/>
              <a:tabLst>
                <a:tab pos="342265" algn="l"/>
              </a:tabLst>
            </a:pPr>
            <a:r>
              <a:rPr sz="1800" dirty="0">
                <a:latin typeface="Arial"/>
                <a:cs typeface="Arial"/>
              </a:rPr>
              <a:t>Cơ</a:t>
            </a:r>
            <a:r>
              <a:rPr sz="1800" spc="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</a:t>
            </a:r>
            <a:r>
              <a:rPr sz="1800" spc="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chỉ</a:t>
            </a:r>
            <a:r>
              <a:rPr sz="1800" spc="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chứa</a:t>
            </a:r>
            <a:r>
              <a:rPr sz="1800" spc="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một</a:t>
            </a:r>
            <a:r>
              <a:rPr sz="1800" spc="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hạng</a:t>
            </a:r>
            <a:r>
              <a:rPr sz="1800" spc="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nhóm</a:t>
            </a:r>
            <a:r>
              <a:rPr sz="1800" spc="8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At-</a:t>
            </a:r>
            <a:r>
              <a:rPr sz="1800" dirty="0">
                <a:latin typeface="Arial"/>
                <a:cs typeface="Arial"/>
              </a:rPr>
              <a:t>xua</a:t>
            </a:r>
            <a:r>
              <a:rPr sz="1800" spc="8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duy</a:t>
            </a:r>
            <a:r>
              <a:rPr sz="1800" spc="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nhất</a:t>
            </a:r>
            <a:r>
              <a:rPr sz="1800" spc="8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thì</a:t>
            </a:r>
            <a:r>
              <a:rPr sz="1800" spc="8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hạng</a:t>
            </a:r>
            <a:r>
              <a:rPr sz="1800" spc="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cơ</a:t>
            </a:r>
            <a:r>
              <a:rPr sz="1800" spc="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</a:t>
            </a:r>
            <a:r>
              <a:rPr sz="1800" spc="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cùng</a:t>
            </a:r>
            <a:r>
              <a:rPr sz="1800" spc="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với</a:t>
            </a:r>
            <a:r>
              <a:rPr sz="1800" spc="7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hạng 	</a:t>
            </a:r>
            <a:r>
              <a:rPr sz="1800" dirty="0">
                <a:latin typeface="Arial"/>
                <a:cs typeface="Arial"/>
              </a:rPr>
              <a:t>nhóm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At-</a:t>
            </a:r>
            <a:r>
              <a:rPr sz="1800" dirty="0">
                <a:latin typeface="Arial"/>
                <a:cs typeface="Arial"/>
              </a:rPr>
              <a:t>xua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đó.</a:t>
            </a:r>
            <a:endParaRPr sz="1800">
              <a:latin typeface="Arial"/>
              <a:cs typeface="Arial"/>
            </a:endParaRPr>
          </a:p>
          <a:p>
            <a:pPr marL="340995" marR="5080" indent="-285750">
              <a:lnSpc>
                <a:spcPct val="150000"/>
              </a:lnSpc>
              <a:spcBef>
                <a:spcPts val="434"/>
              </a:spcBef>
              <a:buClr>
                <a:srgbClr val="1D9A78"/>
              </a:buClr>
              <a:buFont typeface="Wingdings"/>
              <a:buChar char=""/>
              <a:tabLst>
                <a:tab pos="342265" algn="l"/>
              </a:tabLst>
            </a:pPr>
            <a:r>
              <a:rPr sz="1800" dirty="0">
                <a:latin typeface="Arial"/>
                <a:cs typeface="Arial"/>
              </a:rPr>
              <a:t>Cơ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</a:t>
            </a:r>
            <a:r>
              <a:rPr sz="1800" spc="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chứa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nhiều</a:t>
            </a:r>
            <a:r>
              <a:rPr sz="1800" spc="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hạng</a:t>
            </a:r>
            <a:r>
              <a:rPr sz="1800" spc="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nhóm</a:t>
            </a:r>
            <a:r>
              <a:rPr sz="1800" spc="4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At-</a:t>
            </a:r>
            <a:r>
              <a:rPr sz="1800" dirty="0">
                <a:latin typeface="Arial"/>
                <a:cs typeface="Arial"/>
              </a:rPr>
              <a:t>xua</a:t>
            </a:r>
            <a:r>
              <a:rPr sz="1800" spc="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thì</a:t>
            </a:r>
            <a:r>
              <a:rPr sz="1800" spc="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được</a:t>
            </a:r>
            <a:r>
              <a:rPr sz="1800" spc="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xếp</a:t>
            </a:r>
            <a:r>
              <a:rPr sz="1800" spc="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hạng</a:t>
            </a:r>
            <a:r>
              <a:rPr sz="1800" spc="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theo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hạng</a:t>
            </a:r>
            <a:r>
              <a:rPr sz="1800" spc="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nhóm</a:t>
            </a:r>
            <a:r>
              <a:rPr sz="1800" spc="4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At-</a:t>
            </a:r>
            <a:r>
              <a:rPr sz="1800" spc="-25" dirty="0">
                <a:latin typeface="Arial"/>
                <a:cs typeface="Arial"/>
              </a:rPr>
              <a:t>xua 	</a:t>
            </a:r>
            <a:r>
              <a:rPr sz="1800" dirty="0">
                <a:latin typeface="Arial"/>
                <a:cs typeface="Arial"/>
              </a:rPr>
              <a:t>cao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nhất.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10756" y="4470272"/>
            <a:ext cx="1797050" cy="1068705"/>
            <a:chOff x="410756" y="4470272"/>
            <a:chExt cx="1797050" cy="1068705"/>
          </a:xfrm>
        </p:grpSpPr>
        <p:sp>
          <p:nvSpPr>
            <p:cNvPr id="7" name="object 7"/>
            <p:cNvSpPr/>
            <p:nvPr/>
          </p:nvSpPr>
          <p:spPr>
            <a:xfrm>
              <a:off x="475818" y="4520056"/>
              <a:ext cx="1678939" cy="939800"/>
            </a:xfrm>
            <a:custGeom>
              <a:avLst/>
              <a:gdLst/>
              <a:ahLst/>
              <a:cxnLst/>
              <a:rect l="l" t="t" r="r" b="b"/>
              <a:pathLst>
                <a:path w="1678939" h="939800">
                  <a:moveTo>
                    <a:pt x="1659813" y="0"/>
                  </a:moveTo>
                  <a:lnTo>
                    <a:pt x="0" y="571500"/>
                  </a:lnTo>
                </a:path>
                <a:path w="1678939" h="939800">
                  <a:moveTo>
                    <a:pt x="1678863" y="22225"/>
                  </a:moveTo>
                  <a:lnTo>
                    <a:pt x="1404797" y="939800"/>
                  </a:lnTo>
                </a:path>
              </a:pathLst>
            </a:custGeom>
            <a:ln w="1905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0756" y="5058028"/>
              <a:ext cx="109054" cy="10896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18131" y="5429503"/>
              <a:ext cx="109093" cy="10896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98674" y="4470272"/>
              <a:ext cx="109093" cy="109093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86955" y="6198407"/>
            <a:ext cx="576059" cy="91292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05160" y="5799529"/>
            <a:ext cx="26162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0" dirty="0">
                <a:latin typeface="Symbol"/>
                <a:cs typeface="Symbol"/>
              </a:rPr>
              <a:t></a:t>
            </a:r>
            <a:endParaRPr sz="2100">
              <a:latin typeface="Symbol"/>
              <a:cs typeface="Symbo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36041" y="5824473"/>
            <a:ext cx="1498600" cy="411480"/>
            <a:chOff x="336041" y="5824473"/>
            <a:chExt cx="1498600" cy="411480"/>
          </a:xfrm>
        </p:grpSpPr>
        <p:sp>
          <p:nvSpPr>
            <p:cNvPr id="14" name="object 14"/>
            <p:cNvSpPr/>
            <p:nvPr/>
          </p:nvSpPr>
          <p:spPr>
            <a:xfrm>
              <a:off x="452869" y="5833998"/>
              <a:ext cx="1381760" cy="364490"/>
            </a:xfrm>
            <a:custGeom>
              <a:avLst/>
              <a:gdLst/>
              <a:ahLst/>
              <a:cxnLst/>
              <a:rect l="l" t="t" r="r" b="b"/>
              <a:pathLst>
                <a:path w="1381760" h="364489">
                  <a:moveTo>
                    <a:pt x="104978" y="326301"/>
                  </a:moveTo>
                  <a:lnTo>
                    <a:pt x="0" y="0"/>
                  </a:lnTo>
                </a:path>
                <a:path w="1381760" h="364489">
                  <a:moveTo>
                    <a:pt x="1381264" y="364401"/>
                  </a:moveTo>
                  <a:lnTo>
                    <a:pt x="152412" y="364413"/>
                  </a:lnTo>
                </a:path>
              </a:pathLst>
            </a:custGeom>
            <a:ln w="1905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6186" y="6126784"/>
              <a:ext cx="109042" cy="10904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36041" y="5975007"/>
              <a:ext cx="399415" cy="175895"/>
            </a:xfrm>
            <a:custGeom>
              <a:avLst/>
              <a:gdLst/>
              <a:ahLst/>
              <a:cxnLst/>
              <a:rect l="l" t="t" r="r" b="b"/>
              <a:pathLst>
                <a:path w="399415" h="175895">
                  <a:moveTo>
                    <a:pt x="57708" y="56006"/>
                  </a:moveTo>
                  <a:lnTo>
                    <a:pt x="0" y="175386"/>
                  </a:lnTo>
                  <a:lnTo>
                    <a:pt x="113893" y="107492"/>
                  </a:lnTo>
                  <a:lnTo>
                    <a:pt x="102501" y="97053"/>
                  </a:lnTo>
                  <a:lnTo>
                    <a:pt x="82486" y="97053"/>
                  </a:lnTo>
                  <a:lnTo>
                    <a:pt x="71958" y="85178"/>
                  </a:lnTo>
                  <a:lnTo>
                    <a:pt x="80892" y="77252"/>
                  </a:lnTo>
                  <a:lnTo>
                    <a:pt x="57708" y="56006"/>
                  </a:lnTo>
                  <a:close/>
                </a:path>
                <a:path w="399415" h="175895">
                  <a:moveTo>
                    <a:pt x="80892" y="77252"/>
                  </a:moveTo>
                  <a:lnTo>
                    <a:pt x="71958" y="85178"/>
                  </a:lnTo>
                  <a:lnTo>
                    <a:pt x="82486" y="97053"/>
                  </a:lnTo>
                  <a:lnTo>
                    <a:pt x="92656" y="88031"/>
                  </a:lnTo>
                  <a:lnTo>
                    <a:pt x="80892" y="77252"/>
                  </a:lnTo>
                  <a:close/>
                </a:path>
                <a:path w="399415" h="175895">
                  <a:moveTo>
                    <a:pt x="92656" y="88031"/>
                  </a:moveTo>
                  <a:lnTo>
                    <a:pt x="82486" y="97053"/>
                  </a:lnTo>
                  <a:lnTo>
                    <a:pt x="102501" y="97053"/>
                  </a:lnTo>
                  <a:lnTo>
                    <a:pt x="92656" y="88031"/>
                  </a:lnTo>
                  <a:close/>
                </a:path>
                <a:path w="399415" h="175895">
                  <a:moveTo>
                    <a:pt x="311962" y="0"/>
                  </a:moveTo>
                  <a:lnTo>
                    <a:pt x="294364" y="0"/>
                  </a:lnTo>
                  <a:lnTo>
                    <a:pt x="282765" y="393"/>
                  </a:lnTo>
                  <a:lnTo>
                    <a:pt x="225767" y="8077"/>
                  </a:lnTo>
                  <a:lnTo>
                    <a:pt x="170764" y="24625"/>
                  </a:lnTo>
                  <a:lnTo>
                    <a:pt x="119062" y="49555"/>
                  </a:lnTo>
                  <a:lnTo>
                    <a:pt x="80892" y="77252"/>
                  </a:lnTo>
                  <a:lnTo>
                    <a:pt x="92656" y="88031"/>
                  </a:lnTo>
                  <a:lnTo>
                    <a:pt x="103574" y="78346"/>
                  </a:lnTo>
                  <a:lnTo>
                    <a:pt x="103416" y="78346"/>
                  </a:lnTo>
                  <a:lnTo>
                    <a:pt x="103979" y="77987"/>
                  </a:lnTo>
                  <a:lnTo>
                    <a:pt x="104419" y="77596"/>
                  </a:lnTo>
                  <a:lnTo>
                    <a:pt x="104591" y="77596"/>
                  </a:lnTo>
                  <a:lnTo>
                    <a:pt x="127330" y="63106"/>
                  </a:lnTo>
                  <a:lnTo>
                    <a:pt x="151650" y="50177"/>
                  </a:lnTo>
                  <a:lnTo>
                    <a:pt x="153161" y="49555"/>
                  </a:lnTo>
                  <a:lnTo>
                    <a:pt x="176298" y="39535"/>
                  </a:lnTo>
                  <a:lnTo>
                    <a:pt x="202276" y="30568"/>
                  </a:lnTo>
                  <a:lnTo>
                    <a:pt x="228898" y="23660"/>
                  </a:lnTo>
                  <a:lnTo>
                    <a:pt x="256033" y="18884"/>
                  </a:lnTo>
                  <a:lnTo>
                    <a:pt x="283755" y="16243"/>
                  </a:lnTo>
                  <a:lnTo>
                    <a:pt x="283540" y="16243"/>
                  </a:lnTo>
                  <a:lnTo>
                    <a:pt x="294658" y="15874"/>
                  </a:lnTo>
                  <a:lnTo>
                    <a:pt x="398540" y="15874"/>
                  </a:lnTo>
                  <a:lnTo>
                    <a:pt x="399249" y="13093"/>
                  </a:lnTo>
                  <a:lnTo>
                    <a:pt x="355701" y="3797"/>
                  </a:lnTo>
                  <a:lnTo>
                    <a:pt x="326478" y="673"/>
                  </a:lnTo>
                  <a:lnTo>
                    <a:pt x="311962" y="0"/>
                  </a:lnTo>
                  <a:close/>
                </a:path>
                <a:path w="399415" h="175895">
                  <a:moveTo>
                    <a:pt x="103979" y="77987"/>
                  </a:moveTo>
                  <a:lnTo>
                    <a:pt x="103416" y="78346"/>
                  </a:lnTo>
                  <a:lnTo>
                    <a:pt x="103574" y="78346"/>
                  </a:lnTo>
                  <a:lnTo>
                    <a:pt x="103979" y="77987"/>
                  </a:lnTo>
                  <a:close/>
                </a:path>
                <a:path w="399415" h="175895">
                  <a:moveTo>
                    <a:pt x="104591" y="77596"/>
                  </a:moveTo>
                  <a:lnTo>
                    <a:pt x="104419" y="77596"/>
                  </a:lnTo>
                  <a:lnTo>
                    <a:pt x="103979" y="77987"/>
                  </a:lnTo>
                  <a:lnTo>
                    <a:pt x="104591" y="77596"/>
                  </a:lnTo>
                  <a:close/>
                </a:path>
                <a:path w="399415" h="175895">
                  <a:moveTo>
                    <a:pt x="398540" y="15874"/>
                  </a:moveTo>
                  <a:lnTo>
                    <a:pt x="311651" y="15874"/>
                  </a:lnTo>
                  <a:lnTo>
                    <a:pt x="325577" y="16522"/>
                  </a:lnTo>
                  <a:lnTo>
                    <a:pt x="325406" y="16522"/>
                  </a:lnTo>
                  <a:lnTo>
                    <a:pt x="367478" y="21950"/>
                  </a:lnTo>
                  <a:lnTo>
                    <a:pt x="395325" y="28486"/>
                  </a:lnTo>
                  <a:lnTo>
                    <a:pt x="398375" y="16522"/>
                  </a:lnTo>
                  <a:lnTo>
                    <a:pt x="398446" y="16243"/>
                  </a:lnTo>
                  <a:lnTo>
                    <a:pt x="398540" y="158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2753360" y="4166108"/>
            <a:ext cx="1358900" cy="2078355"/>
            <a:chOff x="2753360" y="4166108"/>
            <a:chExt cx="1358900" cy="2078355"/>
          </a:xfrm>
        </p:grpSpPr>
        <p:sp>
          <p:nvSpPr>
            <p:cNvPr id="18" name="object 18"/>
            <p:cNvSpPr/>
            <p:nvPr/>
          </p:nvSpPr>
          <p:spPr>
            <a:xfrm>
              <a:off x="2809494" y="4223893"/>
              <a:ext cx="1238250" cy="885825"/>
            </a:xfrm>
            <a:custGeom>
              <a:avLst/>
              <a:gdLst/>
              <a:ahLst/>
              <a:cxnLst/>
              <a:rect l="l" t="t" r="r" b="b"/>
              <a:pathLst>
                <a:path w="1238250" h="885825">
                  <a:moveTo>
                    <a:pt x="1026541" y="2412"/>
                  </a:moveTo>
                  <a:lnTo>
                    <a:pt x="1238250" y="250824"/>
                  </a:lnTo>
                </a:path>
                <a:path w="1238250" h="885825">
                  <a:moveTo>
                    <a:pt x="971550" y="0"/>
                  </a:moveTo>
                  <a:lnTo>
                    <a:pt x="0" y="885824"/>
                  </a:lnTo>
                </a:path>
              </a:pathLst>
            </a:custGeom>
            <a:ln w="1905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53360" y="5077968"/>
              <a:ext cx="108965" cy="10909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53993" y="4166108"/>
              <a:ext cx="109093" cy="10909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03294" y="4448937"/>
              <a:ext cx="108965" cy="10909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831719" y="5817057"/>
              <a:ext cx="1259840" cy="360045"/>
            </a:xfrm>
            <a:custGeom>
              <a:avLst/>
              <a:gdLst/>
              <a:ahLst/>
              <a:cxnLst/>
              <a:rect l="l" t="t" r="r" b="b"/>
              <a:pathLst>
                <a:path w="1259839" h="360045">
                  <a:moveTo>
                    <a:pt x="307848" y="71056"/>
                  </a:moveTo>
                  <a:lnTo>
                    <a:pt x="305562" y="55346"/>
                  </a:lnTo>
                  <a:lnTo>
                    <a:pt x="290830" y="57467"/>
                  </a:lnTo>
                  <a:lnTo>
                    <a:pt x="276098" y="60312"/>
                  </a:lnTo>
                  <a:lnTo>
                    <a:pt x="219837" y="77038"/>
                  </a:lnTo>
                  <a:lnTo>
                    <a:pt x="167640" y="102260"/>
                  </a:lnTo>
                  <a:lnTo>
                    <a:pt x="120650" y="135267"/>
                  </a:lnTo>
                  <a:lnTo>
                    <a:pt x="79375" y="175196"/>
                  </a:lnTo>
                  <a:lnTo>
                    <a:pt x="44577" y="221513"/>
                  </a:lnTo>
                  <a:lnTo>
                    <a:pt x="36703" y="237756"/>
                  </a:lnTo>
                  <a:lnTo>
                    <a:pt x="7112" y="227126"/>
                  </a:lnTo>
                  <a:lnTo>
                    <a:pt x="0" y="359524"/>
                  </a:lnTo>
                  <a:lnTo>
                    <a:pt x="77000" y="255384"/>
                  </a:lnTo>
                  <a:lnTo>
                    <a:pt x="78867" y="252869"/>
                  </a:lnTo>
                  <a:lnTo>
                    <a:pt x="51727" y="243141"/>
                  </a:lnTo>
                  <a:lnTo>
                    <a:pt x="58547" y="228942"/>
                  </a:lnTo>
                  <a:lnTo>
                    <a:pt x="59918" y="227126"/>
                  </a:lnTo>
                  <a:lnTo>
                    <a:pt x="74041" y="206794"/>
                  </a:lnTo>
                  <a:lnTo>
                    <a:pt x="110439" y="165595"/>
                  </a:lnTo>
                  <a:lnTo>
                    <a:pt x="152908" y="130670"/>
                  </a:lnTo>
                  <a:lnTo>
                    <a:pt x="200355" y="102806"/>
                  </a:lnTo>
                  <a:lnTo>
                    <a:pt x="251790" y="82804"/>
                  </a:lnTo>
                  <a:lnTo>
                    <a:pt x="293408" y="73152"/>
                  </a:lnTo>
                  <a:lnTo>
                    <a:pt x="307848" y="71056"/>
                  </a:lnTo>
                  <a:close/>
                </a:path>
                <a:path w="1259839" h="360045">
                  <a:moveTo>
                    <a:pt x="1259459" y="179552"/>
                  </a:moveTo>
                  <a:lnTo>
                    <a:pt x="1221105" y="134620"/>
                  </a:lnTo>
                  <a:lnTo>
                    <a:pt x="1176401" y="97116"/>
                  </a:lnTo>
                  <a:lnTo>
                    <a:pt x="1132471" y="70358"/>
                  </a:lnTo>
                  <a:lnTo>
                    <a:pt x="1127125" y="67411"/>
                  </a:lnTo>
                  <a:lnTo>
                    <a:pt x="1073797" y="46113"/>
                  </a:lnTo>
                  <a:lnTo>
                    <a:pt x="1017778" y="33248"/>
                  </a:lnTo>
                  <a:lnTo>
                    <a:pt x="988695" y="30187"/>
                  </a:lnTo>
                  <a:lnTo>
                    <a:pt x="970699" y="31089"/>
                  </a:lnTo>
                  <a:lnTo>
                    <a:pt x="965835" y="0"/>
                  </a:lnTo>
                  <a:lnTo>
                    <a:pt x="846201" y="57200"/>
                  </a:lnTo>
                  <a:lnTo>
                    <a:pt x="977646" y="75285"/>
                  </a:lnTo>
                  <a:lnTo>
                    <a:pt x="973289" y="47523"/>
                  </a:lnTo>
                  <a:lnTo>
                    <a:pt x="973175" y="46863"/>
                  </a:lnTo>
                  <a:lnTo>
                    <a:pt x="972540" y="42849"/>
                  </a:lnTo>
                  <a:lnTo>
                    <a:pt x="973061" y="46113"/>
                  </a:lnTo>
                  <a:lnTo>
                    <a:pt x="973175" y="46863"/>
                  </a:lnTo>
                  <a:lnTo>
                    <a:pt x="988199" y="46113"/>
                  </a:lnTo>
                  <a:lnTo>
                    <a:pt x="1015746" y="48996"/>
                  </a:lnTo>
                  <a:lnTo>
                    <a:pt x="1015580" y="48996"/>
                  </a:lnTo>
                  <a:lnTo>
                    <a:pt x="1042670" y="54140"/>
                  </a:lnTo>
                  <a:lnTo>
                    <a:pt x="1095146" y="70599"/>
                  </a:lnTo>
                  <a:lnTo>
                    <a:pt x="1144384" y="95021"/>
                  </a:lnTo>
                  <a:lnTo>
                    <a:pt x="1188974" y="126784"/>
                  </a:lnTo>
                  <a:lnTo>
                    <a:pt x="1229271" y="166852"/>
                  </a:lnTo>
                  <a:lnTo>
                    <a:pt x="1246886" y="189357"/>
                  </a:lnTo>
                  <a:lnTo>
                    <a:pt x="1259459" y="17955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93161" y="6152865"/>
              <a:ext cx="576059" cy="9129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810383" y="5134483"/>
              <a:ext cx="1260475" cy="1020444"/>
            </a:xfrm>
            <a:custGeom>
              <a:avLst/>
              <a:gdLst/>
              <a:ahLst/>
              <a:cxnLst/>
              <a:rect l="l" t="t" r="r" b="b"/>
              <a:pathLst>
                <a:path w="1260475" h="1020445">
                  <a:moveTo>
                    <a:pt x="985774" y="1020406"/>
                  </a:moveTo>
                  <a:lnTo>
                    <a:pt x="322453" y="1020406"/>
                  </a:lnTo>
                </a:path>
                <a:path w="1260475" h="1020445">
                  <a:moveTo>
                    <a:pt x="0" y="633387"/>
                  </a:moveTo>
                  <a:lnTo>
                    <a:pt x="285496" y="1006068"/>
                  </a:lnTo>
                </a:path>
                <a:path w="1260475" h="1020445">
                  <a:moveTo>
                    <a:pt x="1260347" y="0"/>
                  </a:moveTo>
                  <a:lnTo>
                    <a:pt x="1030224" y="996911"/>
                  </a:lnTo>
                </a:path>
              </a:pathLst>
            </a:custGeom>
            <a:ln w="1905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55620" y="6086030"/>
              <a:ext cx="109093" cy="10904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764661" y="6090424"/>
              <a:ext cx="108965" cy="109054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2732619" y="6083695"/>
            <a:ext cx="99060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spc="-50" dirty="0">
                <a:latin typeface="Times New Roman"/>
                <a:cs typeface="Times New Roman"/>
              </a:rPr>
              <a:t>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586275" y="5897748"/>
            <a:ext cx="26098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0" dirty="0">
                <a:latin typeface="Symbol"/>
                <a:cs typeface="Symbol"/>
              </a:rPr>
              <a:t>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408583" y="5661189"/>
            <a:ext cx="31242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100" spc="-350" dirty="0">
                <a:latin typeface="Symbol"/>
                <a:cs typeface="Symbol"/>
              </a:rPr>
              <a:t></a:t>
            </a:r>
            <a:r>
              <a:rPr sz="1725" spc="-525" baseline="-24154" dirty="0">
                <a:latin typeface="Times New Roman"/>
                <a:cs typeface="Times New Roman"/>
              </a:rPr>
              <a:t>2</a:t>
            </a:r>
            <a:endParaRPr sz="1725" baseline="-24154">
              <a:latin typeface="Times New Roman"/>
              <a:cs typeface="Times New Roman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940552" y="4043298"/>
            <a:ext cx="2503170" cy="2145665"/>
            <a:chOff x="5940552" y="4043298"/>
            <a:chExt cx="2503170" cy="2145665"/>
          </a:xfrm>
        </p:grpSpPr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748399" y="6098570"/>
              <a:ext cx="324002" cy="8999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576187" y="4091431"/>
              <a:ext cx="670560" cy="1379220"/>
            </a:xfrm>
            <a:custGeom>
              <a:avLst/>
              <a:gdLst/>
              <a:ahLst/>
              <a:cxnLst/>
              <a:rect l="l" t="t" r="r" b="b"/>
              <a:pathLst>
                <a:path w="670559" h="1379220">
                  <a:moveTo>
                    <a:pt x="670560" y="0"/>
                  </a:moveTo>
                  <a:lnTo>
                    <a:pt x="0" y="1379220"/>
                  </a:lnTo>
                  <a:lnTo>
                    <a:pt x="480060" y="1150620"/>
                  </a:lnTo>
                  <a:lnTo>
                    <a:pt x="670560" y="0"/>
                  </a:lnTo>
                  <a:close/>
                </a:path>
              </a:pathLst>
            </a:custGeom>
            <a:solidFill>
              <a:srgbClr val="E98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999607" y="4091431"/>
              <a:ext cx="2444115" cy="1809750"/>
            </a:xfrm>
            <a:custGeom>
              <a:avLst/>
              <a:gdLst/>
              <a:ahLst/>
              <a:cxnLst/>
              <a:rect l="l" t="t" r="r" b="b"/>
              <a:pathLst>
                <a:path w="2444115" h="1809750">
                  <a:moveTo>
                    <a:pt x="576579" y="1379220"/>
                  </a:moveTo>
                  <a:lnTo>
                    <a:pt x="1247139" y="0"/>
                  </a:lnTo>
                  <a:lnTo>
                    <a:pt x="1056639" y="1150620"/>
                  </a:lnTo>
                  <a:lnTo>
                    <a:pt x="576579" y="1379220"/>
                  </a:lnTo>
                  <a:close/>
                </a:path>
                <a:path w="2444115" h="1809750">
                  <a:moveTo>
                    <a:pt x="0" y="273812"/>
                  </a:moveTo>
                  <a:lnTo>
                    <a:pt x="1247139" y="0"/>
                  </a:lnTo>
                </a:path>
                <a:path w="2444115" h="1809750">
                  <a:moveTo>
                    <a:pt x="1056639" y="1139952"/>
                  </a:moveTo>
                  <a:lnTo>
                    <a:pt x="2443734" y="1139952"/>
                  </a:lnTo>
                </a:path>
                <a:path w="2444115" h="1809750">
                  <a:moveTo>
                    <a:pt x="576579" y="1379220"/>
                  </a:moveTo>
                  <a:lnTo>
                    <a:pt x="911860" y="1809305"/>
                  </a:lnTo>
                </a:path>
              </a:pathLst>
            </a:custGeom>
            <a:ln w="1905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646924" y="5291543"/>
              <a:ext cx="425475" cy="201079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7646924" y="5291543"/>
              <a:ext cx="426084" cy="201295"/>
            </a:xfrm>
            <a:custGeom>
              <a:avLst/>
              <a:gdLst/>
              <a:ahLst/>
              <a:cxnLst/>
              <a:rect l="l" t="t" r="r" b="b"/>
              <a:pathLst>
                <a:path w="426084" h="201295">
                  <a:moveTo>
                    <a:pt x="0" y="201079"/>
                  </a:moveTo>
                  <a:lnTo>
                    <a:pt x="425475" y="201079"/>
                  </a:lnTo>
                  <a:lnTo>
                    <a:pt x="425475" y="0"/>
                  </a:lnTo>
                  <a:lnTo>
                    <a:pt x="0" y="0"/>
                  </a:lnTo>
                  <a:lnTo>
                    <a:pt x="0" y="201079"/>
                  </a:lnTo>
                  <a:close/>
                </a:path>
              </a:pathLst>
            </a:custGeom>
            <a:ln w="1905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646924" y="4985219"/>
              <a:ext cx="425475" cy="201079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7646924" y="4985219"/>
              <a:ext cx="426084" cy="201295"/>
            </a:xfrm>
            <a:custGeom>
              <a:avLst/>
              <a:gdLst/>
              <a:ahLst/>
              <a:cxnLst/>
              <a:rect l="l" t="t" r="r" b="b"/>
              <a:pathLst>
                <a:path w="426084" h="201295">
                  <a:moveTo>
                    <a:pt x="0" y="201079"/>
                  </a:moveTo>
                  <a:lnTo>
                    <a:pt x="425475" y="201079"/>
                  </a:lnTo>
                  <a:lnTo>
                    <a:pt x="425475" y="0"/>
                  </a:lnTo>
                  <a:lnTo>
                    <a:pt x="0" y="0"/>
                  </a:lnTo>
                  <a:lnTo>
                    <a:pt x="0" y="201079"/>
                  </a:lnTo>
                  <a:close/>
                </a:path>
              </a:pathLst>
            </a:custGeom>
            <a:ln w="1905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763639" y="5904877"/>
              <a:ext cx="295910" cy="174625"/>
            </a:xfrm>
            <a:custGeom>
              <a:avLst/>
              <a:gdLst/>
              <a:ahLst/>
              <a:cxnLst/>
              <a:rect l="l" t="t" r="r" b="b"/>
              <a:pathLst>
                <a:path w="295909" h="174625">
                  <a:moveTo>
                    <a:pt x="147827" y="0"/>
                  </a:moveTo>
                  <a:lnTo>
                    <a:pt x="0" y="174294"/>
                  </a:lnTo>
                  <a:lnTo>
                    <a:pt x="295528" y="174294"/>
                  </a:lnTo>
                  <a:lnTo>
                    <a:pt x="147827" y="0"/>
                  </a:lnTo>
                  <a:close/>
                </a:path>
              </a:pathLst>
            </a:custGeom>
            <a:solidFill>
              <a:srgbClr val="F8D7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763639" y="5904877"/>
              <a:ext cx="295910" cy="174625"/>
            </a:xfrm>
            <a:custGeom>
              <a:avLst/>
              <a:gdLst/>
              <a:ahLst/>
              <a:cxnLst/>
              <a:rect l="l" t="t" r="r" b="b"/>
              <a:pathLst>
                <a:path w="295909" h="174625">
                  <a:moveTo>
                    <a:pt x="0" y="174294"/>
                  </a:moveTo>
                  <a:lnTo>
                    <a:pt x="147827" y="0"/>
                  </a:lnTo>
                  <a:lnTo>
                    <a:pt x="295528" y="174294"/>
                  </a:lnTo>
                  <a:lnTo>
                    <a:pt x="0" y="174294"/>
                  </a:lnTo>
                  <a:close/>
                </a:path>
              </a:pathLst>
            </a:custGeom>
            <a:ln w="19050">
              <a:solidFill>
                <a:srgbClr val="126F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940552" y="4319269"/>
              <a:ext cx="109093" cy="109093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186422" y="4043298"/>
              <a:ext cx="109093" cy="109093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020687" y="5179948"/>
              <a:ext cx="109093" cy="108965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529197" y="5430265"/>
              <a:ext cx="109093" cy="109093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855968" y="5863412"/>
              <a:ext cx="108965" cy="109054"/>
            </a:xfrm>
            <a:prstGeom prst="rect">
              <a:avLst/>
            </a:prstGeom>
          </p:spPr>
        </p:pic>
      </p:grpSp>
      <p:grpSp>
        <p:nvGrpSpPr>
          <p:cNvPr id="45" name="object 45"/>
          <p:cNvGrpSpPr/>
          <p:nvPr/>
        </p:nvGrpSpPr>
        <p:grpSpPr>
          <a:xfrm>
            <a:off x="5220715" y="4657344"/>
            <a:ext cx="434975" cy="822325"/>
            <a:chOff x="5220715" y="4657344"/>
            <a:chExt cx="434975" cy="822325"/>
          </a:xfrm>
        </p:grpSpPr>
        <p:sp>
          <p:nvSpPr>
            <p:cNvPr id="46" name="object 46"/>
            <p:cNvSpPr/>
            <p:nvPr/>
          </p:nvSpPr>
          <p:spPr>
            <a:xfrm>
              <a:off x="5394832" y="4666869"/>
              <a:ext cx="237490" cy="511175"/>
            </a:xfrm>
            <a:custGeom>
              <a:avLst/>
              <a:gdLst/>
              <a:ahLst/>
              <a:cxnLst/>
              <a:rect l="l" t="t" r="r" b="b"/>
              <a:pathLst>
                <a:path w="237489" h="511175">
                  <a:moveTo>
                    <a:pt x="0" y="510666"/>
                  </a:moveTo>
                  <a:lnTo>
                    <a:pt x="236981" y="0"/>
                  </a:lnTo>
                </a:path>
              </a:pathLst>
            </a:custGeom>
            <a:ln w="1905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220715" y="5389542"/>
              <a:ext cx="324002" cy="89999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5235955" y="5195824"/>
              <a:ext cx="295910" cy="174625"/>
            </a:xfrm>
            <a:custGeom>
              <a:avLst/>
              <a:gdLst/>
              <a:ahLst/>
              <a:cxnLst/>
              <a:rect l="l" t="t" r="r" b="b"/>
              <a:pathLst>
                <a:path w="295910" h="174625">
                  <a:moveTo>
                    <a:pt x="147828" y="0"/>
                  </a:moveTo>
                  <a:lnTo>
                    <a:pt x="0" y="174244"/>
                  </a:lnTo>
                  <a:lnTo>
                    <a:pt x="295529" y="174244"/>
                  </a:lnTo>
                  <a:lnTo>
                    <a:pt x="147828" y="0"/>
                  </a:lnTo>
                  <a:close/>
                </a:path>
              </a:pathLst>
            </a:custGeom>
            <a:solidFill>
              <a:srgbClr val="F8D7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235955" y="5195824"/>
              <a:ext cx="295910" cy="174625"/>
            </a:xfrm>
            <a:custGeom>
              <a:avLst/>
              <a:gdLst/>
              <a:ahLst/>
              <a:cxnLst/>
              <a:rect l="l" t="t" r="r" b="b"/>
              <a:pathLst>
                <a:path w="295910" h="174625">
                  <a:moveTo>
                    <a:pt x="0" y="174244"/>
                  </a:moveTo>
                  <a:lnTo>
                    <a:pt x="147828" y="0"/>
                  </a:lnTo>
                  <a:lnTo>
                    <a:pt x="295529" y="174244"/>
                  </a:lnTo>
                  <a:lnTo>
                    <a:pt x="0" y="174244"/>
                  </a:lnTo>
                  <a:close/>
                </a:path>
              </a:pathLst>
            </a:custGeom>
            <a:ln w="19050">
              <a:solidFill>
                <a:srgbClr val="126F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340349" y="5141213"/>
              <a:ext cx="108965" cy="109093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5242178" y="4910582"/>
              <a:ext cx="413384" cy="189865"/>
            </a:xfrm>
            <a:custGeom>
              <a:avLst/>
              <a:gdLst/>
              <a:ahLst/>
              <a:cxnLst/>
              <a:rect l="l" t="t" r="r" b="b"/>
              <a:pathLst>
                <a:path w="413385" h="189864">
                  <a:moveTo>
                    <a:pt x="227708" y="46018"/>
                  </a:moveTo>
                  <a:lnTo>
                    <a:pt x="141766" y="46018"/>
                  </a:lnTo>
                  <a:lnTo>
                    <a:pt x="170184" y="49070"/>
                  </a:lnTo>
                  <a:lnTo>
                    <a:pt x="169869" y="49070"/>
                  </a:lnTo>
                  <a:lnTo>
                    <a:pt x="196596" y="53975"/>
                  </a:lnTo>
                  <a:lnTo>
                    <a:pt x="196429" y="53975"/>
                  </a:lnTo>
                  <a:lnTo>
                    <a:pt x="222515" y="61044"/>
                  </a:lnTo>
                  <a:lnTo>
                    <a:pt x="223107" y="61301"/>
                  </a:lnTo>
                  <a:lnTo>
                    <a:pt x="248206" y="70231"/>
                  </a:lnTo>
                  <a:lnTo>
                    <a:pt x="248849" y="70485"/>
                  </a:lnTo>
                  <a:lnTo>
                    <a:pt x="297334" y="94594"/>
                  </a:lnTo>
                  <a:lnTo>
                    <a:pt x="342661" y="126746"/>
                  </a:lnTo>
                  <a:lnTo>
                    <a:pt x="363287" y="145624"/>
                  </a:lnTo>
                  <a:lnTo>
                    <a:pt x="363838" y="146037"/>
                  </a:lnTo>
                  <a:lnTo>
                    <a:pt x="363692" y="146037"/>
                  </a:lnTo>
                  <a:lnTo>
                    <a:pt x="382315" y="166105"/>
                  </a:lnTo>
                  <a:lnTo>
                    <a:pt x="400685" y="189357"/>
                  </a:lnTo>
                  <a:lnTo>
                    <a:pt x="413131" y="179578"/>
                  </a:lnTo>
                  <a:lnTo>
                    <a:pt x="394843" y="156337"/>
                  </a:lnTo>
                  <a:lnTo>
                    <a:pt x="385326" y="146037"/>
                  </a:lnTo>
                  <a:lnTo>
                    <a:pt x="363838" y="146037"/>
                  </a:lnTo>
                  <a:lnTo>
                    <a:pt x="363387" y="145624"/>
                  </a:lnTo>
                  <a:lnTo>
                    <a:pt x="384944" y="145624"/>
                  </a:lnTo>
                  <a:lnTo>
                    <a:pt x="374776" y="134620"/>
                  </a:lnTo>
                  <a:lnTo>
                    <a:pt x="330200" y="97028"/>
                  </a:lnTo>
                  <a:lnTo>
                    <a:pt x="280797" y="67437"/>
                  </a:lnTo>
                  <a:lnTo>
                    <a:pt x="254508" y="55626"/>
                  </a:lnTo>
                  <a:lnTo>
                    <a:pt x="227708" y="46018"/>
                  </a:lnTo>
                  <a:close/>
                </a:path>
                <a:path w="413385" h="189864">
                  <a:moveTo>
                    <a:pt x="119634" y="0"/>
                  </a:moveTo>
                  <a:lnTo>
                    <a:pt x="0" y="57150"/>
                  </a:lnTo>
                  <a:lnTo>
                    <a:pt x="131318" y="75184"/>
                  </a:lnTo>
                  <a:lnTo>
                    <a:pt x="127015" y="47498"/>
                  </a:lnTo>
                  <a:lnTo>
                    <a:pt x="113284" y="47498"/>
                  </a:lnTo>
                  <a:lnTo>
                    <a:pt x="112601" y="33274"/>
                  </a:lnTo>
                  <a:lnTo>
                    <a:pt x="112522" y="31623"/>
                  </a:lnTo>
                  <a:lnTo>
                    <a:pt x="124454" y="31016"/>
                  </a:lnTo>
                  <a:lnTo>
                    <a:pt x="119634" y="0"/>
                  </a:lnTo>
                  <a:close/>
                </a:path>
                <a:path w="413385" h="189864">
                  <a:moveTo>
                    <a:pt x="221971" y="60897"/>
                  </a:moveTo>
                  <a:lnTo>
                    <a:pt x="223107" y="61301"/>
                  </a:lnTo>
                  <a:lnTo>
                    <a:pt x="222515" y="61044"/>
                  </a:lnTo>
                  <a:lnTo>
                    <a:pt x="221971" y="60897"/>
                  </a:lnTo>
                  <a:close/>
                </a:path>
                <a:path w="413385" h="189864">
                  <a:moveTo>
                    <a:pt x="124454" y="31016"/>
                  </a:moveTo>
                  <a:lnTo>
                    <a:pt x="112522" y="31623"/>
                  </a:lnTo>
                  <a:lnTo>
                    <a:pt x="113212" y="46018"/>
                  </a:lnTo>
                  <a:lnTo>
                    <a:pt x="113284" y="47498"/>
                  </a:lnTo>
                  <a:lnTo>
                    <a:pt x="126905" y="46790"/>
                  </a:lnTo>
                  <a:lnTo>
                    <a:pt x="124548" y="31623"/>
                  </a:lnTo>
                  <a:lnTo>
                    <a:pt x="124454" y="31016"/>
                  </a:lnTo>
                  <a:close/>
                </a:path>
                <a:path w="413385" h="189864">
                  <a:moveTo>
                    <a:pt x="126905" y="46790"/>
                  </a:moveTo>
                  <a:lnTo>
                    <a:pt x="113284" y="47498"/>
                  </a:lnTo>
                  <a:lnTo>
                    <a:pt x="127015" y="47498"/>
                  </a:lnTo>
                  <a:lnTo>
                    <a:pt x="126905" y="46790"/>
                  </a:lnTo>
                  <a:close/>
                </a:path>
                <a:path w="413385" h="189864">
                  <a:moveTo>
                    <a:pt x="142494" y="30099"/>
                  </a:moveTo>
                  <a:lnTo>
                    <a:pt x="124454" y="31016"/>
                  </a:lnTo>
                  <a:lnTo>
                    <a:pt x="126785" y="46018"/>
                  </a:lnTo>
                  <a:lnTo>
                    <a:pt x="126905" y="46790"/>
                  </a:lnTo>
                  <a:lnTo>
                    <a:pt x="141761" y="46018"/>
                  </a:lnTo>
                  <a:lnTo>
                    <a:pt x="227749" y="46018"/>
                  </a:lnTo>
                  <a:lnTo>
                    <a:pt x="199771" y="38481"/>
                  </a:lnTo>
                  <a:lnTo>
                    <a:pt x="171450" y="33274"/>
                  </a:lnTo>
                  <a:lnTo>
                    <a:pt x="142494" y="300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4989496" y="4769835"/>
            <a:ext cx="29591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100" spc="-409" dirty="0">
                <a:latin typeface="Symbol"/>
                <a:cs typeface="Symbol"/>
              </a:rPr>
              <a:t></a:t>
            </a:r>
            <a:r>
              <a:rPr sz="1725" spc="-615" baseline="-24154" dirty="0">
                <a:latin typeface="Times New Roman"/>
                <a:cs typeface="Times New Roman"/>
              </a:rPr>
              <a:t>1</a:t>
            </a:r>
            <a:endParaRPr sz="1725" baseline="-24154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53948" y="6424980"/>
            <a:ext cx="1534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Cơ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hạng </a:t>
            </a:r>
            <a:r>
              <a:rPr sz="1800" spc="-50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607691" y="6424980"/>
            <a:ext cx="1534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Cơ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hạng </a:t>
            </a:r>
            <a:r>
              <a:rPr sz="1800" spc="-50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957696" y="6424980"/>
            <a:ext cx="1533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Cơ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hạng </a:t>
            </a:r>
            <a:r>
              <a:rPr sz="1800" spc="-50" dirty="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17728" y="120522"/>
            <a:ext cx="314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NHH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44192" y="118110"/>
            <a:ext cx="60553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40" dirty="0"/>
              <a:t> </a:t>
            </a:r>
            <a:r>
              <a:rPr dirty="0"/>
              <a:t>1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TÍCH</a:t>
            </a:r>
            <a:r>
              <a:rPr spc="-60" dirty="0"/>
              <a:t> </a:t>
            </a:r>
            <a:r>
              <a:rPr dirty="0"/>
              <a:t>CẤU</a:t>
            </a:r>
            <a:r>
              <a:rPr spc="-70" dirty="0"/>
              <a:t> </a:t>
            </a:r>
            <a:r>
              <a:rPr dirty="0"/>
              <a:t>TRÚC</a:t>
            </a:r>
            <a:r>
              <a:rPr spc="-55" dirty="0"/>
              <a:t> </a:t>
            </a:r>
            <a:r>
              <a:rPr dirty="0"/>
              <a:t>CƠ</a:t>
            </a:r>
            <a:r>
              <a:rPr spc="-50" dirty="0"/>
              <a:t> </a:t>
            </a:r>
            <a:r>
              <a:rPr spc="-25" dirty="0"/>
              <a:t>CẤU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28329" y="120522"/>
            <a:ext cx="297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1.30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93293" y="5718454"/>
            <a:ext cx="814768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A,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B,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có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2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khớp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quay trùng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nhau; Nhóm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Atxua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hạng 4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(6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khâu,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9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khớp)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nên </a:t>
            </a:r>
            <a:r>
              <a:rPr sz="1800" dirty="0">
                <a:latin typeface="Arial"/>
                <a:cs typeface="Arial"/>
              </a:rPr>
              <a:t>đây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cơ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hạng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4.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7728" y="120522"/>
            <a:ext cx="314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NHH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85086" y="4528565"/>
            <a:ext cx="413384" cy="189865"/>
          </a:xfrm>
          <a:custGeom>
            <a:avLst/>
            <a:gdLst/>
            <a:ahLst/>
            <a:cxnLst/>
            <a:rect l="l" t="t" r="r" b="b"/>
            <a:pathLst>
              <a:path w="413385" h="189864">
                <a:moveTo>
                  <a:pt x="227583" y="46100"/>
                </a:moveTo>
                <a:lnTo>
                  <a:pt x="142698" y="46100"/>
                </a:lnTo>
                <a:lnTo>
                  <a:pt x="169545" y="48894"/>
                </a:lnTo>
                <a:lnTo>
                  <a:pt x="168910" y="48894"/>
                </a:lnTo>
                <a:lnTo>
                  <a:pt x="196595" y="54101"/>
                </a:lnTo>
                <a:lnTo>
                  <a:pt x="196431" y="54101"/>
                </a:lnTo>
                <a:lnTo>
                  <a:pt x="223480" y="61433"/>
                </a:lnTo>
                <a:lnTo>
                  <a:pt x="273377" y="81533"/>
                </a:lnTo>
                <a:lnTo>
                  <a:pt x="321290" y="110099"/>
                </a:lnTo>
                <a:lnTo>
                  <a:pt x="321117" y="110099"/>
                </a:lnTo>
                <a:lnTo>
                  <a:pt x="342788" y="126872"/>
                </a:lnTo>
                <a:lnTo>
                  <a:pt x="363361" y="145753"/>
                </a:lnTo>
                <a:lnTo>
                  <a:pt x="363461" y="145898"/>
                </a:lnTo>
                <a:lnTo>
                  <a:pt x="363747" y="146133"/>
                </a:lnTo>
                <a:lnTo>
                  <a:pt x="364305" y="146712"/>
                </a:lnTo>
                <a:lnTo>
                  <a:pt x="382339" y="166264"/>
                </a:lnTo>
                <a:lnTo>
                  <a:pt x="400685" y="189356"/>
                </a:lnTo>
                <a:lnTo>
                  <a:pt x="413131" y="179577"/>
                </a:lnTo>
                <a:lnTo>
                  <a:pt x="394843" y="156336"/>
                </a:lnTo>
                <a:lnTo>
                  <a:pt x="374776" y="134619"/>
                </a:lnTo>
                <a:lnTo>
                  <a:pt x="353187" y="114934"/>
                </a:lnTo>
                <a:lnTo>
                  <a:pt x="346979" y="110099"/>
                </a:lnTo>
                <a:lnTo>
                  <a:pt x="321290" y="110099"/>
                </a:lnTo>
                <a:lnTo>
                  <a:pt x="320691" y="109799"/>
                </a:lnTo>
                <a:lnTo>
                  <a:pt x="346594" y="109799"/>
                </a:lnTo>
                <a:lnTo>
                  <a:pt x="330200" y="97027"/>
                </a:lnTo>
                <a:lnTo>
                  <a:pt x="306069" y="81152"/>
                </a:lnTo>
                <a:lnTo>
                  <a:pt x="280796" y="67436"/>
                </a:lnTo>
                <a:lnTo>
                  <a:pt x="254635" y="55625"/>
                </a:lnTo>
                <a:lnTo>
                  <a:pt x="227583" y="46100"/>
                </a:lnTo>
                <a:close/>
              </a:path>
              <a:path w="413385" h="189864">
                <a:moveTo>
                  <a:pt x="320131" y="109335"/>
                </a:moveTo>
                <a:lnTo>
                  <a:pt x="320691" y="109799"/>
                </a:lnTo>
                <a:lnTo>
                  <a:pt x="321290" y="110099"/>
                </a:lnTo>
                <a:lnTo>
                  <a:pt x="320131" y="109335"/>
                </a:lnTo>
                <a:close/>
              </a:path>
              <a:path w="413385" h="189864">
                <a:moveTo>
                  <a:pt x="119633" y="0"/>
                </a:moveTo>
                <a:lnTo>
                  <a:pt x="0" y="57149"/>
                </a:lnTo>
                <a:lnTo>
                  <a:pt x="131444" y="75183"/>
                </a:lnTo>
                <a:lnTo>
                  <a:pt x="127095" y="47497"/>
                </a:lnTo>
                <a:lnTo>
                  <a:pt x="113411" y="47497"/>
                </a:lnTo>
                <a:lnTo>
                  <a:pt x="112722" y="33146"/>
                </a:lnTo>
                <a:lnTo>
                  <a:pt x="112649" y="31622"/>
                </a:lnTo>
                <a:lnTo>
                  <a:pt x="124506" y="31017"/>
                </a:lnTo>
                <a:lnTo>
                  <a:pt x="119633" y="0"/>
                </a:lnTo>
                <a:close/>
              </a:path>
              <a:path w="413385" h="189864">
                <a:moveTo>
                  <a:pt x="124506" y="31017"/>
                </a:moveTo>
                <a:lnTo>
                  <a:pt x="112649" y="31622"/>
                </a:lnTo>
                <a:lnTo>
                  <a:pt x="113343" y="46100"/>
                </a:lnTo>
                <a:lnTo>
                  <a:pt x="113411" y="47497"/>
                </a:lnTo>
                <a:lnTo>
                  <a:pt x="126984" y="46789"/>
                </a:lnTo>
                <a:lnTo>
                  <a:pt x="124601" y="31622"/>
                </a:lnTo>
                <a:lnTo>
                  <a:pt x="124506" y="31017"/>
                </a:lnTo>
                <a:close/>
              </a:path>
              <a:path w="413385" h="189864">
                <a:moveTo>
                  <a:pt x="126984" y="46789"/>
                </a:moveTo>
                <a:lnTo>
                  <a:pt x="113411" y="47497"/>
                </a:lnTo>
                <a:lnTo>
                  <a:pt x="127095" y="47497"/>
                </a:lnTo>
                <a:lnTo>
                  <a:pt x="126984" y="46789"/>
                </a:lnTo>
                <a:close/>
              </a:path>
              <a:path w="413385" h="189864">
                <a:moveTo>
                  <a:pt x="142494" y="30098"/>
                </a:moveTo>
                <a:lnTo>
                  <a:pt x="124506" y="31017"/>
                </a:lnTo>
                <a:lnTo>
                  <a:pt x="126876" y="46100"/>
                </a:lnTo>
                <a:lnTo>
                  <a:pt x="126984" y="46789"/>
                </a:lnTo>
                <a:lnTo>
                  <a:pt x="140186" y="46100"/>
                </a:lnTo>
                <a:lnTo>
                  <a:pt x="227583" y="46100"/>
                </a:lnTo>
                <a:lnTo>
                  <a:pt x="199898" y="38607"/>
                </a:lnTo>
                <a:lnTo>
                  <a:pt x="171576" y="33146"/>
                </a:lnTo>
                <a:lnTo>
                  <a:pt x="142494" y="3009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905142" y="4594833"/>
            <a:ext cx="26797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50" dirty="0">
                <a:latin typeface="Cambria Math"/>
                <a:cs typeface="Cambria Math"/>
              </a:rPr>
              <a:t>A</a:t>
            </a:r>
            <a:endParaRPr sz="2100">
              <a:latin typeface="Cambria Math"/>
              <a:cs typeface="Cambria Math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83259" y="2563114"/>
            <a:ext cx="2412365" cy="2674620"/>
            <a:chOff x="783259" y="2563114"/>
            <a:chExt cx="2412365" cy="2674620"/>
          </a:xfrm>
        </p:grpSpPr>
        <p:sp>
          <p:nvSpPr>
            <p:cNvPr id="10" name="object 10"/>
            <p:cNvSpPr/>
            <p:nvPr/>
          </p:nvSpPr>
          <p:spPr>
            <a:xfrm>
              <a:off x="953300" y="2750185"/>
              <a:ext cx="1879600" cy="2082800"/>
            </a:xfrm>
            <a:custGeom>
              <a:avLst/>
              <a:gdLst/>
              <a:ahLst/>
              <a:cxnLst/>
              <a:rect l="l" t="t" r="r" b="b"/>
              <a:pathLst>
                <a:path w="1879600" h="2082800">
                  <a:moveTo>
                    <a:pt x="0" y="0"/>
                  </a:moveTo>
                  <a:lnTo>
                    <a:pt x="969225" y="188975"/>
                  </a:lnTo>
                  <a:lnTo>
                    <a:pt x="1054569" y="1170432"/>
                  </a:lnTo>
                  <a:lnTo>
                    <a:pt x="67056" y="975359"/>
                  </a:lnTo>
                  <a:lnTo>
                    <a:pt x="0" y="0"/>
                  </a:lnTo>
                  <a:close/>
                </a:path>
                <a:path w="1879600" h="2082800">
                  <a:moveTo>
                    <a:pt x="1039837" y="1179448"/>
                  </a:moveTo>
                  <a:lnTo>
                    <a:pt x="768057" y="2060447"/>
                  </a:lnTo>
                </a:path>
                <a:path w="1879600" h="2082800">
                  <a:moveTo>
                    <a:pt x="969225" y="188975"/>
                  </a:moveTo>
                  <a:lnTo>
                    <a:pt x="1876767" y="2082800"/>
                  </a:lnTo>
                </a:path>
                <a:path w="1879600" h="2082800">
                  <a:moveTo>
                    <a:pt x="67056" y="975359"/>
                  </a:moveTo>
                  <a:lnTo>
                    <a:pt x="1879561" y="2082800"/>
                  </a:lnTo>
                </a:path>
              </a:pathLst>
            </a:custGeom>
            <a:ln w="2540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92784" y="2572639"/>
              <a:ext cx="2393315" cy="2655570"/>
            </a:xfrm>
            <a:custGeom>
              <a:avLst/>
              <a:gdLst/>
              <a:ahLst/>
              <a:cxnLst/>
              <a:rect l="l" t="t" r="r" b="b"/>
              <a:pathLst>
                <a:path w="2393315" h="2655570">
                  <a:moveTo>
                    <a:pt x="0" y="0"/>
                  </a:moveTo>
                  <a:lnTo>
                    <a:pt x="2392883" y="2655062"/>
                  </a:lnTo>
                </a:path>
              </a:pathLst>
            </a:custGeom>
            <a:ln w="19050">
              <a:solidFill>
                <a:srgbClr val="0D4D3B"/>
              </a:solidFill>
              <a:prstDash val="lg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2575" y="5001684"/>
              <a:ext cx="324002" cy="89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567815" y="4807966"/>
              <a:ext cx="295910" cy="174625"/>
            </a:xfrm>
            <a:custGeom>
              <a:avLst/>
              <a:gdLst/>
              <a:ahLst/>
              <a:cxnLst/>
              <a:rect l="l" t="t" r="r" b="b"/>
              <a:pathLst>
                <a:path w="295910" h="174625">
                  <a:moveTo>
                    <a:pt x="147701" y="0"/>
                  </a:moveTo>
                  <a:lnTo>
                    <a:pt x="0" y="174370"/>
                  </a:lnTo>
                  <a:lnTo>
                    <a:pt x="295402" y="174370"/>
                  </a:lnTo>
                  <a:lnTo>
                    <a:pt x="147701" y="0"/>
                  </a:lnTo>
                  <a:close/>
                </a:path>
              </a:pathLst>
            </a:custGeom>
            <a:solidFill>
              <a:srgbClr val="F8D7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67815" y="4807966"/>
              <a:ext cx="295910" cy="174625"/>
            </a:xfrm>
            <a:custGeom>
              <a:avLst/>
              <a:gdLst/>
              <a:ahLst/>
              <a:cxnLst/>
              <a:rect l="l" t="t" r="r" b="b"/>
              <a:pathLst>
                <a:path w="295910" h="174625">
                  <a:moveTo>
                    <a:pt x="0" y="174370"/>
                  </a:moveTo>
                  <a:lnTo>
                    <a:pt x="147701" y="0"/>
                  </a:lnTo>
                  <a:lnTo>
                    <a:pt x="295402" y="174370"/>
                  </a:lnTo>
                  <a:lnTo>
                    <a:pt x="0" y="174370"/>
                  </a:lnTo>
                  <a:close/>
                </a:path>
              </a:pathLst>
            </a:custGeom>
            <a:ln w="19050">
              <a:solidFill>
                <a:srgbClr val="126F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72081" y="4753483"/>
              <a:ext cx="108966" cy="10909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79065" y="5038514"/>
              <a:ext cx="324002" cy="8999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694304" y="4844796"/>
              <a:ext cx="295910" cy="174625"/>
            </a:xfrm>
            <a:custGeom>
              <a:avLst/>
              <a:gdLst/>
              <a:ahLst/>
              <a:cxnLst/>
              <a:rect l="l" t="t" r="r" b="b"/>
              <a:pathLst>
                <a:path w="295910" h="174625">
                  <a:moveTo>
                    <a:pt x="147827" y="0"/>
                  </a:moveTo>
                  <a:lnTo>
                    <a:pt x="0" y="174243"/>
                  </a:lnTo>
                  <a:lnTo>
                    <a:pt x="295528" y="174243"/>
                  </a:lnTo>
                  <a:lnTo>
                    <a:pt x="147827" y="0"/>
                  </a:lnTo>
                  <a:close/>
                </a:path>
              </a:pathLst>
            </a:custGeom>
            <a:solidFill>
              <a:srgbClr val="F8D7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694304" y="4844796"/>
              <a:ext cx="295910" cy="174625"/>
            </a:xfrm>
            <a:custGeom>
              <a:avLst/>
              <a:gdLst/>
              <a:ahLst/>
              <a:cxnLst/>
              <a:rect l="l" t="t" r="r" b="b"/>
              <a:pathLst>
                <a:path w="295910" h="174625">
                  <a:moveTo>
                    <a:pt x="0" y="174243"/>
                  </a:moveTo>
                  <a:lnTo>
                    <a:pt x="147827" y="0"/>
                  </a:lnTo>
                  <a:lnTo>
                    <a:pt x="295528" y="174243"/>
                  </a:lnTo>
                  <a:lnTo>
                    <a:pt x="0" y="174243"/>
                  </a:lnTo>
                  <a:close/>
                </a:path>
              </a:pathLst>
            </a:custGeom>
            <a:ln w="19050">
              <a:solidFill>
                <a:srgbClr val="126F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98572" y="4790313"/>
              <a:ext cx="109092" cy="10896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31034" y="3850005"/>
              <a:ext cx="108965" cy="10909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64740" y="2886837"/>
              <a:ext cx="109092" cy="10909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07897" y="2693035"/>
              <a:ext cx="109054" cy="10909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82560" y="3670300"/>
              <a:ext cx="109054" cy="109093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2007487" y="3649434"/>
            <a:ext cx="26543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50" dirty="0">
                <a:latin typeface="Cambria Math"/>
                <a:cs typeface="Cambria Math"/>
              </a:rPr>
              <a:t>B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78249" y="2344295"/>
            <a:ext cx="252729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0" dirty="0">
                <a:latin typeface="Cambria Math"/>
                <a:cs typeface="Cambria Math"/>
              </a:rPr>
              <a:t>C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975144" y="2642705"/>
            <a:ext cx="27813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50" dirty="0">
                <a:latin typeface="Cambria Math"/>
                <a:cs typeface="Cambria Math"/>
              </a:rPr>
              <a:t>D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33601" y="3606127"/>
            <a:ext cx="25654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50" dirty="0">
                <a:latin typeface="Cambria Math"/>
                <a:cs typeface="Cambria Math"/>
              </a:rPr>
              <a:t>E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439035" y="4100959"/>
            <a:ext cx="293370" cy="826769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53670">
              <a:lnSpc>
                <a:spcPct val="100000"/>
              </a:lnSpc>
              <a:spcBef>
                <a:spcPts val="770"/>
              </a:spcBef>
            </a:pPr>
            <a:r>
              <a:rPr sz="2000" spc="-5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2100" spc="-50" dirty="0">
                <a:latin typeface="Cambria Math"/>
                <a:cs typeface="Cambria Math"/>
              </a:rPr>
              <a:t>F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233641" y="4551913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549546" y="3745470"/>
            <a:ext cx="15240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728816" y="3166089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433597" y="2831070"/>
            <a:ext cx="15240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34314" y="3132695"/>
            <a:ext cx="15240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412037" y="3484612"/>
            <a:ext cx="15240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7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740397" y="4180966"/>
            <a:ext cx="453390" cy="1174750"/>
            <a:chOff x="6740397" y="4180966"/>
            <a:chExt cx="453390" cy="1174750"/>
          </a:xfrm>
        </p:grpSpPr>
        <p:sp>
          <p:nvSpPr>
            <p:cNvPr id="36" name="object 36"/>
            <p:cNvSpPr/>
            <p:nvPr/>
          </p:nvSpPr>
          <p:spPr>
            <a:xfrm>
              <a:off x="6773036" y="4792598"/>
              <a:ext cx="413384" cy="189865"/>
            </a:xfrm>
            <a:custGeom>
              <a:avLst/>
              <a:gdLst/>
              <a:ahLst/>
              <a:cxnLst/>
              <a:rect l="l" t="t" r="r" b="b"/>
              <a:pathLst>
                <a:path w="413384" h="189864">
                  <a:moveTo>
                    <a:pt x="247197" y="69872"/>
                  </a:moveTo>
                  <a:lnTo>
                    <a:pt x="272633" y="81152"/>
                  </a:lnTo>
                  <a:lnTo>
                    <a:pt x="273388" y="81510"/>
                  </a:lnTo>
                  <a:lnTo>
                    <a:pt x="297561" y="94614"/>
                  </a:lnTo>
                  <a:lnTo>
                    <a:pt x="321163" y="110099"/>
                  </a:lnTo>
                  <a:lnTo>
                    <a:pt x="320990" y="110099"/>
                  </a:lnTo>
                  <a:lnTo>
                    <a:pt x="342661" y="126873"/>
                  </a:lnTo>
                  <a:lnTo>
                    <a:pt x="363347" y="145669"/>
                  </a:lnTo>
                  <a:lnTo>
                    <a:pt x="382999" y="166853"/>
                  </a:lnTo>
                  <a:lnTo>
                    <a:pt x="382807" y="166853"/>
                  </a:lnTo>
                  <a:lnTo>
                    <a:pt x="400685" y="189356"/>
                  </a:lnTo>
                  <a:lnTo>
                    <a:pt x="413131" y="179577"/>
                  </a:lnTo>
                  <a:lnTo>
                    <a:pt x="403118" y="166853"/>
                  </a:lnTo>
                  <a:lnTo>
                    <a:pt x="382999" y="166853"/>
                  </a:lnTo>
                  <a:lnTo>
                    <a:pt x="382421" y="166420"/>
                  </a:lnTo>
                  <a:lnTo>
                    <a:pt x="402777" y="166420"/>
                  </a:lnTo>
                  <a:lnTo>
                    <a:pt x="394843" y="156337"/>
                  </a:lnTo>
                  <a:lnTo>
                    <a:pt x="374777" y="134619"/>
                  </a:lnTo>
                  <a:lnTo>
                    <a:pt x="353187" y="114934"/>
                  </a:lnTo>
                  <a:lnTo>
                    <a:pt x="346979" y="110099"/>
                  </a:lnTo>
                  <a:lnTo>
                    <a:pt x="321163" y="110099"/>
                  </a:lnTo>
                  <a:lnTo>
                    <a:pt x="320564" y="109799"/>
                  </a:lnTo>
                  <a:lnTo>
                    <a:pt x="346594" y="109799"/>
                  </a:lnTo>
                  <a:lnTo>
                    <a:pt x="330200" y="97027"/>
                  </a:lnTo>
                  <a:lnTo>
                    <a:pt x="306070" y="81152"/>
                  </a:lnTo>
                  <a:lnTo>
                    <a:pt x="286413" y="70484"/>
                  </a:lnTo>
                  <a:lnTo>
                    <a:pt x="248920" y="70484"/>
                  </a:lnTo>
                  <a:lnTo>
                    <a:pt x="247197" y="69872"/>
                  </a:lnTo>
                  <a:close/>
                </a:path>
                <a:path w="413384" h="189864">
                  <a:moveTo>
                    <a:pt x="381606" y="165342"/>
                  </a:moveTo>
                  <a:lnTo>
                    <a:pt x="382421" y="166420"/>
                  </a:lnTo>
                  <a:lnTo>
                    <a:pt x="382999" y="166853"/>
                  </a:lnTo>
                  <a:lnTo>
                    <a:pt x="381606" y="165342"/>
                  </a:lnTo>
                  <a:close/>
                </a:path>
                <a:path w="413384" h="189864">
                  <a:moveTo>
                    <a:pt x="320004" y="109335"/>
                  </a:moveTo>
                  <a:lnTo>
                    <a:pt x="320564" y="109799"/>
                  </a:lnTo>
                  <a:lnTo>
                    <a:pt x="321163" y="110099"/>
                  </a:lnTo>
                  <a:lnTo>
                    <a:pt x="320004" y="109335"/>
                  </a:lnTo>
                  <a:close/>
                </a:path>
                <a:path w="413384" h="189864">
                  <a:moveTo>
                    <a:pt x="119634" y="0"/>
                  </a:moveTo>
                  <a:lnTo>
                    <a:pt x="0" y="57150"/>
                  </a:lnTo>
                  <a:lnTo>
                    <a:pt x="131318" y="75183"/>
                  </a:lnTo>
                  <a:lnTo>
                    <a:pt x="127015" y="47498"/>
                  </a:lnTo>
                  <a:lnTo>
                    <a:pt x="113284" y="47498"/>
                  </a:lnTo>
                  <a:lnTo>
                    <a:pt x="112595" y="33146"/>
                  </a:lnTo>
                  <a:lnTo>
                    <a:pt x="112522" y="31623"/>
                  </a:lnTo>
                  <a:lnTo>
                    <a:pt x="124453" y="31013"/>
                  </a:lnTo>
                  <a:lnTo>
                    <a:pt x="119634" y="0"/>
                  </a:lnTo>
                  <a:close/>
                </a:path>
                <a:path w="413384" h="189864">
                  <a:moveTo>
                    <a:pt x="227584" y="46100"/>
                  </a:moveTo>
                  <a:lnTo>
                    <a:pt x="142570" y="46100"/>
                  </a:lnTo>
                  <a:lnTo>
                    <a:pt x="169418" y="48894"/>
                  </a:lnTo>
                  <a:lnTo>
                    <a:pt x="168782" y="48894"/>
                  </a:lnTo>
                  <a:lnTo>
                    <a:pt x="196596" y="54101"/>
                  </a:lnTo>
                  <a:lnTo>
                    <a:pt x="196431" y="54101"/>
                  </a:lnTo>
                  <a:lnTo>
                    <a:pt x="223470" y="61430"/>
                  </a:lnTo>
                  <a:lnTo>
                    <a:pt x="248920" y="70484"/>
                  </a:lnTo>
                  <a:lnTo>
                    <a:pt x="286413" y="70484"/>
                  </a:lnTo>
                  <a:lnTo>
                    <a:pt x="280797" y="67437"/>
                  </a:lnTo>
                  <a:lnTo>
                    <a:pt x="254508" y="55625"/>
                  </a:lnTo>
                  <a:lnTo>
                    <a:pt x="227584" y="46100"/>
                  </a:lnTo>
                  <a:close/>
                </a:path>
                <a:path w="413384" h="189864">
                  <a:moveTo>
                    <a:pt x="124453" y="31013"/>
                  </a:moveTo>
                  <a:lnTo>
                    <a:pt x="112522" y="31623"/>
                  </a:lnTo>
                  <a:lnTo>
                    <a:pt x="113216" y="46100"/>
                  </a:lnTo>
                  <a:lnTo>
                    <a:pt x="113284" y="47498"/>
                  </a:lnTo>
                  <a:lnTo>
                    <a:pt x="126905" y="46790"/>
                  </a:lnTo>
                  <a:lnTo>
                    <a:pt x="124548" y="31623"/>
                  </a:lnTo>
                  <a:lnTo>
                    <a:pt x="124453" y="31013"/>
                  </a:lnTo>
                  <a:close/>
                </a:path>
                <a:path w="413384" h="189864">
                  <a:moveTo>
                    <a:pt x="126905" y="46790"/>
                  </a:moveTo>
                  <a:lnTo>
                    <a:pt x="113284" y="47498"/>
                  </a:lnTo>
                  <a:lnTo>
                    <a:pt x="127015" y="47498"/>
                  </a:lnTo>
                  <a:lnTo>
                    <a:pt x="126905" y="46790"/>
                  </a:lnTo>
                  <a:close/>
                </a:path>
                <a:path w="413384" h="189864">
                  <a:moveTo>
                    <a:pt x="142367" y="30099"/>
                  </a:moveTo>
                  <a:lnTo>
                    <a:pt x="124453" y="31013"/>
                  </a:lnTo>
                  <a:lnTo>
                    <a:pt x="126798" y="46100"/>
                  </a:lnTo>
                  <a:lnTo>
                    <a:pt x="126905" y="46790"/>
                  </a:lnTo>
                  <a:lnTo>
                    <a:pt x="140176" y="46100"/>
                  </a:lnTo>
                  <a:lnTo>
                    <a:pt x="227584" y="46100"/>
                  </a:lnTo>
                  <a:lnTo>
                    <a:pt x="199771" y="38607"/>
                  </a:lnTo>
                  <a:lnTo>
                    <a:pt x="171450" y="33146"/>
                  </a:lnTo>
                  <a:lnTo>
                    <a:pt x="142367" y="300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909307" y="4193666"/>
              <a:ext cx="271780" cy="881380"/>
            </a:xfrm>
            <a:custGeom>
              <a:avLst/>
              <a:gdLst/>
              <a:ahLst/>
              <a:cxnLst/>
              <a:rect l="l" t="t" r="r" b="b"/>
              <a:pathLst>
                <a:path w="271779" h="881379">
                  <a:moveTo>
                    <a:pt x="271780" y="0"/>
                  </a:moveTo>
                  <a:lnTo>
                    <a:pt x="0" y="880998"/>
                  </a:lnTo>
                </a:path>
              </a:pathLst>
            </a:custGeom>
            <a:ln w="2540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40397" y="5265717"/>
              <a:ext cx="324002" cy="89999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6755637" y="5071998"/>
              <a:ext cx="295910" cy="174625"/>
            </a:xfrm>
            <a:custGeom>
              <a:avLst/>
              <a:gdLst/>
              <a:ahLst/>
              <a:cxnLst/>
              <a:rect l="l" t="t" r="r" b="b"/>
              <a:pathLst>
                <a:path w="295909" h="174625">
                  <a:moveTo>
                    <a:pt x="147827" y="0"/>
                  </a:moveTo>
                  <a:lnTo>
                    <a:pt x="0" y="174370"/>
                  </a:lnTo>
                  <a:lnTo>
                    <a:pt x="295528" y="174370"/>
                  </a:lnTo>
                  <a:lnTo>
                    <a:pt x="147827" y="0"/>
                  </a:lnTo>
                  <a:close/>
                </a:path>
              </a:pathLst>
            </a:custGeom>
            <a:solidFill>
              <a:srgbClr val="F8D7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755637" y="5071998"/>
              <a:ext cx="295910" cy="174625"/>
            </a:xfrm>
            <a:custGeom>
              <a:avLst/>
              <a:gdLst/>
              <a:ahLst/>
              <a:cxnLst/>
              <a:rect l="l" t="t" r="r" b="b"/>
              <a:pathLst>
                <a:path w="295909" h="174625">
                  <a:moveTo>
                    <a:pt x="0" y="174370"/>
                  </a:moveTo>
                  <a:lnTo>
                    <a:pt x="147827" y="0"/>
                  </a:lnTo>
                  <a:lnTo>
                    <a:pt x="295528" y="174370"/>
                  </a:lnTo>
                  <a:lnTo>
                    <a:pt x="0" y="174370"/>
                  </a:lnTo>
                  <a:close/>
                </a:path>
              </a:pathLst>
            </a:custGeom>
            <a:ln w="19050">
              <a:solidFill>
                <a:srgbClr val="126F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59904" y="5017515"/>
              <a:ext cx="109093" cy="109092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6626985" y="4364992"/>
            <a:ext cx="293370" cy="826769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53670">
              <a:lnSpc>
                <a:spcPct val="100000"/>
              </a:lnSpc>
              <a:spcBef>
                <a:spcPts val="770"/>
              </a:spcBef>
            </a:pPr>
            <a:r>
              <a:rPr sz="2000" spc="-50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2100" spc="-50" dirty="0">
                <a:latin typeface="Cambria Math"/>
                <a:cs typeface="Cambria Math"/>
              </a:rPr>
              <a:t>F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6139560" y="2289429"/>
            <a:ext cx="2393315" cy="2655570"/>
          </a:xfrm>
          <a:custGeom>
            <a:avLst/>
            <a:gdLst/>
            <a:ahLst/>
            <a:cxnLst/>
            <a:rect l="l" t="t" r="r" b="b"/>
            <a:pathLst>
              <a:path w="2393315" h="2655570">
                <a:moveTo>
                  <a:pt x="0" y="0"/>
                </a:moveTo>
                <a:lnTo>
                  <a:pt x="2392934" y="2655062"/>
                </a:lnTo>
              </a:path>
            </a:pathLst>
          </a:custGeom>
          <a:ln w="19050">
            <a:solidFill>
              <a:srgbClr val="0D4D3B"/>
            </a:solidFill>
            <a:prstDash val="lgDash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8251969" y="4311496"/>
            <a:ext cx="26797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50" dirty="0">
                <a:latin typeface="Cambria Math"/>
                <a:cs typeface="Cambria Math"/>
              </a:rPr>
              <a:t>A</a:t>
            </a:r>
            <a:endParaRPr sz="2100">
              <a:latin typeface="Cambria Math"/>
              <a:cs typeface="Cambria Math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6254622" y="2409698"/>
            <a:ext cx="2000250" cy="2206625"/>
            <a:chOff x="6254622" y="2409698"/>
            <a:chExt cx="2000250" cy="2206625"/>
          </a:xfrm>
        </p:grpSpPr>
        <p:sp>
          <p:nvSpPr>
            <p:cNvPr id="46" name="object 46"/>
            <p:cNvSpPr/>
            <p:nvPr/>
          </p:nvSpPr>
          <p:spPr>
            <a:xfrm>
              <a:off x="6300088" y="2466975"/>
              <a:ext cx="1879600" cy="2082800"/>
            </a:xfrm>
            <a:custGeom>
              <a:avLst/>
              <a:gdLst/>
              <a:ahLst/>
              <a:cxnLst/>
              <a:rect l="l" t="t" r="r" b="b"/>
              <a:pathLst>
                <a:path w="1879600" h="2082800">
                  <a:moveTo>
                    <a:pt x="0" y="0"/>
                  </a:moveTo>
                  <a:lnTo>
                    <a:pt x="969263" y="188975"/>
                  </a:lnTo>
                  <a:lnTo>
                    <a:pt x="1054608" y="1170432"/>
                  </a:lnTo>
                  <a:lnTo>
                    <a:pt x="67056" y="975360"/>
                  </a:lnTo>
                  <a:lnTo>
                    <a:pt x="0" y="0"/>
                  </a:lnTo>
                  <a:close/>
                </a:path>
                <a:path w="1879600" h="2082800">
                  <a:moveTo>
                    <a:pt x="969263" y="188975"/>
                  </a:moveTo>
                  <a:lnTo>
                    <a:pt x="1876806" y="2082673"/>
                  </a:lnTo>
                </a:path>
                <a:path w="1879600" h="2082800">
                  <a:moveTo>
                    <a:pt x="67056" y="975360"/>
                  </a:moveTo>
                  <a:lnTo>
                    <a:pt x="1879600" y="2082673"/>
                  </a:lnTo>
                </a:path>
              </a:pathLst>
            </a:custGeom>
            <a:ln w="25400">
              <a:solidFill>
                <a:srgbClr val="0D4D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45398" y="4506976"/>
              <a:ext cx="109093" cy="109093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277734" y="3566668"/>
              <a:ext cx="109093" cy="109093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211567" y="2603627"/>
              <a:ext cx="109092" cy="108965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254622" y="2409698"/>
              <a:ext cx="109092" cy="109092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329298" y="3386963"/>
              <a:ext cx="109092" cy="109092"/>
            </a:xfrm>
            <a:prstGeom prst="rect">
              <a:avLst/>
            </a:prstGeom>
          </p:spPr>
        </p:pic>
      </p:grpSp>
      <p:sp>
        <p:nvSpPr>
          <p:cNvPr id="52" name="object 52"/>
          <p:cNvSpPr txBox="1"/>
          <p:nvPr/>
        </p:nvSpPr>
        <p:spPr>
          <a:xfrm>
            <a:off x="7354314" y="3366224"/>
            <a:ext cx="26543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50" dirty="0">
                <a:latin typeface="Cambria Math"/>
                <a:cs typeface="Cambria Math"/>
              </a:rPr>
              <a:t>B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321971" y="2359495"/>
            <a:ext cx="27813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50" dirty="0">
                <a:latin typeface="Cambria Math"/>
                <a:cs typeface="Cambria Math"/>
              </a:rPr>
              <a:t>D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080377" y="3322790"/>
            <a:ext cx="25654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00" spc="-50" dirty="0">
                <a:latin typeface="Cambria Math"/>
                <a:cs typeface="Cambria Math"/>
              </a:rPr>
              <a:t>E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580466" y="4268703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896372" y="3462260"/>
            <a:ext cx="15240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075641" y="2882752"/>
            <a:ext cx="152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780296" y="2547860"/>
            <a:ext cx="15240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381038" y="2849485"/>
            <a:ext cx="15240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758863" y="3201402"/>
            <a:ext cx="15240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0" dirty="0">
                <a:latin typeface="Times New Roman"/>
                <a:cs typeface="Times New Roman"/>
              </a:rPr>
              <a:t>7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30200" y="448436"/>
            <a:ext cx="6147435" cy="1958975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455930" lvl="1" indent="-443230">
              <a:lnSpc>
                <a:spcPct val="100000"/>
              </a:lnSpc>
              <a:spcBef>
                <a:spcPts val="1010"/>
              </a:spcBef>
              <a:buAutoNum type="arabicPeriod" startAt="3"/>
              <a:tabLst>
                <a:tab pos="455930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Cơ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cấu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phẳng</a:t>
            </a:r>
            <a:endParaRPr sz="1800">
              <a:latin typeface="Arial"/>
              <a:cs typeface="Arial"/>
            </a:endParaRPr>
          </a:p>
          <a:p>
            <a:pPr marL="645160" lvl="2" indent="-632460">
              <a:lnSpc>
                <a:spcPct val="100000"/>
              </a:lnSpc>
              <a:spcBef>
                <a:spcPts val="915"/>
              </a:spcBef>
              <a:buAutoNum type="arabicPeriod" startAt="3"/>
              <a:tabLst>
                <a:tab pos="645160" algn="l"/>
              </a:tabLst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Phân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tích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cấu 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trúc</a:t>
            </a:r>
            <a:endParaRPr sz="1800">
              <a:latin typeface="Arial"/>
              <a:cs typeface="Arial"/>
            </a:endParaRPr>
          </a:p>
          <a:p>
            <a:pPr marL="298450" lvl="3" indent="-285750">
              <a:lnSpc>
                <a:spcPct val="100000"/>
              </a:lnSpc>
              <a:spcBef>
                <a:spcPts val="1215"/>
              </a:spcBef>
              <a:buClr>
                <a:srgbClr val="1D9A78"/>
              </a:buClr>
              <a:buFont typeface="Wingdings"/>
              <a:buChar char=""/>
              <a:tabLst>
                <a:tab pos="298450" algn="l"/>
              </a:tabLst>
            </a:pPr>
            <a:r>
              <a:rPr sz="1800" b="1" dirty="0">
                <a:solidFill>
                  <a:srgbClr val="0D4D3B"/>
                </a:solidFill>
                <a:latin typeface="Arial"/>
                <a:cs typeface="Arial"/>
              </a:rPr>
              <a:t>Xếp</a:t>
            </a:r>
            <a:r>
              <a:rPr sz="1800" b="1" spc="-25" dirty="0">
                <a:solidFill>
                  <a:srgbClr val="0D4D3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4D3B"/>
                </a:solidFill>
                <a:latin typeface="Arial"/>
                <a:cs typeface="Arial"/>
              </a:rPr>
              <a:t>hạng</a:t>
            </a:r>
            <a:r>
              <a:rPr sz="1800" b="1" spc="-35" dirty="0">
                <a:solidFill>
                  <a:srgbClr val="0D4D3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4D3B"/>
                </a:solidFill>
                <a:latin typeface="Arial"/>
                <a:cs typeface="Arial"/>
              </a:rPr>
              <a:t>(loại)</a:t>
            </a:r>
            <a:r>
              <a:rPr sz="1800" b="1" spc="-40" dirty="0">
                <a:solidFill>
                  <a:srgbClr val="0D4D3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4D3B"/>
                </a:solidFill>
                <a:latin typeface="Arial"/>
                <a:cs typeface="Arial"/>
              </a:rPr>
              <a:t>cơ</a:t>
            </a:r>
            <a:r>
              <a:rPr sz="1800" b="1" spc="-35" dirty="0">
                <a:solidFill>
                  <a:srgbClr val="0D4D3B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0D4D3B"/>
                </a:solidFill>
                <a:latin typeface="Arial"/>
                <a:cs typeface="Arial"/>
              </a:rPr>
              <a:t>cấu</a:t>
            </a:r>
            <a:endParaRPr sz="1800">
              <a:latin typeface="Arial"/>
              <a:cs typeface="Arial"/>
            </a:endParaRPr>
          </a:p>
          <a:p>
            <a:pPr marL="75565">
              <a:lnSpc>
                <a:spcPct val="100000"/>
              </a:lnSpc>
              <a:spcBef>
                <a:spcPts val="1010"/>
              </a:spcBef>
            </a:pP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Số</a:t>
            </a:r>
            <a:r>
              <a:rPr sz="18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khớp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trùng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nhau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số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khâu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(kể</a:t>
            </a:r>
            <a:r>
              <a:rPr sz="18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cả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giá)</a:t>
            </a:r>
            <a:r>
              <a:rPr sz="1800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10"/>
              </a:spcBef>
            </a:pPr>
            <a:r>
              <a:rPr sz="2100" spc="-50" dirty="0">
                <a:latin typeface="Cambria Math"/>
                <a:cs typeface="Cambria Math"/>
              </a:rPr>
              <a:t>C</a:t>
            </a:r>
            <a:endParaRPr sz="2100">
              <a:latin typeface="Cambria Math"/>
              <a:cs typeface="Cambria Math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3341496" y="3336797"/>
            <a:ext cx="876935" cy="439420"/>
            <a:chOff x="3341496" y="3336797"/>
            <a:chExt cx="876935" cy="439420"/>
          </a:xfrm>
        </p:grpSpPr>
        <p:sp>
          <p:nvSpPr>
            <p:cNvPr id="63" name="object 63"/>
            <p:cNvSpPr/>
            <p:nvPr/>
          </p:nvSpPr>
          <p:spPr>
            <a:xfrm>
              <a:off x="3347846" y="3343147"/>
              <a:ext cx="864235" cy="426720"/>
            </a:xfrm>
            <a:custGeom>
              <a:avLst/>
              <a:gdLst/>
              <a:ahLst/>
              <a:cxnLst/>
              <a:rect l="l" t="t" r="r" b="b"/>
              <a:pathLst>
                <a:path w="864235" h="426720">
                  <a:moveTo>
                    <a:pt x="650748" y="0"/>
                  </a:moveTo>
                  <a:lnTo>
                    <a:pt x="650748" y="106679"/>
                  </a:lnTo>
                  <a:lnTo>
                    <a:pt x="0" y="106679"/>
                  </a:lnTo>
                  <a:lnTo>
                    <a:pt x="0" y="320039"/>
                  </a:lnTo>
                  <a:lnTo>
                    <a:pt x="650748" y="320039"/>
                  </a:lnTo>
                  <a:lnTo>
                    <a:pt x="650748" y="426719"/>
                  </a:lnTo>
                  <a:lnTo>
                    <a:pt x="864107" y="213360"/>
                  </a:lnTo>
                  <a:lnTo>
                    <a:pt x="650748" y="0"/>
                  </a:lnTo>
                  <a:close/>
                </a:path>
              </a:pathLst>
            </a:custGeom>
            <a:solidFill>
              <a:srgbClr val="1D9A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347846" y="3343147"/>
              <a:ext cx="864235" cy="426720"/>
            </a:xfrm>
            <a:custGeom>
              <a:avLst/>
              <a:gdLst/>
              <a:ahLst/>
              <a:cxnLst/>
              <a:rect l="l" t="t" r="r" b="b"/>
              <a:pathLst>
                <a:path w="864235" h="426720">
                  <a:moveTo>
                    <a:pt x="0" y="106679"/>
                  </a:moveTo>
                  <a:lnTo>
                    <a:pt x="650748" y="106679"/>
                  </a:lnTo>
                  <a:lnTo>
                    <a:pt x="650748" y="0"/>
                  </a:lnTo>
                  <a:lnTo>
                    <a:pt x="864107" y="213360"/>
                  </a:lnTo>
                  <a:lnTo>
                    <a:pt x="650748" y="426719"/>
                  </a:lnTo>
                  <a:lnTo>
                    <a:pt x="650748" y="320039"/>
                  </a:lnTo>
                  <a:lnTo>
                    <a:pt x="0" y="320039"/>
                  </a:lnTo>
                  <a:lnTo>
                    <a:pt x="0" y="106679"/>
                  </a:lnTo>
                  <a:close/>
                </a:path>
              </a:pathLst>
            </a:custGeom>
            <a:ln w="12700">
              <a:solidFill>
                <a:srgbClr val="053D2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44192" y="118110"/>
            <a:ext cx="60553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40" dirty="0"/>
              <a:t> </a:t>
            </a:r>
            <a:r>
              <a:rPr dirty="0"/>
              <a:t>1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PHÂN</a:t>
            </a:r>
            <a:r>
              <a:rPr spc="-65" dirty="0"/>
              <a:t> </a:t>
            </a:r>
            <a:r>
              <a:rPr dirty="0"/>
              <a:t>TÍCH</a:t>
            </a:r>
            <a:r>
              <a:rPr spc="-60" dirty="0"/>
              <a:t> </a:t>
            </a:r>
            <a:r>
              <a:rPr dirty="0"/>
              <a:t>CẤU</a:t>
            </a:r>
            <a:r>
              <a:rPr spc="-70" dirty="0"/>
              <a:t> </a:t>
            </a:r>
            <a:r>
              <a:rPr dirty="0"/>
              <a:t>TRÚC</a:t>
            </a:r>
            <a:r>
              <a:rPr spc="-55" dirty="0"/>
              <a:t> </a:t>
            </a:r>
            <a:r>
              <a:rPr dirty="0"/>
              <a:t>CƠ</a:t>
            </a:r>
            <a:r>
              <a:rPr spc="-50" dirty="0"/>
              <a:t> </a:t>
            </a:r>
            <a:r>
              <a:rPr spc="-25" dirty="0"/>
              <a:t>CẤU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0200" y="448436"/>
            <a:ext cx="2641600" cy="805815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1.3.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Cơ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cấu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phẳng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1.3.3.</a:t>
            </a:r>
            <a:r>
              <a:rPr sz="18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Phân</a:t>
            </a:r>
            <a:r>
              <a:rPr sz="18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tích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cấu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trúc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28329" y="120522"/>
            <a:ext cx="297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1.31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6095" y="5070475"/>
            <a:ext cx="402018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6390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B,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có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3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khớp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quay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trùng </a:t>
            </a:r>
            <a:r>
              <a:rPr sz="1800" spc="-20" dirty="0">
                <a:latin typeface="Arial"/>
                <a:cs typeface="Arial"/>
              </a:rPr>
              <a:t>nhau </a:t>
            </a:r>
            <a:r>
              <a:rPr sz="1800" dirty="0">
                <a:latin typeface="Arial"/>
                <a:cs typeface="Arial"/>
              </a:rPr>
              <a:t>A,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có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2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khớp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quay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trùng </a:t>
            </a:r>
            <a:r>
              <a:rPr sz="1800" spc="-20" dirty="0">
                <a:latin typeface="Arial"/>
                <a:cs typeface="Arial"/>
              </a:rPr>
              <a:t>nhau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E,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có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khớp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quay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và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khớp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tịnh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tiến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7728" y="120522"/>
            <a:ext cx="314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NHH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373505" y="2732658"/>
            <a:ext cx="2007235" cy="1143000"/>
            <a:chOff x="1373505" y="2732658"/>
            <a:chExt cx="2007235" cy="1143000"/>
          </a:xfrm>
        </p:grpSpPr>
        <p:sp>
          <p:nvSpPr>
            <p:cNvPr id="9" name="object 9"/>
            <p:cNvSpPr/>
            <p:nvPr/>
          </p:nvSpPr>
          <p:spPr>
            <a:xfrm>
              <a:off x="1386205" y="2745358"/>
              <a:ext cx="767080" cy="1117600"/>
            </a:xfrm>
            <a:custGeom>
              <a:avLst/>
              <a:gdLst/>
              <a:ahLst/>
              <a:cxnLst/>
              <a:rect l="l" t="t" r="r" b="b"/>
              <a:pathLst>
                <a:path w="767080" h="1117600">
                  <a:moveTo>
                    <a:pt x="0" y="756919"/>
                  </a:moveTo>
                  <a:lnTo>
                    <a:pt x="340359" y="0"/>
                  </a:lnTo>
                  <a:lnTo>
                    <a:pt x="767080" y="614679"/>
                  </a:lnTo>
                  <a:lnTo>
                    <a:pt x="523239" y="1117599"/>
                  </a:lnTo>
                  <a:lnTo>
                    <a:pt x="0" y="756919"/>
                  </a:lnTo>
                  <a:close/>
                </a:path>
                <a:path w="767080" h="1117600">
                  <a:moveTo>
                    <a:pt x="0" y="756919"/>
                  </a:moveTo>
                  <a:lnTo>
                    <a:pt x="767080" y="614679"/>
                  </a:lnTo>
                </a:path>
              </a:pathLst>
            </a:custGeom>
            <a:ln w="25400">
              <a:solidFill>
                <a:srgbClr val="1674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36013" y="2989403"/>
              <a:ext cx="287997" cy="1079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2196" y="2989403"/>
              <a:ext cx="287997" cy="10799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769767" y="3865552"/>
            <a:ext cx="1397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95689" y="2946452"/>
            <a:ext cx="1397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0" dirty="0">
                <a:latin typeface="Times New Roman"/>
                <a:cs typeface="Times New Roman"/>
              </a:rPr>
              <a:t>3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04899" y="2570151"/>
            <a:ext cx="2540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25" dirty="0">
                <a:latin typeface="Times New Roman"/>
                <a:cs typeface="Times New Roman"/>
              </a:rPr>
              <a:t>10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88437" y="3400478"/>
            <a:ext cx="1397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0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52524" y="2608252"/>
            <a:ext cx="2540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25" dirty="0">
                <a:latin typeface="Times New Roman"/>
                <a:cs typeface="Times New Roman"/>
              </a:rPr>
              <a:t>11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30309" y="3873552"/>
            <a:ext cx="1397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0" dirty="0">
                <a:latin typeface="Times New Roman"/>
                <a:cs typeface="Times New Roman"/>
              </a:rPr>
              <a:t>8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00296" y="2698873"/>
            <a:ext cx="2787015" cy="2047875"/>
            <a:chOff x="600296" y="2698873"/>
            <a:chExt cx="2787015" cy="2047875"/>
          </a:xfrm>
        </p:grpSpPr>
        <p:sp>
          <p:nvSpPr>
            <p:cNvPr id="19" name="object 19"/>
            <p:cNvSpPr/>
            <p:nvPr/>
          </p:nvSpPr>
          <p:spPr>
            <a:xfrm>
              <a:off x="967003" y="3841115"/>
              <a:ext cx="116839" cy="325755"/>
            </a:xfrm>
            <a:custGeom>
              <a:avLst/>
              <a:gdLst/>
              <a:ahLst/>
              <a:cxnLst/>
              <a:rect l="l" t="t" r="r" b="b"/>
              <a:pathLst>
                <a:path w="116840" h="325754">
                  <a:moveTo>
                    <a:pt x="56109" y="46606"/>
                  </a:moveTo>
                  <a:lnTo>
                    <a:pt x="31305" y="79756"/>
                  </a:lnTo>
                  <a:lnTo>
                    <a:pt x="12433" y="122047"/>
                  </a:lnTo>
                  <a:lnTo>
                    <a:pt x="1955" y="166878"/>
                  </a:lnTo>
                  <a:lnTo>
                    <a:pt x="0" y="189865"/>
                  </a:lnTo>
                  <a:lnTo>
                    <a:pt x="194" y="212090"/>
                  </a:lnTo>
                  <a:lnTo>
                    <a:pt x="7518" y="259207"/>
                  </a:lnTo>
                  <a:lnTo>
                    <a:pt x="24180" y="304165"/>
                  </a:lnTo>
                  <a:lnTo>
                    <a:pt x="36029" y="325628"/>
                  </a:lnTo>
                  <a:lnTo>
                    <a:pt x="46977" y="319151"/>
                  </a:lnTo>
                  <a:lnTo>
                    <a:pt x="40881" y="308737"/>
                  </a:lnTo>
                  <a:lnTo>
                    <a:pt x="35699" y="298814"/>
                  </a:lnTo>
                  <a:lnTo>
                    <a:pt x="19794" y="255905"/>
                  </a:lnTo>
                  <a:lnTo>
                    <a:pt x="12977" y="213106"/>
                  </a:lnTo>
                  <a:lnTo>
                    <a:pt x="12751" y="189865"/>
                  </a:lnTo>
                  <a:lnTo>
                    <a:pt x="14538" y="168783"/>
                  </a:lnTo>
                  <a:lnTo>
                    <a:pt x="14592" y="168148"/>
                  </a:lnTo>
                  <a:lnTo>
                    <a:pt x="14860" y="166878"/>
                  </a:lnTo>
                  <a:lnTo>
                    <a:pt x="18401" y="147320"/>
                  </a:lnTo>
                  <a:lnTo>
                    <a:pt x="18516" y="146685"/>
                  </a:lnTo>
                  <a:lnTo>
                    <a:pt x="19281" y="144145"/>
                  </a:lnTo>
                  <a:lnTo>
                    <a:pt x="24415" y="126365"/>
                  </a:lnTo>
                  <a:lnTo>
                    <a:pt x="42437" y="85862"/>
                  </a:lnTo>
                  <a:lnTo>
                    <a:pt x="53740" y="68072"/>
                  </a:lnTo>
                  <a:lnTo>
                    <a:pt x="53606" y="68072"/>
                  </a:lnTo>
                  <a:lnTo>
                    <a:pt x="54034" y="67608"/>
                  </a:lnTo>
                  <a:lnTo>
                    <a:pt x="54305" y="67183"/>
                  </a:lnTo>
                  <a:lnTo>
                    <a:pt x="61234" y="59817"/>
                  </a:lnTo>
                  <a:lnTo>
                    <a:pt x="64568" y="56208"/>
                  </a:lnTo>
                  <a:lnTo>
                    <a:pt x="56109" y="46606"/>
                  </a:lnTo>
                  <a:close/>
                </a:path>
                <a:path w="116840" h="325754">
                  <a:moveTo>
                    <a:pt x="94720" y="37718"/>
                  </a:moveTo>
                  <a:lnTo>
                    <a:pt x="64338" y="37718"/>
                  </a:lnTo>
                  <a:lnTo>
                    <a:pt x="73672" y="46355"/>
                  </a:lnTo>
                  <a:lnTo>
                    <a:pt x="64568" y="56208"/>
                  </a:lnTo>
                  <a:lnTo>
                    <a:pt x="76250" y="69468"/>
                  </a:lnTo>
                  <a:lnTo>
                    <a:pt x="94720" y="37718"/>
                  </a:lnTo>
                  <a:close/>
                </a:path>
                <a:path w="116840" h="325754">
                  <a:moveTo>
                    <a:pt x="54034" y="67608"/>
                  </a:moveTo>
                  <a:lnTo>
                    <a:pt x="53606" y="68072"/>
                  </a:lnTo>
                  <a:lnTo>
                    <a:pt x="53740" y="68072"/>
                  </a:lnTo>
                  <a:lnTo>
                    <a:pt x="54034" y="67608"/>
                  </a:lnTo>
                  <a:close/>
                </a:path>
                <a:path w="116840" h="325754">
                  <a:moveTo>
                    <a:pt x="64338" y="37718"/>
                  </a:moveTo>
                  <a:lnTo>
                    <a:pt x="56109" y="46606"/>
                  </a:lnTo>
                  <a:lnTo>
                    <a:pt x="64568" y="56208"/>
                  </a:lnTo>
                  <a:lnTo>
                    <a:pt x="73672" y="46355"/>
                  </a:lnTo>
                  <a:lnTo>
                    <a:pt x="64338" y="37718"/>
                  </a:lnTo>
                  <a:close/>
                </a:path>
                <a:path w="116840" h="325754">
                  <a:moveTo>
                    <a:pt x="116662" y="0"/>
                  </a:moveTo>
                  <a:lnTo>
                    <a:pt x="42684" y="31368"/>
                  </a:lnTo>
                  <a:lnTo>
                    <a:pt x="56109" y="46606"/>
                  </a:lnTo>
                  <a:lnTo>
                    <a:pt x="64338" y="37718"/>
                  </a:lnTo>
                  <a:lnTo>
                    <a:pt x="94720" y="37718"/>
                  </a:lnTo>
                  <a:lnTo>
                    <a:pt x="11666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926717" y="3864737"/>
              <a:ext cx="908050" cy="869315"/>
            </a:xfrm>
            <a:custGeom>
              <a:avLst/>
              <a:gdLst/>
              <a:ahLst/>
              <a:cxnLst/>
              <a:rect l="l" t="t" r="r" b="b"/>
              <a:pathLst>
                <a:path w="908050" h="869314">
                  <a:moveTo>
                    <a:pt x="0" y="0"/>
                  </a:moveTo>
                  <a:lnTo>
                    <a:pt x="908050" y="868933"/>
                  </a:lnTo>
                </a:path>
              </a:pathLst>
            </a:custGeom>
            <a:ln w="25399">
              <a:solidFill>
                <a:srgbClr val="1674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360421" y="4270121"/>
              <a:ext cx="363855" cy="346710"/>
            </a:xfrm>
            <a:custGeom>
              <a:avLst/>
              <a:gdLst/>
              <a:ahLst/>
              <a:cxnLst/>
              <a:rect l="l" t="t" r="r" b="b"/>
              <a:pathLst>
                <a:path w="363855" h="346710">
                  <a:moveTo>
                    <a:pt x="115950" y="0"/>
                  </a:moveTo>
                  <a:lnTo>
                    <a:pt x="0" y="137667"/>
                  </a:lnTo>
                  <a:lnTo>
                    <a:pt x="247903" y="346328"/>
                  </a:lnTo>
                  <a:lnTo>
                    <a:pt x="363854" y="208533"/>
                  </a:lnTo>
                  <a:lnTo>
                    <a:pt x="115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360421" y="4270121"/>
              <a:ext cx="363855" cy="346710"/>
            </a:xfrm>
            <a:custGeom>
              <a:avLst/>
              <a:gdLst/>
              <a:ahLst/>
              <a:cxnLst/>
              <a:rect l="l" t="t" r="r" b="b"/>
              <a:pathLst>
                <a:path w="363855" h="346710">
                  <a:moveTo>
                    <a:pt x="363854" y="208533"/>
                  </a:moveTo>
                  <a:lnTo>
                    <a:pt x="247903" y="346328"/>
                  </a:lnTo>
                  <a:lnTo>
                    <a:pt x="0" y="137667"/>
                  </a:lnTo>
                  <a:lnTo>
                    <a:pt x="115950" y="0"/>
                  </a:lnTo>
                  <a:lnTo>
                    <a:pt x="363854" y="208533"/>
                  </a:lnTo>
                  <a:close/>
                </a:path>
              </a:pathLst>
            </a:custGeom>
            <a:ln w="25400">
              <a:solidFill>
                <a:srgbClr val="126F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107945" y="2989453"/>
              <a:ext cx="1278890" cy="0"/>
            </a:xfrm>
            <a:custGeom>
              <a:avLst/>
              <a:gdLst/>
              <a:ahLst/>
              <a:cxnLst/>
              <a:rect l="l" t="t" r="r" b="b"/>
              <a:pathLst>
                <a:path w="1278889">
                  <a:moveTo>
                    <a:pt x="0" y="0"/>
                  </a:moveTo>
                  <a:lnTo>
                    <a:pt x="432562" y="0"/>
                  </a:lnTo>
                </a:path>
                <a:path w="1278889">
                  <a:moveTo>
                    <a:pt x="756564" y="0"/>
                  </a:moveTo>
                  <a:lnTo>
                    <a:pt x="1278890" y="0"/>
                  </a:lnTo>
                </a:path>
              </a:pathLst>
            </a:custGeom>
            <a:ln w="25400">
              <a:solidFill>
                <a:srgbClr val="1674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64917" y="4469638"/>
              <a:ext cx="292481" cy="26403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30323" y="4390501"/>
              <a:ext cx="264239" cy="257571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540508" y="2901022"/>
              <a:ext cx="324485" cy="180340"/>
            </a:xfrm>
            <a:custGeom>
              <a:avLst/>
              <a:gdLst/>
              <a:ahLst/>
              <a:cxnLst/>
              <a:rect l="l" t="t" r="r" b="b"/>
              <a:pathLst>
                <a:path w="324485" h="180339">
                  <a:moveTo>
                    <a:pt x="0" y="179997"/>
                  </a:moveTo>
                  <a:lnTo>
                    <a:pt x="324002" y="179997"/>
                  </a:lnTo>
                  <a:lnTo>
                    <a:pt x="324002" y="0"/>
                  </a:lnTo>
                  <a:lnTo>
                    <a:pt x="0" y="0"/>
                  </a:lnTo>
                  <a:lnTo>
                    <a:pt x="0" y="179997"/>
                  </a:lnTo>
                  <a:close/>
                </a:path>
              </a:pathLst>
            </a:custGeom>
            <a:ln w="25400">
              <a:solidFill>
                <a:srgbClr val="126F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33260" y="2748407"/>
              <a:ext cx="2059305" cy="1296670"/>
            </a:xfrm>
            <a:custGeom>
              <a:avLst/>
              <a:gdLst/>
              <a:ahLst/>
              <a:cxnLst/>
              <a:rect l="l" t="t" r="r" b="b"/>
              <a:pathLst>
                <a:path w="2059305" h="1296670">
                  <a:moveTo>
                    <a:pt x="1091526" y="0"/>
                  </a:moveTo>
                  <a:lnTo>
                    <a:pt x="2059266" y="228600"/>
                  </a:lnTo>
                </a:path>
                <a:path w="2059305" h="1296670">
                  <a:moveTo>
                    <a:pt x="748626" y="750569"/>
                  </a:moveTo>
                  <a:lnTo>
                    <a:pt x="1904" y="1115313"/>
                  </a:lnTo>
                </a:path>
                <a:path w="2059305" h="1296670">
                  <a:moveTo>
                    <a:pt x="0" y="1105407"/>
                  </a:moveTo>
                  <a:lnTo>
                    <a:pt x="696810" y="1296669"/>
                  </a:lnTo>
                </a:path>
              </a:pathLst>
            </a:custGeom>
            <a:ln w="25400">
              <a:solidFill>
                <a:srgbClr val="1674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73602" y="2698873"/>
              <a:ext cx="114561" cy="11456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45278" y="2930086"/>
              <a:ext cx="114561" cy="11461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0296" y="3804789"/>
              <a:ext cx="114576" cy="114561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32226" y="3447284"/>
              <a:ext cx="114561" cy="114561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58260" y="3804027"/>
              <a:ext cx="114561" cy="114561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97430" y="3216948"/>
              <a:ext cx="107999" cy="287997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2116835" y="3235579"/>
              <a:ext cx="177800" cy="257810"/>
            </a:xfrm>
            <a:custGeom>
              <a:avLst/>
              <a:gdLst/>
              <a:ahLst/>
              <a:cxnLst/>
              <a:rect l="l" t="t" r="r" b="b"/>
              <a:pathLst>
                <a:path w="177800" h="257810">
                  <a:moveTo>
                    <a:pt x="177800" y="257810"/>
                  </a:moveTo>
                  <a:lnTo>
                    <a:pt x="0" y="128905"/>
                  </a:lnTo>
                  <a:lnTo>
                    <a:pt x="177800" y="0"/>
                  </a:lnTo>
                  <a:lnTo>
                    <a:pt x="177800" y="257810"/>
                  </a:lnTo>
                  <a:close/>
                </a:path>
              </a:pathLst>
            </a:custGeom>
            <a:ln w="25400">
              <a:solidFill>
                <a:srgbClr val="1674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94992" y="3300603"/>
              <a:ext cx="115443" cy="11531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86052" y="4202126"/>
              <a:ext cx="287997" cy="107999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1197635" y="4021455"/>
              <a:ext cx="257810" cy="177800"/>
            </a:xfrm>
            <a:custGeom>
              <a:avLst/>
              <a:gdLst/>
              <a:ahLst/>
              <a:cxnLst/>
              <a:rect l="l" t="t" r="r" b="b"/>
              <a:pathLst>
                <a:path w="257809" h="177800">
                  <a:moveTo>
                    <a:pt x="0" y="177800"/>
                  </a:moveTo>
                  <a:lnTo>
                    <a:pt x="128879" y="0"/>
                  </a:lnTo>
                  <a:lnTo>
                    <a:pt x="257784" y="177800"/>
                  </a:lnTo>
                  <a:lnTo>
                    <a:pt x="0" y="177800"/>
                  </a:lnTo>
                  <a:close/>
                </a:path>
              </a:pathLst>
            </a:custGeom>
            <a:ln w="25400">
              <a:solidFill>
                <a:srgbClr val="1674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75080" y="3999611"/>
              <a:ext cx="115442" cy="115443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2629104" y="4087801"/>
            <a:ext cx="1397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0" dirty="0">
                <a:latin typeface="Times New Roman"/>
                <a:cs typeface="Times New Roman"/>
              </a:rPr>
              <a:t>9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783825" y="2908353"/>
            <a:ext cx="1397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0" dirty="0">
                <a:latin typeface="Times New Roman"/>
                <a:cs typeface="Times New Roman"/>
              </a:rPr>
              <a:t>4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668730" y="3140127"/>
            <a:ext cx="1397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0" dirty="0">
                <a:latin typeface="Times New Roman"/>
                <a:cs typeface="Times New Roman"/>
              </a:rPr>
              <a:t>5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526243" y="3624251"/>
            <a:ext cx="1397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0" dirty="0">
                <a:latin typeface="Times New Roman"/>
                <a:cs typeface="Times New Roman"/>
              </a:rPr>
              <a:t>6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559047" y="2357397"/>
            <a:ext cx="243840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50" dirty="0">
                <a:latin typeface="Cambria Math"/>
                <a:cs typeface="Cambria Math"/>
              </a:rPr>
              <a:t>A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098620" y="3175404"/>
            <a:ext cx="241300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50" dirty="0">
                <a:latin typeface="Cambria Math"/>
                <a:cs typeface="Cambria Math"/>
              </a:rPr>
              <a:t>B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889209" y="3412916"/>
            <a:ext cx="389255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700" baseline="1543" dirty="0">
                <a:latin typeface="Times New Roman"/>
                <a:cs typeface="Times New Roman"/>
              </a:rPr>
              <a:t>7</a:t>
            </a:r>
            <a:r>
              <a:rPr sz="2700" spc="-157" baseline="1543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Cambria Math"/>
                <a:cs typeface="Cambria Math"/>
              </a:rPr>
              <a:t>C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688909" y="3827283"/>
            <a:ext cx="252729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50" dirty="0">
                <a:latin typeface="Cambria Math"/>
                <a:cs typeface="Cambria Math"/>
              </a:rPr>
              <a:t>D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560864" y="3067062"/>
            <a:ext cx="233045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50" dirty="0">
                <a:latin typeface="Cambria Math"/>
                <a:cs typeface="Cambria Math"/>
              </a:rPr>
              <a:t>E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773610" y="4270398"/>
            <a:ext cx="224154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50" dirty="0">
                <a:latin typeface="Cambria Math"/>
                <a:cs typeface="Cambria Math"/>
              </a:rPr>
              <a:t>F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33211" y="3752895"/>
            <a:ext cx="241300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spc="-50" dirty="0">
                <a:latin typeface="Cambria Math"/>
                <a:cs typeface="Cambria Math"/>
              </a:rPr>
              <a:t>G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152511" y="3797353"/>
            <a:ext cx="1397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5003291" y="3772915"/>
            <a:ext cx="853440" cy="469265"/>
            <a:chOff x="5003291" y="3772915"/>
            <a:chExt cx="853440" cy="469265"/>
          </a:xfrm>
        </p:grpSpPr>
        <p:sp>
          <p:nvSpPr>
            <p:cNvPr id="52" name="object 52"/>
            <p:cNvSpPr/>
            <p:nvPr/>
          </p:nvSpPr>
          <p:spPr>
            <a:xfrm>
              <a:off x="5349622" y="3772915"/>
              <a:ext cx="116839" cy="325755"/>
            </a:xfrm>
            <a:custGeom>
              <a:avLst/>
              <a:gdLst/>
              <a:ahLst/>
              <a:cxnLst/>
              <a:rect l="l" t="t" r="r" b="b"/>
              <a:pathLst>
                <a:path w="116839" h="325754">
                  <a:moveTo>
                    <a:pt x="56120" y="46653"/>
                  </a:moveTo>
                  <a:lnTo>
                    <a:pt x="31366" y="79755"/>
                  </a:lnTo>
                  <a:lnTo>
                    <a:pt x="12443" y="121919"/>
                  </a:lnTo>
                  <a:lnTo>
                    <a:pt x="2029" y="166877"/>
                  </a:lnTo>
                  <a:lnTo>
                    <a:pt x="0" y="189991"/>
                  </a:lnTo>
                  <a:lnTo>
                    <a:pt x="362" y="211962"/>
                  </a:lnTo>
                  <a:lnTo>
                    <a:pt x="7490" y="259079"/>
                  </a:lnTo>
                  <a:lnTo>
                    <a:pt x="24254" y="304037"/>
                  </a:lnTo>
                  <a:lnTo>
                    <a:pt x="36065" y="325500"/>
                  </a:lnTo>
                  <a:lnTo>
                    <a:pt x="46987" y="319023"/>
                  </a:lnTo>
                  <a:lnTo>
                    <a:pt x="40349" y="307683"/>
                  </a:lnTo>
                  <a:lnTo>
                    <a:pt x="35230" y="297687"/>
                  </a:lnTo>
                  <a:lnTo>
                    <a:pt x="30986" y="288168"/>
                  </a:lnTo>
                  <a:lnTo>
                    <a:pt x="26769" y="277922"/>
                  </a:lnTo>
                  <a:lnTo>
                    <a:pt x="23404" y="267944"/>
                  </a:lnTo>
                  <a:lnTo>
                    <a:pt x="19959" y="256285"/>
                  </a:lnTo>
                  <a:lnTo>
                    <a:pt x="19879" y="256015"/>
                  </a:lnTo>
                  <a:lnTo>
                    <a:pt x="19809" y="255777"/>
                  </a:lnTo>
                  <a:lnTo>
                    <a:pt x="15371" y="234568"/>
                  </a:lnTo>
                  <a:lnTo>
                    <a:pt x="13060" y="212978"/>
                  </a:lnTo>
                  <a:lnTo>
                    <a:pt x="12944" y="211962"/>
                  </a:lnTo>
                  <a:lnTo>
                    <a:pt x="14529" y="168790"/>
                  </a:lnTo>
                  <a:lnTo>
                    <a:pt x="24433" y="126266"/>
                  </a:lnTo>
                  <a:lnTo>
                    <a:pt x="42456" y="85896"/>
                  </a:lnTo>
                  <a:lnTo>
                    <a:pt x="54353" y="67182"/>
                  </a:lnTo>
                  <a:lnTo>
                    <a:pt x="54530" y="67182"/>
                  </a:lnTo>
                  <a:lnTo>
                    <a:pt x="64538" y="56219"/>
                  </a:lnTo>
                  <a:lnTo>
                    <a:pt x="56120" y="46653"/>
                  </a:lnTo>
                  <a:close/>
                </a:path>
                <a:path w="116839" h="325754">
                  <a:moveTo>
                    <a:pt x="94713" y="37718"/>
                  </a:moveTo>
                  <a:lnTo>
                    <a:pt x="64386" y="37718"/>
                  </a:lnTo>
                  <a:lnTo>
                    <a:pt x="73657" y="46227"/>
                  </a:lnTo>
                  <a:lnTo>
                    <a:pt x="64538" y="56219"/>
                  </a:lnTo>
                  <a:lnTo>
                    <a:pt x="76197" y="69468"/>
                  </a:lnTo>
                  <a:lnTo>
                    <a:pt x="94713" y="37718"/>
                  </a:lnTo>
                  <a:close/>
                </a:path>
                <a:path w="116839" h="325754">
                  <a:moveTo>
                    <a:pt x="54530" y="67182"/>
                  </a:moveTo>
                  <a:lnTo>
                    <a:pt x="54353" y="67182"/>
                  </a:lnTo>
                  <a:lnTo>
                    <a:pt x="53948" y="67820"/>
                  </a:lnTo>
                  <a:lnTo>
                    <a:pt x="54530" y="67182"/>
                  </a:lnTo>
                  <a:close/>
                </a:path>
                <a:path w="116839" h="325754">
                  <a:moveTo>
                    <a:pt x="64386" y="37718"/>
                  </a:moveTo>
                  <a:lnTo>
                    <a:pt x="56120" y="46653"/>
                  </a:lnTo>
                  <a:lnTo>
                    <a:pt x="64538" y="56219"/>
                  </a:lnTo>
                  <a:lnTo>
                    <a:pt x="73657" y="46227"/>
                  </a:lnTo>
                  <a:lnTo>
                    <a:pt x="64386" y="37718"/>
                  </a:lnTo>
                  <a:close/>
                </a:path>
                <a:path w="116839" h="325754">
                  <a:moveTo>
                    <a:pt x="116710" y="0"/>
                  </a:moveTo>
                  <a:lnTo>
                    <a:pt x="42669" y="31368"/>
                  </a:lnTo>
                  <a:lnTo>
                    <a:pt x="56120" y="46653"/>
                  </a:lnTo>
                  <a:lnTo>
                    <a:pt x="64386" y="37718"/>
                  </a:lnTo>
                  <a:lnTo>
                    <a:pt x="94713" y="37718"/>
                  </a:lnTo>
                  <a:lnTo>
                    <a:pt x="11671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015991" y="3785615"/>
              <a:ext cx="697230" cy="191135"/>
            </a:xfrm>
            <a:custGeom>
              <a:avLst/>
              <a:gdLst/>
              <a:ahLst/>
              <a:cxnLst/>
              <a:rect l="l" t="t" r="r" b="b"/>
              <a:pathLst>
                <a:path w="697229" h="191135">
                  <a:moveTo>
                    <a:pt x="0" y="0"/>
                  </a:moveTo>
                  <a:lnTo>
                    <a:pt x="696722" y="191134"/>
                  </a:lnTo>
                </a:path>
              </a:pathLst>
            </a:custGeom>
            <a:ln w="25399">
              <a:solidFill>
                <a:srgbClr val="1674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68695" y="4133800"/>
              <a:ext cx="287997" cy="107999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5580379" y="3953128"/>
              <a:ext cx="257810" cy="178435"/>
            </a:xfrm>
            <a:custGeom>
              <a:avLst/>
              <a:gdLst/>
              <a:ahLst/>
              <a:cxnLst/>
              <a:rect l="l" t="t" r="r" b="b"/>
              <a:pathLst>
                <a:path w="257810" h="178435">
                  <a:moveTo>
                    <a:pt x="0" y="177927"/>
                  </a:moveTo>
                  <a:lnTo>
                    <a:pt x="128905" y="0"/>
                  </a:lnTo>
                  <a:lnTo>
                    <a:pt x="257810" y="177927"/>
                  </a:lnTo>
                  <a:lnTo>
                    <a:pt x="0" y="177927"/>
                  </a:lnTo>
                  <a:close/>
                </a:path>
              </a:pathLst>
            </a:custGeom>
            <a:ln w="25400">
              <a:solidFill>
                <a:srgbClr val="1674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657722" y="3931411"/>
              <a:ext cx="115442" cy="115315"/>
            </a:xfrm>
            <a:prstGeom prst="rect">
              <a:avLst/>
            </a:prstGeom>
          </p:spPr>
        </p:pic>
      </p:grpSp>
      <p:sp>
        <p:nvSpPr>
          <p:cNvPr id="57" name="object 57"/>
          <p:cNvSpPr txBox="1"/>
          <p:nvPr/>
        </p:nvSpPr>
        <p:spPr>
          <a:xfrm>
            <a:off x="7454835" y="4729151"/>
            <a:ext cx="1397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0" dirty="0">
                <a:latin typeface="Times New Roman"/>
                <a:cs typeface="Times New Roman"/>
              </a:rPr>
              <a:t>8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7082786" y="4659626"/>
            <a:ext cx="989330" cy="942340"/>
            <a:chOff x="7082786" y="4659626"/>
            <a:chExt cx="989330" cy="942340"/>
          </a:xfrm>
        </p:grpSpPr>
        <p:sp>
          <p:nvSpPr>
            <p:cNvPr id="59" name="object 59"/>
            <p:cNvSpPr/>
            <p:nvPr/>
          </p:nvSpPr>
          <p:spPr>
            <a:xfrm>
              <a:off x="7151243" y="4720336"/>
              <a:ext cx="908050" cy="869315"/>
            </a:xfrm>
            <a:custGeom>
              <a:avLst/>
              <a:gdLst/>
              <a:ahLst/>
              <a:cxnLst/>
              <a:rect l="l" t="t" r="r" b="b"/>
              <a:pathLst>
                <a:path w="908050" h="869314">
                  <a:moveTo>
                    <a:pt x="0" y="0"/>
                  </a:moveTo>
                  <a:lnTo>
                    <a:pt x="908050" y="868908"/>
                  </a:lnTo>
                </a:path>
              </a:pathLst>
            </a:custGeom>
            <a:ln w="25400">
              <a:solidFill>
                <a:srgbClr val="1674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584948" y="5125720"/>
              <a:ext cx="363855" cy="346710"/>
            </a:xfrm>
            <a:custGeom>
              <a:avLst/>
              <a:gdLst/>
              <a:ahLst/>
              <a:cxnLst/>
              <a:rect l="l" t="t" r="r" b="b"/>
              <a:pathLst>
                <a:path w="363854" h="346710">
                  <a:moveTo>
                    <a:pt x="115950" y="0"/>
                  </a:moveTo>
                  <a:lnTo>
                    <a:pt x="0" y="137667"/>
                  </a:lnTo>
                  <a:lnTo>
                    <a:pt x="247903" y="346328"/>
                  </a:lnTo>
                  <a:lnTo>
                    <a:pt x="363854" y="208533"/>
                  </a:lnTo>
                  <a:lnTo>
                    <a:pt x="115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584948" y="5125720"/>
              <a:ext cx="363855" cy="346710"/>
            </a:xfrm>
            <a:custGeom>
              <a:avLst/>
              <a:gdLst/>
              <a:ahLst/>
              <a:cxnLst/>
              <a:rect l="l" t="t" r="r" b="b"/>
              <a:pathLst>
                <a:path w="363854" h="346710">
                  <a:moveTo>
                    <a:pt x="363854" y="208533"/>
                  </a:moveTo>
                  <a:lnTo>
                    <a:pt x="247903" y="346328"/>
                  </a:lnTo>
                  <a:lnTo>
                    <a:pt x="0" y="137667"/>
                  </a:lnTo>
                  <a:lnTo>
                    <a:pt x="115950" y="0"/>
                  </a:lnTo>
                  <a:lnTo>
                    <a:pt x="363854" y="208533"/>
                  </a:lnTo>
                  <a:close/>
                </a:path>
              </a:pathLst>
            </a:custGeom>
            <a:ln w="25400">
              <a:solidFill>
                <a:srgbClr val="126F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704312" y="5246100"/>
              <a:ext cx="114776" cy="114839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82786" y="4659626"/>
              <a:ext cx="114561" cy="114561"/>
            </a:xfrm>
            <a:prstGeom prst="rect">
              <a:avLst/>
            </a:prstGeom>
          </p:spPr>
        </p:pic>
      </p:grpSp>
      <p:sp>
        <p:nvSpPr>
          <p:cNvPr id="64" name="object 64"/>
          <p:cNvSpPr txBox="1"/>
          <p:nvPr/>
        </p:nvSpPr>
        <p:spPr>
          <a:xfrm>
            <a:off x="7853629" y="4943400"/>
            <a:ext cx="1397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0" dirty="0">
                <a:latin typeface="Times New Roman"/>
                <a:cs typeface="Times New Roman"/>
              </a:rPr>
              <a:t>9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913435" y="4682883"/>
            <a:ext cx="252729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50" dirty="0">
                <a:latin typeface="Cambria Math"/>
                <a:cs typeface="Cambria Math"/>
              </a:rPr>
              <a:t>D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426509" y="5290843"/>
            <a:ext cx="224154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50" dirty="0">
                <a:latin typeface="Cambria Math"/>
                <a:cs typeface="Cambria Math"/>
              </a:rPr>
              <a:t>F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951346" y="822504"/>
            <a:ext cx="2540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25" dirty="0">
                <a:latin typeface="Times New Roman"/>
                <a:cs typeface="Times New Roman"/>
              </a:rPr>
              <a:t>10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498970" y="860605"/>
            <a:ext cx="2540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25" dirty="0">
                <a:latin typeface="Times New Roman"/>
                <a:cs typeface="Times New Roman"/>
              </a:rPr>
              <a:t>11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6520049" y="951099"/>
            <a:ext cx="1203960" cy="394970"/>
            <a:chOff x="6520049" y="951099"/>
            <a:chExt cx="1203960" cy="394970"/>
          </a:xfrm>
        </p:grpSpPr>
        <p:sp>
          <p:nvSpPr>
            <p:cNvPr id="70" name="object 70"/>
            <p:cNvSpPr/>
            <p:nvPr/>
          </p:nvSpPr>
          <p:spPr>
            <a:xfrm>
              <a:off x="7386955" y="1153248"/>
              <a:ext cx="324485" cy="180340"/>
            </a:xfrm>
            <a:custGeom>
              <a:avLst/>
              <a:gdLst/>
              <a:ahLst/>
              <a:cxnLst/>
              <a:rect l="l" t="t" r="r" b="b"/>
              <a:pathLst>
                <a:path w="324484" h="180340">
                  <a:moveTo>
                    <a:pt x="0" y="179997"/>
                  </a:moveTo>
                  <a:lnTo>
                    <a:pt x="324002" y="179997"/>
                  </a:lnTo>
                  <a:lnTo>
                    <a:pt x="324002" y="0"/>
                  </a:lnTo>
                  <a:lnTo>
                    <a:pt x="0" y="0"/>
                  </a:lnTo>
                  <a:lnTo>
                    <a:pt x="0" y="179997"/>
                  </a:lnTo>
                  <a:close/>
                </a:path>
              </a:pathLst>
            </a:custGeom>
            <a:ln w="25400">
              <a:solidFill>
                <a:srgbClr val="126F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571234" y="1000759"/>
              <a:ext cx="967740" cy="228600"/>
            </a:xfrm>
            <a:custGeom>
              <a:avLst/>
              <a:gdLst/>
              <a:ahLst/>
              <a:cxnLst/>
              <a:rect l="l" t="t" r="r" b="b"/>
              <a:pathLst>
                <a:path w="967740" h="228600">
                  <a:moveTo>
                    <a:pt x="0" y="0"/>
                  </a:moveTo>
                  <a:lnTo>
                    <a:pt x="967740" y="228600"/>
                  </a:lnTo>
                </a:path>
              </a:pathLst>
            </a:custGeom>
            <a:ln w="25400">
              <a:solidFill>
                <a:srgbClr val="1674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520049" y="951099"/>
              <a:ext cx="114615" cy="114561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491726" y="1182366"/>
              <a:ext cx="114561" cy="114561"/>
            </a:xfrm>
            <a:prstGeom prst="rect">
              <a:avLst/>
            </a:prstGeom>
          </p:spPr>
        </p:pic>
      </p:grpSp>
      <p:sp>
        <p:nvSpPr>
          <p:cNvPr id="74" name="object 74"/>
          <p:cNvSpPr txBox="1"/>
          <p:nvPr/>
        </p:nvSpPr>
        <p:spPr>
          <a:xfrm>
            <a:off x="6405494" y="609750"/>
            <a:ext cx="243840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50" dirty="0">
                <a:latin typeface="Cambria Math"/>
                <a:cs typeface="Cambria Math"/>
              </a:rPr>
              <a:t>A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906514" y="1249993"/>
            <a:ext cx="1483995" cy="69786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492759">
              <a:lnSpc>
                <a:spcPct val="100000"/>
              </a:lnSpc>
              <a:spcBef>
                <a:spcPts val="530"/>
              </a:spcBef>
            </a:pPr>
            <a:r>
              <a:rPr sz="1900" spc="-50" dirty="0">
                <a:latin typeface="Cambria Math"/>
                <a:cs typeface="Cambria Math"/>
              </a:rPr>
              <a:t>E</a:t>
            </a:r>
            <a:endParaRPr sz="19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800" dirty="0">
                <a:latin typeface="Arial"/>
                <a:cs typeface="Arial"/>
              </a:rPr>
              <a:t>2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khâu 3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khớp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6485885" y="3213354"/>
            <a:ext cx="878205" cy="618490"/>
            <a:chOff x="6485885" y="3213354"/>
            <a:chExt cx="878205" cy="618490"/>
          </a:xfrm>
        </p:grpSpPr>
        <p:sp>
          <p:nvSpPr>
            <p:cNvPr id="77" name="object 77"/>
            <p:cNvSpPr/>
            <p:nvPr/>
          </p:nvSpPr>
          <p:spPr>
            <a:xfrm>
              <a:off x="7108189" y="3272917"/>
              <a:ext cx="198755" cy="478790"/>
            </a:xfrm>
            <a:custGeom>
              <a:avLst/>
              <a:gdLst/>
              <a:ahLst/>
              <a:cxnLst/>
              <a:rect l="l" t="t" r="r" b="b"/>
              <a:pathLst>
                <a:path w="198754" h="478789">
                  <a:moveTo>
                    <a:pt x="0" y="478663"/>
                  </a:moveTo>
                  <a:lnTo>
                    <a:pt x="198754" y="0"/>
                  </a:lnTo>
                </a:path>
              </a:pathLst>
            </a:custGeom>
            <a:ln w="25400">
              <a:solidFill>
                <a:srgbClr val="1674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485885" y="3360035"/>
              <a:ext cx="114561" cy="114561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011919" y="3716778"/>
              <a:ext cx="114561" cy="114561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248651" y="3213354"/>
              <a:ext cx="115316" cy="115443"/>
            </a:xfrm>
            <a:prstGeom prst="rect">
              <a:avLst/>
            </a:prstGeom>
          </p:spPr>
        </p:pic>
      </p:grpSp>
      <p:sp>
        <p:nvSpPr>
          <p:cNvPr id="81" name="object 81"/>
          <p:cNvSpPr txBox="1"/>
          <p:nvPr/>
        </p:nvSpPr>
        <p:spPr>
          <a:xfrm>
            <a:off x="6613100" y="3550337"/>
            <a:ext cx="1397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0" dirty="0">
                <a:latin typeface="Times New Roman"/>
                <a:cs typeface="Times New Roman"/>
              </a:rPr>
              <a:t>6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6252140" y="3173499"/>
            <a:ext cx="241300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50" dirty="0">
                <a:latin typeface="Cambria Math"/>
                <a:cs typeface="Cambria Math"/>
              </a:rPr>
              <a:t>B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7205715" y="2900090"/>
            <a:ext cx="229870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spc="-50" dirty="0">
                <a:latin typeface="Cambria Math"/>
                <a:cs typeface="Cambria Math"/>
              </a:rPr>
              <a:t>C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6842569" y="3740035"/>
            <a:ext cx="252729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50" dirty="0">
                <a:latin typeface="Cambria Math"/>
                <a:cs typeface="Cambria Math"/>
              </a:rPr>
              <a:t>D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6565645" y="3456304"/>
            <a:ext cx="460375" cy="306070"/>
          </a:xfrm>
          <a:custGeom>
            <a:avLst/>
            <a:gdLst/>
            <a:ahLst/>
            <a:cxnLst/>
            <a:rect l="l" t="t" r="r" b="b"/>
            <a:pathLst>
              <a:path w="460375" h="306070">
                <a:moveTo>
                  <a:pt x="0" y="0"/>
                </a:moveTo>
                <a:lnTo>
                  <a:pt x="460121" y="306070"/>
                </a:lnTo>
              </a:path>
            </a:pathLst>
          </a:custGeom>
          <a:ln w="25400">
            <a:solidFill>
              <a:srgbClr val="16745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7247593" y="3364613"/>
            <a:ext cx="1513840" cy="72517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800" spc="-50" dirty="0">
                <a:latin typeface="Times New Roman"/>
                <a:cs typeface="Times New Roman"/>
              </a:rPr>
              <a:t>7</a:t>
            </a:r>
            <a:endParaRPr sz="1800">
              <a:latin typeface="Times New Roman"/>
              <a:cs typeface="Times New Roman"/>
            </a:endParaRPr>
          </a:p>
          <a:p>
            <a:pPr marL="43180">
              <a:lnSpc>
                <a:spcPct val="100000"/>
              </a:lnSpc>
              <a:spcBef>
                <a:spcPts val="595"/>
              </a:spcBef>
            </a:pPr>
            <a:r>
              <a:rPr sz="1800" dirty="0">
                <a:latin typeface="Arial"/>
                <a:cs typeface="Arial"/>
              </a:rPr>
              <a:t>2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khâu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3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khớp</a:t>
            </a:r>
            <a:endParaRPr sz="1800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5727532" y="2106093"/>
            <a:ext cx="1397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0" dirty="0">
                <a:latin typeface="Times New Roman"/>
                <a:cs typeface="Times New Roman"/>
              </a:rPr>
              <a:t>3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5220318" y="2560120"/>
            <a:ext cx="1397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0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4932167" y="1858514"/>
            <a:ext cx="1610360" cy="1221105"/>
            <a:chOff x="4932167" y="1858514"/>
            <a:chExt cx="1610360" cy="1221105"/>
          </a:xfrm>
        </p:grpSpPr>
        <p:sp>
          <p:nvSpPr>
            <p:cNvPr id="90" name="object 90"/>
            <p:cNvSpPr/>
            <p:nvPr/>
          </p:nvSpPr>
          <p:spPr>
            <a:xfrm>
              <a:off x="4967096" y="2658618"/>
              <a:ext cx="746760" cy="365125"/>
            </a:xfrm>
            <a:custGeom>
              <a:avLst/>
              <a:gdLst/>
              <a:ahLst/>
              <a:cxnLst/>
              <a:rect l="l" t="t" r="r" b="b"/>
              <a:pathLst>
                <a:path w="746760" h="365125">
                  <a:moveTo>
                    <a:pt x="746760" y="0"/>
                  </a:moveTo>
                  <a:lnTo>
                    <a:pt x="0" y="364744"/>
                  </a:lnTo>
                </a:path>
              </a:pathLst>
            </a:custGeom>
            <a:ln w="25400">
              <a:solidFill>
                <a:srgbClr val="1674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005518" y="1858514"/>
              <a:ext cx="114615" cy="114561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932167" y="2964430"/>
              <a:ext cx="114561" cy="114561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664142" y="2606925"/>
              <a:ext cx="114595" cy="114561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426834" y="2460244"/>
              <a:ext cx="115442" cy="115315"/>
            </a:xfrm>
            <a:prstGeom prst="rect">
              <a:avLst/>
            </a:prstGeom>
          </p:spPr>
        </p:pic>
      </p:grpSp>
      <p:sp>
        <p:nvSpPr>
          <p:cNvPr id="95" name="object 95"/>
          <p:cNvSpPr txBox="1"/>
          <p:nvPr/>
        </p:nvSpPr>
        <p:spPr>
          <a:xfrm>
            <a:off x="6266417" y="1970077"/>
            <a:ext cx="1397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0" dirty="0">
                <a:latin typeface="Times New Roman"/>
                <a:cs typeface="Times New Roman"/>
              </a:rPr>
              <a:t>4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6000573" y="2299768"/>
            <a:ext cx="139700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spc="-50" dirty="0">
                <a:latin typeface="Times New Roman"/>
                <a:cs typeface="Times New Roman"/>
              </a:rPr>
              <a:t>5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5891017" y="1517038"/>
            <a:ext cx="243840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50" dirty="0">
                <a:latin typeface="Cambria Math"/>
                <a:cs typeface="Cambria Math"/>
              </a:rPr>
              <a:t>A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5472360" y="2401720"/>
            <a:ext cx="241300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50" dirty="0">
                <a:latin typeface="Cambria Math"/>
                <a:cs typeface="Cambria Math"/>
              </a:rPr>
              <a:t>B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4673588" y="2797347"/>
            <a:ext cx="241300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spc="-50" dirty="0">
                <a:latin typeface="Cambria Math"/>
                <a:cs typeface="Cambria Math"/>
              </a:rPr>
              <a:t>G</a:t>
            </a:r>
            <a:endParaRPr sz="1900">
              <a:latin typeface="Cambria Math"/>
              <a:cs typeface="Cambria Math"/>
            </a:endParaRPr>
          </a:p>
        </p:txBody>
      </p:sp>
      <p:sp>
        <p:nvSpPr>
          <p:cNvPr id="100" name="object 100"/>
          <p:cNvSpPr/>
          <p:nvPr/>
        </p:nvSpPr>
        <p:spPr>
          <a:xfrm>
            <a:off x="5733034" y="1954783"/>
            <a:ext cx="720090" cy="721360"/>
          </a:xfrm>
          <a:custGeom>
            <a:avLst/>
            <a:gdLst/>
            <a:ahLst/>
            <a:cxnLst/>
            <a:rect l="l" t="t" r="r" b="b"/>
            <a:pathLst>
              <a:path w="720089" h="721360">
                <a:moveTo>
                  <a:pt x="318135" y="4444"/>
                </a:moveTo>
                <a:lnTo>
                  <a:pt x="0" y="665988"/>
                </a:lnTo>
              </a:path>
              <a:path w="720089" h="721360">
                <a:moveTo>
                  <a:pt x="352298" y="0"/>
                </a:moveTo>
                <a:lnTo>
                  <a:pt x="719708" y="531367"/>
                </a:lnTo>
              </a:path>
              <a:path w="720089" h="721360">
                <a:moveTo>
                  <a:pt x="31876" y="721105"/>
                </a:moveTo>
                <a:lnTo>
                  <a:pt x="706501" y="563117"/>
                </a:lnTo>
              </a:path>
            </a:pathLst>
          </a:custGeom>
          <a:ln w="25400">
            <a:solidFill>
              <a:srgbClr val="16745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 txBox="1"/>
          <p:nvPr/>
        </p:nvSpPr>
        <p:spPr>
          <a:xfrm>
            <a:off x="330200" y="1254759"/>
            <a:ext cx="4627245" cy="83058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110"/>
              </a:spcBef>
              <a:buClr>
                <a:srgbClr val="1D9A78"/>
              </a:buClr>
              <a:buFont typeface="Wingdings"/>
              <a:buChar char=""/>
              <a:tabLst>
                <a:tab pos="298450" algn="l"/>
              </a:tabLst>
            </a:pPr>
            <a:r>
              <a:rPr sz="1800" b="1" dirty="0">
                <a:solidFill>
                  <a:srgbClr val="0D4D3B"/>
                </a:solidFill>
                <a:latin typeface="Arial"/>
                <a:cs typeface="Arial"/>
              </a:rPr>
              <a:t>Xếp</a:t>
            </a:r>
            <a:r>
              <a:rPr sz="1800" b="1" spc="-25" dirty="0">
                <a:solidFill>
                  <a:srgbClr val="0D4D3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4D3B"/>
                </a:solidFill>
                <a:latin typeface="Arial"/>
                <a:cs typeface="Arial"/>
              </a:rPr>
              <a:t>hạng</a:t>
            </a:r>
            <a:r>
              <a:rPr sz="1800" b="1" spc="-35" dirty="0">
                <a:solidFill>
                  <a:srgbClr val="0D4D3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4D3B"/>
                </a:solidFill>
                <a:latin typeface="Arial"/>
                <a:cs typeface="Arial"/>
              </a:rPr>
              <a:t>(loại)</a:t>
            </a:r>
            <a:r>
              <a:rPr sz="1800" b="1" spc="-40" dirty="0">
                <a:solidFill>
                  <a:srgbClr val="0D4D3B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D4D3B"/>
                </a:solidFill>
                <a:latin typeface="Arial"/>
                <a:cs typeface="Arial"/>
              </a:rPr>
              <a:t>cơ</a:t>
            </a:r>
            <a:r>
              <a:rPr sz="1800" b="1" spc="-35" dirty="0">
                <a:solidFill>
                  <a:srgbClr val="0D4D3B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0D4D3B"/>
                </a:solidFill>
                <a:latin typeface="Arial"/>
                <a:cs typeface="Arial"/>
              </a:rPr>
              <a:t>cấu</a:t>
            </a:r>
            <a:endParaRPr sz="1800">
              <a:latin typeface="Arial"/>
              <a:cs typeface="Arial"/>
            </a:endParaRPr>
          </a:p>
          <a:p>
            <a:pPr marL="75565">
              <a:lnSpc>
                <a:spcPct val="100000"/>
              </a:lnSpc>
              <a:spcBef>
                <a:spcPts val="1010"/>
              </a:spcBef>
            </a:pP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Số</a:t>
            </a:r>
            <a:r>
              <a:rPr sz="18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khớp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trùng</a:t>
            </a:r>
            <a:r>
              <a:rPr sz="180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nhau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số</a:t>
            </a:r>
            <a:r>
              <a:rPr sz="18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khâu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(kể</a:t>
            </a:r>
            <a:r>
              <a:rPr sz="1800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cả</a:t>
            </a: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giá)</a:t>
            </a:r>
            <a:r>
              <a:rPr sz="1800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sz="18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6513310" y="2245283"/>
            <a:ext cx="1851660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850" baseline="-21929" dirty="0">
                <a:latin typeface="Cambria Math"/>
                <a:cs typeface="Cambria Math"/>
              </a:rPr>
              <a:t>C</a:t>
            </a:r>
            <a:r>
              <a:rPr sz="2850" spc="637" baseline="-21929" dirty="0">
                <a:latin typeface="Cambria Math"/>
                <a:cs typeface="Cambria Math"/>
              </a:rPr>
              <a:t> </a:t>
            </a:r>
            <a:r>
              <a:rPr sz="1800" dirty="0">
                <a:latin typeface="Arial"/>
                <a:cs typeface="Arial"/>
              </a:rPr>
              <a:t>4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khâu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6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khớp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7185152" y="5790691"/>
            <a:ext cx="1483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2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khâu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3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khớp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3551935" y="6224422"/>
            <a:ext cx="21951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Đây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cơ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hạng </a:t>
            </a:r>
            <a:r>
              <a:rPr sz="1800" spc="-50" dirty="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30" dirty="0"/>
              <a:t> </a:t>
            </a:r>
            <a:r>
              <a:rPr dirty="0"/>
              <a:t>1</a:t>
            </a:r>
            <a:r>
              <a:rPr spc="-45" dirty="0"/>
              <a:t> </a:t>
            </a:r>
            <a:r>
              <a:rPr dirty="0"/>
              <a:t>–</a:t>
            </a:r>
            <a:r>
              <a:rPr spc="-50" dirty="0"/>
              <a:t> </a:t>
            </a:r>
            <a:r>
              <a:rPr dirty="0"/>
              <a:t>PHÂN</a:t>
            </a:r>
            <a:r>
              <a:rPr spc="-40" dirty="0"/>
              <a:t> </a:t>
            </a:r>
            <a:r>
              <a:rPr dirty="0"/>
              <a:t>TÍCH</a:t>
            </a:r>
            <a:r>
              <a:rPr spc="-45" dirty="0"/>
              <a:t> </a:t>
            </a:r>
            <a:r>
              <a:rPr dirty="0"/>
              <a:t>CẤU</a:t>
            </a:r>
            <a:r>
              <a:rPr spc="-55" dirty="0"/>
              <a:t> </a:t>
            </a:r>
            <a:r>
              <a:rPr dirty="0"/>
              <a:t>TRÚC</a:t>
            </a:r>
            <a:r>
              <a:rPr spc="-45" dirty="0"/>
              <a:t> </a:t>
            </a:r>
            <a:r>
              <a:rPr dirty="0"/>
              <a:t>CƠ</a:t>
            </a:r>
            <a:r>
              <a:rPr spc="-45" dirty="0"/>
              <a:t> </a:t>
            </a:r>
            <a:r>
              <a:rPr spc="-25" dirty="0"/>
              <a:t>CẤU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5757" y="521842"/>
            <a:ext cx="5280025" cy="65913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434"/>
              </a:spcBef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Bài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tập 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1.1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800" dirty="0">
                <a:latin typeface="Arial"/>
                <a:cs typeface="Arial"/>
              </a:rPr>
              <a:t>Vẽ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lược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đồ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động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và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tính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bậc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tự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do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các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 </a:t>
            </a:r>
            <a:r>
              <a:rPr sz="1800" spc="-20" dirty="0">
                <a:latin typeface="Arial"/>
                <a:cs typeface="Arial"/>
              </a:rPr>
              <a:t>sau.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28329" y="120522"/>
            <a:ext cx="297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1.32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877" y="1571752"/>
            <a:ext cx="3474972" cy="25607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23507" y="1809431"/>
            <a:ext cx="5119695" cy="17265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0354" y="4330458"/>
            <a:ext cx="4078898" cy="236677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76063" y="3789095"/>
            <a:ext cx="3812159" cy="247688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58276" y="2569379"/>
            <a:ext cx="30416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>
                <a:latin typeface="Times New Roman"/>
                <a:cs typeface="Times New Roman"/>
              </a:rPr>
              <a:t>(a)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37839" y="2802804"/>
            <a:ext cx="32004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>
                <a:latin typeface="Times New Roman"/>
                <a:cs typeface="Times New Roman"/>
              </a:rPr>
              <a:t>(b)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48985" y="6063453"/>
            <a:ext cx="32004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>
                <a:latin typeface="Times New Roman"/>
                <a:cs typeface="Times New Roman"/>
              </a:rPr>
              <a:t>(d)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36342" y="6215853"/>
            <a:ext cx="30416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>
                <a:latin typeface="Times New Roman"/>
                <a:cs typeface="Times New Roman"/>
              </a:rPr>
              <a:t>(c)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7728" y="120522"/>
            <a:ext cx="314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NHH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1580" y="2084762"/>
            <a:ext cx="3681316" cy="293251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30" dirty="0"/>
              <a:t> </a:t>
            </a:r>
            <a:r>
              <a:rPr dirty="0"/>
              <a:t>1</a:t>
            </a:r>
            <a:r>
              <a:rPr spc="-45" dirty="0"/>
              <a:t> </a:t>
            </a:r>
            <a:r>
              <a:rPr dirty="0"/>
              <a:t>–</a:t>
            </a:r>
            <a:r>
              <a:rPr spc="-50" dirty="0"/>
              <a:t> </a:t>
            </a:r>
            <a:r>
              <a:rPr dirty="0"/>
              <a:t>PHÂN</a:t>
            </a:r>
            <a:r>
              <a:rPr spc="-40" dirty="0"/>
              <a:t> </a:t>
            </a:r>
            <a:r>
              <a:rPr dirty="0"/>
              <a:t>TÍCH</a:t>
            </a:r>
            <a:r>
              <a:rPr spc="-45" dirty="0"/>
              <a:t> </a:t>
            </a:r>
            <a:r>
              <a:rPr dirty="0"/>
              <a:t>CẤU</a:t>
            </a:r>
            <a:r>
              <a:rPr spc="-55" dirty="0"/>
              <a:t> </a:t>
            </a:r>
            <a:r>
              <a:rPr dirty="0"/>
              <a:t>TRÚC</a:t>
            </a:r>
            <a:r>
              <a:rPr spc="-45" dirty="0"/>
              <a:t> </a:t>
            </a:r>
            <a:r>
              <a:rPr dirty="0"/>
              <a:t>CƠ</a:t>
            </a:r>
            <a:r>
              <a:rPr spc="-45" dirty="0"/>
              <a:t> </a:t>
            </a:r>
            <a:r>
              <a:rPr spc="-25" dirty="0"/>
              <a:t>CẤU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5757" y="521842"/>
            <a:ext cx="5280025" cy="65913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434"/>
              </a:spcBef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Bài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tập 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1.2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800" dirty="0">
                <a:latin typeface="Arial"/>
                <a:cs typeface="Arial"/>
              </a:rPr>
              <a:t>Vẽ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lược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đồ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động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và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tính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bậc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tự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do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các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 </a:t>
            </a:r>
            <a:r>
              <a:rPr sz="1800" spc="-20" dirty="0">
                <a:latin typeface="Arial"/>
                <a:cs typeface="Arial"/>
              </a:rPr>
              <a:t>sau.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28329" y="120522"/>
            <a:ext cx="297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1.33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0527" y="2120010"/>
            <a:ext cx="4011422" cy="328396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984423" y="5286975"/>
            <a:ext cx="30416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>
                <a:latin typeface="Times New Roman"/>
                <a:cs typeface="Times New Roman"/>
              </a:rPr>
              <a:t>(a)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13093" y="5286975"/>
            <a:ext cx="32004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>
                <a:latin typeface="Times New Roman"/>
                <a:cs typeface="Times New Roman"/>
              </a:rPr>
              <a:t>(b)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7728" y="120522"/>
            <a:ext cx="314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NHH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30" dirty="0"/>
              <a:t> </a:t>
            </a:r>
            <a:r>
              <a:rPr dirty="0"/>
              <a:t>1</a:t>
            </a:r>
            <a:r>
              <a:rPr spc="-45" dirty="0"/>
              <a:t> </a:t>
            </a:r>
            <a:r>
              <a:rPr dirty="0"/>
              <a:t>–</a:t>
            </a:r>
            <a:r>
              <a:rPr spc="-50" dirty="0"/>
              <a:t> </a:t>
            </a:r>
            <a:r>
              <a:rPr dirty="0"/>
              <a:t>PHÂN</a:t>
            </a:r>
            <a:r>
              <a:rPr spc="-40" dirty="0"/>
              <a:t> </a:t>
            </a:r>
            <a:r>
              <a:rPr dirty="0"/>
              <a:t>TÍCH</a:t>
            </a:r>
            <a:r>
              <a:rPr spc="-45" dirty="0"/>
              <a:t> </a:t>
            </a:r>
            <a:r>
              <a:rPr dirty="0"/>
              <a:t>CẤU</a:t>
            </a:r>
            <a:r>
              <a:rPr spc="-55" dirty="0"/>
              <a:t> </a:t>
            </a:r>
            <a:r>
              <a:rPr dirty="0"/>
              <a:t>TRÚC</a:t>
            </a:r>
            <a:r>
              <a:rPr spc="-45" dirty="0"/>
              <a:t> </a:t>
            </a:r>
            <a:r>
              <a:rPr dirty="0"/>
              <a:t>CƠ</a:t>
            </a:r>
            <a:r>
              <a:rPr spc="-45" dirty="0"/>
              <a:t> </a:t>
            </a:r>
            <a:r>
              <a:rPr spc="-25" dirty="0"/>
              <a:t>CẤU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5757" y="521842"/>
            <a:ext cx="5280025" cy="65913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434"/>
              </a:spcBef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Bài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tập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1.3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800" dirty="0">
                <a:latin typeface="Arial"/>
                <a:cs typeface="Arial"/>
              </a:rPr>
              <a:t>Vẽ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lược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đồ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động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và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tính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bậc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tự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do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các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 </a:t>
            </a:r>
            <a:r>
              <a:rPr sz="1800" spc="-20" dirty="0">
                <a:latin typeface="Arial"/>
                <a:cs typeface="Arial"/>
              </a:rPr>
              <a:t>sau.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28329" y="120522"/>
            <a:ext cx="297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1.34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683" y="1425970"/>
            <a:ext cx="4840719" cy="2336488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4572000" y="1244426"/>
            <a:ext cx="4509135" cy="5422265"/>
            <a:chOff x="4572000" y="1244426"/>
            <a:chExt cx="4509135" cy="542226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91789" y="1244426"/>
              <a:ext cx="3788881" cy="272241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2000" y="3995254"/>
              <a:ext cx="4319761" cy="2671064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5046" y="3853973"/>
            <a:ext cx="3865418" cy="291004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79447" y="2076110"/>
            <a:ext cx="30416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>
                <a:latin typeface="Times New Roman"/>
                <a:cs typeface="Times New Roman"/>
              </a:rPr>
              <a:t>(a)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25591" y="2228510"/>
            <a:ext cx="32004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>
                <a:latin typeface="Times New Roman"/>
                <a:cs typeface="Times New Roman"/>
              </a:rPr>
              <a:t>(b)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04967" y="6178807"/>
            <a:ext cx="32004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>
                <a:latin typeface="Times New Roman"/>
                <a:cs typeface="Times New Roman"/>
              </a:rPr>
              <a:t>(d)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1947" y="6251896"/>
            <a:ext cx="30416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>
                <a:latin typeface="Times New Roman"/>
                <a:cs typeface="Times New Roman"/>
              </a:rPr>
              <a:t>(c)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7728" y="120522"/>
            <a:ext cx="314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NHH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04655" y="1271016"/>
            <a:ext cx="2019300" cy="5281295"/>
            <a:chOff x="3104655" y="1271016"/>
            <a:chExt cx="2019300" cy="52812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04655" y="3712242"/>
              <a:ext cx="1964216" cy="283969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18560" y="1271016"/>
              <a:ext cx="1405255" cy="249313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</a:pPr>
            <a:r>
              <a:rPr dirty="0"/>
              <a:t>CHƯƠNG</a:t>
            </a:r>
            <a:r>
              <a:rPr spc="-30" dirty="0"/>
              <a:t> </a:t>
            </a:r>
            <a:r>
              <a:rPr dirty="0"/>
              <a:t>1</a:t>
            </a:r>
            <a:r>
              <a:rPr spc="-45" dirty="0"/>
              <a:t> </a:t>
            </a:r>
            <a:r>
              <a:rPr dirty="0"/>
              <a:t>–</a:t>
            </a:r>
            <a:r>
              <a:rPr spc="-50" dirty="0"/>
              <a:t> </a:t>
            </a:r>
            <a:r>
              <a:rPr dirty="0"/>
              <a:t>PHÂN</a:t>
            </a:r>
            <a:r>
              <a:rPr spc="-40" dirty="0"/>
              <a:t> </a:t>
            </a:r>
            <a:r>
              <a:rPr dirty="0"/>
              <a:t>TÍCH</a:t>
            </a:r>
            <a:r>
              <a:rPr spc="-45" dirty="0"/>
              <a:t> </a:t>
            </a:r>
            <a:r>
              <a:rPr dirty="0"/>
              <a:t>CẤU</a:t>
            </a:r>
            <a:r>
              <a:rPr spc="-55" dirty="0"/>
              <a:t> </a:t>
            </a:r>
            <a:r>
              <a:rPr dirty="0"/>
              <a:t>TRÚC</a:t>
            </a:r>
            <a:r>
              <a:rPr spc="-45" dirty="0"/>
              <a:t> </a:t>
            </a:r>
            <a:r>
              <a:rPr dirty="0"/>
              <a:t>CƠ</a:t>
            </a:r>
            <a:r>
              <a:rPr spc="-45" dirty="0"/>
              <a:t> </a:t>
            </a:r>
            <a:r>
              <a:rPr spc="-25" dirty="0"/>
              <a:t>CẤU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5757" y="521842"/>
            <a:ext cx="7112634" cy="65913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434"/>
              </a:spcBef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Bài</a:t>
            </a:r>
            <a:r>
              <a:rPr sz="1800" b="1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tập 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1.4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800" dirty="0">
                <a:latin typeface="Arial"/>
                <a:cs typeface="Arial"/>
              </a:rPr>
              <a:t>Tách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nhóm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và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xếp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hạng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(phân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loại)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các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cấu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sau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(khâu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dẫn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khâu </a:t>
            </a:r>
            <a:r>
              <a:rPr sz="1800" spc="-25" dirty="0">
                <a:latin typeface="Arial"/>
                <a:cs typeface="Arial"/>
              </a:rPr>
              <a:t>2).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28329" y="120522"/>
            <a:ext cx="2971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1.35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476630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D9A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24077" y="4267237"/>
            <a:ext cx="2938480" cy="223570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5489" y="1273119"/>
            <a:ext cx="1838068" cy="237048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9262" y="4244390"/>
            <a:ext cx="2177027" cy="199414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404611" y="1290334"/>
            <a:ext cx="3618223" cy="2190608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61947" y="3430820"/>
            <a:ext cx="30416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>
                <a:latin typeface="Times New Roman"/>
                <a:cs typeface="Times New Roman"/>
              </a:rPr>
              <a:t>(a)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46552" y="3384591"/>
            <a:ext cx="32004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>
                <a:latin typeface="Times New Roman"/>
                <a:cs typeface="Times New Roman"/>
              </a:rPr>
              <a:t>(b)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12034" y="6404291"/>
            <a:ext cx="32004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>
                <a:latin typeface="Times New Roman"/>
                <a:cs typeface="Times New Roman"/>
              </a:rPr>
              <a:t>(d)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1947" y="6251896"/>
            <a:ext cx="30416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>
                <a:latin typeface="Times New Roman"/>
                <a:cs typeface="Times New Roman"/>
              </a:rPr>
              <a:t>(c)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967646" y="3140752"/>
            <a:ext cx="30416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>
                <a:latin typeface="Times New Roman"/>
                <a:cs typeface="Times New Roman"/>
              </a:rPr>
              <a:t>(e)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40657" y="6166527"/>
            <a:ext cx="27559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>
                <a:latin typeface="Times New Roman"/>
                <a:cs typeface="Times New Roman"/>
              </a:rPr>
              <a:t>(f)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7728" y="120522"/>
            <a:ext cx="314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NHH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4387</TotalTime>
  <Words>3473</Words>
  <Application>Microsoft Office PowerPoint</Application>
  <PresentationFormat>On-screen Show (4:3)</PresentationFormat>
  <Paragraphs>729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0" baseType="lpstr">
      <vt:lpstr>Arial</vt:lpstr>
      <vt:lpstr>Calibri</vt:lpstr>
      <vt:lpstr>Cambria Math</vt:lpstr>
      <vt:lpstr>CIDFont+F2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GIỚI THIỆU MÔN HỌC</vt:lpstr>
      <vt:lpstr>GIỚI THIỆU MÔN HỌC</vt:lpstr>
      <vt:lpstr>CHƯƠNG 1 – PHÂN TÍCH CẤU TRÚC CƠ CẤU</vt:lpstr>
      <vt:lpstr>CHƯƠNG 1 – PHÂN TÍCH CẤU TRÚC CƠ CẤU</vt:lpstr>
      <vt:lpstr>CHƯƠNG 1 – PHÂN TÍCH CẤU TRÚC CƠ CẤU</vt:lpstr>
      <vt:lpstr>CHƯƠNG 1 – PHÂN TÍCH CẤU TRÚC CƠ CẤU</vt:lpstr>
      <vt:lpstr>CHƯƠNG 1 – PHÂN TÍCH CẤU TRÚC CƠ CẤU</vt:lpstr>
      <vt:lpstr>CHƯƠNG 1 – PHÂN TÍCH CẤU TRÚC CƠ CẤU</vt:lpstr>
      <vt:lpstr>PowerPoint Presentation</vt:lpstr>
      <vt:lpstr>CHƯƠNG 1 – PHÂN TÍCH CẤU TRÚC CƠ CẤU</vt:lpstr>
      <vt:lpstr>CHƯƠNG 1 – PHÂN TÍCH CẤU TRÚC CƠ CẤU</vt:lpstr>
      <vt:lpstr>CHƯƠNG 1 – PHÂN TÍCH CẤU TRÚC CƠ CẤU</vt:lpstr>
      <vt:lpstr>CHƯƠNG 1 – PHÂN TÍCH CẤU TRÚC CƠ CẤU</vt:lpstr>
      <vt:lpstr>CHƯƠNG 1 – PHÂN TÍCH CẤU TRÚC CƠ CẤU</vt:lpstr>
      <vt:lpstr>CHƯƠNG 1 – PHÂN TÍCH CẤU TRÚC CƠ CẤU</vt:lpstr>
      <vt:lpstr>CHƯƠNG 1 – PHÂN TÍCH CẤU TRÚC CƠ CẤU</vt:lpstr>
      <vt:lpstr>PowerPoint Presentation</vt:lpstr>
      <vt:lpstr>CHƯƠNG 1 – PHÂN TÍCH CẤU TRÚC CƠ CẤU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CHƯƠNG 1 – PHÂN TÍCH CẤU TRÚC CƠ CẤU</vt:lpstr>
      <vt:lpstr>CHƯƠNG 1 – PHÂN TÍCH CẤU TRÚC CƠ CẤU</vt:lpstr>
      <vt:lpstr>CHƯƠNG 1 – PHÂN TÍCH CẤU TRÚC CƠ CẤU</vt:lpstr>
      <vt:lpstr>CHƯƠNG 1 – PHÂN TÍCH CẤU TRÚC CƠ CẤU</vt:lpstr>
      <vt:lpstr>CHƯƠNG 1 – PHÂN TÍCH CẤU TRÚC CƠ CẤU</vt:lpstr>
      <vt:lpstr>CHƯƠNG 1 – PHÂN TÍCH CẤU TRÚC CƠ CẤU</vt:lpstr>
      <vt:lpstr>CHƯƠNG 1 – PHÂN TÍCH CẤU TRÚC CƠ CẤU</vt:lpstr>
      <vt:lpstr>CHƯƠNG 1 – PHÂN TÍCH CẤU TRÚC CƠ CẤU</vt:lpstr>
      <vt:lpstr>CHƯƠNG 1 – PHÂN TÍCH CẤU TRÚC CƠ CẤU</vt:lpstr>
      <vt:lpstr>CHƯƠNG 1 – PHÂN TÍCH CẤU TRÚC CƠ CẤU</vt:lpstr>
      <vt:lpstr>CHƯƠNG 1 – PHÂN TÍCH CẤU TRÚC CƠ CẤU</vt:lpstr>
      <vt:lpstr>CHƯƠNG 1 – PHÂN TÍCH CẤU TRÚC CƠ CẤU</vt:lpstr>
      <vt:lpstr>CHƯƠNG 1 – PHÂN TÍCH CẤU TRÚC CƠ CẤU</vt:lpstr>
      <vt:lpstr>CHƯƠNG 1 – PHÂN TÍCH CẤU TRÚC CƠ CẤU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Nguyễn Văn Cường</cp:lastModifiedBy>
  <cp:revision>4</cp:revision>
  <dcterms:created xsi:type="dcterms:W3CDTF">2025-08-14T08:35:04Z</dcterms:created>
  <dcterms:modified xsi:type="dcterms:W3CDTF">2025-09-05T00:18:39Z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2025-02-09T00:00:00Z</vt:filetime>
  </property>
  <property fmtid="{D5CDD505-2E9C-101B-9397-08002B2CF9AE}" pid="3" name="LastSaved">
    <vt:filetime>2025-08-14T00:00:00Z</vt:filetime>
  </property>
  <property fmtid="{D5CDD505-2E9C-101B-9397-08002B2CF9AE}" pid="4" name="Producer">
    <vt:lpwstr>3-Heights(TM) PDF Security Shell 4.8.25.2 (http://www.pdf-tools.com)</vt:lpwstr>
  </property>
</Properties>
</file>