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2" r:id="rId5"/>
    <p:sldId id="263" r:id="rId6"/>
    <p:sldId id="265" r:id="rId7"/>
    <p:sldId id="266" r:id="rId8"/>
    <p:sldId id="264" r:id="rId9"/>
    <p:sldId id="261" r:id="rId10"/>
    <p:sldId id="267" r:id="rId11"/>
    <p:sldId id="268" r:id="rId12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01/21/2013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01/21/2013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01/21/2013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01/21/2013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01/21/2013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01/21/2013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01/21/2013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01/21/2013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01/21/2013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01/21/2013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01/21/2013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EC2EA90-4B14-451E-B926-202477D43F00}" type="datetimeFigureOut">
              <a:rPr lang="en-US" smtClean="0"/>
              <a:pPr/>
              <a:t>01/21/2013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Bài tập chương </a:t>
            </a:r>
            <a:r>
              <a:rPr lang="en-US" smtClean="0"/>
              <a:t>3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K</a:t>
            </a:r>
            <a:r>
              <a:rPr lang="en-US" smtClean="0"/>
              <a:t>huếch </a:t>
            </a:r>
            <a:r>
              <a:rPr lang="en-US" smtClean="0"/>
              <a:t>đại </a:t>
            </a:r>
            <a:r>
              <a:rPr lang="en-US" smtClean="0"/>
              <a:t>thuật toán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vi-VN" smtClean="0">
                <a:latin typeface="Times New Roman" pitchFamily="18" charset="0"/>
                <a:cs typeface="Times New Roman" pitchFamily="18" charset="0"/>
              </a:rPr>
              <a:t>Cho mạch điện như hình vẽ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. Tìm v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theo v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in1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và v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in2</a:t>
            </a:r>
            <a:endParaRPr lang="en-US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667000"/>
            <a:ext cx="4044242" cy="169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Tìm hệ số khuếch đại áp Ku= v</a:t>
            </a:r>
            <a:r>
              <a:rPr lang="en-US" baseline="-25000" smtClean="0"/>
              <a:t>out</a:t>
            </a:r>
            <a:r>
              <a:rPr lang="en-US" smtClean="0"/>
              <a:t>/v</a:t>
            </a:r>
            <a:r>
              <a:rPr lang="en-US" baseline="-25000" smtClean="0"/>
              <a:t>in</a:t>
            </a:r>
          </a:p>
          <a:p>
            <a:r>
              <a:rPr lang="en-US" smtClean="0"/>
              <a:t> Cho Ri = R1 = R</a:t>
            </a:r>
            <a:r>
              <a:rPr lang="en-US" baseline="-25000" smtClean="0"/>
              <a:t>3</a:t>
            </a:r>
            <a:r>
              <a:rPr lang="en-US" smtClean="0"/>
              <a:t> = 10k</a:t>
            </a:r>
            <a:r>
              <a:rPr lang="el-GR" smtClean="0"/>
              <a:t>Ω, </a:t>
            </a:r>
            <a:r>
              <a:rPr lang="en-US" smtClean="0"/>
              <a:t>R2 = 100</a:t>
            </a:r>
            <a:r>
              <a:rPr lang="el-GR" smtClean="0"/>
              <a:t>Ω. </a:t>
            </a:r>
            <a:r>
              <a:rPr lang="en-US" smtClean="0"/>
              <a:t>Hãy tính Ku.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2743200"/>
            <a:ext cx="3786187" cy="1614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Cho R1 = 2k</a:t>
            </a:r>
            <a:r>
              <a:rPr lang="el-GR" smtClean="0"/>
              <a:t>Ω, </a:t>
            </a:r>
            <a:r>
              <a:rPr lang="en-US" smtClean="0"/>
              <a:t>R2 = 6k</a:t>
            </a:r>
            <a:r>
              <a:rPr lang="el-GR" smtClean="0"/>
              <a:t>Ω, </a:t>
            </a:r>
            <a:r>
              <a:rPr lang="en-US" smtClean="0"/>
              <a:t>R3 = 2k</a:t>
            </a:r>
            <a:r>
              <a:rPr lang="el-GR" smtClean="0"/>
              <a:t>Ω,  </a:t>
            </a:r>
            <a:r>
              <a:rPr lang="en-US" smtClean="0"/>
              <a:t>R4 = 4k</a:t>
            </a:r>
            <a:r>
              <a:rPr lang="el-GR" smtClean="0"/>
              <a:t>Ω, </a:t>
            </a:r>
            <a:r>
              <a:rPr lang="en-US" smtClean="0"/>
              <a:t>R= 12k</a:t>
            </a:r>
            <a:r>
              <a:rPr lang="el-GR" smtClean="0"/>
              <a:t>Ω, </a:t>
            </a:r>
            <a:r>
              <a:rPr lang="en-US" smtClean="0"/>
              <a:t>R</a:t>
            </a:r>
            <a:r>
              <a:rPr lang="en-US" baseline="-25000" smtClean="0"/>
              <a:t>P</a:t>
            </a:r>
            <a:r>
              <a:rPr lang="en-US" smtClean="0"/>
              <a:t> = 4k</a:t>
            </a:r>
            <a:r>
              <a:rPr lang="el-GR" smtClean="0"/>
              <a:t>Ω.  </a:t>
            </a:r>
          </a:p>
          <a:p>
            <a:r>
              <a:rPr lang="en-US" smtClean="0"/>
              <a:t>Hãy tìm</a:t>
            </a:r>
          </a:p>
          <a:p>
            <a:pPr>
              <a:buNone/>
            </a:pPr>
            <a:r>
              <a:rPr lang="en-US" smtClean="0"/>
              <a:t>	 v</a:t>
            </a:r>
            <a:r>
              <a:rPr lang="en-US" baseline="-25000" smtClean="0"/>
              <a:t>out</a:t>
            </a:r>
            <a:r>
              <a:rPr lang="en-US" smtClean="0"/>
              <a:t> = f(v</a:t>
            </a:r>
            <a:r>
              <a:rPr lang="en-US" baseline="-25000" smtClean="0"/>
              <a:t>in1</a:t>
            </a:r>
            <a:r>
              <a:rPr lang="en-US" smtClean="0"/>
              <a:t>, v</a:t>
            </a:r>
            <a:r>
              <a:rPr lang="en-US" baseline="-25000" smtClean="0"/>
              <a:t>in2</a:t>
            </a:r>
            <a:r>
              <a:rPr lang="en-US" smtClean="0"/>
              <a:t>, v</a:t>
            </a:r>
            <a:r>
              <a:rPr lang="en-US" baseline="-25000" smtClean="0"/>
              <a:t>in3</a:t>
            </a:r>
            <a:r>
              <a:rPr lang="en-US" smtClean="0"/>
              <a:t>, v</a:t>
            </a:r>
            <a:r>
              <a:rPr lang="en-US" baseline="-25000" smtClean="0"/>
              <a:t>in4</a:t>
            </a:r>
            <a:r>
              <a:rPr lang="en-US" smtClean="0"/>
              <a:t>).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438400"/>
            <a:ext cx="3857625" cy="2119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4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Hãy tính v</a:t>
            </a:r>
            <a:r>
              <a:rPr lang="en-US" baseline="-25000" smtClean="0"/>
              <a:t>out</a:t>
            </a:r>
            <a:r>
              <a:rPr lang="en-US" smtClean="0"/>
              <a:t>. </a:t>
            </a:r>
          </a:p>
          <a:p>
            <a:r>
              <a:rPr lang="en-US" smtClean="0"/>
              <a:t>Tìm quan hệ giữa R1, R2, R3, R, R</a:t>
            </a:r>
            <a:r>
              <a:rPr lang="en-US" baseline="-25000" smtClean="0"/>
              <a:t>P</a:t>
            </a:r>
            <a:r>
              <a:rPr lang="en-US" smtClean="0"/>
              <a:t> sao cho</a:t>
            </a:r>
          </a:p>
          <a:p>
            <a:pPr>
              <a:buNone/>
            </a:pPr>
            <a:r>
              <a:rPr lang="en-US" smtClean="0"/>
              <a:t>	vout = -2vin1 - 8vin2 + vin3.</a:t>
            </a:r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3810000"/>
            <a:ext cx="4562378" cy="209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5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Tính v</a:t>
            </a:r>
            <a:r>
              <a:rPr lang="en-US" baseline="-25000" smtClean="0"/>
              <a:t>out</a:t>
            </a:r>
            <a:r>
              <a:rPr lang="en-US" smtClean="0"/>
              <a:t> theo v</a:t>
            </a:r>
            <a:r>
              <a:rPr lang="en-US" baseline="-25000" smtClean="0"/>
              <a:t>in </a:t>
            </a:r>
            <a:r>
              <a:rPr lang="en-US" smtClean="0"/>
              <a:t>trong các mạch sau.</a:t>
            </a:r>
            <a:endParaRPr lang="en-US" baseline="-2500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m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2286000"/>
            <a:ext cx="2591978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 descr="m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3581400"/>
            <a:ext cx="3889432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 descr="m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95800" y="4724400"/>
            <a:ext cx="4391309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6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mtClean="0"/>
              <a:t>Với mạch cho trong hình sau, tìm giá trị của v</a:t>
            </a:r>
            <a:r>
              <a:rPr lang="vi-VN" baseline="-25000" smtClean="0"/>
              <a:t>2</a:t>
            </a:r>
            <a:r>
              <a:rPr lang="vi-VN" smtClean="0"/>
              <a:t> để : v</a:t>
            </a:r>
            <a:r>
              <a:rPr lang="vi-VN" baseline="-25000" smtClean="0"/>
              <a:t>0</a:t>
            </a:r>
            <a:r>
              <a:rPr lang="vi-VN" smtClean="0"/>
              <a:t>=500mV. Biết v</a:t>
            </a:r>
            <a:r>
              <a:rPr lang="vi-VN" baseline="-25000" smtClean="0"/>
              <a:t>1</a:t>
            </a:r>
            <a:r>
              <a:rPr lang="vi-VN" smtClean="0"/>
              <a:t>=40mV, R1=50k, R2= 150k. Tính giá trị của dòng ra I</a:t>
            </a:r>
            <a:r>
              <a:rPr lang="vi-VN" baseline="-25000" smtClean="0"/>
              <a:t>L</a:t>
            </a:r>
            <a:r>
              <a:rPr lang="vi-VN" smtClean="0"/>
              <a:t> nếu cho R</a:t>
            </a:r>
            <a:r>
              <a:rPr lang="vi-VN" baseline="-25000" smtClean="0"/>
              <a:t>L</a:t>
            </a:r>
            <a:r>
              <a:rPr lang="vi-VN" smtClean="0"/>
              <a:t>=4k.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/>
          </a:p>
        </p:txBody>
      </p:sp>
      <p:pic>
        <p:nvPicPr>
          <p:cNvPr id="10242" name="Picture 2" descr="m1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3276600"/>
            <a:ext cx="2895600" cy="2321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7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Thiết lập biểu thức tính vout theo v</a:t>
            </a:r>
            <a:r>
              <a:rPr lang="en-US" baseline="-25000" smtClean="0"/>
              <a:t>1</a:t>
            </a:r>
            <a:r>
              <a:rPr lang="en-US" smtClean="0"/>
              <a:t>, v</a:t>
            </a:r>
            <a:r>
              <a:rPr lang="en-US" baseline="-25000" smtClean="0"/>
              <a:t>2</a:t>
            </a:r>
            <a:r>
              <a:rPr lang="en-US" smtClean="0"/>
              <a:t>, Rx, Ry.</a:t>
            </a:r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3124200"/>
            <a:ext cx="5857875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4379681"/>
            <a:ext cx="5562600" cy="2478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r>
              <a:rPr lang="en-US" smtClean="0"/>
              <a:t>Bài 8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389120"/>
          </a:xfrm>
        </p:spPr>
        <p:txBody>
          <a:bodyPr>
            <a:normAutofit/>
          </a:bodyPr>
          <a:lstStyle/>
          <a:p>
            <a:r>
              <a:rPr lang="vi-VN" sz="2000" smtClean="0"/>
              <a:t>Giả thiết các opamp lý tưởng, điện áp cung cấp đối xứng (±VCC),  R2 ≥ R3; VR = 50k</a:t>
            </a:r>
            <a:r>
              <a:rPr lang="el-GR" sz="2000" smtClean="0"/>
              <a:t>Ω; </a:t>
            </a:r>
            <a:r>
              <a:rPr lang="vi-VN" sz="2000" smtClean="0"/>
              <a:t>VCC = ± 12V; R1 = 20k</a:t>
            </a:r>
            <a:r>
              <a:rPr lang="el-GR" sz="2000" smtClean="0"/>
              <a:t>Ω; </a:t>
            </a:r>
            <a:r>
              <a:rPr lang="vi-VN" sz="2000" smtClean="0"/>
              <a:t>R2 = 250k</a:t>
            </a:r>
            <a:r>
              <a:rPr lang="el-GR" sz="2000" smtClean="0"/>
              <a:t>Ω; </a:t>
            </a:r>
            <a:r>
              <a:rPr lang="vi-VN" sz="2000" smtClean="0"/>
              <a:t>R3 = 5k</a:t>
            </a:r>
            <a:r>
              <a:rPr lang="el-GR" sz="2000" smtClean="0"/>
              <a:t>Ω; </a:t>
            </a:r>
            <a:r>
              <a:rPr lang="vi-VN" sz="2000" smtClean="0"/>
              <a:t>R4 = R5 = 15k</a:t>
            </a:r>
            <a:r>
              <a:rPr lang="el-GR" sz="2000" smtClean="0"/>
              <a:t>Ω; </a:t>
            </a:r>
            <a:r>
              <a:rPr lang="vi-VN" sz="2000" smtClean="0"/>
              <a:t>R6 = 165k</a:t>
            </a:r>
            <a:r>
              <a:rPr lang="el-GR" sz="2000" smtClean="0"/>
              <a:t>Ω; </a:t>
            </a:r>
            <a:r>
              <a:rPr lang="vi-VN" sz="2000" smtClean="0"/>
              <a:t>vin = 20mV. </a:t>
            </a:r>
          </a:p>
          <a:p>
            <a:r>
              <a:rPr lang="vi-VN" sz="2000" smtClean="0"/>
              <a:t>Thiết lập hệ thức tính:</a:t>
            </a:r>
            <a:r>
              <a:rPr lang="en-US" sz="2000" smtClean="0"/>
              <a:t> K</a:t>
            </a:r>
            <a:r>
              <a:rPr lang="en-US" sz="2000" baseline="-25000" smtClean="0"/>
              <a:t>u</a:t>
            </a:r>
            <a:r>
              <a:rPr lang="en-US" sz="2000" smtClean="0"/>
              <a:t>=v</a:t>
            </a:r>
            <a:r>
              <a:rPr lang="en-US" sz="2000" baseline="-25000" smtClean="0"/>
              <a:t>out</a:t>
            </a:r>
            <a:r>
              <a:rPr lang="en-US" sz="2000" smtClean="0"/>
              <a:t>/v</a:t>
            </a:r>
            <a:r>
              <a:rPr lang="en-US" sz="2000" baseline="-25000" smtClean="0"/>
              <a:t>in</a:t>
            </a:r>
          </a:p>
          <a:p>
            <a:r>
              <a:rPr lang="vi-VN" sz="2000" smtClean="0"/>
              <a:t>Xác định dải Amin ÷ Amax và v</a:t>
            </a:r>
            <a:r>
              <a:rPr lang="vi-VN" sz="2000" baseline="-25000" smtClean="0"/>
              <a:t>out-min</a:t>
            </a:r>
            <a:r>
              <a:rPr lang="vi-VN" sz="2000" smtClean="0"/>
              <a:t> ÷ v</a:t>
            </a:r>
            <a:r>
              <a:rPr lang="vi-VN" sz="2000" baseline="-25000" smtClean="0"/>
              <a:t>out-max</a:t>
            </a:r>
            <a:r>
              <a:rPr lang="vi-VN" sz="2000" smtClean="0"/>
              <a:t> khi VR biến đổi từ 0 ÷ 50k</a:t>
            </a:r>
            <a:r>
              <a:rPr lang="el-GR" sz="2000" smtClean="0"/>
              <a:t>Ω. </a:t>
            </a:r>
          </a:p>
          <a:p>
            <a:r>
              <a:rPr lang="vi-VN" sz="2000" smtClean="0"/>
              <a:t>Xác định khoảng giá trị VR để IC khuếch đại không bị méo dạng ? Giải thích trên đặc </a:t>
            </a:r>
            <a:r>
              <a:rPr lang="en-US" sz="2000" smtClean="0"/>
              <a:t>t</a:t>
            </a:r>
            <a:r>
              <a:rPr lang="vi-VN" sz="2000" smtClean="0"/>
              <a:t>uyến vào ra vout(vin) của opamp 2</a:t>
            </a:r>
            <a:endParaRPr lang="en-US" sz="2000" smtClean="0"/>
          </a:p>
          <a:p>
            <a:endParaRPr 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9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Trong các bài sau, hãy thiết kế mạch KĐTT thực hiện hàm </a:t>
            </a:r>
          </a:p>
          <a:p>
            <a:pPr marL="514350" indent="-514350">
              <a:buFont typeface="+mj-lt"/>
              <a:buAutoNum type="alphaLcParenR"/>
            </a:pPr>
            <a:r>
              <a:rPr lang="en-US" smtClean="0"/>
              <a:t>v</a:t>
            </a:r>
            <a:r>
              <a:rPr lang="en-US" baseline="-25000" smtClean="0"/>
              <a:t>0 </a:t>
            </a:r>
            <a:r>
              <a:rPr lang="en-US" smtClean="0"/>
              <a:t>= v</a:t>
            </a:r>
            <a:r>
              <a:rPr lang="en-US" baseline="-25000" smtClean="0"/>
              <a:t>1 </a:t>
            </a:r>
            <a:r>
              <a:rPr lang="en-US" smtClean="0"/>
              <a:t>+ 10v</a:t>
            </a:r>
            <a:r>
              <a:rPr lang="en-US" baseline="-25000" smtClean="0"/>
              <a:t>2 </a:t>
            </a:r>
            <a:r>
              <a:rPr lang="en-US" smtClean="0"/>
              <a:t>- v</a:t>
            </a:r>
            <a:r>
              <a:rPr lang="en-US" baseline="-25000" smtClean="0"/>
              <a:t>3 </a:t>
            </a:r>
            <a:r>
              <a:rPr lang="en-US" smtClean="0"/>
              <a:t>- 100v</a:t>
            </a:r>
            <a:r>
              <a:rPr lang="en-US" baseline="-25000" smtClean="0"/>
              <a:t>4 </a:t>
            </a:r>
            <a:endParaRPr lang="en-US" smtClean="0"/>
          </a:p>
          <a:p>
            <a:pPr marL="514350" indent="-514350">
              <a:buFont typeface="+mj-lt"/>
              <a:buAutoNum type="alphaLcParenR"/>
            </a:pPr>
            <a:r>
              <a:rPr lang="en-US" smtClean="0"/>
              <a:t>v</a:t>
            </a:r>
            <a:r>
              <a:rPr lang="en-US" baseline="-25000" smtClean="0"/>
              <a:t>0 </a:t>
            </a:r>
            <a:r>
              <a:rPr lang="en-US" smtClean="0"/>
              <a:t>= 8v</a:t>
            </a:r>
            <a:r>
              <a:rPr lang="en-US" baseline="-25000" smtClean="0"/>
              <a:t>1 </a:t>
            </a:r>
            <a:r>
              <a:rPr lang="en-US" smtClean="0"/>
              <a:t>+ 8v</a:t>
            </a:r>
            <a:r>
              <a:rPr lang="en-US" baseline="-25000" smtClean="0"/>
              <a:t>2 </a:t>
            </a:r>
            <a:r>
              <a:rPr lang="en-US" smtClean="0"/>
              <a:t>- 4v</a:t>
            </a:r>
            <a:r>
              <a:rPr lang="en-US" baseline="-25000" smtClean="0"/>
              <a:t>3 </a:t>
            </a:r>
            <a:r>
              <a:rPr lang="en-US" smtClean="0"/>
              <a:t>- 9v</a:t>
            </a:r>
            <a:r>
              <a:rPr lang="en-US" baseline="-25000" smtClean="0"/>
              <a:t>4 </a:t>
            </a:r>
          </a:p>
          <a:p>
            <a:pPr marL="514350" indent="-514350">
              <a:buFont typeface="+mj-lt"/>
              <a:buAutoNum type="alphaLcParenR"/>
            </a:pPr>
            <a:r>
              <a:rPr lang="en-US" smtClean="0"/>
              <a:t>v</a:t>
            </a:r>
            <a:r>
              <a:rPr lang="en-US" baseline="-25000" smtClean="0"/>
              <a:t>0 </a:t>
            </a:r>
            <a:r>
              <a:rPr lang="en-US" smtClean="0"/>
              <a:t>= 6v</a:t>
            </a:r>
            <a:r>
              <a:rPr lang="en-US" baseline="-25000" smtClean="0"/>
              <a:t>1 </a:t>
            </a:r>
            <a:r>
              <a:rPr lang="en-US" smtClean="0"/>
              <a:t>+ 8v</a:t>
            </a:r>
            <a:r>
              <a:rPr lang="en-US" baseline="-25000" smtClean="0"/>
              <a:t>2 </a:t>
            </a:r>
            <a:r>
              <a:rPr lang="en-US" smtClean="0"/>
              <a:t>- 3v</a:t>
            </a:r>
            <a:r>
              <a:rPr lang="en-US" baseline="-25000" smtClean="0"/>
              <a:t>3 </a:t>
            </a:r>
            <a:r>
              <a:rPr lang="en-US" smtClean="0"/>
              <a:t>- 11v</a:t>
            </a:r>
            <a:r>
              <a:rPr lang="en-US" baseline="-25000" smtClean="0"/>
              <a:t>4 </a:t>
            </a:r>
            <a:endParaRPr lang="en-US" smtClean="0"/>
          </a:p>
          <a:p>
            <a:pPr marL="514350" indent="-514350">
              <a:buFont typeface="+mj-lt"/>
              <a:buAutoNum type="alphaLcParenR"/>
            </a:pPr>
            <a:r>
              <a:rPr lang="en-US" smtClean="0"/>
              <a:t>v</a:t>
            </a:r>
            <a:r>
              <a:rPr lang="en-US" baseline="-25000" smtClean="0"/>
              <a:t>0 </a:t>
            </a:r>
            <a:r>
              <a:rPr lang="en-US" smtClean="0"/>
              <a:t>= 3v</a:t>
            </a:r>
            <a:r>
              <a:rPr lang="en-US" baseline="-25000" smtClean="0"/>
              <a:t>1 </a:t>
            </a:r>
            <a:r>
              <a:rPr lang="en-US" smtClean="0"/>
              <a:t>+ v</a:t>
            </a:r>
            <a:r>
              <a:rPr lang="en-US" baseline="-25000" smtClean="0"/>
              <a:t>2 </a:t>
            </a:r>
            <a:r>
              <a:rPr lang="en-US" smtClean="0"/>
              <a:t>+6 v</a:t>
            </a:r>
            <a:r>
              <a:rPr lang="en-US" baseline="-25000" smtClean="0"/>
              <a:t>3 </a:t>
            </a:r>
            <a:r>
              <a:rPr lang="en-US" smtClean="0"/>
              <a:t>- 4v</a:t>
            </a:r>
            <a:r>
              <a:rPr lang="en-US" baseline="-25000" smtClean="0"/>
              <a:t>4 </a:t>
            </a:r>
            <a:r>
              <a:rPr lang="en-US" smtClean="0"/>
              <a:t>– 5v</a:t>
            </a:r>
            <a:r>
              <a:rPr lang="en-US" baseline="-25000" smtClean="0"/>
              <a:t>5</a:t>
            </a:r>
            <a:endParaRPr lang="en-US" smtClean="0"/>
          </a:p>
          <a:p>
            <a:pPr marL="514350" indent="-514350">
              <a:buFont typeface="+mj-lt"/>
              <a:buAutoNum type="alphaLcParenR"/>
            </a:pPr>
            <a:r>
              <a:rPr lang="de-DE" smtClean="0"/>
              <a:t>v</a:t>
            </a:r>
            <a:r>
              <a:rPr lang="de-DE" baseline="-25000" smtClean="0"/>
              <a:t>o</a:t>
            </a:r>
            <a:r>
              <a:rPr lang="de-DE" smtClean="0"/>
              <a:t> = 2v</a:t>
            </a:r>
            <a:r>
              <a:rPr lang="de-DE" baseline="-25000" smtClean="0"/>
              <a:t>1</a:t>
            </a:r>
            <a:r>
              <a:rPr lang="de-DE" smtClean="0"/>
              <a:t> + 3</a:t>
            </a:r>
            <a:r>
              <a:rPr lang="en-US" smtClean="0">
                <a:sym typeface="Symbol"/>
              </a:rPr>
              <a:t></a:t>
            </a:r>
            <a:r>
              <a:rPr lang="de-DE" smtClean="0">
                <a:sym typeface="Symbol"/>
              </a:rPr>
              <a:t> v</a:t>
            </a:r>
            <a:r>
              <a:rPr lang="de-DE" baseline="-25000" smtClean="0">
                <a:sym typeface="Symbol"/>
              </a:rPr>
              <a:t>2</a:t>
            </a:r>
            <a:r>
              <a:rPr lang="de-DE" smtClean="0">
                <a:sym typeface="Symbol"/>
              </a:rPr>
              <a:t> dt – 4 dv</a:t>
            </a:r>
            <a:r>
              <a:rPr lang="de-DE" baseline="-25000" smtClean="0">
                <a:sym typeface="Symbol"/>
              </a:rPr>
              <a:t>3 </a:t>
            </a:r>
            <a:r>
              <a:rPr lang="de-DE" smtClean="0">
                <a:sym typeface="Symbol"/>
              </a:rPr>
              <a:t>/ dt .</a:t>
            </a:r>
          </a:p>
          <a:p>
            <a:pPr marL="514350" indent="-514350">
              <a:buFont typeface="+mj-lt"/>
              <a:buAutoNum type="alphaLcParenR"/>
            </a:pPr>
            <a:r>
              <a:rPr lang="de-DE" smtClean="0"/>
              <a:t>v</a:t>
            </a:r>
            <a:r>
              <a:rPr lang="de-DE" baseline="-25000" smtClean="0"/>
              <a:t>o</a:t>
            </a:r>
            <a:r>
              <a:rPr lang="de-DE" smtClean="0"/>
              <a:t> = 3v</a:t>
            </a:r>
            <a:r>
              <a:rPr lang="de-DE" baseline="-25000" smtClean="0"/>
              <a:t>1</a:t>
            </a:r>
            <a:r>
              <a:rPr lang="de-DE" smtClean="0"/>
              <a:t>  + 5 dv</a:t>
            </a:r>
            <a:r>
              <a:rPr lang="de-DE" baseline="-25000" smtClean="0"/>
              <a:t>2 </a:t>
            </a:r>
            <a:r>
              <a:rPr lang="de-DE" smtClean="0"/>
              <a:t>/ dt + - 6 </a:t>
            </a:r>
            <a:r>
              <a:rPr lang="en-US" smtClean="0">
                <a:sym typeface="Symbol"/>
              </a:rPr>
              <a:t></a:t>
            </a:r>
            <a:r>
              <a:rPr lang="de-DE" smtClean="0">
                <a:sym typeface="Symbol"/>
              </a:rPr>
              <a:t> v</a:t>
            </a:r>
            <a:r>
              <a:rPr lang="de-DE" baseline="-25000" smtClean="0">
                <a:sym typeface="Symbol"/>
              </a:rPr>
              <a:t>3</a:t>
            </a:r>
            <a:r>
              <a:rPr lang="de-DE" smtClean="0">
                <a:sym typeface="Symbol"/>
              </a:rPr>
              <a:t> dt .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10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Xác định R1, R2, R3, R5, R8 để thỏa biểu thức</a:t>
            </a:r>
          </a:p>
          <a:p>
            <a:pPr algn="ctr">
              <a:buNone/>
            </a:pPr>
            <a:r>
              <a:rPr lang="en-US" smtClean="0"/>
              <a:t> vo = 5v1 + 7v2 + 2v3.</a:t>
            </a:r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3124200"/>
            <a:ext cx="729615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533</TotalTime>
  <Words>403</Words>
  <Application>Microsoft Office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Flow</vt:lpstr>
      <vt:lpstr>Bài tập chương 3</vt:lpstr>
      <vt:lpstr>Bài 1</vt:lpstr>
      <vt:lpstr>Bài 2</vt:lpstr>
      <vt:lpstr>Bài 3</vt:lpstr>
      <vt:lpstr>Bài 4</vt:lpstr>
      <vt:lpstr>Bài 5</vt:lpstr>
      <vt:lpstr>Bài 6</vt:lpstr>
      <vt:lpstr>Bài 7</vt:lpstr>
      <vt:lpstr>Bài 8</vt:lpstr>
      <vt:lpstr>Bài 9</vt:lpstr>
      <vt:lpstr>Bài 10</vt:lpstr>
    </vt:vector>
  </TitlesOfParts>
  <Company>Network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tập chương 2</dc:title>
  <dc:creator>User</dc:creator>
  <cp:lastModifiedBy>User</cp:lastModifiedBy>
  <cp:revision>40</cp:revision>
  <dcterms:created xsi:type="dcterms:W3CDTF">2013-01-11T04:58:09Z</dcterms:created>
  <dcterms:modified xsi:type="dcterms:W3CDTF">2013-01-21T17:23:37Z</dcterms:modified>
</cp:coreProperties>
</file>