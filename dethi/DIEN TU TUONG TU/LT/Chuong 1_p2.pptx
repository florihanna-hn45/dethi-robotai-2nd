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sdx" ContentType="application/vnd.ms-visio.drawing"/>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 id="2147483829" r:id="rId2"/>
    <p:sldMasterId id="2147483816" r:id="rId3"/>
  </p:sldMasterIdLst>
  <p:notesMasterIdLst>
    <p:notesMasterId r:id="rId42"/>
  </p:notesMasterIdLst>
  <p:sldIdLst>
    <p:sldId id="435" r:id="rId4"/>
    <p:sldId id="393" r:id="rId5"/>
    <p:sldId id="437" r:id="rId6"/>
    <p:sldId id="394" r:id="rId7"/>
    <p:sldId id="395" r:id="rId8"/>
    <p:sldId id="396" r:id="rId9"/>
    <p:sldId id="397" r:id="rId10"/>
    <p:sldId id="436" r:id="rId11"/>
    <p:sldId id="399" r:id="rId12"/>
    <p:sldId id="438" r:id="rId13"/>
    <p:sldId id="402" r:id="rId14"/>
    <p:sldId id="440" r:id="rId15"/>
    <p:sldId id="441" r:id="rId16"/>
    <p:sldId id="403" r:id="rId17"/>
    <p:sldId id="404" r:id="rId18"/>
    <p:sldId id="405" r:id="rId19"/>
    <p:sldId id="406" r:id="rId20"/>
    <p:sldId id="407" r:id="rId21"/>
    <p:sldId id="408" r:id="rId22"/>
    <p:sldId id="409" r:id="rId23"/>
    <p:sldId id="410" r:id="rId24"/>
    <p:sldId id="411" r:id="rId25"/>
    <p:sldId id="412" r:id="rId26"/>
    <p:sldId id="413" r:id="rId27"/>
    <p:sldId id="442" r:id="rId28"/>
    <p:sldId id="414" r:id="rId29"/>
    <p:sldId id="415" r:id="rId30"/>
    <p:sldId id="416" r:id="rId31"/>
    <p:sldId id="417" r:id="rId32"/>
    <p:sldId id="418" r:id="rId33"/>
    <p:sldId id="419" r:id="rId34"/>
    <p:sldId id="420" r:id="rId35"/>
    <p:sldId id="421" r:id="rId36"/>
    <p:sldId id="422" r:id="rId37"/>
    <p:sldId id="423" r:id="rId38"/>
    <p:sldId id="424" r:id="rId39"/>
    <p:sldId id="425" r:id="rId40"/>
    <p:sldId id="426"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7" d="100"/>
          <a:sy n="87" d="100"/>
        </p:scale>
        <p:origin x="-283" y="97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wmf"/><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4" Type="http://schemas.openxmlformats.org/officeDocument/2006/relationships/image" Target="../media/image4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B89267-2F02-4675-B896-C1202C2B5EDF}" type="datetimeFigureOut">
              <a:rPr lang="en-US" smtClean="0"/>
              <a:t>1/2/2019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5E07E8-68DE-4FC7-A2AE-F96647C5CBFC}" type="slidenum">
              <a:rPr lang="en-US" smtClean="0"/>
              <a:t>‹#›</a:t>
            </a:fld>
            <a:endParaRPr lang="en-US"/>
          </a:p>
        </p:txBody>
      </p:sp>
    </p:spTree>
    <p:extLst>
      <p:ext uri="{BB962C8B-B14F-4D97-AF65-F5344CB8AC3E}">
        <p14:creationId xmlns:p14="http://schemas.microsoft.com/office/powerpoint/2010/main" val="288047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5E07E8-68DE-4FC7-A2AE-F96647C5CBFC}" type="slidenum">
              <a:rPr lang="en-US" smtClean="0"/>
              <a:t>15</a:t>
            </a:fld>
            <a:endParaRPr lang="en-US"/>
          </a:p>
        </p:txBody>
      </p:sp>
    </p:spTree>
    <p:extLst>
      <p:ext uri="{BB962C8B-B14F-4D97-AF65-F5344CB8AC3E}">
        <p14:creationId xmlns:p14="http://schemas.microsoft.com/office/powerpoint/2010/main" val="1475845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2C3F90F-A90C-45D6-B5A9-1DFAF305753D}" type="slidenum">
              <a:rPr lang="en-US" smtClean="0"/>
              <a:pPr eaLnBrk="1" hangingPunct="1"/>
              <a:t>33</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6AA0034-8FED-4625-8363-7292CBA59DA5}" type="datetimeFigureOut">
              <a:rPr lang="en-US" smtClean="0"/>
              <a:t>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D2012-B45D-4C6B-92F5-A2BF9F75CD0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Constantia" pitchFamily="18" charset="0"/>
              </a:defRPr>
            </a:lvl1pPr>
            <a:lvl2pP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AA0034-8FED-4625-8363-7292CBA59DA5}" type="datetimeFigureOut">
              <a:rPr lang="en-US" smtClean="0"/>
              <a:t>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D2012-B45D-4C6B-92F5-A2BF9F75CD0D}" type="slidenum">
              <a:rPr lang="en-US" smtClean="0"/>
              <a:t>‹#›</a:t>
            </a:fld>
            <a:endParaRPr lang="en-US"/>
          </a:p>
        </p:txBody>
      </p:sp>
      <p:sp>
        <p:nvSpPr>
          <p:cNvPr id="7" name="Title 6"/>
          <p:cNvSpPr>
            <a:spLocks noGrp="1"/>
          </p:cNvSpPr>
          <p:nvPr>
            <p:ph type="title"/>
          </p:nvPr>
        </p:nvSpPr>
        <p:spPr/>
        <p:txBody>
          <a:bodyPr/>
          <a:lstStyle>
            <a:lvl1pPr>
              <a:defRPr>
                <a:latin typeface="Constantia" pitchFamily="18" charset="0"/>
              </a:defRPr>
            </a:lvl1p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AA0034-8FED-4625-8363-7292CBA59DA5}" type="datetimeFigureOut">
              <a:rPr lang="en-US" smtClean="0"/>
              <a:t>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D2012-B45D-4C6B-92F5-A2BF9F75CD0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Constantia" pitchFamily="18" charset="0"/>
              </a:defRPr>
            </a:lvl1p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F6AA0034-8FED-4625-8363-7292CBA59DA5}" type="datetimeFigureOut">
              <a:rPr lang="en-US" smtClean="0"/>
              <a:t>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0D2012-B45D-4C6B-92F5-A2BF9F75CD0D}" type="slidenum">
              <a:rPr lang="en-US" smtClean="0"/>
              <a:t>‹#›</a:t>
            </a:fld>
            <a:endParaRPr lang="en-US"/>
          </a:p>
        </p:txBody>
      </p:sp>
      <p:sp>
        <p:nvSpPr>
          <p:cNvPr id="9" name="Content Placeholder 8"/>
          <p:cNvSpPr>
            <a:spLocks noGrp="1"/>
          </p:cNvSpPr>
          <p:nvPr>
            <p:ph sz="quarter" idx="13"/>
          </p:nvPr>
        </p:nvSpPr>
        <p:spPr>
          <a:xfrm>
            <a:off x="676655" y="2679192"/>
            <a:ext cx="3822192" cy="3447288"/>
          </a:xfrm>
        </p:spPr>
        <p:txBody>
          <a:bodyPr/>
          <a:lstStyle>
            <a:lvl1pPr marL="342900" indent="-342900">
              <a:buClr>
                <a:srgbClr val="C00000"/>
              </a:buClr>
              <a:buFont typeface="Wingdings" pitchFamily="2" charset="2"/>
              <a:buChar char="Ø"/>
              <a:defRPr>
                <a:latin typeface="Constantia" pitchFamily="18" charset="0"/>
              </a:defRPr>
            </a:lvl1pPr>
            <a:lvl2pPr marL="644843" indent="-342900">
              <a:buClr>
                <a:srgbClr val="C00000"/>
              </a:buClr>
              <a:buFont typeface="Arial" pitchFamily="34" charset="0"/>
              <a:buChar cha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lvl1pPr marL="342900" indent="-342900">
              <a:buClr>
                <a:srgbClr val="C00000"/>
              </a:buClr>
              <a:buFont typeface="Wingdings" pitchFamily="2" charset="2"/>
              <a:buChar char="Ø"/>
              <a:defRPr>
                <a:latin typeface="Constantia" pitchFamily="18" charset="0"/>
              </a:defRPr>
            </a:lvl1pPr>
            <a:lvl2pPr marL="644843" indent="-342900">
              <a:buClr>
                <a:srgbClr val="C00000"/>
              </a:buClr>
              <a:buFont typeface="Arial" pitchFamily="34" charset="0"/>
              <a:buChar cha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6AA0034-8FED-4625-8363-7292CBA59DA5}" type="datetimeFigureOut">
              <a:rPr lang="en-US" smtClean="0"/>
              <a:t>1/2/2019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0D2012-B45D-4C6B-92F5-A2BF9F75CD0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6AA0034-8FED-4625-8363-7292CBA59DA5}" type="datetimeFigureOut">
              <a:rPr lang="en-US" smtClean="0"/>
              <a:t>1/2/2019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0D2012-B45D-4C6B-92F5-A2BF9F75CD0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F6AA0034-8FED-4625-8363-7292CBA59DA5}" type="datetimeFigureOut">
              <a:rPr lang="en-US" smtClean="0"/>
              <a:t>1/2/2019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0D2012-B45D-4C6B-92F5-A2BF9F75CD0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F6AA0034-8FED-4625-8363-7292CBA59DA5}" type="datetimeFigureOut">
              <a:rPr lang="en-US" smtClean="0"/>
              <a:t>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0D2012-B45D-4C6B-92F5-A2BF9F75CD0D}" type="slidenum">
              <a:rPr lang="en-US" smtClean="0"/>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AA0034-8FED-4625-8363-7292CBA59DA5}" type="datetimeFigureOut">
              <a:rPr lang="en-US" smtClean="0"/>
              <a:t>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0D2012-B45D-4C6B-92F5-A2BF9F75CD0D}" type="slidenum">
              <a:rPr lang="en-US" smtClean="0"/>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AA0034-8FED-4625-8363-7292CBA59DA5}" type="datetimeFigureOut">
              <a:rPr lang="en-US" smtClean="0"/>
              <a:t>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D2012-B45D-4C6B-92F5-A2BF9F75CD0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F6AA0034-8FED-4625-8363-7292CBA59DA5}" type="datetimeFigureOut">
              <a:rPr lang="en-US" smtClean="0"/>
              <a:t>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D2012-B45D-4C6B-92F5-A2BF9F75CD0D}" type="slidenum">
              <a:rPr lang="en-US" smtClean="0"/>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5" name="Footer Placeholder 4"/>
          <p:cNvSpPr>
            <a:spLocks noGrp="1"/>
          </p:cNvSpPr>
          <p:nvPr>
            <p:ph type="ftr" sz="quarter" idx="11"/>
          </p:nvPr>
        </p:nvSpPr>
        <p:spPr/>
        <p:txBody>
          <a:bodyPr/>
          <a:lstStyle/>
          <a:p>
            <a:endParaRPr lang="en-US">
              <a:solidFill>
                <a:srgbClr val="073E87"/>
              </a:solidFill>
            </a:endParaRPr>
          </a:p>
        </p:txBody>
      </p:sp>
      <p:sp>
        <p:nvSpPr>
          <p:cNvPr id="6" name="Slide Number Placeholder 5"/>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spTree>
    <p:extLst>
      <p:ext uri="{BB962C8B-B14F-4D97-AF65-F5344CB8AC3E}">
        <p14:creationId xmlns:p14="http://schemas.microsoft.com/office/powerpoint/2010/main" val="1401715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Constantia" pitchFamily="18" charset="0"/>
              </a:defRPr>
            </a:lvl1pPr>
            <a:lvl2pP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5" name="Footer Placeholder 4"/>
          <p:cNvSpPr>
            <a:spLocks noGrp="1"/>
          </p:cNvSpPr>
          <p:nvPr>
            <p:ph type="ftr" sz="quarter" idx="11"/>
          </p:nvPr>
        </p:nvSpPr>
        <p:spPr/>
        <p:txBody>
          <a:bodyPr/>
          <a:lstStyle/>
          <a:p>
            <a:endParaRPr lang="en-US">
              <a:solidFill>
                <a:srgbClr val="073E87"/>
              </a:solidFill>
            </a:endParaRPr>
          </a:p>
        </p:txBody>
      </p:sp>
      <p:sp>
        <p:nvSpPr>
          <p:cNvPr id="6" name="Slide Number Placeholder 5"/>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sp>
        <p:nvSpPr>
          <p:cNvPr id="7" name="Title 6"/>
          <p:cNvSpPr>
            <a:spLocks noGrp="1"/>
          </p:cNvSpPr>
          <p:nvPr>
            <p:ph type="title"/>
          </p:nvPr>
        </p:nvSpPr>
        <p:spPr/>
        <p:txBody>
          <a:bodyPr/>
          <a:lstStyle>
            <a:lvl1pPr>
              <a:defRPr>
                <a:latin typeface="Constantia" pitchFamily="18" charset="0"/>
              </a:defRPr>
            </a:lvl1pPr>
          </a:lstStyle>
          <a:p>
            <a:r>
              <a:rPr lang="en-US" smtClean="0"/>
              <a:t>Click to edit Master title style</a:t>
            </a:r>
            <a:endParaRPr lang="en-US"/>
          </a:p>
        </p:txBody>
      </p:sp>
    </p:spTree>
    <p:extLst>
      <p:ext uri="{BB962C8B-B14F-4D97-AF65-F5344CB8AC3E}">
        <p14:creationId xmlns:p14="http://schemas.microsoft.com/office/powerpoint/2010/main" val="17086996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5" name="Footer Placeholder 4"/>
          <p:cNvSpPr>
            <a:spLocks noGrp="1"/>
          </p:cNvSpPr>
          <p:nvPr>
            <p:ph type="ftr" sz="quarter" idx="11"/>
          </p:nvPr>
        </p:nvSpPr>
        <p:spPr/>
        <p:txBody>
          <a:bodyPr/>
          <a:lstStyle/>
          <a:p>
            <a:endParaRPr lang="en-US">
              <a:solidFill>
                <a:srgbClr val="073E87"/>
              </a:solidFill>
            </a:endParaRPr>
          </a:p>
        </p:txBody>
      </p:sp>
      <p:sp>
        <p:nvSpPr>
          <p:cNvPr id="6" name="Slide Number Placeholder 5"/>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spTree>
    <p:extLst>
      <p:ext uri="{BB962C8B-B14F-4D97-AF65-F5344CB8AC3E}">
        <p14:creationId xmlns:p14="http://schemas.microsoft.com/office/powerpoint/2010/main" val="8530210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Constantia" pitchFamily="18" charset="0"/>
              </a:defRPr>
            </a:lvl1p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6" name="Footer Placeholder 5"/>
          <p:cNvSpPr>
            <a:spLocks noGrp="1"/>
          </p:cNvSpPr>
          <p:nvPr>
            <p:ph type="ftr" sz="quarter" idx="11"/>
          </p:nvPr>
        </p:nvSpPr>
        <p:spPr/>
        <p:txBody>
          <a:bodyPr/>
          <a:lstStyle/>
          <a:p>
            <a:endParaRPr lang="en-US">
              <a:solidFill>
                <a:srgbClr val="073E87"/>
              </a:solidFill>
            </a:endParaRPr>
          </a:p>
        </p:txBody>
      </p:sp>
      <p:sp>
        <p:nvSpPr>
          <p:cNvPr id="7" name="Slide Number Placeholder 6"/>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sp>
        <p:nvSpPr>
          <p:cNvPr id="9" name="Content Placeholder 8"/>
          <p:cNvSpPr>
            <a:spLocks noGrp="1"/>
          </p:cNvSpPr>
          <p:nvPr>
            <p:ph sz="quarter" idx="13"/>
          </p:nvPr>
        </p:nvSpPr>
        <p:spPr>
          <a:xfrm>
            <a:off x="676655" y="2679192"/>
            <a:ext cx="3822192" cy="3447288"/>
          </a:xfrm>
        </p:spPr>
        <p:txBody>
          <a:bodyPr/>
          <a:lstStyle>
            <a:lvl1pPr marL="342900" indent="-342900">
              <a:buClr>
                <a:srgbClr val="C00000"/>
              </a:buClr>
              <a:buFont typeface="Wingdings" pitchFamily="2" charset="2"/>
              <a:buChar char="Ø"/>
              <a:defRPr>
                <a:latin typeface="Constantia" pitchFamily="18" charset="0"/>
              </a:defRPr>
            </a:lvl1pPr>
            <a:lvl2pPr marL="644843" indent="-342900">
              <a:buClr>
                <a:srgbClr val="C00000"/>
              </a:buClr>
              <a:buFont typeface="Arial" pitchFamily="34" charset="0"/>
              <a:buChar cha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lvl1pPr marL="342900" indent="-342900">
              <a:buClr>
                <a:srgbClr val="C00000"/>
              </a:buClr>
              <a:buFont typeface="Wingdings" pitchFamily="2" charset="2"/>
              <a:buChar char="Ø"/>
              <a:defRPr>
                <a:latin typeface="Constantia" pitchFamily="18" charset="0"/>
              </a:defRPr>
            </a:lvl1pPr>
            <a:lvl2pPr marL="644843" indent="-342900">
              <a:buClr>
                <a:srgbClr val="C00000"/>
              </a:buClr>
              <a:buFont typeface="Arial" pitchFamily="34" charset="0"/>
              <a:buChar cha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84247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8" name="Footer Placeholder 7"/>
          <p:cNvSpPr>
            <a:spLocks noGrp="1"/>
          </p:cNvSpPr>
          <p:nvPr>
            <p:ph type="ftr" sz="quarter" idx="11"/>
          </p:nvPr>
        </p:nvSpPr>
        <p:spPr/>
        <p:txBody>
          <a:bodyPr/>
          <a:lstStyle/>
          <a:p>
            <a:endParaRPr lang="en-US">
              <a:solidFill>
                <a:srgbClr val="073E87"/>
              </a:solidFill>
            </a:endParaRPr>
          </a:p>
        </p:txBody>
      </p:sp>
      <p:sp>
        <p:nvSpPr>
          <p:cNvPr id="9" name="Slide Number Placeholder 8"/>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spTree>
    <p:extLst>
      <p:ext uri="{BB962C8B-B14F-4D97-AF65-F5344CB8AC3E}">
        <p14:creationId xmlns:p14="http://schemas.microsoft.com/office/powerpoint/2010/main" val="12744351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4" name="Footer Placeholder 3"/>
          <p:cNvSpPr>
            <a:spLocks noGrp="1"/>
          </p:cNvSpPr>
          <p:nvPr>
            <p:ph type="ftr" sz="quarter" idx="11"/>
          </p:nvPr>
        </p:nvSpPr>
        <p:spPr/>
        <p:txBody>
          <a:bodyPr/>
          <a:lstStyle/>
          <a:p>
            <a:endParaRPr lang="en-US">
              <a:solidFill>
                <a:srgbClr val="073E87"/>
              </a:solidFill>
            </a:endParaRPr>
          </a:p>
        </p:txBody>
      </p:sp>
      <p:sp>
        <p:nvSpPr>
          <p:cNvPr id="5" name="Slide Number Placeholder 4"/>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spTree>
    <p:extLst>
      <p:ext uri="{BB962C8B-B14F-4D97-AF65-F5344CB8AC3E}">
        <p14:creationId xmlns:p14="http://schemas.microsoft.com/office/powerpoint/2010/main" val="14556890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 name="Date Placeholder 1"/>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3" name="Footer Placeholder 2"/>
          <p:cNvSpPr>
            <a:spLocks noGrp="1"/>
          </p:cNvSpPr>
          <p:nvPr>
            <p:ph type="ftr" sz="quarter" idx="11"/>
          </p:nvPr>
        </p:nvSpPr>
        <p:spPr/>
        <p:txBody>
          <a:bodyPr/>
          <a:lstStyle/>
          <a:p>
            <a:endParaRPr lang="en-US">
              <a:solidFill>
                <a:srgbClr val="073E87"/>
              </a:solidFill>
            </a:endParaRPr>
          </a:p>
        </p:txBody>
      </p:sp>
      <p:sp>
        <p:nvSpPr>
          <p:cNvPr id="4" name="Slide Number Placeholder 3"/>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spTree>
    <p:extLst>
      <p:ext uri="{BB962C8B-B14F-4D97-AF65-F5344CB8AC3E}">
        <p14:creationId xmlns:p14="http://schemas.microsoft.com/office/powerpoint/2010/main" val="4308412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Date Placeholder 4"/>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6" name="Footer Placeholder 5"/>
          <p:cNvSpPr>
            <a:spLocks noGrp="1"/>
          </p:cNvSpPr>
          <p:nvPr>
            <p:ph type="ftr" sz="quarter" idx="11"/>
          </p:nvPr>
        </p:nvSpPr>
        <p:spPr/>
        <p:txBody>
          <a:bodyPr/>
          <a:lstStyle/>
          <a:p>
            <a:endParaRPr lang="en-US">
              <a:solidFill>
                <a:srgbClr val="073E87"/>
              </a:solidFill>
            </a:endParaRPr>
          </a:p>
        </p:txBody>
      </p:sp>
      <p:sp>
        <p:nvSpPr>
          <p:cNvPr id="7" name="Slide Number Placeholder 6"/>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60245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6" name="Footer Placeholder 5"/>
          <p:cNvSpPr>
            <a:spLocks noGrp="1"/>
          </p:cNvSpPr>
          <p:nvPr>
            <p:ph type="ftr" sz="quarter" idx="11"/>
          </p:nvPr>
        </p:nvSpPr>
        <p:spPr/>
        <p:txBody>
          <a:bodyPr/>
          <a:lstStyle/>
          <a:p>
            <a:endParaRPr lang="en-US">
              <a:solidFill>
                <a:srgbClr val="073E87"/>
              </a:solidFill>
            </a:endParaRPr>
          </a:p>
        </p:txBody>
      </p:sp>
      <p:sp>
        <p:nvSpPr>
          <p:cNvPr id="7" name="Slide Number Placeholder 6"/>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extLst>
      <p:ext uri="{BB962C8B-B14F-4D97-AF65-F5344CB8AC3E}">
        <p14:creationId xmlns:p14="http://schemas.microsoft.com/office/powerpoint/2010/main" val="2766328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5" name="Footer Placeholder 4"/>
          <p:cNvSpPr>
            <a:spLocks noGrp="1"/>
          </p:cNvSpPr>
          <p:nvPr>
            <p:ph type="ftr" sz="quarter" idx="11"/>
          </p:nvPr>
        </p:nvSpPr>
        <p:spPr/>
        <p:txBody>
          <a:bodyPr/>
          <a:lstStyle/>
          <a:p>
            <a:endParaRPr lang="en-US">
              <a:solidFill>
                <a:srgbClr val="073E87"/>
              </a:solidFill>
            </a:endParaRPr>
          </a:p>
        </p:txBody>
      </p:sp>
      <p:sp>
        <p:nvSpPr>
          <p:cNvPr id="6" name="Slide Number Placeholder 5"/>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spTree>
    <p:extLst>
      <p:ext uri="{BB962C8B-B14F-4D97-AF65-F5344CB8AC3E}">
        <p14:creationId xmlns:p14="http://schemas.microsoft.com/office/powerpoint/2010/main" val="1757658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Date Placeholder 3"/>
          <p:cNvSpPr>
            <a:spLocks noGrp="1"/>
          </p:cNvSpPr>
          <p:nvPr>
            <p:ph type="dt" sz="half" idx="10"/>
          </p:nvPr>
        </p:nvSpPr>
        <p:spPr/>
        <p:txBody>
          <a:bodyPr/>
          <a:lstStyle/>
          <a:p>
            <a:fld id="{F6AA0034-8FED-4625-8363-7292CBA59DA5}" type="datetimeFigureOut">
              <a:rPr lang="en-US" smtClean="0">
                <a:solidFill>
                  <a:srgbClr val="073E87"/>
                </a:solidFill>
              </a:rPr>
              <a:pPr/>
              <a:t>1/2/2019</a:t>
            </a:fld>
            <a:endParaRPr lang="en-US">
              <a:solidFill>
                <a:srgbClr val="073E87"/>
              </a:solidFill>
            </a:endParaRPr>
          </a:p>
        </p:txBody>
      </p:sp>
      <p:sp>
        <p:nvSpPr>
          <p:cNvPr id="5" name="Footer Placeholder 4"/>
          <p:cNvSpPr>
            <a:spLocks noGrp="1"/>
          </p:cNvSpPr>
          <p:nvPr>
            <p:ph type="ftr" sz="quarter" idx="11"/>
          </p:nvPr>
        </p:nvSpPr>
        <p:spPr/>
        <p:txBody>
          <a:bodyPr/>
          <a:lstStyle/>
          <a:p>
            <a:endParaRPr lang="en-US">
              <a:solidFill>
                <a:srgbClr val="073E87"/>
              </a:solidFill>
            </a:endParaRPr>
          </a:p>
        </p:txBody>
      </p:sp>
      <p:sp>
        <p:nvSpPr>
          <p:cNvPr id="6" name="Slide Number Placeholder 5"/>
          <p:cNvSpPr>
            <a:spLocks noGrp="1"/>
          </p:cNvSpPr>
          <p:nvPr>
            <p:ph type="sldNum" sz="quarter" idx="12"/>
          </p:nvPr>
        </p:nvSpPr>
        <p:spPr/>
        <p:txBody>
          <a:bodyPr/>
          <a:lstStyle/>
          <a:p>
            <a:fld id="{970D2012-B45D-4C6B-92F5-A2BF9F75CD0D}" type="slidenum">
              <a:rPr lang="en-US" smtClean="0">
                <a:solidFill>
                  <a:srgbClr val="073E87"/>
                </a:solidFill>
              </a:rPr>
              <a:pPr/>
              <a:t>‹#›</a:t>
            </a:fld>
            <a:endParaRPr lang="en-US">
              <a:solidFill>
                <a:srgbClr val="073E87"/>
              </a:solidFill>
            </a:endParaRPr>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627867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solidFill>
                <a:srgbClr val="073E87"/>
              </a:solidFill>
            </a:endParaRPr>
          </a:p>
        </p:txBody>
      </p:sp>
      <p:sp>
        <p:nvSpPr>
          <p:cNvPr id="6" name="Rectangle 5"/>
          <p:cNvSpPr>
            <a:spLocks noGrp="1" noChangeArrowheads="1"/>
          </p:cNvSpPr>
          <p:nvPr>
            <p:ph type="ftr" sz="quarter" idx="11"/>
          </p:nvPr>
        </p:nvSpPr>
        <p:spPr/>
        <p:txBody>
          <a:bodyPr/>
          <a:lstStyle>
            <a:lvl1pPr>
              <a:defRPr/>
            </a:lvl1pPr>
          </a:lstStyle>
          <a:p>
            <a:pPr>
              <a:defRPr/>
            </a:pPr>
            <a:endParaRPr lang="en-US">
              <a:solidFill>
                <a:srgbClr val="073E87"/>
              </a:solidFill>
            </a:endParaRPr>
          </a:p>
        </p:txBody>
      </p:sp>
      <p:sp>
        <p:nvSpPr>
          <p:cNvPr id="7" name="Rectangle 6"/>
          <p:cNvSpPr>
            <a:spLocks noGrp="1" noChangeArrowheads="1"/>
          </p:cNvSpPr>
          <p:nvPr>
            <p:ph type="sldNum" sz="quarter" idx="12"/>
          </p:nvPr>
        </p:nvSpPr>
        <p:spPr/>
        <p:txBody>
          <a:bodyPr/>
          <a:lstStyle>
            <a:lvl1pPr>
              <a:defRPr/>
            </a:lvl1pPr>
          </a:lstStyle>
          <a:p>
            <a:pPr>
              <a:defRPr/>
            </a:pPr>
            <a:fld id="{64DA61E9-6EFB-47F1-8B39-561DC6610DC3}" type="slidenum">
              <a:rPr lang="en-US">
                <a:solidFill>
                  <a:srgbClr val="073E87"/>
                </a:solidFill>
              </a:rPr>
              <a:pPr>
                <a:defRPr/>
              </a:pPr>
              <a:t>‹#›</a:t>
            </a:fld>
            <a:endParaRPr lang="en-US">
              <a:solidFill>
                <a:srgbClr val="073E87"/>
              </a:solidFill>
            </a:endParaRPr>
          </a:p>
        </p:txBody>
      </p:sp>
    </p:spTree>
    <p:extLst>
      <p:ext uri="{BB962C8B-B14F-4D97-AF65-F5344CB8AC3E}">
        <p14:creationId xmlns:p14="http://schemas.microsoft.com/office/powerpoint/2010/main" val="10288579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6AA0034-8FED-4625-8363-7292CBA59DA5}" type="datetimeFigureOut">
              <a:rPr lang="en-US" smtClean="0"/>
              <a:t>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D2012-B45D-4C6B-92F5-A2BF9F75CD0D}" type="slidenum">
              <a:rPr lang="en-US" smtClean="0"/>
              <a:t>‹#›</a:t>
            </a:fld>
            <a:endParaRPr lang="en-US"/>
          </a:p>
        </p:txBody>
      </p:sp>
    </p:spTree>
    <p:extLst>
      <p:ext uri="{BB962C8B-B14F-4D97-AF65-F5344CB8AC3E}">
        <p14:creationId xmlns:p14="http://schemas.microsoft.com/office/powerpoint/2010/main" val="14017159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Constantia" pitchFamily="18" charset="0"/>
              </a:defRPr>
            </a:lvl1pPr>
            <a:lvl2pP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AA0034-8FED-4625-8363-7292CBA59DA5}" type="datetimeFigureOut">
              <a:rPr lang="en-US" smtClean="0"/>
              <a:t>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D2012-B45D-4C6B-92F5-A2BF9F75CD0D}" type="slidenum">
              <a:rPr lang="en-US" smtClean="0"/>
              <a:t>‹#›</a:t>
            </a:fld>
            <a:endParaRPr lang="en-US"/>
          </a:p>
        </p:txBody>
      </p:sp>
      <p:sp>
        <p:nvSpPr>
          <p:cNvPr id="7" name="Title 6"/>
          <p:cNvSpPr>
            <a:spLocks noGrp="1"/>
          </p:cNvSpPr>
          <p:nvPr>
            <p:ph type="title"/>
          </p:nvPr>
        </p:nvSpPr>
        <p:spPr/>
        <p:txBody>
          <a:bodyPr/>
          <a:lstStyle>
            <a:lvl1pPr>
              <a:defRPr>
                <a:latin typeface="Constantia" pitchFamily="18" charset="0"/>
              </a:defRPr>
            </a:lvl1pPr>
          </a:lstStyle>
          <a:p>
            <a:r>
              <a:rPr lang="en-US" smtClean="0"/>
              <a:t>Click to edit Master title style</a:t>
            </a:r>
            <a:endParaRPr lang="en-US"/>
          </a:p>
        </p:txBody>
      </p:sp>
    </p:spTree>
    <p:extLst>
      <p:ext uri="{BB962C8B-B14F-4D97-AF65-F5344CB8AC3E}">
        <p14:creationId xmlns:p14="http://schemas.microsoft.com/office/powerpoint/2010/main" val="17086996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AA0034-8FED-4625-8363-7292CBA59DA5}" type="datetimeFigureOut">
              <a:rPr lang="en-US" smtClean="0"/>
              <a:t>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D2012-B45D-4C6B-92F5-A2BF9F75CD0D}" type="slidenum">
              <a:rPr lang="en-US" smtClean="0"/>
              <a:t>‹#›</a:t>
            </a:fld>
            <a:endParaRPr lang="en-US"/>
          </a:p>
        </p:txBody>
      </p:sp>
    </p:spTree>
    <p:extLst>
      <p:ext uri="{BB962C8B-B14F-4D97-AF65-F5344CB8AC3E}">
        <p14:creationId xmlns:p14="http://schemas.microsoft.com/office/powerpoint/2010/main" val="8530210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Constantia" pitchFamily="18" charset="0"/>
              </a:defRPr>
            </a:lvl1p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F6AA0034-8FED-4625-8363-7292CBA59DA5}" type="datetimeFigureOut">
              <a:rPr lang="en-US" smtClean="0"/>
              <a:t>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0D2012-B45D-4C6B-92F5-A2BF9F75CD0D}" type="slidenum">
              <a:rPr lang="en-US" smtClean="0"/>
              <a:t>‹#›</a:t>
            </a:fld>
            <a:endParaRPr lang="en-US"/>
          </a:p>
        </p:txBody>
      </p:sp>
      <p:sp>
        <p:nvSpPr>
          <p:cNvPr id="9" name="Content Placeholder 8"/>
          <p:cNvSpPr>
            <a:spLocks noGrp="1"/>
          </p:cNvSpPr>
          <p:nvPr>
            <p:ph sz="quarter" idx="13"/>
          </p:nvPr>
        </p:nvSpPr>
        <p:spPr>
          <a:xfrm>
            <a:off x="676655" y="2679192"/>
            <a:ext cx="3822192" cy="3447288"/>
          </a:xfrm>
        </p:spPr>
        <p:txBody>
          <a:bodyPr/>
          <a:lstStyle>
            <a:lvl1pPr marL="342900" indent="-342900">
              <a:buClr>
                <a:srgbClr val="C00000"/>
              </a:buClr>
              <a:buFont typeface="Wingdings" pitchFamily="2" charset="2"/>
              <a:buChar char="Ø"/>
              <a:defRPr>
                <a:latin typeface="Constantia" pitchFamily="18" charset="0"/>
              </a:defRPr>
            </a:lvl1pPr>
            <a:lvl2pPr marL="644843" indent="-342900">
              <a:buClr>
                <a:srgbClr val="C00000"/>
              </a:buClr>
              <a:buFont typeface="Arial" pitchFamily="34" charset="0"/>
              <a:buChar cha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lvl1pPr marL="342900" indent="-342900">
              <a:buClr>
                <a:srgbClr val="C00000"/>
              </a:buClr>
              <a:buFont typeface="Wingdings" pitchFamily="2" charset="2"/>
              <a:buChar char="Ø"/>
              <a:defRPr>
                <a:latin typeface="Constantia" pitchFamily="18" charset="0"/>
              </a:defRPr>
            </a:lvl1pPr>
            <a:lvl2pPr marL="644843" indent="-342900">
              <a:buClr>
                <a:srgbClr val="C00000"/>
              </a:buClr>
              <a:buFont typeface="Arial" pitchFamily="34" charset="0"/>
              <a:buChar cha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842479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6AA0034-8FED-4625-8363-7292CBA59DA5}" type="datetimeFigureOut">
              <a:rPr lang="en-US" smtClean="0"/>
              <a:t>1/2/2019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0D2012-B45D-4C6B-92F5-A2BF9F75CD0D}" type="slidenum">
              <a:rPr lang="en-US" smtClean="0"/>
              <a:t>‹#›</a:t>
            </a:fld>
            <a:endParaRPr lang="en-US"/>
          </a:p>
        </p:txBody>
      </p:sp>
    </p:spTree>
    <p:extLst>
      <p:ext uri="{BB962C8B-B14F-4D97-AF65-F5344CB8AC3E}">
        <p14:creationId xmlns:p14="http://schemas.microsoft.com/office/powerpoint/2010/main" val="12744351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6AA0034-8FED-4625-8363-7292CBA59DA5}" type="datetimeFigureOut">
              <a:rPr lang="en-US" smtClean="0"/>
              <a:t>1/2/2019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0D2012-B45D-4C6B-92F5-A2BF9F75CD0D}" type="slidenum">
              <a:rPr lang="en-US" smtClean="0"/>
              <a:t>‹#›</a:t>
            </a:fld>
            <a:endParaRPr lang="en-US"/>
          </a:p>
        </p:txBody>
      </p:sp>
    </p:spTree>
    <p:extLst>
      <p:ext uri="{BB962C8B-B14F-4D97-AF65-F5344CB8AC3E}">
        <p14:creationId xmlns:p14="http://schemas.microsoft.com/office/powerpoint/2010/main" val="14556890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F6AA0034-8FED-4625-8363-7292CBA59DA5}" type="datetimeFigureOut">
              <a:rPr lang="en-US" smtClean="0"/>
              <a:t>1/2/2019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0D2012-B45D-4C6B-92F5-A2BF9F75CD0D}" type="slidenum">
              <a:rPr lang="en-US" smtClean="0"/>
              <a:t>‹#›</a:t>
            </a:fld>
            <a:endParaRPr lang="en-US"/>
          </a:p>
        </p:txBody>
      </p:sp>
    </p:spTree>
    <p:extLst>
      <p:ext uri="{BB962C8B-B14F-4D97-AF65-F5344CB8AC3E}">
        <p14:creationId xmlns:p14="http://schemas.microsoft.com/office/powerpoint/2010/main" val="4308412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F6AA0034-8FED-4625-8363-7292CBA59DA5}" type="datetimeFigureOut">
              <a:rPr lang="en-US" smtClean="0"/>
              <a:t>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0D2012-B45D-4C6B-92F5-A2BF9F75CD0D}" type="slidenum">
              <a:rPr lang="en-US" smtClean="0"/>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602456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AA0034-8FED-4625-8363-7292CBA59DA5}" type="datetimeFigureOut">
              <a:rPr lang="en-US" smtClean="0"/>
              <a:t>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0D2012-B45D-4C6B-92F5-A2BF9F75CD0D}" type="slidenum">
              <a:rPr lang="en-US" smtClean="0"/>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extLst>
      <p:ext uri="{BB962C8B-B14F-4D97-AF65-F5344CB8AC3E}">
        <p14:creationId xmlns:p14="http://schemas.microsoft.com/office/powerpoint/2010/main" val="27663284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AA0034-8FED-4625-8363-7292CBA59DA5}" type="datetimeFigureOut">
              <a:rPr lang="en-US" smtClean="0"/>
              <a:t>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D2012-B45D-4C6B-92F5-A2BF9F75CD0D}" type="slidenum">
              <a:rPr lang="en-US" smtClean="0"/>
              <a:t>‹#›</a:t>
            </a:fld>
            <a:endParaRPr lang="en-US"/>
          </a:p>
        </p:txBody>
      </p:sp>
    </p:spTree>
    <p:extLst>
      <p:ext uri="{BB962C8B-B14F-4D97-AF65-F5344CB8AC3E}">
        <p14:creationId xmlns:p14="http://schemas.microsoft.com/office/powerpoint/2010/main" val="17576588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F6AA0034-8FED-4625-8363-7292CBA59DA5}" type="datetimeFigureOut">
              <a:rPr lang="en-US" smtClean="0"/>
              <a:t>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D2012-B45D-4C6B-92F5-A2BF9F75CD0D}" type="slidenum">
              <a:rPr lang="en-US" smtClean="0"/>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627867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64DA61E9-6EFB-47F1-8B39-561DC6610DC3}" type="slidenum">
              <a:rPr lang="en-US"/>
              <a:pPr>
                <a:defRPr/>
              </a:pPr>
              <a:t>‹#›</a:t>
            </a:fld>
            <a:endParaRPr lang="en-US"/>
          </a:p>
        </p:txBody>
      </p:sp>
    </p:spTree>
    <p:extLst>
      <p:ext uri="{BB962C8B-B14F-4D97-AF65-F5344CB8AC3E}">
        <p14:creationId xmlns:p14="http://schemas.microsoft.com/office/powerpoint/2010/main" val="1028857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F6AA0034-8FED-4625-8363-7292CBA59DA5}" type="datetimeFigureOut">
              <a:rPr lang="en-US" smtClean="0"/>
              <a:t>1/2/2019</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970D2012-B45D-4C6B-92F5-A2BF9F75CD0D}" type="slidenum">
              <a:rPr lang="en-US" smtClean="0"/>
              <a:t>‹#›</a:t>
            </a:fld>
            <a:endParaRPr lang="en-US"/>
          </a:p>
        </p:txBody>
      </p:sp>
      <p:sp>
        <p:nvSpPr>
          <p:cNvPr id="3" name="Text Placeholder 2"/>
          <p:cNvSpPr>
            <a:spLocks noGrp="1"/>
          </p:cNvSpPr>
          <p:nvPr>
            <p:ph type="body" idx="1"/>
          </p:nvPr>
        </p:nvSpPr>
        <p:spPr>
          <a:xfrm>
            <a:off x="872067" y="2020822"/>
            <a:ext cx="7408333" cy="410534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defTabSz="914400" rtl="0" eaLnBrk="1" latinLnBrk="0" hangingPunct="1">
        <a:spcBef>
          <a:spcPct val="0"/>
        </a:spcBef>
        <a:buNone/>
        <a:defRPr sz="4400" b="1" kern="1200">
          <a:solidFill>
            <a:srgbClr val="FFFFFF"/>
          </a:solidFill>
          <a:latin typeface="Constantia"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spcBef>
          <a:spcPct val="20000"/>
        </a:spcBef>
        <a:buClr>
          <a:srgbClr val="C00000"/>
        </a:buClr>
        <a:buSzPct val="100000"/>
        <a:buFont typeface="Wingdings" pitchFamily="2" charset="2"/>
        <a:buChar char="Ø"/>
        <a:defRPr sz="2400" kern="1200">
          <a:solidFill>
            <a:schemeClr val="tx2"/>
          </a:solidFill>
          <a:latin typeface="Constantia" pitchFamily="18" charset="0"/>
          <a:ea typeface="+mn-ea"/>
          <a:cs typeface="+mn-cs"/>
        </a:defRPr>
      </a:lvl1pPr>
      <a:lvl2pPr marL="644843" indent="-342900" algn="l" defTabSz="914400" rtl="0" eaLnBrk="1" latinLnBrk="0" hangingPunct="1">
        <a:spcBef>
          <a:spcPct val="20000"/>
        </a:spcBef>
        <a:buClr>
          <a:schemeClr val="accent1"/>
        </a:buClr>
        <a:buSzPct val="100000"/>
        <a:buFont typeface="Arial" pitchFamily="34" charset="0"/>
        <a:buChar char="•"/>
        <a:defRPr sz="2200" kern="1200">
          <a:solidFill>
            <a:schemeClr val="tx2"/>
          </a:solidFill>
          <a:latin typeface="Constantia" pitchFamily="18" charset="0"/>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Constantia" pitchFamily="18" charset="0"/>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Constantia" pitchFamily="18" charset="0"/>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Constantia" pitchFamily="18" charset="0"/>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F6AA0034-8FED-4625-8363-7292CBA59DA5}" type="datetimeFigureOut">
              <a:rPr lang="en-US" smtClean="0">
                <a:solidFill>
                  <a:srgbClr val="073E87"/>
                </a:solidFill>
              </a:rPr>
              <a:pPr/>
              <a:t>1/2/2019</a:t>
            </a:fld>
            <a:endParaRPr lang="en-US">
              <a:solidFill>
                <a:srgbClr val="073E87"/>
              </a:solidFill>
            </a:endParaRPr>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solidFill>
                <a:srgbClr val="073E87"/>
              </a:solidFill>
            </a:endParaRPr>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970D2012-B45D-4C6B-92F5-A2BF9F75CD0D}" type="slidenum">
              <a:rPr lang="en-US" smtClean="0">
                <a:solidFill>
                  <a:srgbClr val="073E87"/>
                </a:solidFill>
              </a:rPr>
              <a:pPr/>
              <a:t>‹#›</a:t>
            </a:fld>
            <a:endParaRPr lang="en-US">
              <a:solidFill>
                <a:srgbClr val="073E87"/>
              </a:solidFill>
            </a:endParaRPr>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70639645"/>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F6AA0034-8FED-4625-8363-7292CBA59DA5}" type="datetimeFigureOut">
              <a:rPr lang="en-US" smtClean="0"/>
              <a:t>1/2/2019</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970D2012-B45D-4C6B-92F5-A2BF9F75CD0D}" type="slidenum">
              <a:rPr lang="en-US" smtClean="0"/>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70639645"/>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emf"/></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oleObject" Target="../embeddings/oleObject4.bin"/><Relationship Id="rId7" Type="http://schemas.openxmlformats.org/officeDocument/2006/relationships/image" Target="../media/image17.wmf"/><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19.wmf"/><Relationship Id="rId4" Type="http://schemas.openxmlformats.org/officeDocument/2006/relationships/image" Target="../media/image16.wmf"/><Relationship Id="rId9" Type="http://schemas.openxmlformats.org/officeDocument/2006/relationships/image" Target="../media/image18.emf"/></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4.xml"/><Relationship Id="rId1" Type="http://schemas.openxmlformats.org/officeDocument/2006/relationships/vmlDrawing" Target="../drawings/vmlDrawing5.vml"/><Relationship Id="rId4" Type="http://schemas.openxmlformats.org/officeDocument/2006/relationships/image" Target="../media/image20.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23.png"/><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22.wmf"/><Relationship Id="rId5" Type="http://schemas.openxmlformats.org/officeDocument/2006/relationships/oleObject" Target="../embeddings/oleObject8.bin"/><Relationship Id="rId4" Type="http://schemas.openxmlformats.org/officeDocument/2006/relationships/image" Target="../media/image21.wmf"/></Relationships>
</file>

<file path=ppt/slides/_rels/slide2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4.emf"/><Relationship Id="rId4" Type="http://schemas.openxmlformats.org/officeDocument/2006/relationships/package" Target="../embeddings/Microsoft_Visio_Drawing2.vsdx"/></Relationships>
</file>

<file path=ppt/slides/_rels/slide23.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0.wmf"/><Relationship Id="rId5" Type="http://schemas.openxmlformats.org/officeDocument/2006/relationships/oleObject" Target="../embeddings/oleObject10.bin"/><Relationship Id="rId4" Type="http://schemas.openxmlformats.org/officeDocument/2006/relationships/image" Target="../media/image29.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9.vml"/><Relationship Id="rId4" Type="http://schemas.openxmlformats.org/officeDocument/2006/relationships/image" Target="../media/image32.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3.wm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35.emf"/><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oleObject" Target="../embeddings/oleObject15.bin"/><Relationship Id="rId5" Type="http://schemas.openxmlformats.org/officeDocument/2006/relationships/image" Target="../media/image34.emf"/><Relationship Id="rId4" Type="http://schemas.openxmlformats.org/officeDocument/2006/relationships/oleObject" Target="../embeddings/oleObject14.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37.emf"/><Relationship Id="rId5" Type="http://schemas.openxmlformats.org/officeDocument/2006/relationships/oleObject" Target="../embeddings/oleObject17.bin"/><Relationship Id="rId4" Type="http://schemas.openxmlformats.org/officeDocument/2006/relationships/image" Target="../media/image36.emf"/></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image" Target="../media/image40.emf"/><Relationship Id="rId5" Type="http://schemas.openxmlformats.org/officeDocument/2006/relationships/oleObject" Target="../embeddings/oleObject19.bin"/><Relationship Id="rId4" Type="http://schemas.openxmlformats.org/officeDocument/2006/relationships/image" Target="../media/image39.emf"/></Relationships>
</file>

<file path=ppt/slides/_rels/slide37.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2.wmf"/><Relationship Id="rId5" Type="http://schemas.openxmlformats.org/officeDocument/2006/relationships/oleObject" Target="../embeddings/oleObject21.bin"/><Relationship Id="rId10" Type="http://schemas.openxmlformats.org/officeDocument/2006/relationships/image" Target="../media/image44.wmf"/><Relationship Id="rId4" Type="http://schemas.openxmlformats.org/officeDocument/2006/relationships/image" Target="../media/image41.wmf"/><Relationship Id="rId9" Type="http://schemas.openxmlformats.org/officeDocument/2006/relationships/oleObject" Target="../embeddings/oleObject23.bin"/></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orizontal Scroll 2"/>
          <p:cNvSpPr/>
          <p:nvPr/>
        </p:nvSpPr>
        <p:spPr>
          <a:xfrm>
            <a:off x="1227991" y="2209800"/>
            <a:ext cx="6994377" cy="2057400"/>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00200" y="2667000"/>
            <a:ext cx="6408223" cy="1323439"/>
          </a:xfrm>
          <a:prstGeom prst="rect">
            <a:avLst/>
          </a:prstGeom>
          <a:noFill/>
        </p:spPr>
        <p:txBody>
          <a:bodyPr wrap="square" rtlCol="0">
            <a:spAutoFit/>
          </a:bodyPr>
          <a:lstStyle/>
          <a:p>
            <a:pPr algn="ctr"/>
            <a:r>
              <a:rPr lang="en-US" sz="4000" b="1" smtClean="0">
                <a:solidFill>
                  <a:srgbClr val="FFFF00"/>
                </a:solidFill>
                <a:latin typeface="Constantia" pitchFamily="18" charset="0"/>
              </a:rPr>
              <a:t>1.5. Transistor lưỡng cực</a:t>
            </a:r>
          </a:p>
          <a:p>
            <a:pPr algn="ctr"/>
            <a:r>
              <a:rPr lang="en-US" sz="4000" b="1" smtClean="0">
                <a:solidFill>
                  <a:srgbClr val="FFFF00"/>
                </a:solidFill>
                <a:latin typeface="Constantia" pitchFamily="18" charset="0"/>
              </a:rPr>
              <a:t>(BJT)</a:t>
            </a:r>
            <a:endParaRPr lang="en-US" sz="4000" b="1">
              <a:solidFill>
                <a:srgbClr val="FFFF00"/>
              </a:solidFill>
              <a:latin typeface="Constantia" pitchFamily="18" charset="0"/>
            </a:endParaRPr>
          </a:p>
        </p:txBody>
      </p:sp>
    </p:spTree>
    <p:extLst>
      <p:ext uri="{BB962C8B-B14F-4D97-AF65-F5344CB8AC3E}">
        <p14:creationId xmlns:p14="http://schemas.microsoft.com/office/powerpoint/2010/main" val="5996013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a:defRPr/>
            </a:pPr>
            <a:r>
              <a:rPr lang="en-US" b="1" dirty="0" smtClean="0">
                <a:solidFill>
                  <a:srgbClr val="FFC000"/>
                </a:solidFill>
              </a:rPr>
              <a:t>Transistor </a:t>
            </a:r>
            <a:r>
              <a:rPr lang="en-US" b="1" dirty="0" err="1" smtClean="0">
                <a:solidFill>
                  <a:srgbClr val="FFC000"/>
                </a:solidFill>
              </a:rPr>
              <a:t>lưỡng</a:t>
            </a:r>
            <a:r>
              <a:rPr lang="en-US" b="1" dirty="0" smtClean="0">
                <a:solidFill>
                  <a:srgbClr val="FFC000"/>
                </a:solidFill>
              </a:rPr>
              <a:t> </a:t>
            </a:r>
            <a:r>
              <a:rPr lang="en-US" b="1" dirty="0" err="1" smtClean="0">
                <a:solidFill>
                  <a:srgbClr val="FFC000"/>
                </a:solidFill>
              </a:rPr>
              <a:t>cực</a:t>
            </a:r>
            <a:r>
              <a:rPr lang="en-US" b="1" dirty="0" smtClean="0">
                <a:solidFill>
                  <a:srgbClr val="FFC000"/>
                </a:solidFill>
              </a:rPr>
              <a:t> (BJT)</a:t>
            </a:r>
          </a:p>
        </p:txBody>
      </p:sp>
      <p:sp>
        <p:nvSpPr>
          <p:cNvPr id="47107" name="Rectangle 4"/>
          <p:cNvSpPr>
            <a:spLocks noGrp="1" noChangeArrowheads="1"/>
          </p:cNvSpPr>
          <p:nvPr>
            <p:ph type="body" idx="1"/>
          </p:nvPr>
        </p:nvSpPr>
        <p:spPr>
          <a:xfrm>
            <a:off x="380999" y="1828800"/>
            <a:ext cx="8153401" cy="3160184"/>
          </a:xfrm>
        </p:spPr>
        <p:txBody>
          <a:bodyPr>
            <a:normAutofit/>
          </a:bodyPr>
          <a:lstStyle/>
          <a:p>
            <a:pPr>
              <a:lnSpc>
                <a:spcPct val="120000"/>
              </a:lnSpc>
              <a:buClr>
                <a:srgbClr val="C00000"/>
              </a:buClr>
              <a:buBlip>
                <a:blip r:embed="rId2"/>
              </a:buBlip>
            </a:pPr>
            <a:r>
              <a:rPr lang="en-US" sz="2800" b="1" smtClean="0"/>
              <a:t>Cấu tạo, ký hiệu</a:t>
            </a:r>
          </a:p>
          <a:p>
            <a:pPr>
              <a:lnSpc>
                <a:spcPct val="120000"/>
              </a:lnSpc>
              <a:buClr>
                <a:srgbClr val="C00000"/>
              </a:buClr>
              <a:buBlip>
                <a:blip r:embed="rId2"/>
              </a:buBlip>
            </a:pPr>
            <a:r>
              <a:rPr lang="en-US" sz="2800" b="1" smtClean="0"/>
              <a:t> Khả năng khuếch đại</a:t>
            </a:r>
          </a:p>
          <a:p>
            <a:pPr>
              <a:lnSpc>
                <a:spcPct val="120000"/>
              </a:lnSpc>
              <a:buClr>
                <a:srgbClr val="C00000"/>
              </a:buClr>
              <a:buBlip>
                <a:blip r:embed="rId2"/>
              </a:buBlip>
            </a:pPr>
            <a:r>
              <a:rPr lang="en-US" sz="2800" b="1" smtClean="0"/>
              <a:t> Nguyên tắc hoạt động</a:t>
            </a:r>
          </a:p>
          <a:p>
            <a:pPr>
              <a:lnSpc>
                <a:spcPct val="120000"/>
              </a:lnSpc>
              <a:buClr>
                <a:srgbClr val="C00000"/>
              </a:buClr>
              <a:buBlip>
                <a:blip r:embed="rId2"/>
              </a:buBlip>
            </a:pPr>
            <a:r>
              <a:rPr lang="en-US" sz="2800" b="1" smtClean="0"/>
              <a:t> Các sơ đồ phân cực và định điểm làm việc</a:t>
            </a:r>
          </a:p>
          <a:p>
            <a:pPr>
              <a:lnSpc>
                <a:spcPct val="120000"/>
              </a:lnSpc>
              <a:buClr>
                <a:srgbClr val="C00000"/>
              </a:buClr>
              <a:buBlip>
                <a:blip r:embed="rId2"/>
              </a:buBlip>
            </a:pPr>
            <a:r>
              <a:rPr lang="en-US" sz="2800" b="1" smtClean="0"/>
              <a:t> Các sơ đồ mắc cơ bản</a:t>
            </a:r>
          </a:p>
        </p:txBody>
      </p:sp>
      <p:sp>
        <p:nvSpPr>
          <p:cNvPr id="47112" name="Rectangle 9"/>
          <p:cNvSpPr>
            <a:spLocks noChangeArrowheads="1"/>
          </p:cNvSpPr>
          <p:nvPr/>
        </p:nvSpPr>
        <p:spPr bwMode="auto">
          <a:xfrm>
            <a:off x="0" y="1538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47114" name="Slide Number Placeholder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852E221-0897-42FA-B7F5-1401B8D71925}" type="slidenum">
              <a:rPr lang="en-US" smtClean="0"/>
              <a:pPr eaLnBrk="1" hangingPunct="1"/>
              <a:t>2</a:t>
            </a:fld>
            <a:endParaRPr lang="en-US" smtClean="0"/>
          </a:p>
        </p:txBody>
      </p:sp>
    </p:spTree>
    <p:extLst>
      <p:ext uri="{BB962C8B-B14F-4D97-AF65-F5344CB8AC3E}">
        <p14:creationId xmlns:p14="http://schemas.microsoft.com/office/powerpoint/2010/main" val="11709767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ChangeArrowheads="1"/>
          </p:cNvSpPr>
          <p:nvPr/>
        </p:nvSpPr>
        <p:spPr bwMode="auto">
          <a:xfrm>
            <a:off x="676202" y="1567543"/>
            <a:ext cx="8113712" cy="4114800"/>
          </a:xfrm>
          <a:prstGeom prst="rect">
            <a:avLst/>
          </a:prstGeom>
          <a:noFill/>
          <a:ln w="9525">
            <a:noFill/>
            <a:miter lim="800000"/>
            <a:headEnd/>
            <a:tailEnd/>
          </a:ln>
        </p:spPr>
        <p:txBody>
          <a:bodyPr/>
          <a:lstStyle/>
          <a:p>
            <a:pPr marL="342900" indent="-342900" eaLnBrk="0" hangingPunct="0">
              <a:lnSpc>
                <a:spcPct val="90000"/>
              </a:lnSpc>
              <a:spcBef>
                <a:spcPct val="20000"/>
              </a:spcBef>
              <a:buFontTx/>
              <a:buChar char="•"/>
              <a:defRPr/>
            </a:pPr>
            <a:r>
              <a:rPr lang="de-DE" sz="2400" smtClean="0">
                <a:latin typeface="Constantia" pitchFamily="18" charset="0"/>
              </a:rPr>
              <a:t>Được tạo bởi </a:t>
            </a:r>
            <a:r>
              <a:rPr lang="de-DE" sz="2400" dirty="0">
                <a:solidFill>
                  <a:srgbClr val="FF0000"/>
                </a:solidFill>
                <a:latin typeface="Constantia" pitchFamily="18" charset="0"/>
              </a:rPr>
              <a:t>2 chuyển tiếp P - N </a:t>
            </a:r>
            <a:r>
              <a:rPr lang="de-DE" sz="2400" dirty="0">
                <a:solidFill>
                  <a:schemeClr val="tx2">
                    <a:lumMod val="50000"/>
                  </a:schemeClr>
                </a:solidFill>
                <a:latin typeface="Constantia" pitchFamily="18" charset="0"/>
              </a:rPr>
              <a:t>ghép  liên tiếp</a:t>
            </a:r>
            <a:endParaRPr lang="en-US" sz="2400" dirty="0">
              <a:solidFill>
                <a:schemeClr val="tx2">
                  <a:lumMod val="50000"/>
                </a:schemeClr>
              </a:solidFill>
              <a:latin typeface="Constantia" pitchFamily="18" charset="0"/>
            </a:endParaRPr>
          </a:p>
          <a:p>
            <a:pPr marL="342900" indent="-342900" eaLnBrk="0" hangingPunct="0">
              <a:lnSpc>
                <a:spcPct val="90000"/>
              </a:lnSpc>
              <a:spcBef>
                <a:spcPct val="20000"/>
              </a:spcBef>
              <a:buFontTx/>
              <a:buChar char="•"/>
              <a:defRPr/>
            </a:pPr>
            <a:r>
              <a:rPr lang="en-US" sz="2400" dirty="0">
                <a:latin typeface="Constantia" pitchFamily="18" charset="0"/>
              </a:rPr>
              <a:t>Transistor </a:t>
            </a:r>
            <a:r>
              <a:rPr lang="en-US" sz="2400" dirty="0" err="1">
                <a:latin typeface="Constantia" pitchFamily="18" charset="0"/>
              </a:rPr>
              <a:t>có</a:t>
            </a:r>
            <a:r>
              <a:rPr lang="en-US" sz="2400" dirty="0">
                <a:latin typeface="Constantia" pitchFamily="18" charset="0"/>
              </a:rPr>
              <a:t> </a:t>
            </a:r>
            <a:r>
              <a:rPr lang="en-US" sz="2400" dirty="0">
                <a:solidFill>
                  <a:srgbClr val="FF0000"/>
                </a:solidFill>
                <a:latin typeface="Constantia" pitchFamily="18" charset="0"/>
              </a:rPr>
              <a:t>3 </a:t>
            </a:r>
            <a:r>
              <a:rPr lang="en-US" sz="2400" dirty="0" err="1">
                <a:solidFill>
                  <a:srgbClr val="FF0000"/>
                </a:solidFill>
                <a:latin typeface="Constantia" pitchFamily="18" charset="0"/>
              </a:rPr>
              <a:t>cực</a:t>
            </a:r>
            <a:r>
              <a:rPr lang="en-US" sz="2400" dirty="0">
                <a:latin typeface="Constantia" pitchFamily="18" charset="0"/>
              </a:rPr>
              <a:t>: </a:t>
            </a:r>
            <a:r>
              <a:rPr lang="en-US" sz="2400" err="1">
                <a:latin typeface="Constantia" pitchFamily="18" charset="0"/>
              </a:rPr>
              <a:t>cực</a:t>
            </a:r>
            <a:r>
              <a:rPr lang="en-US" sz="2400">
                <a:latin typeface="Constantia" pitchFamily="18" charset="0"/>
              </a:rPr>
              <a:t> </a:t>
            </a:r>
            <a:r>
              <a:rPr lang="en-US" sz="2400" smtClean="0">
                <a:latin typeface="Constantia" pitchFamily="18" charset="0"/>
              </a:rPr>
              <a:t>Collector </a:t>
            </a:r>
            <a:r>
              <a:rPr lang="en-US" sz="2400" dirty="0">
                <a:latin typeface="Constantia" pitchFamily="18" charset="0"/>
              </a:rPr>
              <a:t>(</a:t>
            </a:r>
            <a:r>
              <a:rPr lang="en-US" sz="2400" dirty="0" err="1">
                <a:latin typeface="Constantia" pitchFamily="18" charset="0"/>
              </a:rPr>
              <a:t>góp</a:t>
            </a:r>
            <a:r>
              <a:rPr lang="en-US" sz="2400" dirty="0">
                <a:latin typeface="Constantia" pitchFamily="18" charset="0"/>
              </a:rPr>
              <a:t>), </a:t>
            </a:r>
            <a:r>
              <a:rPr lang="en-US" sz="2400" err="1">
                <a:latin typeface="Constantia" pitchFamily="18" charset="0"/>
              </a:rPr>
              <a:t>cực</a:t>
            </a:r>
            <a:r>
              <a:rPr lang="en-US" sz="2400">
                <a:latin typeface="Constantia" pitchFamily="18" charset="0"/>
              </a:rPr>
              <a:t> </a:t>
            </a:r>
            <a:r>
              <a:rPr lang="en-US" sz="2400" smtClean="0">
                <a:latin typeface="Constantia" pitchFamily="18" charset="0"/>
              </a:rPr>
              <a:t>Base </a:t>
            </a:r>
            <a:r>
              <a:rPr lang="en-US" sz="2400" dirty="0">
                <a:latin typeface="Constantia" pitchFamily="18" charset="0"/>
              </a:rPr>
              <a:t>(</a:t>
            </a:r>
            <a:r>
              <a:rPr lang="en-US" sz="2400" dirty="0" err="1">
                <a:latin typeface="Constantia" pitchFamily="18" charset="0"/>
              </a:rPr>
              <a:t>gốc</a:t>
            </a:r>
            <a:r>
              <a:rPr lang="en-US" sz="2400">
                <a:latin typeface="Constantia" pitchFamily="18" charset="0"/>
              </a:rPr>
              <a:t>) và </a:t>
            </a:r>
            <a:r>
              <a:rPr lang="en-US" sz="2400" err="1">
                <a:latin typeface="Constantia" pitchFamily="18" charset="0"/>
              </a:rPr>
              <a:t>cực</a:t>
            </a:r>
            <a:r>
              <a:rPr lang="en-US" sz="2400">
                <a:latin typeface="Constantia" pitchFamily="18" charset="0"/>
              </a:rPr>
              <a:t> </a:t>
            </a:r>
            <a:r>
              <a:rPr lang="en-US" sz="2400" smtClean="0">
                <a:latin typeface="Constantia" pitchFamily="18" charset="0"/>
              </a:rPr>
              <a:t>Emitter </a:t>
            </a:r>
            <a:r>
              <a:rPr lang="en-US" sz="2400" dirty="0">
                <a:latin typeface="Constantia" pitchFamily="18" charset="0"/>
              </a:rPr>
              <a:t>(</a:t>
            </a:r>
            <a:r>
              <a:rPr lang="en-US" sz="2400" dirty="0" err="1">
                <a:latin typeface="Constantia" pitchFamily="18" charset="0"/>
              </a:rPr>
              <a:t>phát</a:t>
            </a:r>
            <a:r>
              <a:rPr lang="en-US" sz="2400" dirty="0">
                <a:latin typeface="Constantia" pitchFamily="18" charset="0"/>
              </a:rPr>
              <a:t>).</a:t>
            </a:r>
          </a:p>
          <a:p>
            <a:pPr marL="342900" indent="-342900" eaLnBrk="0" hangingPunct="0">
              <a:lnSpc>
                <a:spcPct val="90000"/>
              </a:lnSpc>
              <a:spcBef>
                <a:spcPct val="20000"/>
              </a:spcBef>
              <a:buFontTx/>
              <a:buChar char="•"/>
              <a:defRPr/>
            </a:pPr>
            <a:r>
              <a:rPr lang="en-US" sz="2400" dirty="0" err="1">
                <a:latin typeface="Constantia" pitchFamily="18" charset="0"/>
              </a:rPr>
              <a:t>Chuyển</a:t>
            </a:r>
            <a:r>
              <a:rPr lang="en-US" sz="2400" dirty="0">
                <a:latin typeface="Constantia" pitchFamily="18" charset="0"/>
              </a:rPr>
              <a:t> </a:t>
            </a:r>
            <a:r>
              <a:rPr lang="en-US" sz="2400" dirty="0" err="1">
                <a:latin typeface="Constantia" pitchFamily="18" charset="0"/>
              </a:rPr>
              <a:t>tiếp</a:t>
            </a:r>
            <a:r>
              <a:rPr lang="en-US" sz="2400" dirty="0">
                <a:latin typeface="Constantia" pitchFamily="18" charset="0"/>
              </a:rPr>
              <a:t> </a:t>
            </a:r>
            <a:r>
              <a:rPr lang="en-US" sz="2400" err="1">
                <a:latin typeface="Constantia" pitchFamily="18" charset="0"/>
              </a:rPr>
              <a:t>giữa</a:t>
            </a:r>
            <a:r>
              <a:rPr lang="en-US" sz="2400">
                <a:latin typeface="Constantia" pitchFamily="18" charset="0"/>
              </a:rPr>
              <a:t> </a:t>
            </a:r>
            <a:r>
              <a:rPr lang="en-US" sz="2400" smtClean="0">
                <a:latin typeface="Constantia" pitchFamily="18" charset="0"/>
              </a:rPr>
              <a:t>Collector </a:t>
            </a:r>
            <a:r>
              <a:rPr lang="en-US" sz="2400" err="1">
                <a:latin typeface="Constantia" pitchFamily="18" charset="0"/>
              </a:rPr>
              <a:t>và</a:t>
            </a:r>
            <a:r>
              <a:rPr lang="en-US" sz="2400">
                <a:latin typeface="Constantia" pitchFamily="18" charset="0"/>
              </a:rPr>
              <a:t> </a:t>
            </a:r>
            <a:r>
              <a:rPr lang="en-US" sz="2400" smtClean="0">
                <a:latin typeface="Constantia" pitchFamily="18" charset="0"/>
              </a:rPr>
              <a:t>Base </a:t>
            </a:r>
            <a:r>
              <a:rPr lang="en-US" sz="2400" dirty="0" err="1">
                <a:latin typeface="Constantia" pitchFamily="18" charset="0"/>
              </a:rPr>
              <a:t>gọi</a:t>
            </a:r>
            <a:r>
              <a:rPr lang="en-US" sz="2400" dirty="0">
                <a:latin typeface="Constantia" pitchFamily="18" charset="0"/>
              </a:rPr>
              <a:t> </a:t>
            </a:r>
            <a:r>
              <a:rPr lang="en-US" sz="2400" dirty="0" err="1">
                <a:latin typeface="Constantia" pitchFamily="18" charset="0"/>
              </a:rPr>
              <a:t>là</a:t>
            </a:r>
            <a:r>
              <a:rPr lang="en-US" sz="2400" dirty="0">
                <a:latin typeface="Constantia" pitchFamily="18" charset="0"/>
              </a:rPr>
              <a:t> </a:t>
            </a:r>
            <a:r>
              <a:rPr lang="en-US" sz="2400" dirty="0" err="1">
                <a:latin typeface="Constantia" pitchFamily="18" charset="0"/>
              </a:rPr>
              <a:t>chuyển</a:t>
            </a:r>
            <a:r>
              <a:rPr lang="en-US" sz="2400" dirty="0">
                <a:latin typeface="Constantia" pitchFamily="18" charset="0"/>
              </a:rPr>
              <a:t> </a:t>
            </a:r>
            <a:r>
              <a:rPr lang="en-US" sz="2400" err="1">
                <a:latin typeface="Constantia" pitchFamily="18" charset="0"/>
              </a:rPr>
              <a:t>tiếp</a:t>
            </a:r>
            <a:r>
              <a:rPr lang="en-US" sz="2400">
                <a:latin typeface="Constantia" pitchFamily="18" charset="0"/>
              </a:rPr>
              <a:t> </a:t>
            </a:r>
            <a:r>
              <a:rPr lang="en-US" sz="2400" smtClean="0">
                <a:latin typeface="Constantia" pitchFamily="18" charset="0"/>
              </a:rPr>
              <a:t>Collector, </a:t>
            </a:r>
            <a:r>
              <a:rPr lang="en-US" sz="2400" dirty="0" err="1">
                <a:latin typeface="Constantia" pitchFamily="18" charset="0"/>
              </a:rPr>
              <a:t>ký</a:t>
            </a:r>
            <a:r>
              <a:rPr lang="en-US" sz="2400" dirty="0">
                <a:latin typeface="Constantia" pitchFamily="18" charset="0"/>
              </a:rPr>
              <a:t> </a:t>
            </a:r>
            <a:r>
              <a:rPr lang="en-US" sz="2400" dirty="0" err="1">
                <a:latin typeface="Constantia" pitchFamily="18" charset="0"/>
              </a:rPr>
              <a:t>hiệu</a:t>
            </a:r>
            <a:r>
              <a:rPr lang="en-US" sz="2400" dirty="0">
                <a:latin typeface="Constantia" pitchFamily="18" charset="0"/>
              </a:rPr>
              <a:t> </a:t>
            </a:r>
            <a:r>
              <a:rPr lang="en-US" sz="2400" dirty="0" err="1">
                <a:latin typeface="Constantia" pitchFamily="18" charset="0"/>
              </a:rPr>
              <a:t>là</a:t>
            </a:r>
            <a:r>
              <a:rPr lang="en-US" sz="2400" dirty="0">
                <a:latin typeface="Constantia" pitchFamily="18" charset="0"/>
              </a:rPr>
              <a:t> J</a:t>
            </a:r>
            <a:r>
              <a:rPr lang="en-US" sz="2400" baseline="-25000" dirty="0">
                <a:latin typeface="Constantia" pitchFamily="18" charset="0"/>
              </a:rPr>
              <a:t>C</a:t>
            </a:r>
          </a:p>
          <a:p>
            <a:pPr marL="342900" indent="-342900" eaLnBrk="0" hangingPunct="0">
              <a:lnSpc>
                <a:spcPct val="90000"/>
              </a:lnSpc>
              <a:spcBef>
                <a:spcPct val="20000"/>
              </a:spcBef>
              <a:buFontTx/>
              <a:buChar char="•"/>
              <a:defRPr/>
            </a:pPr>
            <a:r>
              <a:rPr lang="en-US" sz="2400" dirty="0" err="1">
                <a:latin typeface="Constantia" pitchFamily="18" charset="0"/>
              </a:rPr>
              <a:t>Chuyển</a:t>
            </a:r>
            <a:r>
              <a:rPr lang="en-US" sz="2400" dirty="0">
                <a:latin typeface="Constantia" pitchFamily="18" charset="0"/>
              </a:rPr>
              <a:t> </a:t>
            </a:r>
            <a:r>
              <a:rPr lang="en-US" sz="2400" dirty="0" err="1">
                <a:latin typeface="Constantia" pitchFamily="18" charset="0"/>
              </a:rPr>
              <a:t>tiếp</a:t>
            </a:r>
            <a:r>
              <a:rPr lang="en-US" sz="2400" dirty="0">
                <a:latin typeface="Constantia" pitchFamily="18" charset="0"/>
              </a:rPr>
              <a:t> </a:t>
            </a:r>
            <a:r>
              <a:rPr lang="en-US" sz="2400" err="1">
                <a:latin typeface="Constantia" pitchFamily="18" charset="0"/>
              </a:rPr>
              <a:t>giữa</a:t>
            </a:r>
            <a:r>
              <a:rPr lang="en-US" sz="2400">
                <a:latin typeface="Constantia" pitchFamily="18" charset="0"/>
              </a:rPr>
              <a:t> </a:t>
            </a:r>
            <a:r>
              <a:rPr lang="en-US" sz="2400" smtClean="0">
                <a:latin typeface="Constantia" pitchFamily="18" charset="0"/>
              </a:rPr>
              <a:t>Emitter </a:t>
            </a:r>
            <a:r>
              <a:rPr lang="en-US" sz="2400" err="1">
                <a:latin typeface="Constantia" pitchFamily="18" charset="0"/>
              </a:rPr>
              <a:t>và</a:t>
            </a:r>
            <a:r>
              <a:rPr lang="en-US" sz="2400">
                <a:latin typeface="Constantia" pitchFamily="18" charset="0"/>
              </a:rPr>
              <a:t> </a:t>
            </a:r>
            <a:r>
              <a:rPr lang="en-US" sz="2400" smtClean="0">
                <a:latin typeface="Constantia" pitchFamily="18" charset="0"/>
              </a:rPr>
              <a:t>Base </a:t>
            </a:r>
            <a:r>
              <a:rPr lang="en-US" sz="2400" dirty="0" err="1">
                <a:latin typeface="Constantia" pitchFamily="18" charset="0"/>
              </a:rPr>
              <a:t>gọi</a:t>
            </a:r>
            <a:r>
              <a:rPr lang="en-US" sz="2400" dirty="0">
                <a:latin typeface="Constantia" pitchFamily="18" charset="0"/>
              </a:rPr>
              <a:t> </a:t>
            </a:r>
            <a:r>
              <a:rPr lang="en-US" sz="2400" dirty="0" err="1">
                <a:latin typeface="Constantia" pitchFamily="18" charset="0"/>
              </a:rPr>
              <a:t>là</a:t>
            </a:r>
            <a:r>
              <a:rPr lang="en-US" sz="2400" dirty="0">
                <a:latin typeface="Constantia" pitchFamily="18" charset="0"/>
              </a:rPr>
              <a:t> </a:t>
            </a:r>
            <a:r>
              <a:rPr lang="en-US" sz="2400" dirty="0" err="1">
                <a:latin typeface="Constantia" pitchFamily="18" charset="0"/>
              </a:rPr>
              <a:t>chuyển</a:t>
            </a:r>
            <a:r>
              <a:rPr lang="en-US" sz="2400" dirty="0">
                <a:latin typeface="Constantia" pitchFamily="18" charset="0"/>
              </a:rPr>
              <a:t> </a:t>
            </a:r>
            <a:r>
              <a:rPr lang="en-US" sz="2400" err="1">
                <a:latin typeface="Constantia" pitchFamily="18" charset="0"/>
              </a:rPr>
              <a:t>tiếp</a:t>
            </a:r>
            <a:r>
              <a:rPr lang="en-US" sz="2400">
                <a:latin typeface="Constantia" pitchFamily="18" charset="0"/>
              </a:rPr>
              <a:t> </a:t>
            </a:r>
            <a:r>
              <a:rPr lang="en-US" sz="2400" smtClean="0">
                <a:latin typeface="Constantia" pitchFamily="18" charset="0"/>
              </a:rPr>
              <a:t>Emitter, </a:t>
            </a:r>
            <a:r>
              <a:rPr lang="en-US" sz="2400" dirty="0" err="1">
                <a:latin typeface="Constantia" pitchFamily="18" charset="0"/>
              </a:rPr>
              <a:t>ký</a:t>
            </a:r>
            <a:r>
              <a:rPr lang="en-US" sz="2400" dirty="0">
                <a:latin typeface="Constantia" pitchFamily="18" charset="0"/>
              </a:rPr>
              <a:t> </a:t>
            </a:r>
            <a:r>
              <a:rPr lang="en-US" sz="2400" dirty="0" err="1">
                <a:latin typeface="Constantia" pitchFamily="18" charset="0"/>
              </a:rPr>
              <a:t>hiệu</a:t>
            </a:r>
            <a:r>
              <a:rPr lang="en-US" sz="2400" dirty="0">
                <a:latin typeface="Constantia" pitchFamily="18" charset="0"/>
              </a:rPr>
              <a:t> </a:t>
            </a:r>
            <a:r>
              <a:rPr lang="en-US" sz="2400" dirty="0" err="1">
                <a:latin typeface="Constantia" pitchFamily="18" charset="0"/>
              </a:rPr>
              <a:t>là</a:t>
            </a:r>
            <a:r>
              <a:rPr lang="en-US" sz="2400" dirty="0">
                <a:latin typeface="Constantia" pitchFamily="18" charset="0"/>
              </a:rPr>
              <a:t> J</a:t>
            </a:r>
            <a:r>
              <a:rPr lang="en-US" sz="2400" baseline="-25000" dirty="0">
                <a:latin typeface="Constantia" pitchFamily="18" charset="0"/>
              </a:rPr>
              <a:t>E</a:t>
            </a:r>
          </a:p>
          <a:p>
            <a:pPr marL="342900" indent="-342900" eaLnBrk="0" hangingPunct="0">
              <a:lnSpc>
                <a:spcPct val="90000"/>
              </a:lnSpc>
              <a:spcBef>
                <a:spcPct val="20000"/>
              </a:spcBef>
              <a:buFontTx/>
              <a:buChar char="•"/>
              <a:defRPr/>
            </a:pPr>
            <a:r>
              <a:rPr lang="en-US" sz="2400" smtClean="0">
                <a:latin typeface="Constantia" pitchFamily="18" charset="0"/>
              </a:rPr>
              <a:t>Các </a:t>
            </a:r>
            <a:r>
              <a:rPr lang="en-US" sz="2400" dirty="0" err="1">
                <a:latin typeface="Constantia" pitchFamily="18" charset="0"/>
              </a:rPr>
              <a:t>hạt</a:t>
            </a:r>
            <a:r>
              <a:rPr lang="en-US" sz="2400" dirty="0">
                <a:latin typeface="Constantia" pitchFamily="18" charset="0"/>
              </a:rPr>
              <a:t> </a:t>
            </a:r>
            <a:r>
              <a:rPr lang="en-US" sz="2400" dirty="0" err="1">
                <a:latin typeface="Constantia" pitchFamily="18" charset="0"/>
              </a:rPr>
              <a:t>dẫn</a:t>
            </a:r>
            <a:r>
              <a:rPr lang="en-US" sz="2400" dirty="0">
                <a:latin typeface="Constantia" pitchFamily="18" charset="0"/>
              </a:rPr>
              <a:t> </a:t>
            </a:r>
            <a:r>
              <a:rPr lang="en-US" sz="2400" dirty="0" err="1">
                <a:latin typeface="Constantia" pitchFamily="18" charset="0"/>
              </a:rPr>
              <a:t>phát</a:t>
            </a:r>
            <a:r>
              <a:rPr lang="en-US" sz="2400" dirty="0">
                <a:latin typeface="Constantia" pitchFamily="18" charset="0"/>
              </a:rPr>
              <a:t> </a:t>
            </a:r>
            <a:r>
              <a:rPr lang="en-US" sz="2400" dirty="0" err="1">
                <a:latin typeface="Constantia" pitchFamily="18" charset="0"/>
              </a:rPr>
              <a:t>xạ</a:t>
            </a:r>
            <a:r>
              <a:rPr lang="en-US" sz="2400" dirty="0">
                <a:latin typeface="Constantia" pitchFamily="18" charset="0"/>
              </a:rPr>
              <a:t> </a:t>
            </a:r>
            <a:r>
              <a:rPr lang="en-US" sz="2400" dirty="0" err="1">
                <a:latin typeface="Constantia" pitchFamily="18" charset="0"/>
              </a:rPr>
              <a:t>từ</a:t>
            </a:r>
            <a:r>
              <a:rPr lang="en-US" sz="2400" dirty="0">
                <a:latin typeface="Constantia" pitchFamily="18" charset="0"/>
              </a:rPr>
              <a:t> </a:t>
            </a:r>
            <a:r>
              <a:rPr lang="en-US" sz="2400" err="1">
                <a:latin typeface="Constantia" pitchFamily="18" charset="0"/>
              </a:rPr>
              <a:t>miền</a:t>
            </a:r>
            <a:r>
              <a:rPr lang="en-US" sz="2400">
                <a:latin typeface="Constantia" pitchFamily="18" charset="0"/>
              </a:rPr>
              <a:t> </a:t>
            </a:r>
            <a:r>
              <a:rPr lang="en-US" sz="2400" smtClean="0">
                <a:latin typeface="Constantia" pitchFamily="18" charset="0"/>
              </a:rPr>
              <a:t>Emitter, </a:t>
            </a:r>
            <a:r>
              <a:rPr lang="en-US" sz="2400" dirty="0">
                <a:latin typeface="Constantia" pitchFamily="18" charset="0"/>
              </a:rPr>
              <a:t>qua </a:t>
            </a:r>
            <a:r>
              <a:rPr lang="en-US" sz="2400" dirty="0" err="1">
                <a:latin typeface="Constantia" pitchFamily="18" charset="0"/>
              </a:rPr>
              <a:t>miền</a:t>
            </a:r>
            <a:r>
              <a:rPr lang="en-US" sz="2400" dirty="0">
                <a:latin typeface="Constantia" pitchFamily="18" charset="0"/>
              </a:rPr>
              <a:t> </a:t>
            </a:r>
            <a:r>
              <a:rPr lang="en-US" sz="2400" err="1">
                <a:latin typeface="Constantia" pitchFamily="18" charset="0"/>
              </a:rPr>
              <a:t>gốc</a:t>
            </a:r>
            <a:r>
              <a:rPr lang="en-US" sz="2400">
                <a:latin typeface="Constantia" pitchFamily="18" charset="0"/>
              </a:rPr>
              <a:t> </a:t>
            </a:r>
            <a:r>
              <a:rPr lang="en-US" sz="2400" smtClean="0">
                <a:latin typeface="Constantia" pitchFamily="18" charset="0"/>
              </a:rPr>
              <a:t>Base </a:t>
            </a:r>
            <a:r>
              <a:rPr lang="en-US" sz="2400" dirty="0" err="1">
                <a:latin typeface="Constantia" pitchFamily="18" charset="0"/>
              </a:rPr>
              <a:t>và</a:t>
            </a:r>
            <a:r>
              <a:rPr lang="en-US" sz="2400" dirty="0">
                <a:latin typeface="Constantia" pitchFamily="18" charset="0"/>
              </a:rPr>
              <a:t> </a:t>
            </a:r>
            <a:r>
              <a:rPr lang="en-US" sz="2400" dirty="0" err="1">
                <a:latin typeface="Constantia" pitchFamily="18" charset="0"/>
              </a:rPr>
              <a:t>bị</a:t>
            </a:r>
            <a:r>
              <a:rPr lang="en-US" sz="2400" dirty="0">
                <a:latin typeface="Constantia" pitchFamily="18" charset="0"/>
              </a:rPr>
              <a:t> </a:t>
            </a:r>
            <a:r>
              <a:rPr lang="en-US" sz="2400" dirty="0" err="1">
                <a:latin typeface="Constantia" pitchFamily="18" charset="0"/>
              </a:rPr>
              <a:t>thu</a:t>
            </a:r>
            <a:r>
              <a:rPr lang="en-US" sz="2400" dirty="0">
                <a:latin typeface="Constantia" pitchFamily="18" charset="0"/>
              </a:rPr>
              <a:t> </a:t>
            </a:r>
            <a:r>
              <a:rPr lang="en-US" sz="2400" dirty="0" err="1">
                <a:latin typeface="Constantia" pitchFamily="18" charset="0"/>
              </a:rPr>
              <a:t>góp</a:t>
            </a:r>
            <a:r>
              <a:rPr lang="en-US" sz="2400" dirty="0">
                <a:latin typeface="Constantia" pitchFamily="18" charset="0"/>
              </a:rPr>
              <a:t> </a:t>
            </a:r>
            <a:r>
              <a:rPr lang="en-US" sz="2400" dirty="0" err="1">
                <a:latin typeface="Constantia" pitchFamily="18" charset="0"/>
              </a:rPr>
              <a:t>tại</a:t>
            </a:r>
            <a:r>
              <a:rPr lang="en-US" sz="2400" dirty="0">
                <a:latin typeface="Constantia" pitchFamily="18" charset="0"/>
              </a:rPr>
              <a:t> </a:t>
            </a:r>
            <a:r>
              <a:rPr lang="en-US" sz="2400" err="1">
                <a:latin typeface="Constantia" pitchFamily="18" charset="0"/>
              </a:rPr>
              <a:t>miền</a:t>
            </a:r>
            <a:r>
              <a:rPr lang="en-US" sz="2400">
                <a:latin typeface="Constantia" pitchFamily="18" charset="0"/>
              </a:rPr>
              <a:t> </a:t>
            </a:r>
            <a:r>
              <a:rPr lang="en-US" sz="2400" smtClean="0">
                <a:latin typeface="Constantia" pitchFamily="18" charset="0"/>
              </a:rPr>
              <a:t>Collector.</a:t>
            </a:r>
            <a:endParaRPr lang="en-US" sz="2400" dirty="0">
              <a:latin typeface="Constantia" pitchFamily="18" charset="0"/>
            </a:endParaRPr>
          </a:p>
          <a:p>
            <a:pPr marL="342900" indent="-342900" eaLnBrk="0" hangingPunct="0">
              <a:lnSpc>
                <a:spcPct val="90000"/>
              </a:lnSpc>
              <a:spcBef>
                <a:spcPct val="20000"/>
              </a:spcBef>
              <a:buFontTx/>
              <a:buChar char="•"/>
              <a:defRPr/>
            </a:pPr>
            <a:r>
              <a:rPr lang="en-US" sz="2400" dirty="0" err="1">
                <a:latin typeface="Constantia" pitchFamily="18" charset="0"/>
              </a:rPr>
              <a:t>Dòng</a:t>
            </a:r>
            <a:r>
              <a:rPr lang="en-US" sz="2400" dirty="0">
                <a:latin typeface="Constantia" pitchFamily="18" charset="0"/>
              </a:rPr>
              <a:t> I</a:t>
            </a:r>
            <a:r>
              <a:rPr lang="en-US" sz="2400" baseline="-25000" dirty="0">
                <a:latin typeface="Constantia" pitchFamily="18" charset="0"/>
              </a:rPr>
              <a:t>B</a:t>
            </a:r>
            <a:r>
              <a:rPr lang="en-US" sz="2400" dirty="0">
                <a:latin typeface="Constantia" pitchFamily="18" charset="0"/>
              </a:rPr>
              <a:t> </a:t>
            </a:r>
            <a:r>
              <a:rPr lang="en-US" sz="2400" dirty="0" err="1">
                <a:latin typeface="Constantia" pitchFamily="18" charset="0"/>
              </a:rPr>
              <a:t>có</a:t>
            </a:r>
            <a:r>
              <a:rPr lang="en-US" sz="2400" dirty="0">
                <a:latin typeface="Constantia" pitchFamily="18" charset="0"/>
              </a:rPr>
              <a:t> </a:t>
            </a:r>
            <a:r>
              <a:rPr lang="en-US" sz="2400" dirty="0" err="1">
                <a:latin typeface="Constantia" pitchFamily="18" charset="0"/>
              </a:rPr>
              <a:t>giá</a:t>
            </a:r>
            <a:r>
              <a:rPr lang="en-US" sz="2400" dirty="0">
                <a:latin typeface="Constantia" pitchFamily="18" charset="0"/>
              </a:rPr>
              <a:t> </a:t>
            </a:r>
            <a:r>
              <a:rPr lang="en-US" sz="2400" dirty="0" err="1">
                <a:latin typeface="Constantia" pitchFamily="18" charset="0"/>
              </a:rPr>
              <a:t>trị</a:t>
            </a:r>
            <a:r>
              <a:rPr lang="en-US" sz="2400" dirty="0">
                <a:latin typeface="Constantia" pitchFamily="18" charset="0"/>
              </a:rPr>
              <a:t> </a:t>
            </a:r>
            <a:r>
              <a:rPr lang="en-US" sz="2400" dirty="0" err="1">
                <a:latin typeface="Constantia" pitchFamily="18" charset="0"/>
              </a:rPr>
              <a:t>nhỏ</a:t>
            </a:r>
            <a:r>
              <a:rPr lang="en-US" sz="2400" dirty="0">
                <a:latin typeface="Constantia" pitchFamily="18" charset="0"/>
              </a:rPr>
              <a:t> </a:t>
            </a:r>
            <a:r>
              <a:rPr lang="en-US" sz="2400" dirty="0" err="1">
                <a:latin typeface="Constantia" pitchFamily="18" charset="0"/>
              </a:rPr>
              <a:t>nhưng</a:t>
            </a:r>
            <a:r>
              <a:rPr lang="en-US" sz="2400" dirty="0">
                <a:latin typeface="Constantia" pitchFamily="18" charset="0"/>
              </a:rPr>
              <a:t> </a:t>
            </a:r>
            <a:r>
              <a:rPr lang="en-US" sz="2400" dirty="0" err="1">
                <a:latin typeface="Constantia" pitchFamily="18" charset="0"/>
              </a:rPr>
              <a:t>giữ</a:t>
            </a:r>
            <a:r>
              <a:rPr lang="en-US" sz="2400" dirty="0">
                <a:latin typeface="Constantia" pitchFamily="18" charset="0"/>
              </a:rPr>
              <a:t> </a:t>
            </a:r>
            <a:r>
              <a:rPr lang="en-US" sz="2400" dirty="0" err="1">
                <a:latin typeface="Constantia" pitchFamily="18" charset="0"/>
              </a:rPr>
              <a:t>vai</a:t>
            </a:r>
            <a:r>
              <a:rPr lang="en-US" sz="2400" dirty="0">
                <a:latin typeface="Constantia" pitchFamily="18" charset="0"/>
              </a:rPr>
              <a:t> </a:t>
            </a:r>
            <a:r>
              <a:rPr lang="en-US" sz="2400" dirty="0" err="1">
                <a:latin typeface="Constantia" pitchFamily="18" charset="0"/>
              </a:rPr>
              <a:t>trò</a:t>
            </a:r>
            <a:r>
              <a:rPr lang="en-US" sz="2400" dirty="0">
                <a:latin typeface="Constantia" pitchFamily="18" charset="0"/>
              </a:rPr>
              <a:t> </a:t>
            </a:r>
            <a:r>
              <a:rPr lang="en-US" sz="2400" dirty="0" err="1">
                <a:latin typeface="Constantia" pitchFamily="18" charset="0"/>
              </a:rPr>
              <a:t>điều</a:t>
            </a:r>
            <a:r>
              <a:rPr lang="en-US" sz="2400" dirty="0">
                <a:latin typeface="Constantia" pitchFamily="18" charset="0"/>
              </a:rPr>
              <a:t> </a:t>
            </a:r>
            <a:r>
              <a:rPr lang="en-US" sz="2400" dirty="0" err="1">
                <a:latin typeface="Constantia" pitchFamily="18" charset="0"/>
              </a:rPr>
              <a:t>khiển</a:t>
            </a:r>
            <a:endParaRPr lang="en-US" sz="2400" dirty="0">
              <a:latin typeface="Constantia" pitchFamily="18" charset="0"/>
            </a:endParaRPr>
          </a:p>
        </p:txBody>
      </p:sp>
      <p:sp>
        <p:nvSpPr>
          <p:cNvPr id="5018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B4CA15E-8015-4AE0-BF34-B045C9F00EC1}" type="slidenum">
              <a:rPr lang="en-US" smtClean="0"/>
              <a:pPr eaLnBrk="1" hangingPunct="1"/>
              <a:t>3</a:t>
            </a:fld>
            <a:endParaRPr lang="en-US" smtClean="0"/>
          </a:p>
        </p:txBody>
      </p:sp>
      <p:sp>
        <p:nvSpPr>
          <p:cNvPr id="5" name="Text Box 8"/>
          <p:cNvSpPr txBox="1">
            <a:spLocks noChangeArrowheads="1"/>
          </p:cNvSpPr>
          <p:nvPr/>
        </p:nvSpPr>
        <p:spPr bwMode="auto">
          <a:xfrm>
            <a:off x="1488837" y="344304"/>
            <a:ext cx="648844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4400" b="1">
                <a:solidFill>
                  <a:schemeClr val="tx2">
                    <a:lumMod val="50000"/>
                  </a:schemeClr>
                </a:solidFill>
                <a:latin typeface="Constantia" pitchFamily="18" charset="0"/>
              </a:rPr>
              <a:t>Cấu tạo Transistor  NPN</a:t>
            </a:r>
          </a:p>
        </p:txBody>
      </p:sp>
    </p:spTree>
    <p:extLst>
      <p:ext uri="{BB962C8B-B14F-4D97-AF65-F5344CB8AC3E}">
        <p14:creationId xmlns:p14="http://schemas.microsoft.com/office/powerpoint/2010/main" val="4103300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ChangeArrowheads="1"/>
          </p:cNvSpPr>
          <p:nvPr/>
        </p:nvSpPr>
        <p:spPr bwMode="auto">
          <a:xfrm>
            <a:off x="6600825" y="4006850"/>
            <a:ext cx="1692275" cy="20351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48131" name="Rectangle 6"/>
          <p:cNvSpPr>
            <a:spLocks noChangeArrowheads="1"/>
          </p:cNvSpPr>
          <p:nvPr/>
        </p:nvSpPr>
        <p:spPr bwMode="auto">
          <a:xfrm>
            <a:off x="6604000" y="1135063"/>
            <a:ext cx="1692275" cy="20351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48132" name="Rectangle 7"/>
          <p:cNvSpPr>
            <a:spLocks noChangeArrowheads="1"/>
          </p:cNvSpPr>
          <p:nvPr/>
        </p:nvSpPr>
        <p:spPr bwMode="auto">
          <a:xfrm>
            <a:off x="6604000" y="3170238"/>
            <a:ext cx="1692275" cy="8366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48133" name="Text Box 8"/>
          <p:cNvSpPr txBox="1">
            <a:spLocks noChangeArrowheads="1"/>
          </p:cNvSpPr>
          <p:nvPr/>
        </p:nvSpPr>
        <p:spPr bwMode="auto">
          <a:xfrm>
            <a:off x="1488837" y="344304"/>
            <a:ext cx="648844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4400" b="1">
                <a:solidFill>
                  <a:schemeClr val="tx2">
                    <a:lumMod val="50000"/>
                  </a:schemeClr>
                </a:solidFill>
                <a:latin typeface="Constantia" pitchFamily="18" charset="0"/>
              </a:rPr>
              <a:t>Cấu tạo Transistor  NPN</a:t>
            </a:r>
          </a:p>
        </p:txBody>
      </p:sp>
      <p:sp>
        <p:nvSpPr>
          <p:cNvPr id="48134" name="Line 9"/>
          <p:cNvSpPr>
            <a:spLocks noChangeShapeType="1"/>
          </p:cNvSpPr>
          <p:nvPr/>
        </p:nvSpPr>
        <p:spPr bwMode="auto">
          <a:xfrm>
            <a:off x="7439025" y="6059488"/>
            <a:ext cx="0" cy="45878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35" name="Line 10"/>
          <p:cNvSpPr>
            <a:spLocks noChangeShapeType="1"/>
          </p:cNvSpPr>
          <p:nvPr/>
        </p:nvSpPr>
        <p:spPr bwMode="auto">
          <a:xfrm rot="-5400000">
            <a:off x="6374607" y="3372644"/>
            <a:ext cx="0" cy="45878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36" name="Line 11"/>
          <p:cNvSpPr>
            <a:spLocks noChangeShapeType="1"/>
          </p:cNvSpPr>
          <p:nvPr/>
        </p:nvSpPr>
        <p:spPr bwMode="auto">
          <a:xfrm>
            <a:off x="7448550" y="666750"/>
            <a:ext cx="0" cy="45878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 name="Group 12"/>
          <p:cNvGrpSpPr>
            <a:grpSpLocks/>
          </p:cNvGrpSpPr>
          <p:nvPr/>
        </p:nvGrpSpPr>
        <p:grpSpPr bwMode="auto">
          <a:xfrm>
            <a:off x="2063750" y="1143000"/>
            <a:ext cx="6775450" cy="4953000"/>
            <a:chOff x="1300" y="720"/>
            <a:chExt cx="4268" cy="3120"/>
          </a:xfrm>
        </p:grpSpPr>
        <p:grpSp>
          <p:nvGrpSpPr>
            <p:cNvPr id="48194" name="Group 13"/>
            <p:cNvGrpSpPr>
              <a:grpSpLocks/>
            </p:cNvGrpSpPr>
            <p:nvPr/>
          </p:nvGrpSpPr>
          <p:grpSpPr bwMode="auto">
            <a:xfrm>
              <a:off x="4723" y="1277"/>
              <a:ext cx="369" cy="384"/>
              <a:chOff x="1824" y="864"/>
              <a:chExt cx="240" cy="240"/>
            </a:xfrm>
          </p:grpSpPr>
          <p:sp>
            <p:nvSpPr>
              <p:cNvPr id="48207" name="Oval 14"/>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208" name="Rectangle 15"/>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95" name="Group 16"/>
            <p:cNvGrpSpPr>
              <a:grpSpLocks/>
            </p:cNvGrpSpPr>
            <p:nvPr/>
          </p:nvGrpSpPr>
          <p:grpSpPr bwMode="auto">
            <a:xfrm>
              <a:off x="4756" y="835"/>
              <a:ext cx="369" cy="384"/>
              <a:chOff x="1824" y="864"/>
              <a:chExt cx="240" cy="240"/>
            </a:xfrm>
          </p:grpSpPr>
          <p:sp>
            <p:nvSpPr>
              <p:cNvPr id="48205" name="Oval 17"/>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206" name="Rectangle 18"/>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96" name="Group 19"/>
            <p:cNvGrpSpPr>
              <a:grpSpLocks/>
            </p:cNvGrpSpPr>
            <p:nvPr/>
          </p:nvGrpSpPr>
          <p:grpSpPr bwMode="auto">
            <a:xfrm>
              <a:off x="4176" y="1200"/>
              <a:ext cx="369" cy="384"/>
              <a:chOff x="1814" y="870"/>
              <a:chExt cx="240" cy="240"/>
            </a:xfrm>
          </p:grpSpPr>
          <p:sp>
            <p:nvSpPr>
              <p:cNvPr id="48203" name="Oval 20"/>
              <p:cNvSpPr>
                <a:spLocks noChangeArrowheads="1"/>
              </p:cNvSpPr>
              <p:nvPr/>
            </p:nvSpPr>
            <p:spPr bwMode="auto">
              <a:xfrm>
                <a:off x="1814" y="870"/>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204" name="Rectangle 21"/>
              <p:cNvSpPr>
                <a:spLocks noChangeArrowheads="1"/>
              </p:cNvSpPr>
              <p:nvPr/>
            </p:nvSpPr>
            <p:spPr bwMode="auto">
              <a:xfrm>
                <a:off x="1862" y="966"/>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sp>
          <p:nvSpPr>
            <p:cNvPr id="83017" name="Text Box 22"/>
            <p:cNvSpPr txBox="1">
              <a:spLocks noChangeArrowheads="1"/>
            </p:cNvSpPr>
            <p:nvPr/>
          </p:nvSpPr>
          <p:spPr bwMode="auto">
            <a:xfrm>
              <a:off x="1300" y="1053"/>
              <a:ext cx="2064" cy="601"/>
            </a:xfrm>
            <a:prstGeom prst="rect">
              <a:avLst/>
            </a:prstGeom>
            <a:noFill/>
            <a:ln w="9525">
              <a:noFill/>
              <a:miter lim="800000"/>
              <a:headEnd/>
              <a:tailEnd/>
            </a:ln>
          </p:spPr>
          <p:txBody>
            <a:bodyPr wrap="square">
              <a:spAutoFit/>
            </a:bodyPr>
            <a:lstStyle/>
            <a:p>
              <a:pPr algn="ctr" eaLnBrk="0" hangingPunct="0">
                <a:defRPr/>
              </a:pPr>
              <a:r>
                <a:rPr lang="en-US" sz="2800" b="1" err="1">
                  <a:latin typeface="Constantia" pitchFamily="18" charset="0"/>
                </a:rPr>
                <a:t>Miền</a:t>
              </a:r>
              <a:r>
                <a:rPr lang="en-US" sz="2800" b="1">
                  <a:latin typeface="Constantia" pitchFamily="18" charset="0"/>
                </a:rPr>
                <a:t> </a:t>
              </a:r>
              <a:r>
                <a:rPr lang="en-US" sz="2800" b="1" smtClean="0">
                  <a:solidFill>
                    <a:srgbClr val="FF0000"/>
                  </a:solidFill>
                  <a:latin typeface="Constantia" pitchFamily="18" charset="0"/>
                </a:rPr>
                <a:t>Collector</a:t>
              </a:r>
              <a:r>
                <a:rPr lang="en-US" sz="2800" b="1" smtClean="0">
                  <a:latin typeface="Constantia" pitchFamily="18" charset="0"/>
                </a:rPr>
                <a:t> </a:t>
              </a:r>
              <a:r>
                <a:rPr lang="en-US" sz="2800" b="1" dirty="0" err="1">
                  <a:latin typeface="Constantia" pitchFamily="18" charset="0"/>
                </a:rPr>
                <a:t>pha</a:t>
              </a:r>
              <a:r>
                <a:rPr lang="en-US" sz="2800" b="1" dirty="0">
                  <a:latin typeface="Constantia" pitchFamily="18" charset="0"/>
                </a:rPr>
                <a:t> </a:t>
              </a:r>
              <a:r>
                <a:rPr lang="en-US" sz="2800" b="1" dirty="0" err="1">
                  <a:latin typeface="Constantia" pitchFamily="18" charset="0"/>
                </a:rPr>
                <a:t>tạp</a:t>
              </a:r>
              <a:r>
                <a:rPr lang="en-US" sz="2800" b="1" dirty="0">
                  <a:latin typeface="Constantia" pitchFamily="18" charset="0"/>
                </a:rPr>
                <a:t> </a:t>
              </a:r>
              <a:r>
                <a:rPr lang="en-US" sz="2800" b="1" dirty="0" err="1">
                  <a:latin typeface="Constantia" pitchFamily="18" charset="0"/>
                </a:rPr>
                <a:t>thấp</a:t>
              </a:r>
              <a:endParaRPr lang="en-US" sz="2800" b="1" dirty="0">
                <a:latin typeface="Constantia" pitchFamily="18" charset="0"/>
              </a:endParaRPr>
            </a:p>
          </p:txBody>
        </p:sp>
        <p:sp>
          <p:nvSpPr>
            <p:cNvPr id="48198" name="Text Box 23"/>
            <p:cNvSpPr txBox="1">
              <a:spLocks noChangeArrowheads="1"/>
            </p:cNvSpPr>
            <p:nvPr/>
          </p:nvSpPr>
          <p:spPr bwMode="auto">
            <a:xfrm>
              <a:off x="5267" y="1215"/>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latin typeface="Times New Roman" pitchFamily="18" charset="0"/>
                </a:rPr>
                <a:t>C</a:t>
              </a:r>
            </a:p>
          </p:txBody>
        </p:sp>
        <p:sp>
          <p:nvSpPr>
            <p:cNvPr id="48199" name="AutoShape 24"/>
            <p:cNvSpPr>
              <a:spLocks noChangeArrowheads="1"/>
            </p:cNvSpPr>
            <p:nvPr/>
          </p:nvSpPr>
          <p:spPr bwMode="auto">
            <a:xfrm>
              <a:off x="3393" y="1191"/>
              <a:ext cx="745" cy="352"/>
            </a:xfrm>
            <a:prstGeom prst="rightArrow">
              <a:avLst>
                <a:gd name="adj1" fmla="val 50000"/>
                <a:gd name="adj2" fmla="val 52912"/>
              </a:avLst>
            </a:prstGeom>
            <a:solidFill>
              <a:srgbClr val="FFFF00"/>
            </a:solidFill>
            <a:ln w="28575">
              <a:solidFill>
                <a:schemeClr val="tx1"/>
              </a:solidFill>
              <a:miter lim="800000"/>
              <a:headEnd/>
              <a:tailEnd/>
            </a:ln>
          </p:spPr>
          <p:txBody>
            <a:bodyPr wrap="none" anchor="ctr"/>
            <a:lstStyle/>
            <a:p>
              <a:endParaRPr lang="vi-VN"/>
            </a:p>
          </p:txBody>
        </p:sp>
        <p:sp>
          <p:nvSpPr>
            <p:cNvPr id="48200" name="Text Box 23"/>
            <p:cNvSpPr txBox="1">
              <a:spLocks noChangeArrowheads="1"/>
            </p:cNvSpPr>
            <p:nvPr/>
          </p:nvSpPr>
          <p:spPr bwMode="auto">
            <a:xfrm>
              <a:off x="4176" y="720"/>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b="1">
                  <a:solidFill>
                    <a:srgbClr val="FF0000"/>
                  </a:solidFill>
                  <a:latin typeface="Times New Roman" pitchFamily="18" charset="0"/>
                </a:rPr>
                <a:t>N</a:t>
              </a:r>
            </a:p>
          </p:txBody>
        </p:sp>
        <p:sp>
          <p:nvSpPr>
            <p:cNvPr id="48201" name="Text Box 23"/>
            <p:cNvSpPr txBox="1">
              <a:spLocks noChangeArrowheads="1"/>
            </p:cNvSpPr>
            <p:nvPr/>
          </p:nvSpPr>
          <p:spPr bwMode="auto">
            <a:xfrm>
              <a:off x="4128" y="1968"/>
              <a:ext cx="2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b="1">
                  <a:solidFill>
                    <a:srgbClr val="FF0000"/>
                  </a:solidFill>
                  <a:latin typeface="Times New Roman" pitchFamily="18" charset="0"/>
                </a:rPr>
                <a:t>P</a:t>
              </a:r>
            </a:p>
          </p:txBody>
        </p:sp>
        <p:sp>
          <p:nvSpPr>
            <p:cNvPr id="48202" name="Text Box 23"/>
            <p:cNvSpPr txBox="1">
              <a:spLocks noChangeArrowheads="1"/>
            </p:cNvSpPr>
            <p:nvPr/>
          </p:nvSpPr>
          <p:spPr bwMode="auto">
            <a:xfrm>
              <a:off x="4128" y="3588"/>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b="1">
                  <a:solidFill>
                    <a:srgbClr val="FF0000"/>
                  </a:solidFill>
                  <a:latin typeface="Times New Roman" pitchFamily="18" charset="0"/>
                </a:rPr>
                <a:t>N</a:t>
              </a:r>
            </a:p>
          </p:txBody>
        </p:sp>
      </p:grpSp>
      <p:grpSp>
        <p:nvGrpSpPr>
          <p:cNvPr id="6" name="Group 25"/>
          <p:cNvGrpSpPr>
            <a:grpSpLocks/>
          </p:cNvGrpSpPr>
          <p:nvPr/>
        </p:nvGrpSpPr>
        <p:grpSpPr bwMode="auto">
          <a:xfrm>
            <a:off x="1060450" y="3030538"/>
            <a:ext cx="7742238" cy="954087"/>
            <a:chOff x="680" y="1939"/>
            <a:chExt cx="4877" cy="601"/>
          </a:xfrm>
        </p:grpSpPr>
        <p:grpSp>
          <p:nvGrpSpPr>
            <p:cNvPr id="48181" name="Group 26"/>
            <p:cNvGrpSpPr>
              <a:grpSpLocks/>
            </p:cNvGrpSpPr>
            <p:nvPr/>
          </p:nvGrpSpPr>
          <p:grpSpPr bwMode="auto">
            <a:xfrm>
              <a:off x="4763" y="2045"/>
              <a:ext cx="384" cy="384"/>
              <a:chOff x="2304" y="1008"/>
              <a:chExt cx="240" cy="240"/>
            </a:xfrm>
          </p:grpSpPr>
          <p:sp>
            <p:nvSpPr>
              <p:cNvPr id="48190" name="Oval 27"/>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p:spPr>
            <p:txBody>
              <a:bodyPr wrap="none" anchor="ctr"/>
              <a:lstStyle/>
              <a:p>
                <a:endParaRPr lang="vi-VN"/>
              </a:p>
            </p:txBody>
          </p:sp>
          <p:grpSp>
            <p:nvGrpSpPr>
              <p:cNvPr id="48191" name="Group 28"/>
              <p:cNvGrpSpPr>
                <a:grpSpLocks/>
              </p:cNvGrpSpPr>
              <p:nvPr/>
            </p:nvGrpSpPr>
            <p:grpSpPr bwMode="auto">
              <a:xfrm>
                <a:off x="2352" y="1056"/>
                <a:ext cx="144" cy="144"/>
                <a:chOff x="2352" y="480"/>
                <a:chExt cx="144" cy="144"/>
              </a:xfrm>
            </p:grpSpPr>
            <p:sp>
              <p:nvSpPr>
                <p:cNvPr id="48192" name="Rectangle 29"/>
                <p:cNvSpPr>
                  <a:spLocks noChangeArrowheads="1"/>
                </p:cNvSpPr>
                <p:nvPr/>
              </p:nvSpPr>
              <p:spPr bwMode="auto">
                <a:xfrm>
                  <a:off x="2352" y="528"/>
                  <a:ext cx="144"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8193" name="Rectangle 30"/>
                <p:cNvSpPr>
                  <a:spLocks noChangeArrowheads="1"/>
                </p:cNvSpPr>
                <p:nvPr/>
              </p:nvSpPr>
              <p:spPr bwMode="auto">
                <a:xfrm rot="5400000">
                  <a:off x="2352" y="528"/>
                  <a:ext cx="144"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grpSp>
        </p:grpSp>
        <p:grpSp>
          <p:nvGrpSpPr>
            <p:cNvPr id="48182" name="Group 31"/>
            <p:cNvGrpSpPr>
              <a:grpSpLocks/>
            </p:cNvGrpSpPr>
            <p:nvPr/>
          </p:nvGrpSpPr>
          <p:grpSpPr bwMode="auto">
            <a:xfrm>
              <a:off x="4379" y="2094"/>
              <a:ext cx="384" cy="384"/>
              <a:chOff x="2424" y="1025"/>
              <a:chExt cx="240" cy="240"/>
            </a:xfrm>
          </p:grpSpPr>
          <p:sp>
            <p:nvSpPr>
              <p:cNvPr id="48186" name="Oval 32"/>
              <p:cNvSpPr>
                <a:spLocks noChangeArrowheads="1"/>
              </p:cNvSpPr>
              <p:nvPr/>
            </p:nvSpPr>
            <p:spPr bwMode="auto">
              <a:xfrm>
                <a:off x="2424" y="1025"/>
                <a:ext cx="240" cy="240"/>
              </a:xfrm>
              <a:prstGeom prst="ellipse">
                <a:avLst/>
              </a:prstGeom>
              <a:solidFill>
                <a:srgbClr val="CC0000"/>
              </a:solidFill>
              <a:ln w="9525">
                <a:solidFill>
                  <a:schemeClr val="tx1"/>
                </a:solidFill>
                <a:round/>
                <a:headEnd/>
                <a:tailEnd/>
              </a:ln>
            </p:spPr>
            <p:txBody>
              <a:bodyPr wrap="none" anchor="ctr"/>
              <a:lstStyle/>
              <a:p>
                <a:endParaRPr lang="vi-VN"/>
              </a:p>
            </p:txBody>
          </p:sp>
          <p:grpSp>
            <p:nvGrpSpPr>
              <p:cNvPr id="48187" name="Group 33"/>
              <p:cNvGrpSpPr>
                <a:grpSpLocks/>
              </p:cNvGrpSpPr>
              <p:nvPr/>
            </p:nvGrpSpPr>
            <p:grpSpPr bwMode="auto">
              <a:xfrm>
                <a:off x="2473" y="1073"/>
                <a:ext cx="144" cy="144"/>
                <a:chOff x="2473" y="497"/>
                <a:chExt cx="144" cy="144"/>
              </a:xfrm>
            </p:grpSpPr>
            <p:sp>
              <p:nvSpPr>
                <p:cNvPr id="48188" name="Rectangle 34"/>
                <p:cNvSpPr>
                  <a:spLocks noChangeArrowheads="1"/>
                </p:cNvSpPr>
                <p:nvPr/>
              </p:nvSpPr>
              <p:spPr bwMode="auto">
                <a:xfrm>
                  <a:off x="2473" y="545"/>
                  <a:ext cx="144"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8189" name="Rectangle 35"/>
                <p:cNvSpPr>
                  <a:spLocks noChangeArrowheads="1"/>
                </p:cNvSpPr>
                <p:nvPr/>
              </p:nvSpPr>
              <p:spPr bwMode="auto">
                <a:xfrm rot="5400000">
                  <a:off x="2473" y="545"/>
                  <a:ext cx="144"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grpSp>
        </p:grpSp>
        <p:sp>
          <p:nvSpPr>
            <p:cNvPr id="83003" name="Text Box 36"/>
            <p:cNvSpPr txBox="1">
              <a:spLocks noChangeArrowheads="1"/>
            </p:cNvSpPr>
            <p:nvPr/>
          </p:nvSpPr>
          <p:spPr bwMode="auto">
            <a:xfrm>
              <a:off x="680" y="1939"/>
              <a:ext cx="1932" cy="601"/>
            </a:xfrm>
            <a:prstGeom prst="rect">
              <a:avLst/>
            </a:prstGeom>
            <a:noFill/>
            <a:ln w="9525">
              <a:noFill/>
              <a:miter lim="800000"/>
              <a:headEnd/>
              <a:tailEnd/>
            </a:ln>
          </p:spPr>
          <p:txBody>
            <a:bodyPr wrap="none">
              <a:spAutoFit/>
            </a:bodyPr>
            <a:lstStyle/>
            <a:p>
              <a:pPr algn="ctr" eaLnBrk="0" hangingPunct="0">
                <a:defRPr/>
              </a:pPr>
              <a:r>
                <a:rPr lang="en-US" sz="2800" b="1" err="1">
                  <a:latin typeface="Constantia" pitchFamily="18" charset="0"/>
                </a:rPr>
                <a:t>Miền</a:t>
              </a:r>
              <a:r>
                <a:rPr lang="en-US" sz="2800" b="1">
                  <a:latin typeface="Constantia" pitchFamily="18" charset="0"/>
                </a:rPr>
                <a:t> </a:t>
              </a:r>
              <a:r>
                <a:rPr lang="en-US" sz="2800" b="1" smtClean="0">
                  <a:solidFill>
                    <a:srgbClr val="FF0000"/>
                  </a:solidFill>
                  <a:latin typeface="Constantia" pitchFamily="18" charset="0"/>
                </a:rPr>
                <a:t>Base</a:t>
              </a:r>
              <a:r>
                <a:rPr lang="en-US" sz="2800" b="1" smtClean="0">
                  <a:latin typeface="Constantia" pitchFamily="18" charset="0"/>
                </a:rPr>
                <a:t> </a:t>
              </a:r>
              <a:r>
                <a:rPr lang="en-US" sz="2800" b="1" dirty="0" err="1">
                  <a:latin typeface="Constantia" pitchFamily="18" charset="0"/>
                </a:rPr>
                <a:t>mỏng</a:t>
              </a:r>
              <a:r>
                <a:rPr lang="en-US" sz="2800" b="1" dirty="0">
                  <a:latin typeface="Constantia" pitchFamily="18" charset="0"/>
                </a:rPr>
                <a:t> </a:t>
              </a:r>
            </a:p>
            <a:p>
              <a:pPr algn="ctr" eaLnBrk="0" hangingPunct="0">
                <a:defRPr/>
              </a:pPr>
              <a:r>
                <a:rPr lang="en-US" sz="2800" b="1" dirty="0" err="1">
                  <a:latin typeface="Constantia" pitchFamily="18" charset="0"/>
                </a:rPr>
                <a:t>và</a:t>
              </a:r>
              <a:r>
                <a:rPr lang="en-US" sz="2800" b="1" dirty="0">
                  <a:latin typeface="Constantia" pitchFamily="18" charset="0"/>
                </a:rPr>
                <a:t> </a:t>
              </a:r>
              <a:r>
                <a:rPr lang="en-US" sz="2800" b="1" dirty="0" err="1">
                  <a:latin typeface="Constantia" pitchFamily="18" charset="0"/>
                </a:rPr>
                <a:t>pha</a:t>
              </a:r>
              <a:r>
                <a:rPr lang="en-US" sz="2800" b="1" dirty="0">
                  <a:latin typeface="Constantia" pitchFamily="18" charset="0"/>
                </a:rPr>
                <a:t> </a:t>
              </a:r>
              <a:r>
                <a:rPr lang="en-US" sz="2800" b="1" dirty="0" err="1">
                  <a:latin typeface="Constantia" pitchFamily="18" charset="0"/>
                </a:rPr>
                <a:t>tạp</a:t>
              </a:r>
              <a:r>
                <a:rPr lang="en-US" sz="2800" b="1" dirty="0">
                  <a:latin typeface="Constantia" pitchFamily="18" charset="0"/>
                </a:rPr>
                <a:t> </a:t>
              </a:r>
              <a:r>
                <a:rPr lang="en-US" sz="2800" b="1" dirty="0" err="1">
                  <a:latin typeface="Constantia" pitchFamily="18" charset="0"/>
                </a:rPr>
                <a:t>thấp</a:t>
              </a:r>
              <a:endParaRPr lang="en-US" sz="2800" b="1" dirty="0">
                <a:latin typeface="Constantia" pitchFamily="18" charset="0"/>
              </a:endParaRPr>
            </a:p>
          </p:txBody>
        </p:sp>
        <p:sp>
          <p:nvSpPr>
            <p:cNvPr id="48184" name="Text Box 37"/>
            <p:cNvSpPr txBox="1">
              <a:spLocks noChangeArrowheads="1"/>
            </p:cNvSpPr>
            <p:nvPr/>
          </p:nvSpPr>
          <p:spPr bwMode="auto">
            <a:xfrm>
              <a:off x="5270" y="2070"/>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latin typeface="Times New Roman" pitchFamily="18" charset="0"/>
                </a:rPr>
                <a:t>B</a:t>
              </a:r>
            </a:p>
          </p:txBody>
        </p:sp>
        <p:sp>
          <p:nvSpPr>
            <p:cNvPr id="48185" name="AutoShape 38"/>
            <p:cNvSpPr>
              <a:spLocks noChangeArrowheads="1"/>
            </p:cNvSpPr>
            <p:nvPr/>
          </p:nvSpPr>
          <p:spPr bwMode="auto">
            <a:xfrm>
              <a:off x="3096" y="2084"/>
              <a:ext cx="745" cy="352"/>
            </a:xfrm>
            <a:prstGeom prst="rightArrow">
              <a:avLst>
                <a:gd name="adj1" fmla="val 50000"/>
                <a:gd name="adj2" fmla="val 52912"/>
              </a:avLst>
            </a:prstGeom>
            <a:solidFill>
              <a:srgbClr val="FFFF00"/>
            </a:solidFill>
            <a:ln w="28575">
              <a:solidFill>
                <a:schemeClr val="tx1"/>
              </a:solidFill>
              <a:miter lim="800000"/>
              <a:headEnd/>
              <a:tailEnd/>
            </a:ln>
          </p:spPr>
          <p:txBody>
            <a:bodyPr wrap="none" anchor="ctr"/>
            <a:lstStyle/>
            <a:p>
              <a:endParaRPr lang="vi-VN"/>
            </a:p>
          </p:txBody>
        </p:sp>
      </p:grpSp>
      <p:grpSp>
        <p:nvGrpSpPr>
          <p:cNvPr id="11" name="Group 39"/>
          <p:cNvGrpSpPr>
            <a:grpSpLocks/>
          </p:cNvGrpSpPr>
          <p:nvPr/>
        </p:nvGrpSpPr>
        <p:grpSpPr bwMode="auto">
          <a:xfrm>
            <a:off x="1714501" y="4146550"/>
            <a:ext cx="7086600" cy="1839913"/>
            <a:chOff x="1104" y="2612"/>
            <a:chExt cx="4464" cy="1159"/>
          </a:xfrm>
        </p:grpSpPr>
        <p:grpSp>
          <p:nvGrpSpPr>
            <p:cNvPr id="48141" name="Group 40"/>
            <p:cNvGrpSpPr>
              <a:grpSpLocks/>
            </p:cNvGrpSpPr>
            <p:nvPr/>
          </p:nvGrpSpPr>
          <p:grpSpPr bwMode="auto">
            <a:xfrm>
              <a:off x="4187" y="2612"/>
              <a:ext cx="993" cy="1159"/>
              <a:chOff x="4187" y="2612"/>
              <a:chExt cx="993" cy="1159"/>
            </a:xfrm>
          </p:grpSpPr>
          <p:grpSp>
            <p:nvGrpSpPr>
              <p:cNvPr id="48145" name="Group 41"/>
              <p:cNvGrpSpPr>
                <a:grpSpLocks/>
              </p:cNvGrpSpPr>
              <p:nvPr/>
            </p:nvGrpSpPr>
            <p:grpSpPr bwMode="auto">
              <a:xfrm>
                <a:off x="4239" y="2640"/>
                <a:ext cx="369" cy="384"/>
                <a:chOff x="1860" y="900"/>
                <a:chExt cx="240" cy="240"/>
              </a:xfrm>
            </p:grpSpPr>
            <p:sp>
              <p:nvSpPr>
                <p:cNvPr id="48179" name="Oval 42"/>
                <p:cNvSpPr>
                  <a:spLocks noChangeArrowheads="1"/>
                </p:cNvSpPr>
                <p:nvPr/>
              </p:nvSpPr>
              <p:spPr bwMode="auto">
                <a:xfrm>
                  <a:off x="1860" y="900"/>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80" name="Rectangle 43"/>
                <p:cNvSpPr>
                  <a:spLocks noChangeArrowheads="1"/>
                </p:cNvSpPr>
                <p:nvPr/>
              </p:nvSpPr>
              <p:spPr bwMode="auto">
                <a:xfrm>
                  <a:off x="1908" y="996"/>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46" name="Group 44"/>
              <p:cNvGrpSpPr>
                <a:grpSpLocks/>
              </p:cNvGrpSpPr>
              <p:nvPr/>
            </p:nvGrpSpPr>
            <p:grpSpPr bwMode="auto">
              <a:xfrm>
                <a:off x="4516" y="3335"/>
                <a:ext cx="369" cy="384"/>
                <a:chOff x="1824" y="864"/>
                <a:chExt cx="240" cy="240"/>
              </a:xfrm>
            </p:grpSpPr>
            <p:sp>
              <p:nvSpPr>
                <p:cNvPr id="48177" name="Oval 45"/>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78" name="Rectangle 46"/>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47" name="Group 47"/>
              <p:cNvGrpSpPr>
                <a:grpSpLocks/>
              </p:cNvGrpSpPr>
              <p:nvPr/>
            </p:nvGrpSpPr>
            <p:grpSpPr bwMode="auto">
              <a:xfrm>
                <a:off x="4187" y="3263"/>
                <a:ext cx="369" cy="384"/>
                <a:chOff x="1824" y="811"/>
                <a:chExt cx="240" cy="240"/>
              </a:xfrm>
            </p:grpSpPr>
            <p:sp>
              <p:nvSpPr>
                <p:cNvPr id="48175" name="Oval 48"/>
                <p:cNvSpPr>
                  <a:spLocks noChangeArrowheads="1"/>
                </p:cNvSpPr>
                <p:nvPr/>
              </p:nvSpPr>
              <p:spPr bwMode="auto">
                <a:xfrm>
                  <a:off x="1824" y="811"/>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76" name="Rectangle 49"/>
                <p:cNvSpPr>
                  <a:spLocks noChangeArrowheads="1"/>
                </p:cNvSpPr>
                <p:nvPr/>
              </p:nvSpPr>
              <p:spPr bwMode="auto">
                <a:xfrm>
                  <a:off x="1872" y="908"/>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48" name="Group 50"/>
              <p:cNvGrpSpPr>
                <a:grpSpLocks/>
              </p:cNvGrpSpPr>
              <p:nvPr/>
            </p:nvGrpSpPr>
            <p:grpSpPr bwMode="auto">
              <a:xfrm>
                <a:off x="4728" y="3040"/>
                <a:ext cx="369" cy="384"/>
                <a:chOff x="1824" y="864"/>
                <a:chExt cx="240" cy="240"/>
              </a:xfrm>
            </p:grpSpPr>
            <p:sp>
              <p:nvSpPr>
                <p:cNvPr id="48173" name="Oval 51"/>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74" name="Rectangle 52"/>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49" name="Group 53"/>
              <p:cNvGrpSpPr>
                <a:grpSpLocks/>
              </p:cNvGrpSpPr>
              <p:nvPr/>
            </p:nvGrpSpPr>
            <p:grpSpPr bwMode="auto">
              <a:xfrm>
                <a:off x="4272" y="2929"/>
                <a:ext cx="369" cy="384"/>
                <a:chOff x="1862" y="849"/>
                <a:chExt cx="240" cy="240"/>
              </a:xfrm>
            </p:grpSpPr>
            <p:sp>
              <p:nvSpPr>
                <p:cNvPr id="48171" name="Oval 54"/>
                <p:cNvSpPr>
                  <a:spLocks noChangeArrowheads="1"/>
                </p:cNvSpPr>
                <p:nvPr/>
              </p:nvSpPr>
              <p:spPr bwMode="auto">
                <a:xfrm>
                  <a:off x="1862" y="849"/>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72" name="Rectangle 55"/>
                <p:cNvSpPr>
                  <a:spLocks noChangeArrowheads="1"/>
                </p:cNvSpPr>
                <p:nvPr/>
              </p:nvSpPr>
              <p:spPr bwMode="auto">
                <a:xfrm>
                  <a:off x="1910" y="945"/>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50" name="Group 56"/>
              <p:cNvGrpSpPr>
                <a:grpSpLocks/>
              </p:cNvGrpSpPr>
              <p:nvPr/>
            </p:nvGrpSpPr>
            <p:grpSpPr bwMode="auto">
              <a:xfrm>
                <a:off x="4652" y="2612"/>
                <a:ext cx="369" cy="384"/>
                <a:chOff x="1824" y="864"/>
                <a:chExt cx="240" cy="240"/>
              </a:xfrm>
            </p:grpSpPr>
            <p:sp>
              <p:nvSpPr>
                <p:cNvPr id="48169" name="Oval 57"/>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70" name="Rectangle 58"/>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51" name="Group 59"/>
              <p:cNvGrpSpPr>
                <a:grpSpLocks/>
              </p:cNvGrpSpPr>
              <p:nvPr/>
            </p:nvGrpSpPr>
            <p:grpSpPr bwMode="auto">
              <a:xfrm>
                <a:off x="4795" y="3335"/>
                <a:ext cx="369" cy="384"/>
                <a:chOff x="1824" y="864"/>
                <a:chExt cx="240" cy="240"/>
              </a:xfrm>
            </p:grpSpPr>
            <p:sp>
              <p:nvSpPr>
                <p:cNvPr id="48167" name="Oval 60"/>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68" name="Rectangle 61"/>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52" name="Group 62"/>
              <p:cNvGrpSpPr>
                <a:grpSpLocks/>
              </p:cNvGrpSpPr>
              <p:nvPr/>
            </p:nvGrpSpPr>
            <p:grpSpPr bwMode="auto">
              <a:xfrm>
                <a:off x="4333" y="2800"/>
                <a:ext cx="369" cy="384"/>
                <a:chOff x="1824" y="864"/>
                <a:chExt cx="240" cy="240"/>
              </a:xfrm>
            </p:grpSpPr>
            <p:sp>
              <p:nvSpPr>
                <p:cNvPr id="48165" name="Oval 63"/>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66" name="Rectangle 64"/>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53" name="Group 65"/>
              <p:cNvGrpSpPr>
                <a:grpSpLocks/>
              </p:cNvGrpSpPr>
              <p:nvPr/>
            </p:nvGrpSpPr>
            <p:grpSpPr bwMode="auto">
              <a:xfrm>
                <a:off x="4811" y="2782"/>
                <a:ext cx="369" cy="384"/>
                <a:chOff x="1824" y="864"/>
                <a:chExt cx="240" cy="240"/>
              </a:xfrm>
            </p:grpSpPr>
            <p:sp>
              <p:nvSpPr>
                <p:cNvPr id="48163" name="Oval 66"/>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64" name="Rectangle 67"/>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54" name="Group 68"/>
              <p:cNvGrpSpPr>
                <a:grpSpLocks/>
              </p:cNvGrpSpPr>
              <p:nvPr/>
            </p:nvGrpSpPr>
            <p:grpSpPr bwMode="auto">
              <a:xfrm>
                <a:off x="4609" y="3387"/>
                <a:ext cx="369" cy="384"/>
                <a:chOff x="1824" y="864"/>
                <a:chExt cx="240" cy="240"/>
              </a:xfrm>
            </p:grpSpPr>
            <p:sp>
              <p:nvSpPr>
                <p:cNvPr id="48161" name="Oval 69"/>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62" name="Rectangle 70"/>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55" name="Group 71"/>
              <p:cNvGrpSpPr>
                <a:grpSpLocks/>
              </p:cNvGrpSpPr>
              <p:nvPr/>
            </p:nvGrpSpPr>
            <p:grpSpPr bwMode="auto">
              <a:xfrm>
                <a:off x="4549" y="2945"/>
                <a:ext cx="369" cy="384"/>
                <a:chOff x="1824" y="864"/>
                <a:chExt cx="240" cy="240"/>
              </a:xfrm>
            </p:grpSpPr>
            <p:sp>
              <p:nvSpPr>
                <p:cNvPr id="48159" name="Oval 72"/>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60" name="Rectangle 73"/>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48156" name="Group 74"/>
              <p:cNvGrpSpPr>
                <a:grpSpLocks/>
              </p:cNvGrpSpPr>
              <p:nvPr/>
            </p:nvGrpSpPr>
            <p:grpSpPr bwMode="auto">
              <a:xfrm>
                <a:off x="4309" y="3366"/>
                <a:ext cx="369" cy="384"/>
                <a:chOff x="1824" y="864"/>
                <a:chExt cx="240" cy="240"/>
              </a:xfrm>
            </p:grpSpPr>
            <p:sp>
              <p:nvSpPr>
                <p:cNvPr id="48157" name="Oval 75"/>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8158" name="Rectangle 76"/>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sp>
          <p:nvSpPr>
            <p:cNvPr id="82962" name="Text Box 77"/>
            <p:cNvSpPr txBox="1">
              <a:spLocks noChangeArrowheads="1"/>
            </p:cNvSpPr>
            <p:nvPr/>
          </p:nvSpPr>
          <p:spPr bwMode="auto">
            <a:xfrm>
              <a:off x="1104" y="2987"/>
              <a:ext cx="2036" cy="601"/>
            </a:xfrm>
            <a:prstGeom prst="rect">
              <a:avLst/>
            </a:prstGeom>
            <a:noFill/>
            <a:ln w="9525">
              <a:noFill/>
              <a:miter lim="800000"/>
              <a:headEnd/>
              <a:tailEnd/>
            </a:ln>
          </p:spPr>
          <p:txBody>
            <a:bodyPr wrap="square">
              <a:spAutoFit/>
            </a:bodyPr>
            <a:lstStyle/>
            <a:p>
              <a:pPr algn="ctr" eaLnBrk="0" hangingPunct="0">
                <a:defRPr/>
              </a:pPr>
              <a:r>
                <a:rPr lang="en-US" sz="2800" b="1" err="1">
                  <a:latin typeface="Constantia" pitchFamily="18" charset="0"/>
                </a:rPr>
                <a:t>Miền</a:t>
              </a:r>
              <a:r>
                <a:rPr lang="en-US" sz="2800" b="1">
                  <a:latin typeface="Constantia" pitchFamily="18" charset="0"/>
                </a:rPr>
                <a:t> </a:t>
              </a:r>
              <a:r>
                <a:rPr lang="en-US" sz="2800" b="1" smtClean="0">
                  <a:solidFill>
                    <a:srgbClr val="FF0000"/>
                  </a:solidFill>
                  <a:latin typeface="Constantia" pitchFamily="18" charset="0"/>
                </a:rPr>
                <a:t>Emitter </a:t>
              </a:r>
              <a:r>
                <a:rPr lang="en-US" sz="2800" b="1" dirty="0" err="1">
                  <a:latin typeface="Constantia" pitchFamily="18" charset="0"/>
                </a:rPr>
                <a:t>pha</a:t>
              </a:r>
              <a:r>
                <a:rPr lang="en-US" sz="2800" b="1" dirty="0">
                  <a:latin typeface="Constantia" pitchFamily="18" charset="0"/>
                </a:rPr>
                <a:t> </a:t>
              </a:r>
              <a:r>
                <a:rPr lang="en-US" sz="2800" b="1" dirty="0" err="1">
                  <a:latin typeface="Constantia" pitchFamily="18" charset="0"/>
                </a:rPr>
                <a:t>tạp</a:t>
              </a:r>
              <a:r>
                <a:rPr lang="en-US" sz="2800" b="1" dirty="0">
                  <a:latin typeface="Constantia" pitchFamily="18" charset="0"/>
                </a:rPr>
                <a:t> </a:t>
              </a:r>
              <a:r>
                <a:rPr lang="en-US" sz="2800" b="1" dirty="0" err="1">
                  <a:latin typeface="Constantia" pitchFamily="18" charset="0"/>
                </a:rPr>
                <a:t>nhiều</a:t>
              </a:r>
              <a:endParaRPr lang="en-US" sz="2800" b="1" dirty="0">
                <a:latin typeface="Constantia" pitchFamily="18" charset="0"/>
              </a:endParaRPr>
            </a:p>
          </p:txBody>
        </p:sp>
        <p:sp>
          <p:nvSpPr>
            <p:cNvPr id="48143" name="Text Box 78"/>
            <p:cNvSpPr txBox="1">
              <a:spLocks noChangeArrowheads="1"/>
            </p:cNvSpPr>
            <p:nvPr/>
          </p:nvSpPr>
          <p:spPr bwMode="auto">
            <a:xfrm>
              <a:off x="5281" y="2972"/>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latin typeface="Times New Roman" pitchFamily="18" charset="0"/>
                </a:rPr>
                <a:t>E</a:t>
              </a:r>
            </a:p>
          </p:txBody>
        </p:sp>
        <p:sp>
          <p:nvSpPr>
            <p:cNvPr id="48144" name="AutoShape 79"/>
            <p:cNvSpPr>
              <a:spLocks noChangeArrowheads="1"/>
            </p:cNvSpPr>
            <p:nvPr/>
          </p:nvSpPr>
          <p:spPr bwMode="auto">
            <a:xfrm>
              <a:off x="3378" y="3069"/>
              <a:ext cx="745" cy="352"/>
            </a:xfrm>
            <a:prstGeom prst="rightArrow">
              <a:avLst>
                <a:gd name="adj1" fmla="val 50000"/>
                <a:gd name="adj2" fmla="val 52912"/>
              </a:avLst>
            </a:prstGeom>
            <a:solidFill>
              <a:srgbClr val="FFFF00"/>
            </a:solidFill>
            <a:ln w="28575">
              <a:solidFill>
                <a:schemeClr val="tx1"/>
              </a:solidFill>
              <a:miter lim="800000"/>
              <a:headEnd/>
              <a:tailEnd/>
            </a:ln>
          </p:spPr>
          <p:txBody>
            <a:bodyPr wrap="none" anchor="ctr"/>
            <a:lstStyle/>
            <a:p>
              <a:endParaRPr lang="vi-VN"/>
            </a:p>
          </p:txBody>
        </p:sp>
      </p:grpSp>
      <p:sp>
        <p:nvSpPr>
          <p:cNvPr id="48140" name="Slide Number Placeholder 8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9A6CAA5-61DC-4F0A-9491-16AE11544DF1}" type="slidenum">
              <a:rPr lang="en-US" smtClean="0"/>
              <a:pPr eaLnBrk="1" hangingPunct="1"/>
              <a:t>4</a:t>
            </a:fld>
            <a:endParaRPr lang="en-US" smtClean="0"/>
          </a:p>
        </p:txBody>
      </p:sp>
    </p:spTree>
    <p:extLst>
      <p:ext uri="{BB962C8B-B14F-4D97-AF65-F5344CB8AC3E}">
        <p14:creationId xmlns:p14="http://schemas.microsoft.com/office/powerpoint/2010/main" val="1255952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2000"/>
                                        <p:tgtEl>
                                          <p:spTgt spid="11"/>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2000"/>
                                        <p:tgtEl>
                                          <p:spTgt spid="6"/>
                                        </p:tgtEl>
                                      </p:cBhvr>
                                    </p:animEffect>
                                  </p:childTnLst>
                                </p:cTn>
                              </p:par>
                            </p:childTnLst>
                          </p:cTn>
                        </p:par>
                        <p:par>
                          <p:cTn id="12" fill="hold" nodeType="afterGroup">
                            <p:stCondLst>
                              <p:cond delay="4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p:cNvSpPr>
            <a:spLocks noChangeArrowheads="1"/>
          </p:cNvSpPr>
          <p:nvPr/>
        </p:nvSpPr>
        <p:spPr bwMode="auto">
          <a:xfrm>
            <a:off x="6600825" y="4006850"/>
            <a:ext cx="1692275" cy="20351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49155" name="Rectangle 6"/>
          <p:cNvSpPr>
            <a:spLocks noChangeArrowheads="1"/>
          </p:cNvSpPr>
          <p:nvPr/>
        </p:nvSpPr>
        <p:spPr bwMode="auto">
          <a:xfrm>
            <a:off x="6604000" y="1135063"/>
            <a:ext cx="1692275" cy="20351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49156" name="Rectangle 7"/>
          <p:cNvSpPr>
            <a:spLocks noChangeArrowheads="1"/>
          </p:cNvSpPr>
          <p:nvPr/>
        </p:nvSpPr>
        <p:spPr bwMode="auto">
          <a:xfrm>
            <a:off x="6604000" y="3170238"/>
            <a:ext cx="1692275" cy="8366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49157" name="Text Box 8"/>
          <p:cNvSpPr txBox="1">
            <a:spLocks noChangeArrowheads="1"/>
          </p:cNvSpPr>
          <p:nvPr/>
        </p:nvSpPr>
        <p:spPr bwMode="auto">
          <a:xfrm>
            <a:off x="1727089" y="250031"/>
            <a:ext cx="642432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4400" b="1">
                <a:solidFill>
                  <a:srgbClr val="FFC000"/>
                </a:solidFill>
                <a:latin typeface="Constantia" pitchFamily="18" charset="0"/>
              </a:rPr>
              <a:t>Cấu tạo Transistor  PNP</a:t>
            </a:r>
          </a:p>
        </p:txBody>
      </p:sp>
      <p:sp>
        <p:nvSpPr>
          <p:cNvPr id="49158" name="Line 9"/>
          <p:cNvSpPr>
            <a:spLocks noChangeShapeType="1"/>
          </p:cNvSpPr>
          <p:nvPr/>
        </p:nvSpPr>
        <p:spPr bwMode="auto">
          <a:xfrm>
            <a:off x="7439025" y="6059488"/>
            <a:ext cx="0" cy="45878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59" name="Line 10"/>
          <p:cNvSpPr>
            <a:spLocks noChangeShapeType="1"/>
          </p:cNvSpPr>
          <p:nvPr/>
        </p:nvSpPr>
        <p:spPr bwMode="auto">
          <a:xfrm rot="-5400000">
            <a:off x="6374607" y="3372644"/>
            <a:ext cx="0" cy="45878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0" name="Line 11"/>
          <p:cNvSpPr>
            <a:spLocks noChangeShapeType="1"/>
          </p:cNvSpPr>
          <p:nvPr/>
        </p:nvSpPr>
        <p:spPr bwMode="auto">
          <a:xfrm>
            <a:off x="7448550" y="666750"/>
            <a:ext cx="0" cy="45878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 name="Group 13"/>
          <p:cNvGrpSpPr>
            <a:grpSpLocks/>
          </p:cNvGrpSpPr>
          <p:nvPr/>
        </p:nvGrpSpPr>
        <p:grpSpPr bwMode="auto">
          <a:xfrm>
            <a:off x="7573963" y="3324225"/>
            <a:ext cx="585787" cy="609600"/>
            <a:chOff x="1855" y="1375"/>
            <a:chExt cx="240" cy="240"/>
          </a:xfrm>
        </p:grpSpPr>
        <p:sp>
          <p:nvSpPr>
            <p:cNvPr id="49226" name="Oval 14"/>
            <p:cNvSpPr>
              <a:spLocks noChangeArrowheads="1"/>
            </p:cNvSpPr>
            <p:nvPr/>
          </p:nvSpPr>
          <p:spPr bwMode="auto">
            <a:xfrm>
              <a:off x="1855" y="1375"/>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9227" name="Rectangle 15"/>
            <p:cNvSpPr>
              <a:spLocks noChangeArrowheads="1"/>
            </p:cNvSpPr>
            <p:nvPr/>
          </p:nvSpPr>
          <p:spPr bwMode="auto">
            <a:xfrm>
              <a:off x="1903" y="1470"/>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grpSp>
        <p:nvGrpSpPr>
          <p:cNvPr id="3" name="Group 19"/>
          <p:cNvGrpSpPr>
            <a:grpSpLocks/>
          </p:cNvGrpSpPr>
          <p:nvPr/>
        </p:nvGrpSpPr>
        <p:grpSpPr bwMode="auto">
          <a:xfrm>
            <a:off x="6729413" y="3278188"/>
            <a:ext cx="585787" cy="609600"/>
            <a:chOff x="1855" y="1411"/>
            <a:chExt cx="240" cy="240"/>
          </a:xfrm>
        </p:grpSpPr>
        <p:sp>
          <p:nvSpPr>
            <p:cNvPr id="49224" name="Oval 20"/>
            <p:cNvSpPr>
              <a:spLocks noChangeArrowheads="1"/>
            </p:cNvSpPr>
            <p:nvPr/>
          </p:nvSpPr>
          <p:spPr bwMode="auto">
            <a:xfrm>
              <a:off x="1855" y="1411"/>
              <a:ext cx="240" cy="240"/>
            </a:xfrm>
            <a:prstGeom prst="ellipse">
              <a:avLst/>
            </a:prstGeom>
            <a:solidFill>
              <a:schemeClr val="accent1"/>
            </a:solidFill>
            <a:ln w="9525">
              <a:solidFill>
                <a:schemeClr val="tx1"/>
              </a:solidFill>
              <a:round/>
              <a:headEnd/>
              <a:tailEnd/>
            </a:ln>
          </p:spPr>
          <p:txBody>
            <a:bodyPr wrap="none" anchor="ctr"/>
            <a:lstStyle/>
            <a:p>
              <a:endParaRPr lang="vi-VN"/>
            </a:p>
          </p:txBody>
        </p:sp>
        <p:sp>
          <p:nvSpPr>
            <p:cNvPr id="49225" name="Rectangle 21"/>
            <p:cNvSpPr>
              <a:spLocks noChangeArrowheads="1"/>
            </p:cNvSpPr>
            <p:nvPr/>
          </p:nvSpPr>
          <p:spPr bwMode="auto">
            <a:xfrm>
              <a:off x="1903" y="1507"/>
              <a:ext cx="144" cy="48"/>
            </a:xfrm>
            <a:prstGeom prst="rect">
              <a:avLst/>
            </a:prstGeom>
            <a:solidFill>
              <a:schemeClr val="bg1"/>
            </a:solidFill>
            <a:ln w="9525">
              <a:solidFill>
                <a:schemeClr val="tx1"/>
              </a:solidFill>
              <a:miter lim="800000"/>
              <a:headEnd/>
              <a:tailEnd/>
            </a:ln>
          </p:spPr>
          <p:txBody>
            <a:bodyPr wrap="none" anchor="ctr"/>
            <a:lstStyle/>
            <a:p>
              <a:endParaRPr lang="vi-VN"/>
            </a:p>
          </p:txBody>
        </p:sp>
      </p:grpSp>
      <p:sp>
        <p:nvSpPr>
          <p:cNvPr id="85" name="Text Box 23"/>
          <p:cNvSpPr txBox="1">
            <a:spLocks noChangeArrowheads="1"/>
          </p:cNvSpPr>
          <p:nvPr/>
        </p:nvSpPr>
        <p:spPr bwMode="auto">
          <a:xfrm>
            <a:off x="6553200" y="3124200"/>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b="1">
                <a:solidFill>
                  <a:srgbClr val="FF0000"/>
                </a:solidFill>
                <a:latin typeface="Times New Roman" pitchFamily="18" charset="0"/>
              </a:rPr>
              <a:t>N</a:t>
            </a:r>
          </a:p>
        </p:txBody>
      </p:sp>
      <p:sp>
        <p:nvSpPr>
          <p:cNvPr id="83004" name="Text Box 37"/>
          <p:cNvSpPr txBox="1">
            <a:spLocks noChangeArrowheads="1"/>
          </p:cNvSpPr>
          <p:nvPr/>
        </p:nvSpPr>
        <p:spPr bwMode="auto">
          <a:xfrm>
            <a:off x="8347075" y="3238500"/>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latin typeface="Times New Roman" pitchFamily="18" charset="0"/>
              </a:rPr>
              <a:t>B</a:t>
            </a:r>
          </a:p>
        </p:txBody>
      </p:sp>
      <p:sp>
        <p:nvSpPr>
          <p:cNvPr id="83005" name="AutoShape 38"/>
          <p:cNvSpPr>
            <a:spLocks noChangeArrowheads="1"/>
          </p:cNvSpPr>
          <p:nvPr/>
        </p:nvSpPr>
        <p:spPr bwMode="auto">
          <a:xfrm>
            <a:off x="4895850" y="3260725"/>
            <a:ext cx="1182688" cy="558800"/>
          </a:xfrm>
          <a:prstGeom prst="rightArrow">
            <a:avLst>
              <a:gd name="adj1" fmla="val 50000"/>
              <a:gd name="adj2" fmla="val 52912"/>
            </a:avLst>
          </a:prstGeom>
          <a:solidFill>
            <a:srgbClr val="FFFF00"/>
          </a:solidFill>
          <a:ln w="28575">
            <a:solidFill>
              <a:schemeClr val="tx1"/>
            </a:solidFill>
            <a:miter lim="800000"/>
            <a:headEnd/>
            <a:tailEnd/>
          </a:ln>
        </p:spPr>
        <p:txBody>
          <a:bodyPr wrap="none" anchor="ctr"/>
          <a:lstStyle/>
          <a:p>
            <a:endParaRPr lang="vi-VN"/>
          </a:p>
        </p:txBody>
      </p:sp>
      <p:sp>
        <p:nvSpPr>
          <p:cNvPr id="82963" name="Text Box 78"/>
          <p:cNvSpPr txBox="1">
            <a:spLocks noChangeArrowheads="1"/>
          </p:cNvSpPr>
          <p:nvPr/>
        </p:nvSpPr>
        <p:spPr bwMode="auto">
          <a:xfrm>
            <a:off x="8383588" y="4718050"/>
            <a:ext cx="455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latin typeface="Times New Roman" pitchFamily="18" charset="0"/>
              </a:rPr>
              <a:t>E</a:t>
            </a:r>
          </a:p>
        </p:txBody>
      </p:sp>
      <p:sp>
        <p:nvSpPr>
          <p:cNvPr id="82964" name="AutoShape 79"/>
          <p:cNvSpPr>
            <a:spLocks noChangeArrowheads="1"/>
          </p:cNvSpPr>
          <p:nvPr/>
        </p:nvSpPr>
        <p:spPr bwMode="auto">
          <a:xfrm>
            <a:off x="5362575" y="4872038"/>
            <a:ext cx="1182688" cy="558800"/>
          </a:xfrm>
          <a:prstGeom prst="rightArrow">
            <a:avLst>
              <a:gd name="adj1" fmla="val 50000"/>
              <a:gd name="adj2" fmla="val 52912"/>
            </a:avLst>
          </a:prstGeom>
          <a:solidFill>
            <a:srgbClr val="FFFF00"/>
          </a:solidFill>
          <a:ln w="28575">
            <a:solidFill>
              <a:schemeClr val="tx1"/>
            </a:solidFill>
            <a:miter lim="800000"/>
            <a:headEnd/>
            <a:tailEnd/>
          </a:ln>
        </p:spPr>
        <p:txBody>
          <a:bodyPr wrap="none" anchor="ctr"/>
          <a:lstStyle/>
          <a:p>
            <a:endParaRPr lang="vi-VN"/>
          </a:p>
        </p:txBody>
      </p:sp>
      <p:sp>
        <p:nvSpPr>
          <p:cNvPr id="49170" name="Slide Number Placeholder 8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D9D1049-0E91-4496-9D90-A919510D3123}" type="slidenum">
              <a:rPr lang="en-US" smtClean="0"/>
              <a:pPr eaLnBrk="1" hangingPunct="1"/>
              <a:t>5</a:t>
            </a:fld>
            <a:endParaRPr lang="en-US" smtClean="0"/>
          </a:p>
        </p:txBody>
      </p:sp>
      <p:grpSp>
        <p:nvGrpSpPr>
          <p:cNvPr id="4" name="Group 143"/>
          <p:cNvGrpSpPr>
            <a:grpSpLocks/>
          </p:cNvGrpSpPr>
          <p:nvPr/>
        </p:nvGrpSpPr>
        <p:grpSpPr bwMode="auto">
          <a:xfrm>
            <a:off x="6553200" y="4071938"/>
            <a:ext cx="1731963" cy="2024062"/>
            <a:chOff x="6553200" y="4071935"/>
            <a:chExt cx="1731381" cy="2024127"/>
          </a:xfrm>
        </p:grpSpPr>
        <p:sp>
          <p:nvSpPr>
            <p:cNvPr id="49186" name="Text Box 23"/>
            <p:cNvSpPr txBox="1">
              <a:spLocks noChangeArrowheads="1"/>
            </p:cNvSpPr>
            <p:nvPr/>
          </p:nvSpPr>
          <p:spPr bwMode="auto">
            <a:xfrm>
              <a:off x="6553200" y="5695952"/>
              <a:ext cx="341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b="1">
                  <a:solidFill>
                    <a:srgbClr val="FF0000"/>
                  </a:solidFill>
                  <a:latin typeface="Times New Roman" pitchFamily="18" charset="0"/>
                </a:rPr>
                <a:t>P</a:t>
              </a:r>
            </a:p>
          </p:txBody>
        </p:sp>
        <p:grpSp>
          <p:nvGrpSpPr>
            <p:cNvPr id="49187" name="Group 26"/>
            <p:cNvGrpSpPr>
              <a:grpSpLocks/>
            </p:cNvGrpSpPr>
            <p:nvPr/>
          </p:nvGrpSpPr>
          <p:grpSpPr bwMode="auto">
            <a:xfrm>
              <a:off x="7559675" y="4484692"/>
              <a:ext cx="611188" cy="608013"/>
              <a:chOff x="2305" y="1519"/>
              <a:chExt cx="240" cy="240"/>
            </a:xfrm>
          </p:grpSpPr>
          <p:sp>
            <p:nvSpPr>
              <p:cNvPr id="49220" name="Oval 27"/>
              <p:cNvSpPr>
                <a:spLocks noChangeArrowheads="1"/>
              </p:cNvSpPr>
              <p:nvPr/>
            </p:nvSpPr>
            <p:spPr bwMode="auto">
              <a:xfrm>
                <a:off x="2305" y="1519"/>
                <a:ext cx="240" cy="240"/>
              </a:xfrm>
              <a:prstGeom prst="ellipse">
                <a:avLst/>
              </a:prstGeom>
              <a:solidFill>
                <a:srgbClr val="CC0000"/>
              </a:solidFill>
              <a:ln w="9525">
                <a:solidFill>
                  <a:schemeClr val="tx1"/>
                </a:solidFill>
                <a:round/>
                <a:headEnd/>
                <a:tailEnd/>
              </a:ln>
            </p:spPr>
            <p:txBody>
              <a:bodyPr wrap="none" anchor="ctr"/>
              <a:lstStyle/>
              <a:p>
                <a:endParaRPr lang="vi-VN"/>
              </a:p>
            </p:txBody>
          </p:sp>
          <p:grpSp>
            <p:nvGrpSpPr>
              <p:cNvPr id="49221" name="Group 28"/>
              <p:cNvGrpSpPr>
                <a:grpSpLocks/>
              </p:cNvGrpSpPr>
              <p:nvPr/>
            </p:nvGrpSpPr>
            <p:grpSpPr bwMode="auto">
              <a:xfrm>
                <a:off x="2353" y="1567"/>
                <a:ext cx="144" cy="144"/>
                <a:chOff x="2353" y="991"/>
                <a:chExt cx="144" cy="144"/>
              </a:xfrm>
            </p:grpSpPr>
            <p:sp>
              <p:nvSpPr>
                <p:cNvPr id="49222" name="Rectangle 29"/>
                <p:cNvSpPr>
                  <a:spLocks noChangeArrowheads="1"/>
                </p:cNvSpPr>
                <p:nvPr/>
              </p:nvSpPr>
              <p:spPr bwMode="auto">
                <a:xfrm>
                  <a:off x="2353" y="1039"/>
                  <a:ext cx="144"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23" name="Rectangle 30"/>
                <p:cNvSpPr>
                  <a:spLocks noChangeArrowheads="1"/>
                </p:cNvSpPr>
                <p:nvPr/>
              </p:nvSpPr>
              <p:spPr bwMode="auto">
                <a:xfrm rot="5400000">
                  <a:off x="2353" y="1039"/>
                  <a:ext cx="144"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grpSp>
        </p:grpSp>
        <p:grpSp>
          <p:nvGrpSpPr>
            <p:cNvPr id="49188" name="Group 31"/>
            <p:cNvGrpSpPr>
              <a:grpSpLocks/>
            </p:cNvGrpSpPr>
            <p:nvPr/>
          </p:nvGrpSpPr>
          <p:grpSpPr bwMode="auto">
            <a:xfrm>
              <a:off x="6859588" y="4191004"/>
              <a:ext cx="609600" cy="609600"/>
              <a:chOff x="2395" y="1385"/>
              <a:chExt cx="240" cy="240"/>
            </a:xfrm>
          </p:grpSpPr>
          <p:sp>
            <p:nvSpPr>
              <p:cNvPr id="49216" name="Oval 32"/>
              <p:cNvSpPr>
                <a:spLocks noChangeArrowheads="1"/>
              </p:cNvSpPr>
              <p:nvPr/>
            </p:nvSpPr>
            <p:spPr bwMode="auto">
              <a:xfrm>
                <a:off x="2395" y="1385"/>
                <a:ext cx="240" cy="240"/>
              </a:xfrm>
              <a:prstGeom prst="ellipse">
                <a:avLst/>
              </a:prstGeom>
              <a:solidFill>
                <a:srgbClr val="CC0000"/>
              </a:solidFill>
              <a:ln w="9525">
                <a:solidFill>
                  <a:schemeClr val="tx1"/>
                </a:solidFill>
                <a:round/>
                <a:headEnd/>
                <a:tailEnd/>
              </a:ln>
            </p:spPr>
            <p:txBody>
              <a:bodyPr wrap="none" anchor="ctr"/>
              <a:lstStyle/>
              <a:p>
                <a:endParaRPr lang="vi-VN"/>
              </a:p>
            </p:txBody>
          </p:sp>
          <p:grpSp>
            <p:nvGrpSpPr>
              <p:cNvPr id="49217" name="Group 33"/>
              <p:cNvGrpSpPr>
                <a:grpSpLocks/>
              </p:cNvGrpSpPr>
              <p:nvPr/>
            </p:nvGrpSpPr>
            <p:grpSpPr bwMode="auto">
              <a:xfrm>
                <a:off x="2444" y="1434"/>
                <a:ext cx="144" cy="144"/>
                <a:chOff x="2444" y="858"/>
                <a:chExt cx="144" cy="144"/>
              </a:xfrm>
            </p:grpSpPr>
            <p:sp>
              <p:nvSpPr>
                <p:cNvPr id="49218" name="Rectangle 34"/>
                <p:cNvSpPr>
                  <a:spLocks noChangeArrowheads="1"/>
                </p:cNvSpPr>
                <p:nvPr/>
              </p:nvSpPr>
              <p:spPr bwMode="auto">
                <a:xfrm>
                  <a:off x="2444" y="906"/>
                  <a:ext cx="144"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19" name="Rectangle 35"/>
                <p:cNvSpPr>
                  <a:spLocks noChangeArrowheads="1"/>
                </p:cNvSpPr>
                <p:nvPr/>
              </p:nvSpPr>
              <p:spPr bwMode="auto">
                <a:xfrm rot="5400000">
                  <a:off x="2444" y="906"/>
                  <a:ext cx="144"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grpSp>
        </p:grpSp>
        <p:sp>
          <p:nvSpPr>
            <p:cNvPr id="49189" name="Oval 27"/>
            <p:cNvSpPr>
              <a:spLocks noChangeArrowheads="1"/>
            </p:cNvSpPr>
            <p:nvPr/>
          </p:nvSpPr>
          <p:spPr bwMode="auto">
            <a:xfrm>
              <a:off x="6836781" y="4681533"/>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190" name="Rectangle 29"/>
            <p:cNvSpPr>
              <a:spLocks noChangeArrowheads="1"/>
            </p:cNvSpPr>
            <p:nvPr/>
          </p:nvSpPr>
          <p:spPr bwMode="auto">
            <a:xfrm>
              <a:off x="6964555" y="4922440"/>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91" name="Rectangle 30"/>
            <p:cNvSpPr>
              <a:spLocks noChangeArrowheads="1"/>
            </p:cNvSpPr>
            <p:nvPr/>
          </p:nvSpPr>
          <p:spPr bwMode="auto">
            <a:xfrm rot="5400000">
              <a:off x="6964862" y="4922337"/>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92" name="Oval 27"/>
            <p:cNvSpPr>
              <a:spLocks noChangeArrowheads="1"/>
            </p:cNvSpPr>
            <p:nvPr/>
          </p:nvSpPr>
          <p:spPr bwMode="auto">
            <a:xfrm>
              <a:off x="7293981" y="4071935"/>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193" name="Rectangle 29"/>
            <p:cNvSpPr>
              <a:spLocks noChangeArrowheads="1"/>
            </p:cNvSpPr>
            <p:nvPr/>
          </p:nvSpPr>
          <p:spPr bwMode="auto">
            <a:xfrm>
              <a:off x="7421755" y="4312842"/>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94" name="Rectangle 30"/>
            <p:cNvSpPr>
              <a:spLocks noChangeArrowheads="1"/>
            </p:cNvSpPr>
            <p:nvPr/>
          </p:nvSpPr>
          <p:spPr bwMode="auto">
            <a:xfrm rot="5400000">
              <a:off x="7422062" y="4312739"/>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95" name="Oval 27"/>
            <p:cNvSpPr>
              <a:spLocks noChangeArrowheads="1"/>
            </p:cNvSpPr>
            <p:nvPr/>
          </p:nvSpPr>
          <p:spPr bwMode="auto">
            <a:xfrm>
              <a:off x="7293981" y="4681534"/>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196" name="Rectangle 29"/>
            <p:cNvSpPr>
              <a:spLocks noChangeArrowheads="1"/>
            </p:cNvSpPr>
            <p:nvPr/>
          </p:nvSpPr>
          <p:spPr bwMode="auto">
            <a:xfrm>
              <a:off x="7421755" y="4922441"/>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97" name="Rectangle 30"/>
            <p:cNvSpPr>
              <a:spLocks noChangeArrowheads="1"/>
            </p:cNvSpPr>
            <p:nvPr/>
          </p:nvSpPr>
          <p:spPr bwMode="auto">
            <a:xfrm rot="5400000">
              <a:off x="7422062" y="4922338"/>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98" name="Oval 27"/>
            <p:cNvSpPr>
              <a:spLocks noChangeArrowheads="1"/>
            </p:cNvSpPr>
            <p:nvPr/>
          </p:nvSpPr>
          <p:spPr bwMode="auto">
            <a:xfrm>
              <a:off x="6836781" y="5138733"/>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199" name="Rectangle 29"/>
            <p:cNvSpPr>
              <a:spLocks noChangeArrowheads="1"/>
            </p:cNvSpPr>
            <p:nvPr/>
          </p:nvSpPr>
          <p:spPr bwMode="auto">
            <a:xfrm>
              <a:off x="6964555" y="5379640"/>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00" name="Rectangle 30"/>
            <p:cNvSpPr>
              <a:spLocks noChangeArrowheads="1"/>
            </p:cNvSpPr>
            <p:nvPr/>
          </p:nvSpPr>
          <p:spPr bwMode="auto">
            <a:xfrm rot="5400000">
              <a:off x="6964862" y="5379537"/>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01" name="Oval 27"/>
            <p:cNvSpPr>
              <a:spLocks noChangeArrowheads="1"/>
            </p:cNvSpPr>
            <p:nvPr/>
          </p:nvSpPr>
          <p:spPr bwMode="auto">
            <a:xfrm>
              <a:off x="6684381" y="4452933"/>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202" name="Rectangle 29"/>
            <p:cNvSpPr>
              <a:spLocks noChangeArrowheads="1"/>
            </p:cNvSpPr>
            <p:nvPr/>
          </p:nvSpPr>
          <p:spPr bwMode="auto">
            <a:xfrm>
              <a:off x="6812155" y="4693840"/>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03" name="Rectangle 30"/>
            <p:cNvSpPr>
              <a:spLocks noChangeArrowheads="1"/>
            </p:cNvSpPr>
            <p:nvPr/>
          </p:nvSpPr>
          <p:spPr bwMode="auto">
            <a:xfrm rot="5400000">
              <a:off x="6812462" y="4693737"/>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04" name="Oval 27"/>
            <p:cNvSpPr>
              <a:spLocks noChangeArrowheads="1"/>
            </p:cNvSpPr>
            <p:nvPr/>
          </p:nvSpPr>
          <p:spPr bwMode="auto">
            <a:xfrm>
              <a:off x="7674981" y="5367334"/>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205" name="Rectangle 29"/>
            <p:cNvSpPr>
              <a:spLocks noChangeArrowheads="1"/>
            </p:cNvSpPr>
            <p:nvPr/>
          </p:nvSpPr>
          <p:spPr bwMode="auto">
            <a:xfrm>
              <a:off x="7802755" y="5608241"/>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06" name="Rectangle 30"/>
            <p:cNvSpPr>
              <a:spLocks noChangeArrowheads="1"/>
            </p:cNvSpPr>
            <p:nvPr/>
          </p:nvSpPr>
          <p:spPr bwMode="auto">
            <a:xfrm rot="5400000">
              <a:off x="7803062" y="5608138"/>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07" name="Oval 27"/>
            <p:cNvSpPr>
              <a:spLocks noChangeArrowheads="1"/>
            </p:cNvSpPr>
            <p:nvPr/>
          </p:nvSpPr>
          <p:spPr bwMode="auto">
            <a:xfrm>
              <a:off x="7522581" y="4986334"/>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208" name="Rectangle 29"/>
            <p:cNvSpPr>
              <a:spLocks noChangeArrowheads="1"/>
            </p:cNvSpPr>
            <p:nvPr/>
          </p:nvSpPr>
          <p:spPr bwMode="auto">
            <a:xfrm>
              <a:off x="7650355" y="5227241"/>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09" name="Rectangle 30"/>
            <p:cNvSpPr>
              <a:spLocks noChangeArrowheads="1"/>
            </p:cNvSpPr>
            <p:nvPr/>
          </p:nvSpPr>
          <p:spPr bwMode="auto">
            <a:xfrm rot="5400000">
              <a:off x="7650662" y="5227138"/>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10" name="Oval 27"/>
            <p:cNvSpPr>
              <a:spLocks noChangeArrowheads="1"/>
            </p:cNvSpPr>
            <p:nvPr/>
          </p:nvSpPr>
          <p:spPr bwMode="auto">
            <a:xfrm>
              <a:off x="7217781" y="5367334"/>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211" name="Rectangle 29"/>
            <p:cNvSpPr>
              <a:spLocks noChangeArrowheads="1"/>
            </p:cNvSpPr>
            <p:nvPr/>
          </p:nvSpPr>
          <p:spPr bwMode="auto">
            <a:xfrm>
              <a:off x="7345555" y="5608241"/>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12" name="Rectangle 30"/>
            <p:cNvSpPr>
              <a:spLocks noChangeArrowheads="1"/>
            </p:cNvSpPr>
            <p:nvPr/>
          </p:nvSpPr>
          <p:spPr bwMode="auto">
            <a:xfrm rot="5400000">
              <a:off x="7345862" y="5608138"/>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13" name="Oval 27"/>
            <p:cNvSpPr>
              <a:spLocks noChangeArrowheads="1"/>
            </p:cNvSpPr>
            <p:nvPr/>
          </p:nvSpPr>
          <p:spPr bwMode="auto">
            <a:xfrm>
              <a:off x="7674981" y="4148134"/>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214" name="Rectangle 29"/>
            <p:cNvSpPr>
              <a:spLocks noChangeArrowheads="1"/>
            </p:cNvSpPr>
            <p:nvPr/>
          </p:nvSpPr>
          <p:spPr bwMode="auto">
            <a:xfrm>
              <a:off x="7802755" y="4389041"/>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215" name="Rectangle 30"/>
            <p:cNvSpPr>
              <a:spLocks noChangeArrowheads="1"/>
            </p:cNvSpPr>
            <p:nvPr/>
          </p:nvSpPr>
          <p:spPr bwMode="auto">
            <a:xfrm rot="5400000">
              <a:off x="7803062" y="4388938"/>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grpSp>
      <p:sp>
        <p:nvSpPr>
          <p:cNvPr id="83017" name="Text Box 22"/>
          <p:cNvSpPr txBox="1">
            <a:spLocks noChangeArrowheads="1"/>
          </p:cNvSpPr>
          <p:nvPr/>
        </p:nvSpPr>
        <p:spPr bwMode="auto">
          <a:xfrm>
            <a:off x="2133600" y="1560492"/>
            <a:ext cx="3048000" cy="954107"/>
          </a:xfrm>
          <a:prstGeom prst="rect">
            <a:avLst/>
          </a:prstGeom>
          <a:noFill/>
          <a:ln w="9525">
            <a:noFill/>
            <a:miter lim="800000"/>
            <a:headEnd/>
            <a:tailEnd/>
          </a:ln>
        </p:spPr>
        <p:txBody>
          <a:bodyPr wrap="square">
            <a:spAutoFit/>
          </a:bodyPr>
          <a:lstStyle/>
          <a:p>
            <a:pPr algn="ctr" eaLnBrk="0" hangingPunct="0">
              <a:defRPr/>
            </a:pPr>
            <a:r>
              <a:rPr lang="en-US" sz="2800" b="1" err="1">
                <a:latin typeface="Constantia" pitchFamily="18" charset="0"/>
              </a:rPr>
              <a:t>Miền</a:t>
            </a:r>
            <a:r>
              <a:rPr lang="en-US" sz="2800" b="1">
                <a:latin typeface="Constantia" pitchFamily="18" charset="0"/>
              </a:rPr>
              <a:t> </a:t>
            </a:r>
            <a:r>
              <a:rPr lang="en-US" sz="2800" b="1" smtClean="0">
                <a:solidFill>
                  <a:srgbClr val="FF0000"/>
                </a:solidFill>
                <a:latin typeface="Constantia" pitchFamily="18" charset="0"/>
              </a:rPr>
              <a:t>Collector</a:t>
            </a:r>
            <a:r>
              <a:rPr lang="en-US" sz="2800" b="1" smtClean="0">
                <a:latin typeface="Constantia" pitchFamily="18" charset="0"/>
              </a:rPr>
              <a:t> </a:t>
            </a:r>
            <a:r>
              <a:rPr lang="en-US" sz="2800" b="1" dirty="0" err="1">
                <a:latin typeface="Constantia" pitchFamily="18" charset="0"/>
              </a:rPr>
              <a:t>pha</a:t>
            </a:r>
            <a:r>
              <a:rPr lang="en-US" sz="2800" b="1" dirty="0">
                <a:latin typeface="Constantia" pitchFamily="18" charset="0"/>
              </a:rPr>
              <a:t> </a:t>
            </a:r>
            <a:r>
              <a:rPr lang="en-US" sz="2800" b="1" dirty="0" err="1">
                <a:latin typeface="Constantia" pitchFamily="18" charset="0"/>
              </a:rPr>
              <a:t>tạp</a:t>
            </a:r>
            <a:r>
              <a:rPr lang="en-US" sz="2800" b="1" dirty="0">
                <a:latin typeface="Constantia" pitchFamily="18" charset="0"/>
              </a:rPr>
              <a:t> </a:t>
            </a:r>
            <a:r>
              <a:rPr lang="en-US" sz="2800" b="1" dirty="0" err="1">
                <a:latin typeface="Constantia" pitchFamily="18" charset="0"/>
              </a:rPr>
              <a:t>thấp</a:t>
            </a:r>
            <a:endParaRPr lang="en-US" sz="2800" b="1" dirty="0">
              <a:latin typeface="Constantia" pitchFamily="18" charset="0"/>
            </a:endParaRPr>
          </a:p>
        </p:txBody>
      </p:sp>
      <p:sp>
        <p:nvSpPr>
          <p:cNvPr id="83018" name="Text Box 23"/>
          <p:cNvSpPr txBox="1">
            <a:spLocks noChangeArrowheads="1"/>
          </p:cNvSpPr>
          <p:nvPr/>
        </p:nvSpPr>
        <p:spPr bwMode="auto">
          <a:xfrm>
            <a:off x="8361363" y="1928813"/>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latin typeface="Times New Roman" pitchFamily="18" charset="0"/>
              </a:rPr>
              <a:t>C</a:t>
            </a:r>
          </a:p>
        </p:txBody>
      </p:sp>
      <p:sp>
        <p:nvSpPr>
          <p:cNvPr id="83019" name="AutoShape 24"/>
          <p:cNvSpPr>
            <a:spLocks noChangeArrowheads="1"/>
          </p:cNvSpPr>
          <p:nvPr/>
        </p:nvSpPr>
        <p:spPr bwMode="auto">
          <a:xfrm>
            <a:off x="5386388" y="1890713"/>
            <a:ext cx="1182687" cy="558800"/>
          </a:xfrm>
          <a:prstGeom prst="rightArrow">
            <a:avLst>
              <a:gd name="adj1" fmla="val 50000"/>
              <a:gd name="adj2" fmla="val 52912"/>
            </a:avLst>
          </a:prstGeom>
          <a:solidFill>
            <a:srgbClr val="FFFF00"/>
          </a:solidFill>
          <a:ln w="28575">
            <a:solidFill>
              <a:schemeClr val="tx1"/>
            </a:solidFill>
            <a:miter lim="800000"/>
            <a:headEnd/>
            <a:tailEnd/>
          </a:ln>
        </p:spPr>
        <p:txBody>
          <a:bodyPr wrap="none" anchor="ctr"/>
          <a:lstStyle/>
          <a:p>
            <a:endParaRPr lang="vi-VN"/>
          </a:p>
        </p:txBody>
      </p:sp>
      <p:grpSp>
        <p:nvGrpSpPr>
          <p:cNvPr id="9" name="Group 142"/>
          <p:cNvGrpSpPr>
            <a:grpSpLocks/>
          </p:cNvGrpSpPr>
          <p:nvPr/>
        </p:nvGrpSpPr>
        <p:grpSpPr bwMode="auto">
          <a:xfrm>
            <a:off x="6629400" y="1143000"/>
            <a:ext cx="1579563" cy="1676400"/>
            <a:chOff x="6629400" y="1143001"/>
            <a:chExt cx="1578981" cy="1676400"/>
          </a:xfrm>
        </p:grpSpPr>
        <p:sp>
          <p:nvSpPr>
            <p:cNvPr id="49176" name="Text Box 23"/>
            <p:cNvSpPr txBox="1">
              <a:spLocks noChangeArrowheads="1"/>
            </p:cNvSpPr>
            <p:nvPr/>
          </p:nvSpPr>
          <p:spPr bwMode="auto">
            <a:xfrm>
              <a:off x="6629400" y="1143001"/>
              <a:ext cx="325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b="1">
                  <a:solidFill>
                    <a:srgbClr val="FF0000"/>
                  </a:solidFill>
                  <a:latin typeface="Times New Roman" pitchFamily="18" charset="0"/>
                </a:rPr>
                <a:t>P</a:t>
              </a:r>
            </a:p>
          </p:txBody>
        </p:sp>
        <p:sp>
          <p:nvSpPr>
            <p:cNvPr id="49177" name="Oval 27"/>
            <p:cNvSpPr>
              <a:spLocks noChangeArrowheads="1"/>
            </p:cNvSpPr>
            <p:nvPr/>
          </p:nvSpPr>
          <p:spPr bwMode="auto">
            <a:xfrm>
              <a:off x="6912981" y="1252534"/>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178" name="Rectangle 29"/>
            <p:cNvSpPr>
              <a:spLocks noChangeArrowheads="1"/>
            </p:cNvSpPr>
            <p:nvPr/>
          </p:nvSpPr>
          <p:spPr bwMode="auto">
            <a:xfrm>
              <a:off x="7040755" y="1493441"/>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79" name="Rectangle 30"/>
            <p:cNvSpPr>
              <a:spLocks noChangeArrowheads="1"/>
            </p:cNvSpPr>
            <p:nvPr/>
          </p:nvSpPr>
          <p:spPr bwMode="auto">
            <a:xfrm rot="5400000">
              <a:off x="7041062" y="1493338"/>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80" name="Oval 27"/>
            <p:cNvSpPr>
              <a:spLocks noChangeArrowheads="1"/>
            </p:cNvSpPr>
            <p:nvPr/>
          </p:nvSpPr>
          <p:spPr bwMode="auto">
            <a:xfrm>
              <a:off x="7598781" y="1481134"/>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181" name="Rectangle 29"/>
            <p:cNvSpPr>
              <a:spLocks noChangeArrowheads="1"/>
            </p:cNvSpPr>
            <p:nvPr/>
          </p:nvSpPr>
          <p:spPr bwMode="auto">
            <a:xfrm>
              <a:off x="7726555" y="1722041"/>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82" name="Rectangle 30"/>
            <p:cNvSpPr>
              <a:spLocks noChangeArrowheads="1"/>
            </p:cNvSpPr>
            <p:nvPr/>
          </p:nvSpPr>
          <p:spPr bwMode="auto">
            <a:xfrm rot="5400000">
              <a:off x="7726862" y="1721938"/>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83" name="Oval 27"/>
            <p:cNvSpPr>
              <a:spLocks noChangeArrowheads="1"/>
            </p:cNvSpPr>
            <p:nvPr/>
          </p:nvSpPr>
          <p:spPr bwMode="auto">
            <a:xfrm>
              <a:off x="6858000" y="2209800"/>
              <a:ext cx="609600" cy="609601"/>
            </a:xfrm>
            <a:prstGeom prst="ellipse">
              <a:avLst/>
            </a:prstGeom>
            <a:solidFill>
              <a:srgbClr val="CC0000"/>
            </a:solidFill>
            <a:ln w="9525">
              <a:solidFill>
                <a:schemeClr val="tx1"/>
              </a:solidFill>
              <a:round/>
              <a:headEnd/>
              <a:tailEnd/>
            </a:ln>
          </p:spPr>
          <p:txBody>
            <a:bodyPr wrap="none" anchor="ctr"/>
            <a:lstStyle/>
            <a:p>
              <a:endParaRPr lang="vi-VN"/>
            </a:p>
          </p:txBody>
        </p:sp>
        <p:sp>
          <p:nvSpPr>
            <p:cNvPr id="49184" name="Rectangle 29"/>
            <p:cNvSpPr>
              <a:spLocks noChangeArrowheads="1"/>
            </p:cNvSpPr>
            <p:nvPr/>
          </p:nvSpPr>
          <p:spPr bwMode="auto">
            <a:xfrm>
              <a:off x="6985774" y="2450707"/>
              <a:ext cx="366132" cy="1218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sp>
          <p:nvSpPr>
            <p:cNvPr id="49185" name="Rectangle 30"/>
            <p:cNvSpPr>
              <a:spLocks noChangeArrowheads="1"/>
            </p:cNvSpPr>
            <p:nvPr/>
          </p:nvSpPr>
          <p:spPr bwMode="auto">
            <a:xfrm rot="5400000">
              <a:off x="6986081" y="2450604"/>
              <a:ext cx="365519" cy="122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vi-VN"/>
            </a:p>
          </p:txBody>
        </p:sp>
      </p:grpSp>
      <p:sp>
        <p:nvSpPr>
          <p:cNvPr id="76" name="Text Box 36"/>
          <p:cNvSpPr txBox="1">
            <a:spLocks noChangeArrowheads="1"/>
          </p:cNvSpPr>
          <p:nvPr/>
        </p:nvSpPr>
        <p:spPr bwMode="auto">
          <a:xfrm>
            <a:off x="1727089" y="3089730"/>
            <a:ext cx="3067050" cy="954087"/>
          </a:xfrm>
          <a:prstGeom prst="rect">
            <a:avLst/>
          </a:prstGeom>
          <a:noFill/>
          <a:ln w="9525">
            <a:noFill/>
            <a:miter lim="800000"/>
            <a:headEnd/>
            <a:tailEnd/>
          </a:ln>
        </p:spPr>
        <p:txBody>
          <a:bodyPr wrap="none">
            <a:spAutoFit/>
          </a:bodyPr>
          <a:lstStyle/>
          <a:p>
            <a:pPr algn="ctr" eaLnBrk="0" hangingPunct="0">
              <a:defRPr/>
            </a:pPr>
            <a:r>
              <a:rPr lang="en-US" sz="2800" b="1" err="1">
                <a:latin typeface="Constantia" pitchFamily="18" charset="0"/>
              </a:rPr>
              <a:t>Miền</a:t>
            </a:r>
            <a:r>
              <a:rPr lang="en-US" sz="2800" b="1">
                <a:latin typeface="Constantia" pitchFamily="18" charset="0"/>
              </a:rPr>
              <a:t> </a:t>
            </a:r>
            <a:r>
              <a:rPr lang="en-US" sz="2800" b="1" smtClean="0">
                <a:solidFill>
                  <a:srgbClr val="FF0000"/>
                </a:solidFill>
                <a:latin typeface="Constantia" pitchFamily="18" charset="0"/>
              </a:rPr>
              <a:t>Base</a:t>
            </a:r>
            <a:r>
              <a:rPr lang="en-US" sz="2800" b="1" smtClean="0">
                <a:latin typeface="Constantia" pitchFamily="18" charset="0"/>
              </a:rPr>
              <a:t> </a:t>
            </a:r>
            <a:r>
              <a:rPr lang="en-US" sz="2800" b="1" dirty="0" err="1">
                <a:latin typeface="Constantia" pitchFamily="18" charset="0"/>
              </a:rPr>
              <a:t>mỏng</a:t>
            </a:r>
            <a:r>
              <a:rPr lang="en-US" sz="2800" b="1" dirty="0">
                <a:latin typeface="Constantia" pitchFamily="18" charset="0"/>
              </a:rPr>
              <a:t> </a:t>
            </a:r>
          </a:p>
          <a:p>
            <a:pPr algn="ctr" eaLnBrk="0" hangingPunct="0">
              <a:defRPr/>
            </a:pPr>
            <a:r>
              <a:rPr lang="en-US" sz="2800" b="1" dirty="0" err="1">
                <a:latin typeface="Constantia" pitchFamily="18" charset="0"/>
              </a:rPr>
              <a:t>và</a:t>
            </a:r>
            <a:r>
              <a:rPr lang="en-US" sz="2800" b="1" dirty="0">
                <a:latin typeface="Constantia" pitchFamily="18" charset="0"/>
              </a:rPr>
              <a:t> </a:t>
            </a:r>
            <a:r>
              <a:rPr lang="en-US" sz="2800" b="1" dirty="0" err="1">
                <a:latin typeface="Constantia" pitchFamily="18" charset="0"/>
              </a:rPr>
              <a:t>pha</a:t>
            </a:r>
            <a:r>
              <a:rPr lang="en-US" sz="2800" b="1" dirty="0">
                <a:latin typeface="Constantia" pitchFamily="18" charset="0"/>
              </a:rPr>
              <a:t> </a:t>
            </a:r>
            <a:r>
              <a:rPr lang="en-US" sz="2800" b="1" dirty="0" err="1">
                <a:latin typeface="Constantia" pitchFamily="18" charset="0"/>
              </a:rPr>
              <a:t>tạp</a:t>
            </a:r>
            <a:r>
              <a:rPr lang="en-US" sz="2800" b="1" dirty="0">
                <a:latin typeface="Constantia" pitchFamily="18" charset="0"/>
              </a:rPr>
              <a:t> </a:t>
            </a:r>
            <a:r>
              <a:rPr lang="en-US" sz="2800" b="1" dirty="0" err="1">
                <a:latin typeface="Constantia" pitchFamily="18" charset="0"/>
              </a:rPr>
              <a:t>thấp</a:t>
            </a:r>
            <a:endParaRPr lang="en-US" sz="2800" b="1" dirty="0">
              <a:latin typeface="Constantia" pitchFamily="18" charset="0"/>
            </a:endParaRPr>
          </a:p>
        </p:txBody>
      </p:sp>
      <p:sp>
        <p:nvSpPr>
          <p:cNvPr id="77" name="Text Box 77"/>
          <p:cNvSpPr txBox="1">
            <a:spLocks noChangeArrowheads="1"/>
          </p:cNvSpPr>
          <p:nvPr/>
        </p:nvSpPr>
        <p:spPr bwMode="auto">
          <a:xfrm>
            <a:off x="1828800" y="4674394"/>
            <a:ext cx="3232150" cy="954088"/>
          </a:xfrm>
          <a:prstGeom prst="rect">
            <a:avLst/>
          </a:prstGeom>
          <a:noFill/>
          <a:ln w="9525">
            <a:noFill/>
            <a:miter lim="800000"/>
            <a:headEnd/>
            <a:tailEnd/>
          </a:ln>
        </p:spPr>
        <p:txBody>
          <a:bodyPr wrap="square">
            <a:spAutoFit/>
          </a:bodyPr>
          <a:lstStyle/>
          <a:p>
            <a:pPr algn="ctr" eaLnBrk="0" hangingPunct="0">
              <a:defRPr/>
            </a:pPr>
            <a:r>
              <a:rPr lang="en-US" sz="2800" b="1" err="1">
                <a:latin typeface="Constantia" pitchFamily="18" charset="0"/>
              </a:rPr>
              <a:t>Miền</a:t>
            </a:r>
            <a:r>
              <a:rPr lang="en-US" sz="2800" b="1">
                <a:latin typeface="Constantia" pitchFamily="18" charset="0"/>
              </a:rPr>
              <a:t> </a:t>
            </a:r>
            <a:r>
              <a:rPr lang="en-US" sz="2800" b="1" smtClean="0">
                <a:solidFill>
                  <a:srgbClr val="FF0000"/>
                </a:solidFill>
                <a:latin typeface="Constantia" pitchFamily="18" charset="0"/>
              </a:rPr>
              <a:t>Emitter </a:t>
            </a:r>
            <a:r>
              <a:rPr lang="en-US" sz="2800" b="1" dirty="0" err="1">
                <a:latin typeface="Constantia" pitchFamily="18" charset="0"/>
              </a:rPr>
              <a:t>pha</a:t>
            </a:r>
            <a:r>
              <a:rPr lang="en-US" sz="2800" b="1" dirty="0">
                <a:latin typeface="Constantia" pitchFamily="18" charset="0"/>
              </a:rPr>
              <a:t> </a:t>
            </a:r>
            <a:r>
              <a:rPr lang="en-US" sz="2800" b="1" dirty="0" err="1">
                <a:latin typeface="Constantia" pitchFamily="18" charset="0"/>
              </a:rPr>
              <a:t>tạp</a:t>
            </a:r>
            <a:r>
              <a:rPr lang="en-US" sz="2800" b="1" dirty="0">
                <a:latin typeface="Constantia" pitchFamily="18" charset="0"/>
              </a:rPr>
              <a:t> </a:t>
            </a:r>
            <a:r>
              <a:rPr lang="en-US" sz="2800" b="1" dirty="0" err="1">
                <a:latin typeface="Constantia" pitchFamily="18" charset="0"/>
              </a:rPr>
              <a:t>nhiều</a:t>
            </a:r>
            <a:endParaRPr lang="en-US" sz="2800" b="1" dirty="0">
              <a:latin typeface="Constantia" pitchFamily="18" charset="0"/>
            </a:endParaRPr>
          </a:p>
        </p:txBody>
      </p:sp>
    </p:spTree>
    <p:extLst>
      <p:ext uri="{BB962C8B-B14F-4D97-AF65-F5344CB8AC3E}">
        <p14:creationId xmlns:p14="http://schemas.microsoft.com/office/powerpoint/2010/main" val="6418409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2000"/>
                                        <p:tgtEl>
                                          <p:spTgt spid="9"/>
                                        </p:tgtEl>
                                      </p:cBhvr>
                                    </p:animEffect>
                                  </p:childTnLst>
                                </p:cTn>
                              </p:par>
                            </p:childTnLst>
                          </p:cTn>
                        </p:par>
                        <p:par>
                          <p:cTn id="8" fill="hold" nodeType="afterGroup">
                            <p:stCondLst>
                              <p:cond delay="2000"/>
                            </p:stCondLst>
                            <p:childTnLst>
                              <p:par>
                                <p:cTn id="9" presetID="2" presetClass="entr" presetSubtype="8" fill="hold" grpId="0" nodeType="afterEffect">
                                  <p:stCondLst>
                                    <p:cond delay="0"/>
                                  </p:stCondLst>
                                  <p:childTnLst>
                                    <p:set>
                                      <p:cBhvr>
                                        <p:cTn id="10" dur="1" fill="hold">
                                          <p:stCondLst>
                                            <p:cond delay="0"/>
                                          </p:stCondLst>
                                        </p:cTn>
                                        <p:tgtEl>
                                          <p:spTgt spid="83019"/>
                                        </p:tgtEl>
                                        <p:attrNameLst>
                                          <p:attrName>style.visibility</p:attrName>
                                        </p:attrNameLst>
                                      </p:cBhvr>
                                      <p:to>
                                        <p:strVal val="visible"/>
                                      </p:to>
                                    </p:set>
                                    <p:anim calcmode="lin" valueType="num">
                                      <p:cBhvr additive="base">
                                        <p:cTn id="11" dur="1000" fill="hold"/>
                                        <p:tgtEl>
                                          <p:spTgt spid="83019"/>
                                        </p:tgtEl>
                                        <p:attrNameLst>
                                          <p:attrName>ppt_x</p:attrName>
                                        </p:attrNameLst>
                                      </p:cBhvr>
                                      <p:tavLst>
                                        <p:tav tm="0">
                                          <p:val>
                                            <p:strVal val="0-#ppt_w/2"/>
                                          </p:val>
                                        </p:tav>
                                        <p:tav tm="100000">
                                          <p:val>
                                            <p:strVal val="#ppt_x"/>
                                          </p:val>
                                        </p:tav>
                                      </p:tavLst>
                                    </p:anim>
                                    <p:anim calcmode="lin" valueType="num">
                                      <p:cBhvr additive="base">
                                        <p:cTn id="12" dur="1000" fill="hold"/>
                                        <p:tgtEl>
                                          <p:spTgt spid="8301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3017"/>
                                        </p:tgtEl>
                                        <p:attrNameLst>
                                          <p:attrName>style.visibility</p:attrName>
                                        </p:attrNameLst>
                                      </p:cBhvr>
                                      <p:to>
                                        <p:strVal val="visible"/>
                                      </p:to>
                                    </p:set>
                                    <p:anim calcmode="lin" valueType="num">
                                      <p:cBhvr additive="base">
                                        <p:cTn id="15" dur="1000" fill="hold"/>
                                        <p:tgtEl>
                                          <p:spTgt spid="83017"/>
                                        </p:tgtEl>
                                        <p:attrNameLst>
                                          <p:attrName>ppt_x</p:attrName>
                                        </p:attrNameLst>
                                      </p:cBhvr>
                                      <p:tavLst>
                                        <p:tav tm="0">
                                          <p:val>
                                            <p:strVal val="0-#ppt_w/2"/>
                                          </p:val>
                                        </p:tav>
                                        <p:tav tm="100000">
                                          <p:val>
                                            <p:strVal val="#ppt_x"/>
                                          </p:val>
                                        </p:tav>
                                      </p:tavLst>
                                    </p:anim>
                                    <p:anim calcmode="lin" valueType="num">
                                      <p:cBhvr additive="base">
                                        <p:cTn id="16" dur="1000" fill="hold"/>
                                        <p:tgtEl>
                                          <p:spTgt spid="83017"/>
                                        </p:tgtEl>
                                        <p:attrNameLst>
                                          <p:attrName>ppt_y</p:attrName>
                                        </p:attrNameLst>
                                      </p:cBhvr>
                                      <p:tavLst>
                                        <p:tav tm="0">
                                          <p:val>
                                            <p:strVal val="#ppt_y"/>
                                          </p:val>
                                        </p:tav>
                                        <p:tav tm="100000">
                                          <p:val>
                                            <p:strVal val="#ppt_y"/>
                                          </p:val>
                                        </p:tav>
                                      </p:tavLst>
                                    </p:anim>
                                  </p:childTnLst>
                                </p:cTn>
                              </p:par>
                            </p:childTnLst>
                          </p:cTn>
                        </p:par>
                        <p:par>
                          <p:cTn id="17" fill="hold" nodeType="afterGroup">
                            <p:stCondLst>
                              <p:cond delay="3000"/>
                            </p:stCondLst>
                            <p:childTnLst>
                              <p:par>
                                <p:cTn id="18" presetID="2" presetClass="entr" presetSubtype="2" fill="hold" grpId="0" nodeType="afterEffect">
                                  <p:stCondLst>
                                    <p:cond delay="0"/>
                                  </p:stCondLst>
                                  <p:childTnLst>
                                    <p:set>
                                      <p:cBhvr>
                                        <p:cTn id="19" dur="1" fill="hold">
                                          <p:stCondLst>
                                            <p:cond delay="0"/>
                                          </p:stCondLst>
                                        </p:cTn>
                                        <p:tgtEl>
                                          <p:spTgt spid="83018"/>
                                        </p:tgtEl>
                                        <p:attrNameLst>
                                          <p:attrName>style.visibility</p:attrName>
                                        </p:attrNameLst>
                                      </p:cBhvr>
                                      <p:to>
                                        <p:strVal val="visible"/>
                                      </p:to>
                                    </p:set>
                                    <p:anim calcmode="lin" valueType="num">
                                      <p:cBhvr additive="base">
                                        <p:cTn id="20" dur="1000" fill="hold"/>
                                        <p:tgtEl>
                                          <p:spTgt spid="83018"/>
                                        </p:tgtEl>
                                        <p:attrNameLst>
                                          <p:attrName>ppt_x</p:attrName>
                                        </p:attrNameLst>
                                      </p:cBhvr>
                                      <p:tavLst>
                                        <p:tav tm="0">
                                          <p:val>
                                            <p:strVal val="1+#ppt_w/2"/>
                                          </p:val>
                                        </p:tav>
                                        <p:tav tm="100000">
                                          <p:val>
                                            <p:strVal val="#ppt_x"/>
                                          </p:val>
                                        </p:tav>
                                      </p:tavLst>
                                    </p:anim>
                                    <p:anim calcmode="lin" valueType="num">
                                      <p:cBhvr additive="base">
                                        <p:cTn id="21" dur="1000" fill="hold"/>
                                        <p:tgtEl>
                                          <p:spTgt spid="83018"/>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horizontal)">
                                      <p:cBhvr>
                                        <p:cTn id="26" dur="500"/>
                                        <p:tgtEl>
                                          <p:spTgt spid="2"/>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85"/>
                                        </p:tgtEl>
                                        <p:attrNameLst>
                                          <p:attrName>style.visibility</p:attrName>
                                        </p:attrNameLst>
                                      </p:cBhvr>
                                      <p:to>
                                        <p:strVal val="visible"/>
                                      </p:to>
                                    </p:set>
                                    <p:animEffect transition="in" filter="blinds(horizontal)">
                                      <p:cBhvr>
                                        <p:cTn id="29" dur="500"/>
                                        <p:tgtEl>
                                          <p:spTgt spid="85"/>
                                        </p:tgtEl>
                                      </p:cBhvr>
                                    </p:animEffect>
                                  </p:childTnLst>
                                </p:cTn>
                              </p:par>
                              <p:par>
                                <p:cTn id="30" presetID="3" presetClass="entr" presetSubtype="10"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linds(horizontal)">
                                      <p:cBhvr>
                                        <p:cTn id="32" dur="500"/>
                                        <p:tgtEl>
                                          <p:spTgt spid="3"/>
                                        </p:tgtEl>
                                      </p:cBhvr>
                                    </p:animEffect>
                                  </p:childTnLst>
                                </p:cTn>
                              </p:par>
                            </p:childTnLst>
                          </p:cTn>
                        </p:par>
                        <p:par>
                          <p:cTn id="33" fill="hold" nodeType="afterGroup">
                            <p:stCondLst>
                              <p:cond delay="500"/>
                            </p:stCondLst>
                            <p:childTnLst>
                              <p:par>
                                <p:cTn id="34" presetID="2" presetClass="entr" presetSubtype="8" fill="hold" grpId="0" nodeType="afterEffect">
                                  <p:stCondLst>
                                    <p:cond delay="0"/>
                                  </p:stCondLst>
                                  <p:childTnLst>
                                    <p:set>
                                      <p:cBhvr>
                                        <p:cTn id="35" dur="1" fill="hold">
                                          <p:stCondLst>
                                            <p:cond delay="0"/>
                                          </p:stCondLst>
                                        </p:cTn>
                                        <p:tgtEl>
                                          <p:spTgt spid="83005"/>
                                        </p:tgtEl>
                                        <p:attrNameLst>
                                          <p:attrName>style.visibility</p:attrName>
                                        </p:attrNameLst>
                                      </p:cBhvr>
                                      <p:to>
                                        <p:strVal val="visible"/>
                                      </p:to>
                                    </p:set>
                                    <p:anim calcmode="lin" valueType="num">
                                      <p:cBhvr additive="base">
                                        <p:cTn id="36" dur="1000" fill="hold"/>
                                        <p:tgtEl>
                                          <p:spTgt spid="83005"/>
                                        </p:tgtEl>
                                        <p:attrNameLst>
                                          <p:attrName>ppt_x</p:attrName>
                                        </p:attrNameLst>
                                      </p:cBhvr>
                                      <p:tavLst>
                                        <p:tav tm="0">
                                          <p:val>
                                            <p:strVal val="0-#ppt_w/2"/>
                                          </p:val>
                                        </p:tav>
                                        <p:tav tm="100000">
                                          <p:val>
                                            <p:strVal val="#ppt_x"/>
                                          </p:val>
                                        </p:tav>
                                      </p:tavLst>
                                    </p:anim>
                                    <p:anim calcmode="lin" valueType="num">
                                      <p:cBhvr additive="base">
                                        <p:cTn id="37" dur="1000" fill="hold"/>
                                        <p:tgtEl>
                                          <p:spTgt spid="83005"/>
                                        </p:tgtEl>
                                        <p:attrNameLst>
                                          <p:attrName>ppt_y</p:attrName>
                                        </p:attrNameLst>
                                      </p:cBhvr>
                                      <p:tavLst>
                                        <p:tav tm="0">
                                          <p:val>
                                            <p:strVal val="#ppt_y"/>
                                          </p:val>
                                        </p:tav>
                                        <p:tav tm="100000">
                                          <p:val>
                                            <p:strVal val="#ppt_y"/>
                                          </p:val>
                                        </p:tav>
                                      </p:tavLst>
                                    </p:anim>
                                  </p:childTnLst>
                                </p:cTn>
                              </p:par>
                            </p:childTnLst>
                          </p:cTn>
                        </p:par>
                        <p:par>
                          <p:cTn id="38" fill="hold" nodeType="afterGroup">
                            <p:stCondLst>
                              <p:cond delay="1500"/>
                            </p:stCondLst>
                            <p:childTnLst>
                              <p:par>
                                <p:cTn id="39" presetID="2" presetClass="entr" presetSubtype="2" fill="hold" grpId="0" nodeType="afterEffect">
                                  <p:stCondLst>
                                    <p:cond delay="0"/>
                                  </p:stCondLst>
                                  <p:childTnLst>
                                    <p:set>
                                      <p:cBhvr>
                                        <p:cTn id="40" dur="1" fill="hold">
                                          <p:stCondLst>
                                            <p:cond delay="0"/>
                                          </p:stCondLst>
                                        </p:cTn>
                                        <p:tgtEl>
                                          <p:spTgt spid="83004"/>
                                        </p:tgtEl>
                                        <p:attrNameLst>
                                          <p:attrName>style.visibility</p:attrName>
                                        </p:attrNameLst>
                                      </p:cBhvr>
                                      <p:to>
                                        <p:strVal val="visible"/>
                                      </p:to>
                                    </p:set>
                                    <p:anim calcmode="lin" valueType="num">
                                      <p:cBhvr additive="base">
                                        <p:cTn id="41" dur="2000" fill="hold"/>
                                        <p:tgtEl>
                                          <p:spTgt spid="83004"/>
                                        </p:tgtEl>
                                        <p:attrNameLst>
                                          <p:attrName>ppt_x</p:attrName>
                                        </p:attrNameLst>
                                      </p:cBhvr>
                                      <p:tavLst>
                                        <p:tav tm="0">
                                          <p:val>
                                            <p:strVal val="1+#ppt_w/2"/>
                                          </p:val>
                                        </p:tav>
                                        <p:tav tm="100000">
                                          <p:val>
                                            <p:strVal val="#ppt_x"/>
                                          </p:val>
                                        </p:tav>
                                      </p:tavLst>
                                    </p:anim>
                                    <p:anim calcmode="lin" valueType="num">
                                      <p:cBhvr additive="base">
                                        <p:cTn id="42" dur="2000" fill="hold"/>
                                        <p:tgtEl>
                                          <p:spTgt spid="83004"/>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blinds(horizontal)">
                                      <p:cBhvr>
                                        <p:cTn id="47" dur="1000"/>
                                        <p:tgtEl>
                                          <p:spTgt spid="4"/>
                                        </p:tgtEl>
                                      </p:cBhvr>
                                    </p:animEffect>
                                  </p:childTnLst>
                                </p:cTn>
                              </p:par>
                            </p:childTnLst>
                          </p:cTn>
                        </p:par>
                        <p:par>
                          <p:cTn id="48" fill="hold" nodeType="afterGroup">
                            <p:stCondLst>
                              <p:cond delay="1000"/>
                            </p:stCondLst>
                            <p:childTnLst>
                              <p:par>
                                <p:cTn id="49" presetID="2" presetClass="entr" presetSubtype="8" fill="hold" grpId="0" nodeType="afterEffect">
                                  <p:stCondLst>
                                    <p:cond delay="0"/>
                                  </p:stCondLst>
                                  <p:childTnLst>
                                    <p:set>
                                      <p:cBhvr>
                                        <p:cTn id="50" dur="1" fill="hold">
                                          <p:stCondLst>
                                            <p:cond delay="0"/>
                                          </p:stCondLst>
                                        </p:cTn>
                                        <p:tgtEl>
                                          <p:spTgt spid="82964"/>
                                        </p:tgtEl>
                                        <p:attrNameLst>
                                          <p:attrName>style.visibility</p:attrName>
                                        </p:attrNameLst>
                                      </p:cBhvr>
                                      <p:to>
                                        <p:strVal val="visible"/>
                                      </p:to>
                                    </p:set>
                                    <p:anim calcmode="lin" valueType="num">
                                      <p:cBhvr additive="base">
                                        <p:cTn id="51" dur="1000" fill="hold"/>
                                        <p:tgtEl>
                                          <p:spTgt spid="82964"/>
                                        </p:tgtEl>
                                        <p:attrNameLst>
                                          <p:attrName>ppt_x</p:attrName>
                                        </p:attrNameLst>
                                      </p:cBhvr>
                                      <p:tavLst>
                                        <p:tav tm="0">
                                          <p:val>
                                            <p:strVal val="0-#ppt_w/2"/>
                                          </p:val>
                                        </p:tav>
                                        <p:tav tm="100000">
                                          <p:val>
                                            <p:strVal val="#ppt_x"/>
                                          </p:val>
                                        </p:tav>
                                      </p:tavLst>
                                    </p:anim>
                                    <p:anim calcmode="lin" valueType="num">
                                      <p:cBhvr additive="base">
                                        <p:cTn id="52" dur="1000" fill="hold"/>
                                        <p:tgtEl>
                                          <p:spTgt spid="82964"/>
                                        </p:tgtEl>
                                        <p:attrNameLst>
                                          <p:attrName>ppt_y</p:attrName>
                                        </p:attrNameLst>
                                      </p:cBhvr>
                                      <p:tavLst>
                                        <p:tav tm="0">
                                          <p:val>
                                            <p:strVal val="#ppt_y"/>
                                          </p:val>
                                        </p:tav>
                                        <p:tav tm="100000">
                                          <p:val>
                                            <p:strVal val="#ppt_y"/>
                                          </p:val>
                                        </p:tav>
                                      </p:tavLst>
                                    </p:anim>
                                  </p:childTnLst>
                                </p:cTn>
                              </p:par>
                            </p:childTnLst>
                          </p:cTn>
                        </p:par>
                        <p:par>
                          <p:cTn id="53" fill="hold" nodeType="afterGroup">
                            <p:stCondLst>
                              <p:cond delay="2000"/>
                            </p:stCondLst>
                            <p:childTnLst>
                              <p:par>
                                <p:cTn id="54" presetID="2" presetClass="entr" presetSubtype="2" fill="hold" grpId="0" nodeType="afterEffect">
                                  <p:stCondLst>
                                    <p:cond delay="0"/>
                                  </p:stCondLst>
                                  <p:childTnLst>
                                    <p:set>
                                      <p:cBhvr>
                                        <p:cTn id="55" dur="1" fill="hold">
                                          <p:stCondLst>
                                            <p:cond delay="0"/>
                                          </p:stCondLst>
                                        </p:cTn>
                                        <p:tgtEl>
                                          <p:spTgt spid="82963"/>
                                        </p:tgtEl>
                                        <p:attrNameLst>
                                          <p:attrName>style.visibility</p:attrName>
                                        </p:attrNameLst>
                                      </p:cBhvr>
                                      <p:to>
                                        <p:strVal val="visible"/>
                                      </p:to>
                                    </p:set>
                                    <p:anim calcmode="lin" valueType="num">
                                      <p:cBhvr additive="base">
                                        <p:cTn id="56" dur="1000" fill="hold"/>
                                        <p:tgtEl>
                                          <p:spTgt spid="82963"/>
                                        </p:tgtEl>
                                        <p:attrNameLst>
                                          <p:attrName>ppt_x</p:attrName>
                                        </p:attrNameLst>
                                      </p:cBhvr>
                                      <p:tavLst>
                                        <p:tav tm="0">
                                          <p:val>
                                            <p:strVal val="1+#ppt_w/2"/>
                                          </p:val>
                                        </p:tav>
                                        <p:tav tm="100000">
                                          <p:val>
                                            <p:strVal val="#ppt_x"/>
                                          </p:val>
                                        </p:tav>
                                      </p:tavLst>
                                    </p:anim>
                                    <p:anim calcmode="lin" valueType="num">
                                      <p:cBhvr additive="base">
                                        <p:cTn id="57" dur="1000" fill="hold"/>
                                        <p:tgtEl>
                                          <p:spTgt spid="829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83004" grpId="0"/>
      <p:bldP spid="83005" grpId="0" animBg="1"/>
      <p:bldP spid="82963" grpId="0"/>
      <p:bldP spid="82964" grpId="0" animBg="1"/>
      <p:bldP spid="83017" grpId="0"/>
      <p:bldP spid="83018" grpId="0"/>
      <p:bldP spid="830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Oval 2"/>
          <p:cNvSpPr>
            <a:spLocks noChangeArrowheads="1"/>
          </p:cNvSpPr>
          <p:nvPr/>
        </p:nvSpPr>
        <p:spPr bwMode="auto">
          <a:xfrm>
            <a:off x="3825875" y="2578100"/>
            <a:ext cx="1789113" cy="1789113"/>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4100" name="Line 3"/>
          <p:cNvSpPr>
            <a:spLocks noChangeShapeType="1"/>
          </p:cNvSpPr>
          <p:nvPr/>
        </p:nvSpPr>
        <p:spPr bwMode="auto">
          <a:xfrm flipH="1">
            <a:off x="4498975" y="2889250"/>
            <a:ext cx="0" cy="118268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 name="Group 4"/>
          <p:cNvGrpSpPr>
            <a:grpSpLocks/>
          </p:cNvGrpSpPr>
          <p:nvPr/>
        </p:nvGrpSpPr>
        <p:grpSpPr bwMode="auto">
          <a:xfrm>
            <a:off x="4521200" y="3797300"/>
            <a:ext cx="1868488" cy="1603375"/>
            <a:chOff x="2848" y="2392"/>
            <a:chExt cx="1177" cy="1010"/>
          </a:xfrm>
        </p:grpSpPr>
        <p:sp>
          <p:nvSpPr>
            <p:cNvPr id="4117" name="Line 5"/>
            <p:cNvSpPr>
              <a:spLocks noChangeShapeType="1"/>
            </p:cNvSpPr>
            <p:nvPr/>
          </p:nvSpPr>
          <p:spPr bwMode="auto">
            <a:xfrm>
              <a:off x="2848" y="2392"/>
              <a:ext cx="683" cy="68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8" name="AutoShape 6"/>
            <p:cNvSpPr>
              <a:spLocks noChangeArrowheads="1"/>
            </p:cNvSpPr>
            <p:nvPr/>
          </p:nvSpPr>
          <p:spPr bwMode="auto">
            <a:xfrm rot="5480873" flipH="1" flipV="1">
              <a:off x="2857" y="2401"/>
              <a:ext cx="229" cy="224"/>
            </a:xfrm>
            <a:prstGeom prst="rtTriangle">
              <a:avLst/>
            </a:prstGeom>
            <a:solidFill>
              <a:schemeClr val="tx2"/>
            </a:solidFill>
            <a:ln w="9525">
              <a:solidFill>
                <a:schemeClr val="tx1"/>
              </a:solidFill>
              <a:miter lim="800000"/>
              <a:headEnd/>
              <a:tailEnd/>
            </a:ln>
          </p:spPr>
          <p:txBody>
            <a:bodyPr wrap="none" anchor="ctr"/>
            <a:lstStyle/>
            <a:p>
              <a:endParaRPr lang="vi-VN"/>
            </a:p>
          </p:txBody>
        </p:sp>
        <p:sp>
          <p:nvSpPr>
            <p:cNvPr id="4119" name="Text Box 7"/>
            <p:cNvSpPr txBox="1">
              <a:spLocks noChangeArrowheads="1"/>
            </p:cNvSpPr>
            <p:nvPr/>
          </p:nvSpPr>
          <p:spPr bwMode="auto">
            <a:xfrm>
              <a:off x="3056" y="3037"/>
              <a:ext cx="96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solidFill>
                    <a:srgbClr val="FF0000"/>
                  </a:solidFill>
                  <a:latin typeface="Times New Roman" pitchFamily="18" charset="0"/>
                </a:rPr>
                <a:t>Emitter</a:t>
              </a:r>
            </a:p>
          </p:txBody>
        </p:sp>
      </p:grpSp>
      <p:sp>
        <p:nvSpPr>
          <p:cNvPr id="4102" name="Text Box 8"/>
          <p:cNvSpPr txBox="1">
            <a:spLocks noChangeArrowheads="1"/>
          </p:cNvSpPr>
          <p:nvPr/>
        </p:nvSpPr>
        <p:spPr bwMode="auto">
          <a:xfrm>
            <a:off x="1613879" y="381000"/>
            <a:ext cx="647504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4400" b="1">
                <a:solidFill>
                  <a:srgbClr val="FF0000"/>
                </a:solidFill>
                <a:latin typeface="Constantia" pitchFamily="18" charset="0"/>
              </a:rPr>
              <a:t>Ký hiệu  Transistor NPN</a:t>
            </a:r>
          </a:p>
        </p:txBody>
      </p:sp>
      <p:grpSp>
        <p:nvGrpSpPr>
          <p:cNvPr id="3" name="Group 9"/>
          <p:cNvGrpSpPr>
            <a:grpSpLocks/>
          </p:cNvGrpSpPr>
          <p:nvPr/>
        </p:nvGrpSpPr>
        <p:grpSpPr bwMode="auto">
          <a:xfrm>
            <a:off x="2024063" y="3160713"/>
            <a:ext cx="2459037" cy="579437"/>
            <a:chOff x="1275" y="1991"/>
            <a:chExt cx="1549" cy="365"/>
          </a:xfrm>
        </p:grpSpPr>
        <p:sp>
          <p:nvSpPr>
            <p:cNvPr id="4115" name="Line 10"/>
            <p:cNvSpPr>
              <a:spLocks noChangeShapeType="1"/>
            </p:cNvSpPr>
            <p:nvPr/>
          </p:nvSpPr>
          <p:spPr bwMode="auto">
            <a:xfrm flipH="1">
              <a:off x="1892" y="2193"/>
              <a:ext cx="932"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6" name="Text Box 11"/>
            <p:cNvSpPr txBox="1">
              <a:spLocks noChangeArrowheads="1"/>
            </p:cNvSpPr>
            <p:nvPr/>
          </p:nvSpPr>
          <p:spPr bwMode="auto">
            <a:xfrm>
              <a:off x="1275" y="1991"/>
              <a:ext cx="62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solidFill>
                    <a:srgbClr val="FF0000"/>
                  </a:solidFill>
                  <a:latin typeface="Times New Roman" pitchFamily="18" charset="0"/>
                </a:rPr>
                <a:t>Base</a:t>
              </a:r>
            </a:p>
          </p:txBody>
        </p:sp>
      </p:grpSp>
      <p:grpSp>
        <p:nvGrpSpPr>
          <p:cNvPr id="4" name="Group 12"/>
          <p:cNvGrpSpPr>
            <a:grpSpLocks/>
          </p:cNvGrpSpPr>
          <p:nvPr/>
        </p:nvGrpSpPr>
        <p:grpSpPr bwMode="auto">
          <a:xfrm>
            <a:off x="4498975" y="1533525"/>
            <a:ext cx="1943100" cy="1601788"/>
            <a:chOff x="2834" y="966"/>
            <a:chExt cx="1224" cy="1009"/>
          </a:xfrm>
        </p:grpSpPr>
        <p:sp>
          <p:nvSpPr>
            <p:cNvPr id="4113" name="Line 13"/>
            <p:cNvSpPr>
              <a:spLocks noChangeShapeType="1"/>
            </p:cNvSpPr>
            <p:nvPr/>
          </p:nvSpPr>
          <p:spPr bwMode="auto">
            <a:xfrm flipV="1">
              <a:off x="2834" y="1293"/>
              <a:ext cx="683" cy="68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4" name="Text Box 14"/>
            <p:cNvSpPr txBox="1">
              <a:spLocks noChangeArrowheads="1"/>
            </p:cNvSpPr>
            <p:nvPr/>
          </p:nvSpPr>
          <p:spPr bwMode="auto">
            <a:xfrm>
              <a:off x="2932" y="966"/>
              <a:ext cx="112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solidFill>
                    <a:srgbClr val="FF0000"/>
                  </a:solidFill>
                  <a:latin typeface="Times New Roman" pitchFamily="18" charset="0"/>
                </a:rPr>
                <a:t>Collector</a:t>
              </a:r>
            </a:p>
          </p:txBody>
        </p:sp>
      </p:grpSp>
      <p:grpSp>
        <p:nvGrpSpPr>
          <p:cNvPr id="5" name="Group 15"/>
          <p:cNvGrpSpPr>
            <a:grpSpLocks/>
          </p:cNvGrpSpPr>
          <p:nvPr/>
        </p:nvGrpSpPr>
        <p:grpSpPr bwMode="auto">
          <a:xfrm>
            <a:off x="-28574" y="4189413"/>
            <a:ext cx="4721224" cy="2165350"/>
            <a:chOff x="-18" y="2639"/>
            <a:chExt cx="2974" cy="1364"/>
          </a:xfrm>
        </p:grpSpPr>
        <p:sp>
          <p:nvSpPr>
            <p:cNvPr id="4111" name="Text Box 16"/>
            <p:cNvSpPr txBox="1">
              <a:spLocks noChangeArrowheads="1"/>
            </p:cNvSpPr>
            <p:nvPr/>
          </p:nvSpPr>
          <p:spPr bwMode="auto">
            <a:xfrm>
              <a:off x="-18" y="3557"/>
              <a:ext cx="275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sz="2000" b="1">
                  <a:solidFill>
                    <a:schemeClr val="tx2">
                      <a:lumMod val="50000"/>
                    </a:schemeClr>
                  </a:solidFill>
                  <a:latin typeface="Constantia" pitchFamily="18" charset="0"/>
                </a:rPr>
                <a:t>Chiều mũi tên chỉ chiều dòng điện </a:t>
              </a:r>
            </a:p>
            <a:p>
              <a:pPr algn="ctr"/>
              <a:r>
                <a:rPr lang="en-US" sz="2000" b="1">
                  <a:solidFill>
                    <a:schemeClr val="tx2">
                      <a:lumMod val="50000"/>
                    </a:schemeClr>
                  </a:solidFill>
                  <a:latin typeface="Constantia" pitchFamily="18" charset="0"/>
                </a:rPr>
                <a:t>qua chuyển tiếp Emitơ</a:t>
              </a:r>
            </a:p>
          </p:txBody>
        </p:sp>
        <p:sp>
          <p:nvSpPr>
            <p:cNvPr id="4112" name="Line 17"/>
            <p:cNvSpPr>
              <a:spLocks noChangeShapeType="1"/>
            </p:cNvSpPr>
            <p:nvPr/>
          </p:nvSpPr>
          <p:spPr bwMode="auto">
            <a:xfrm flipH="1">
              <a:off x="2284" y="2639"/>
              <a:ext cx="672" cy="889"/>
            </a:xfrm>
            <a:prstGeom prst="line">
              <a:avLst/>
            </a:prstGeom>
            <a:noFill/>
            <a:ln w="57150">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18"/>
          <p:cNvGrpSpPr>
            <a:grpSpLocks/>
          </p:cNvGrpSpPr>
          <p:nvPr/>
        </p:nvGrpSpPr>
        <p:grpSpPr bwMode="auto">
          <a:xfrm>
            <a:off x="6027738" y="2289175"/>
            <a:ext cx="2127250" cy="1608138"/>
            <a:chOff x="3797" y="1442"/>
            <a:chExt cx="1340" cy="1013"/>
          </a:xfrm>
        </p:grpSpPr>
        <p:graphicFrame>
          <p:nvGraphicFramePr>
            <p:cNvPr id="4098" name="Object 19"/>
            <p:cNvGraphicFramePr>
              <a:graphicFrameLocks noChangeAspect="1"/>
            </p:cNvGraphicFramePr>
            <p:nvPr/>
          </p:nvGraphicFramePr>
          <p:xfrm>
            <a:off x="3824" y="1442"/>
            <a:ext cx="1313" cy="888"/>
          </p:xfrm>
          <a:graphic>
            <a:graphicData uri="http://schemas.openxmlformats.org/presentationml/2006/ole">
              <mc:AlternateContent xmlns:mc="http://schemas.openxmlformats.org/markup-compatibility/2006">
                <mc:Choice xmlns:v="urn:schemas-microsoft-com:vml" Requires="v">
                  <p:oleObj spid="_x0000_s19503" name="Image" r:id="rId3" imgW="588215" imgH="399255" progId="Photoshop.Image.5">
                    <p:embed/>
                  </p:oleObj>
                </mc:Choice>
                <mc:Fallback>
                  <p:oleObj name="Image" r:id="rId3" imgW="588215" imgH="399255" progId="Photoshop.Image.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4" y="1442"/>
                          <a:ext cx="1313" cy="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8" name="Text Box 20"/>
            <p:cNvSpPr txBox="1">
              <a:spLocks noChangeArrowheads="1"/>
            </p:cNvSpPr>
            <p:nvPr/>
          </p:nvSpPr>
          <p:spPr bwMode="auto">
            <a:xfrm>
              <a:off x="4043" y="2205"/>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b="1">
                  <a:latin typeface="Times New Roman" pitchFamily="18" charset="0"/>
                </a:rPr>
                <a:t>E</a:t>
              </a:r>
            </a:p>
          </p:txBody>
        </p:sp>
        <p:sp>
          <p:nvSpPr>
            <p:cNvPr id="4109" name="Text Box 21"/>
            <p:cNvSpPr txBox="1">
              <a:spLocks noChangeArrowheads="1"/>
            </p:cNvSpPr>
            <p:nvPr/>
          </p:nvSpPr>
          <p:spPr bwMode="auto">
            <a:xfrm>
              <a:off x="3867" y="2136"/>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b="1">
                  <a:latin typeface="Times New Roman" pitchFamily="18" charset="0"/>
                </a:rPr>
                <a:t>B</a:t>
              </a:r>
            </a:p>
          </p:txBody>
        </p:sp>
        <p:sp>
          <p:nvSpPr>
            <p:cNvPr id="4110" name="Text Box 22"/>
            <p:cNvSpPr txBox="1">
              <a:spLocks noChangeArrowheads="1"/>
            </p:cNvSpPr>
            <p:nvPr/>
          </p:nvSpPr>
          <p:spPr bwMode="auto">
            <a:xfrm>
              <a:off x="3797" y="1922"/>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b="1">
                  <a:latin typeface="Times New Roman" pitchFamily="18" charset="0"/>
                </a:rPr>
                <a:t>C</a:t>
              </a:r>
            </a:p>
          </p:txBody>
        </p:sp>
      </p:grpSp>
      <p:sp>
        <p:nvSpPr>
          <p:cNvPr id="4107" name="Slide Number Placeholder 2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EB68C9F-1231-40EE-94F7-67992D03108E}" type="slidenum">
              <a:rPr lang="en-US" smtClean="0"/>
              <a:pPr eaLnBrk="1" hangingPunct="1"/>
              <a:t>6</a:t>
            </a:fld>
            <a:endParaRPr lang="en-US" smtClean="0"/>
          </a:p>
        </p:txBody>
      </p:sp>
    </p:spTree>
    <p:extLst>
      <p:ext uri="{BB962C8B-B14F-4D97-AF65-F5344CB8AC3E}">
        <p14:creationId xmlns:p14="http://schemas.microsoft.com/office/powerpoint/2010/main" val="5309113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000" fill="hold"/>
                                        <p:tgtEl>
                                          <p:spTgt spid="3"/>
                                        </p:tgtEl>
                                        <p:attrNameLst>
                                          <p:attrName>ppt_x</p:attrName>
                                        </p:attrNameLst>
                                      </p:cBhvr>
                                      <p:tavLst>
                                        <p:tav tm="0">
                                          <p:val>
                                            <p:strVal val="0-#ppt_w/2"/>
                                          </p:val>
                                        </p:tav>
                                        <p:tav tm="100000">
                                          <p:val>
                                            <p:strVal val="#ppt_x"/>
                                          </p:val>
                                        </p:tav>
                                      </p:tavLst>
                                    </p:anim>
                                    <p:anim calcmode="lin" valueType="num">
                                      <p:cBhvr additive="base">
                                        <p:cTn id="13" dur="1000" fill="hold"/>
                                        <p:tgtEl>
                                          <p:spTgt spid="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500"/>
                            </p:stCondLst>
                            <p:childTnLst>
                              <p:par>
                                <p:cTn id="15" presetID="2" presetClass="entr" presetSubtype="2"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1000" fill="hold"/>
                                        <p:tgtEl>
                                          <p:spTgt spid="2"/>
                                        </p:tgtEl>
                                        <p:attrNameLst>
                                          <p:attrName>ppt_x</p:attrName>
                                        </p:attrNameLst>
                                      </p:cBhvr>
                                      <p:tavLst>
                                        <p:tav tm="0">
                                          <p:val>
                                            <p:strVal val="1+#ppt_w/2"/>
                                          </p:val>
                                        </p:tav>
                                        <p:tav tm="100000">
                                          <p:val>
                                            <p:strVal val="#ppt_x"/>
                                          </p:val>
                                        </p:tav>
                                      </p:tavLst>
                                    </p:anim>
                                    <p:anim calcmode="lin" valueType="num">
                                      <p:cBhvr additive="base">
                                        <p:cTn id="18" dur="1000" fill="hold"/>
                                        <p:tgtEl>
                                          <p:spTgt spid="2"/>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2500"/>
                            </p:stCondLst>
                            <p:childTnLst>
                              <p:par>
                                <p:cTn id="20" presetID="5" presetClass="entr" presetSubtype="1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heckerboard(across)">
                                      <p:cBhvr>
                                        <p:cTn id="22" dur="500"/>
                                        <p:tgtEl>
                                          <p:spTgt spid="5"/>
                                        </p:tgtEl>
                                      </p:cBhvr>
                                    </p:animEffect>
                                  </p:childTnLst>
                                </p:cTn>
                              </p:par>
                            </p:childTnLst>
                          </p:cTn>
                        </p:par>
                        <p:par>
                          <p:cTn id="23" fill="hold" nodeType="afterGroup">
                            <p:stCondLst>
                              <p:cond delay="3000"/>
                            </p:stCondLst>
                            <p:childTnLst>
                              <p:par>
                                <p:cTn id="24" presetID="23" presetClass="entr" presetSubtype="528" fill="hold" nodeType="afterEffect">
                                  <p:stCondLst>
                                    <p:cond delay="2000"/>
                                  </p:stCondLst>
                                  <p:childTnLst>
                                    <p:set>
                                      <p:cBhvr>
                                        <p:cTn id="25" dur="1" fill="hold">
                                          <p:stCondLst>
                                            <p:cond delay="0"/>
                                          </p:stCondLst>
                                        </p:cTn>
                                        <p:tgtEl>
                                          <p:spTgt spid="6"/>
                                        </p:tgtEl>
                                        <p:attrNameLst>
                                          <p:attrName>style.visibility</p:attrName>
                                        </p:attrNameLst>
                                      </p:cBhvr>
                                      <p:to>
                                        <p:strVal val="visible"/>
                                      </p:to>
                                    </p:set>
                                    <p:anim calcmode="lin" valueType="num">
                                      <p:cBhvr>
                                        <p:cTn id="26" dur="2000" fill="hold"/>
                                        <p:tgtEl>
                                          <p:spTgt spid="6"/>
                                        </p:tgtEl>
                                        <p:attrNameLst>
                                          <p:attrName>ppt_w</p:attrName>
                                        </p:attrNameLst>
                                      </p:cBhvr>
                                      <p:tavLst>
                                        <p:tav tm="0">
                                          <p:val>
                                            <p:fltVal val="0"/>
                                          </p:val>
                                        </p:tav>
                                        <p:tav tm="100000">
                                          <p:val>
                                            <p:strVal val="#ppt_w"/>
                                          </p:val>
                                        </p:tav>
                                      </p:tavLst>
                                    </p:anim>
                                    <p:anim calcmode="lin" valueType="num">
                                      <p:cBhvr>
                                        <p:cTn id="27" dur="2000" fill="hold"/>
                                        <p:tgtEl>
                                          <p:spTgt spid="6"/>
                                        </p:tgtEl>
                                        <p:attrNameLst>
                                          <p:attrName>ppt_h</p:attrName>
                                        </p:attrNameLst>
                                      </p:cBhvr>
                                      <p:tavLst>
                                        <p:tav tm="0">
                                          <p:val>
                                            <p:fltVal val="0"/>
                                          </p:val>
                                        </p:tav>
                                        <p:tav tm="100000">
                                          <p:val>
                                            <p:strVal val="#ppt_h"/>
                                          </p:val>
                                        </p:tav>
                                      </p:tavLst>
                                    </p:anim>
                                    <p:anim calcmode="lin" valueType="num">
                                      <p:cBhvr>
                                        <p:cTn id="28" dur="2000" fill="hold"/>
                                        <p:tgtEl>
                                          <p:spTgt spid="6"/>
                                        </p:tgtEl>
                                        <p:attrNameLst>
                                          <p:attrName>ppt_x</p:attrName>
                                        </p:attrNameLst>
                                      </p:cBhvr>
                                      <p:tavLst>
                                        <p:tav tm="0">
                                          <p:val>
                                            <p:fltVal val="0.5"/>
                                          </p:val>
                                        </p:tav>
                                        <p:tav tm="100000">
                                          <p:val>
                                            <p:strVal val="#ppt_x"/>
                                          </p:val>
                                        </p:tav>
                                      </p:tavLst>
                                    </p:anim>
                                    <p:anim calcmode="lin" valueType="num">
                                      <p:cBhvr>
                                        <p:cTn id="29" dur="2000" fill="hold"/>
                                        <p:tgtEl>
                                          <p:spTgt spid="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Oval 2"/>
          <p:cNvSpPr>
            <a:spLocks noChangeArrowheads="1"/>
          </p:cNvSpPr>
          <p:nvPr/>
        </p:nvSpPr>
        <p:spPr bwMode="auto">
          <a:xfrm>
            <a:off x="3825875" y="2578100"/>
            <a:ext cx="1789113" cy="1789113"/>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5124" name="Line 3"/>
          <p:cNvSpPr>
            <a:spLocks noChangeShapeType="1"/>
          </p:cNvSpPr>
          <p:nvPr/>
        </p:nvSpPr>
        <p:spPr bwMode="auto">
          <a:xfrm flipH="1">
            <a:off x="4498975" y="2889250"/>
            <a:ext cx="0" cy="118268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 name="Group 4"/>
          <p:cNvGrpSpPr>
            <a:grpSpLocks/>
          </p:cNvGrpSpPr>
          <p:nvPr/>
        </p:nvGrpSpPr>
        <p:grpSpPr bwMode="auto">
          <a:xfrm>
            <a:off x="4498975" y="1533525"/>
            <a:ext cx="1943100" cy="1601788"/>
            <a:chOff x="2834" y="966"/>
            <a:chExt cx="1224" cy="1009"/>
          </a:xfrm>
        </p:grpSpPr>
        <p:sp>
          <p:nvSpPr>
            <p:cNvPr id="5140" name="Line 5"/>
            <p:cNvSpPr>
              <a:spLocks noChangeShapeType="1"/>
            </p:cNvSpPr>
            <p:nvPr/>
          </p:nvSpPr>
          <p:spPr bwMode="auto">
            <a:xfrm flipV="1">
              <a:off x="2834" y="1293"/>
              <a:ext cx="683" cy="68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41" name="Text Box 6"/>
            <p:cNvSpPr txBox="1">
              <a:spLocks noChangeArrowheads="1"/>
            </p:cNvSpPr>
            <p:nvPr/>
          </p:nvSpPr>
          <p:spPr bwMode="auto">
            <a:xfrm>
              <a:off x="2932" y="966"/>
              <a:ext cx="112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solidFill>
                    <a:srgbClr val="FF0000"/>
                  </a:solidFill>
                  <a:latin typeface="Times New Roman" pitchFamily="18" charset="0"/>
                </a:rPr>
                <a:t>Collector</a:t>
              </a:r>
            </a:p>
          </p:txBody>
        </p:sp>
      </p:grpSp>
      <p:grpSp>
        <p:nvGrpSpPr>
          <p:cNvPr id="3" name="Group 7"/>
          <p:cNvGrpSpPr>
            <a:grpSpLocks/>
          </p:cNvGrpSpPr>
          <p:nvPr/>
        </p:nvGrpSpPr>
        <p:grpSpPr bwMode="auto">
          <a:xfrm>
            <a:off x="2024063" y="3160713"/>
            <a:ext cx="2459037" cy="579437"/>
            <a:chOff x="1275" y="1991"/>
            <a:chExt cx="1549" cy="365"/>
          </a:xfrm>
        </p:grpSpPr>
        <p:sp>
          <p:nvSpPr>
            <p:cNvPr id="5138" name="Line 8"/>
            <p:cNvSpPr>
              <a:spLocks noChangeShapeType="1"/>
            </p:cNvSpPr>
            <p:nvPr/>
          </p:nvSpPr>
          <p:spPr bwMode="auto">
            <a:xfrm flipH="1">
              <a:off x="1892" y="2193"/>
              <a:ext cx="932"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9" name="Text Box 9"/>
            <p:cNvSpPr txBox="1">
              <a:spLocks noChangeArrowheads="1"/>
            </p:cNvSpPr>
            <p:nvPr/>
          </p:nvSpPr>
          <p:spPr bwMode="auto">
            <a:xfrm>
              <a:off x="1275" y="1991"/>
              <a:ext cx="62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solidFill>
                    <a:srgbClr val="FF0000"/>
                  </a:solidFill>
                  <a:latin typeface="Times New Roman" pitchFamily="18" charset="0"/>
                </a:rPr>
                <a:t>Base</a:t>
              </a:r>
            </a:p>
          </p:txBody>
        </p:sp>
      </p:grpSp>
      <p:grpSp>
        <p:nvGrpSpPr>
          <p:cNvPr id="4" name="Group 10"/>
          <p:cNvGrpSpPr>
            <a:grpSpLocks/>
          </p:cNvGrpSpPr>
          <p:nvPr/>
        </p:nvGrpSpPr>
        <p:grpSpPr bwMode="auto">
          <a:xfrm>
            <a:off x="4502150" y="3797300"/>
            <a:ext cx="1887538" cy="1603375"/>
            <a:chOff x="2836" y="2392"/>
            <a:chExt cx="1189" cy="1010"/>
          </a:xfrm>
        </p:grpSpPr>
        <p:grpSp>
          <p:nvGrpSpPr>
            <p:cNvPr id="5134" name="Group 11"/>
            <p:cNvGrpSpPr>
              <a:grpSpLocks/>
            </p:cNvGrpSpPr>
            <p:nvPr/>
          </p:nvGrpSpPr>
          <p:grpSpPr bwMode="auto">
            <a:xfrm>
              <a:off x="2836" y="2392"/>
              <a:ext cx="683" cy="682"/>
              <a:chOff x="2836" y="2392"/>
              <a:chExt cx="683" cy="682"/>
            </a:xfrm>
          </p:grpSpPr>
          <p:sp>
            <p:nvSpPr>
              <p:cNvPr id="5136" name="Line 12"/>
              <p:cNvSpPr>
                <a:spLocks noChangeShapeType="1"/>
              </p:cNvSpPr>
              <p:nvPr/>
            </p:nvSpPr>
            <p:spPr bwMode="auto">
              <a:xfrm>
                <a:off x="2836" y="2392"/>
                <a:ext cx="683" cy="68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7" name="AutoShape 13"/>
              <p:cNvSpPr>
                <a:spLocks noChangeArrowheads="1"/>
              </p:cNvSpPr>
              <p:nvPr/>
            </p:nvSpPr>
            <p:spPr bwMode="auto">
              <a:xfrm rot="5480873">
                <a:off x="2911" y="2474"/>
                <a:ext cx="228" cy="219"/>
              </a:xfrm>
              <a:prstGeom prst="rtTriangle">
                <a:avLst/>
              </a:prstGeom>
              <a:solidFill>
                <a:schemeClr val="tx2"/>
              </a:solidFill>
              <a:ln w="9525">
                <a:solidFill>
                  <a:schemeClr val="tx1"/>
                </a:solidFill>
                <a:miter lim="800000"/>
                <a:headEnd/>
                <a:tailEnd/>
              </a:ln>
            </p:spPr>
            <p:txBody>
              <a:bodyPr wrap="none" anchor="ctr"/>
              <a:lstStyle/>
              <a:p>
                <a:endParaRPr lang="vi-VN"/>
              </a:p>
            </p:txBody>
          </p:sp>
        </p:grpSp>
        <p:sp>
          <p:nvSpPr>
            <p:cNvPr id="5135" name="Text Box 14"/>
            <p:cNvSpPr txBox="1">
              <a:spLocks noChangeArrowheads="1"/>
            </p:cNvSpPr>
            <p:nvPr/>
          </p:nvSpPr>
          <p:spPr bwMode="auto">
            <a:xfrm>
              <a:off x="3056" y="3037"/>
              <a:ext cx="96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3200" b="1">
                  <a:solidFill>
                    <a:srgbClr val="FF0000"/>
                  </a:solidFill>
                  <a:latin typeface="Times New Roman" pitchFamily="18" charset="0"/>
                </a:rPr>
                <a:t>Emitter</a:t>
              </a:r>
            </a:p>
          </p:txBody>
        </p:sp>
      </p:grpSp>
      <p:grpSp>
        <p:nvGrpSpPr>
          <p:cNvPr id="6" name="Group 16"/>
          <p:cNvGrpSpPr>
            <a:grpSpLocks/>
          </p:cNvGrpSpPr>
          <p:nvPr/>
        </p:nvGrpSpPr>
        <p:grpSpPr bwMode="auto">
          <a:xfrm>
            <a:off x="6027738" y="2289175"/>
            <a:ext cx="2127250" cy="1608138"/>
            <a:chOff x="3797" y="1442"/>
            <a:chExt cx="1340" cy="1013"/>
          </a:xfrm>
        </p:grpSpPr>
        <p:graphicFrame>
          <p:nvGraphicFramePr>
            <p:cNvPr id="5122" name="Object 17"/>
            <p:cNvGraphicFramePr>
              <a:graphicFrameLocks noChangeAspect="1"/>
            </p:cNvGraphicFramePr>
            <p:nvPr/>
          </p:nvGraphicFramePr>
          <p:xfrm>
            <a:off x="3824" y="1442"/>
            <a:ext cx="1313" cy="888"/>
          </p:xfrm>
          <a:graphic>
            <a:graphicData uri="http://schemas.openxmlformats.org/presentationml/2006/ole">
              <mc:AlternateContent xmlns:mc="http://schemas.openxmlformats.org/markup-compatibility/2006">
                <mc:Choice xmlns:v="urn:schemas-microsoft-com:vml" Requires="v">
                  <p:oleObj spid="_x0000_s20527" name="Image" r:id="rId3" imgW="588215" imgH="399255" progId="Photoshop.Image.5">
                    <p:embed/>
                  </p:oleObj>
                </mc:Choice>
                <mc:Fallback>
                  <p:oleObj name="Image" r:id="rId3" imgW="588215" imgH="399255" progId="Photoshop.Image.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4" y="1442"/>
                          <a:ext cx="1313" cy="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1" name="Text Box 18"/>
            <p:cNvSpPr txBox="1">
              <a:spLocks noChangeArrowheads="1"/>
            </p:cNvSpPr>
            <p:nvPr/>
          </p:nvSpPr>
          <p:spPr bwMode="auto">
            <a:xfrm>
              <a:off x="4043" y="2205"/>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b="1">
                  <a:latin typeface="Times New Roman" pitchFamily="18" charset="0"/>
                </a:rPr>
                <a:t>E</a:t>
              </a:r>
            </a:p>
          </p:txBody>
        </p:sp>
        <p:sp>
          <p:nvSpPr>
            <p:cNvPr id="5132" name="Text Box 19"/>
            <p:cNvSpPr txBox="1">
              <a:spLocks noChangeArrowheads="1"/>
            </p:cNvSpPr>
            <p:nvPr/>
          </p:nvSpPr>
          <p:spPr bwMode="auto">
            <a:xfrm>
              <a:off x="3867" y="2136"/>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b="1">
                  <a:latin typeface="Times New Roman" pitchFamily="18" charset="0"/>
                </a:rPr>
                <a:t>B</a:t>
              </a:r>
            </a:p>
          </p:txBody>
        </p:sp>
        <p:sp>
          <p:nvSpPr>
            <p:cNvPr id="5133" name="Text Box 20"/>
            <p:cNvSpPr txBox="1">
              <a:spLocks noChangeArrowheads="1"/>
            </p:cNvSpPr>
            <p:nvPr/>
          </p:nvSpPr>
          <p:spPr bwMode="auto">
            <a:xfrm>
              <a:off x="3797" y="1922"/>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b="1">
                  <a:latin typeface="Times New Roman" pitchFamily="18" charset="0"/>
                </a:rPr>
                <a:t>C</a:t>
              </a:r>
            </a:p>
          </p:txBody>
        </p:sp>
      </p:grpSp>
      <p:sp>
        <p:nvSpPr>
          <p:cNvPr id="5130" name="Slide Number Placeholder 2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8DE528D-59A7-4500-9E22-534FC3FD9A68}" type="slidenum">
              <a:rPr lang="en-US" smtClean="0"/>
              <a:pPr eaLnBrk="1" hangingPunct="1"/>
              <a:t>7</a:t>
            </a:fld>
            <a:endParaRPr lang="en-US" smtClean="0"/>
          </a:p>
        </p:txBody>
      </p:sp>
      <p:sp>
        <p:nvSpPr>
          <p:cNvPr id="22" name="Text Box 8"/>
          <p:cNvSpPr txBox="1">
            <a:spLocks noChangeArrowheads="1"/>
          </p:cNvSpPr>
          <p:nvPr/>
        </p:nvSpPr>
        <p:spPr bwMode="auto">
          <a:xfrm>
            <a:off x="1613879" y="381000"/>
            <a:ext cx="641092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4400" b="1">
                <a:solidFill>
                  <a:srgbClr val="FF0000"/>
                </a:solidFill>
                <a:latin typeface="Constantia" pitchFamily="18" charset="0"/>
              </a:rPr>
              <a:t>Ký hiệu  Transistor </a:t>
            </a:r>
            <a:r>
              <a:rPr lang="en-US" sz="4400" b="1" smtClean="0">
                <a:solidFill>
                  <a:srgbClr val="FF0000"/>
                </a:solidFill>
                <a:latin typeface="Constantia" pitchFamily="18" charset="0"/>
              </a:rPr>
              <a:t>PNP</a:t>
            </a:r>
            <a:endParaRPr lang="en-US" sz="4400" b="1">
              <a:solidFill>
                <a:srgbClr val="FF0000"/>
              </a:solidFill>
              <a:latin typeface="Constantia" pitchFamily="18" charset="0"/>
            </a:endParaRPr>
          </a:p>
        </p:txBody>
      </p:sp>
    </p:spTree>
    <p:extLst>
      <p:ext uri="{BB962C8B-B14F-4D97-AF65-F5344CB8AC3E}">
        <p14:creationId xmlns:p14="http://schemas.microsoft.com/office/powerpoint/2010/main" val="10557891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3"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1000"/>
                            </p:stCondLst>
                            <p:childTnLst>
                              <p:par>
                                <p:cTn id="10" presetID="2" presetClass="entr" presetSubtype="8"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2000" fill="hold"/>
                                        <p:tgtEl>
                                          <p:spTgt spid="3"/>
                                        </p:tgtEl>
                                        <p:attrNameLst>
                                          <p:attrName>ppt_x</p:attrName>
                                        </p:attrNameLst>
                                      </p:cBhvr>
                                      <p:tavLst>
                                        <p:tav tm="0">
                                          <p:val>
                                            <p:strVal val="0-#ppt_w/2"/>
                                          </p:val>
                                        </p:tav>
                                        <p:tav tm="100000">
                                          <p:val>
                                            <p:strVal val="#ppt_x"/>
                                          </p:val>
                                        </p:tav>
                                      </p:tavLst>
                                    </p:anim>
                                    <p:anim calcmode="lin" valueType="num">
                                      <p:cBhvr additive="base">
                                        <p:cTn id="13" dur="2000" fill="hold"/>
                                        <p:tgtEl>
                                          <p:spTgt spid="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3000"/>
                            </p:stCondLst>
                            <p:childTnLst>
                              <p:par>
                                <p:cTn id="15" presetID="2" presetClass="entr" presetSubtype="6"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3500"/>
                            </p:stCondLst>
                            <p:childTnLst>
                              <p:par>
                                <p:cTn id="20" presetID="23" presetClass="entr" presetSubtype="528"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2000" fill="hold"/>
                                        <p:tgtEl>
                                          <p:spTgt spid="6"/>
                                        </p:tgtEl>
                                        <p:attrNameLst>
                                          <p:attrName>ppt_w</p:attrName>
                                        </p:attrNameLst>
                                      </p:cBhvr>
                                      <p:tavLst>
                                        <p:tav tm="0">
                                          <p:val>
                                            <p:fltVal val="0"/>
                                          </p:val>
                                        </p:tav>
                                        <p:tav tm="100000">
                                          <p:val>
                                            <p:strVal val="#ppt_w"/>
                                          </p:val>
                                        </p:tav>
                                      </p:tavLst>
                                    </p:anim>
                                    <p:anim calcmode="lin" valueType="num">
                                      <p:cBhvr>
                                        <p:cTn id="23" dur="2000" fill="hold"/>
                                        <p:tgtEl>
                                          <p:spTgt spid="6"/>
                                        </p:tgtEl>
                                        <p:attrNameLst>
                                          <p:attrName>ppt_h</p:attrName>
                                        </p:attrNameLst>
                                      </p:cBhvr>
                                      <p:tavLst>
                                        <p:tav tm="0">
                                          <p:val>
                                            <p:fltVal val="0"/>
                                          </p:val>
                                        </p:tav>
                                        <p:tav tm="100000">
                                          <p:val>
                                            <p:strVal val="#ppt_h"/>
                                          </p:val>
                                        </p:tav>
                                      </p:tavLst>
                                    </p:anim>
                                    <p:anim calcmode="lin" valueType="num">
                                      <p:cBhvr>
                                        <p:cTn id="24" dur="2000" fill="hold"/>
                                        <p:tgtEl>
                                          <p:spTgt spid="6"/>
                                        </p:tgtEl>
                                        <p:attrNameLst>
                                          <p:attrName>ppt_x</p:attrName>
                                        </p:attrNameLst>
                                      </p:cBhvr>
                                      <p:tavLst>
                                        <p:tav tm="0">
                                          <p:val>
                                            <p:fltVal val="0.5"/>
                                          </p:val>
                                        </p:tav>
                                        <p:tav tm="100000">
                                          <p:val>
                                            <p:strVal val="#ppt_x"/>
                                          </p:val>
                                        </p:tav>
                                      </p:tavLst>
                                    </p:anim>
                                    <p:anim calcmode="lin" valueType="num">
                                      <p:cBhvr>
                                        <p:cTn id="25" dur="2000" fill="hold"/>
                                        <p:tgtEl>
                                          <p:spTgt spid="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33400"/>
            <a:ext cx="7696200" cy="769441"/>
          </a:xfrm>
          <a:prstGeom prst="rect">
            <a:avLst/>
          </a:prstGeom>
          <a:noFill/>
        </p:spPr>
        <p:txBody>
          <a:bodyPr wrap="square" rtlCol="0">
            <a:spAutoFit/>
          </a:bodyPr>
          <a:lstStyle/>
          <a:p>
            <a:pPr algn="ctr"/>
            <a:r>
              <a:rPr lang="en-US" sz="4400" b="1" smtClean="0">
                <a:solidFill>
                  <a:srgbClr val="FF0000"/>
                </a:solidFill>
                <a:latin typeface="Constantia" pitchFamily="18" charset="0"/>
              </a:rPr>
              <a:t>Hình dáng thực tế</a:t>
            </a:r>
            <a:endParaRPr lang="en-US" sz="4400" b="1">
              <a:solidFill>
                <a:srgbClr val="FF0000"/>
              </a:solidFill>
              <a:latin typeface="Constantia" pitchFamily="18" charset="0"/>
            </a:endParaRPr>
          </a:p>
        </p:txBody>
      </p:sp>
      <p:pic>
        <p:nvPicPr>
          <p:cNvPr id="3" name="Picture 206" descr="2sc1815e"/>
          <p:cNvPicPr>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5411555" y="2667000"/>
            <a:ext cx="3308680" cy="3590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07" descr="ckt8_5"/>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457200" y="2493809"/>
            <a:ext cx="1895362" cy="216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4" name="Picture 2" descr="C:\Users\Administrator\Desktop\hinh_slide\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057400"/>
            <a:ext cx="2134955" cy="2714290"/>
          </a:xfrm>
          <a:prstGeom prst="rect">
            <a:avLst/>
          </a:prstGeom>
          <a:noFill/>
          <a:extLst>
            <a:ext uri="{909E8E84-426E-40DD-AFC4-6F175D3DCCD1}">
              <a14:hiddenFill xmlns:a14="http://schemas.microsoft.com/office/drawing/2010/main">
                <a:solidFill>
                  <a:srgbClr val="FFFFFF"/>
                </a:solidFill>
              </a14:hiddenFill>
            </a:ext>
          </a:extLst>
        </p:spPr>
      </p:pic>
      <p:pic>
        <p:nvPicPr>
          <p:cNvPr id="33796" name="Picture 4" descr="C:\Users\Administrator\Desktop\hinh_slide\images (3).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0999" y="4394802"/>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77373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noAutofit/>
          </a:bodyPr>
          <a:lstStyle/>
          <a:p>
            <a:pPr>
              <a:defRPr/>
            </a:pPr>
            <a:r>
              <a:rPr lang="en-US" b="1" dirty="0" err="1" smtClean="0">
                <a:solidFill>
                  <a:srgbClr val="BE0602"/>
                </a:solidFill>
              </a:rPr>
              <a:t>Nguyên</a:t>
            </a:r>
            <a:r>
              <a:rPr lang="en-US" b="1" dirty="0" smtClean="0">
                <a:solidFill>
                  <a:srgbClr val="BE0602"/>
                </a:solidFill>
              </a:rPr>
              <a:t> </a:t>
            </a:r>
            <a:r>
              <a:rPr lang="en-US" b="1" dirty="0" err="1" smtClean="0">
                <a:solidFill>
                  <a:srgbClr val="BE0602"/>
                </a:solidFill>
              </a:rPr>
              <a:t>tắc</a:t>
            </a:r>
            <a:r>
              <a:rPr lang="en-US" b="1" dirty="0" smtClean="0">
                <a:solidFill>
                  <a:srgbClr val="BE0602"/>
                </a:solidFill>
              </a:rPr>
              <a:t> </a:t>
            </a:r>
            <a:r>
              <a:rPr lang="en-US" b="1" dirty="0" err="1" smtClean="0">
                <a:solidFill>
                  <a:srgbClr val="BE0602"/>
                </a:solidFill>
              </a:rPr>
              <a:t>làm</a:t>
            </a:r>
            <a:r>
              <a:rPr lang="en-US" b="1" dirty="0" smtClean="0">
                <a:solidFill>
                  <a:srgbClr val="BE0602"/>
                </a:solidFill>
              </a:rPr>
              <a:t> </a:t>
            </a:r>
            <a:r>
              <a:rPr lang="en-US" b="1" dirty="0" err="1" smtClean="0">
                <a:solidFill>
                  <a:srgbClr val="BE0602"/>
                </a:solidFill>
              </a:rPr>
              <a:t>việc</a:t>
            </a:r>
            <a:r>
              <a:rPr lang="en-US" b="1" dirty="0" smtClean="0">
                <a:solidFill>
                  <a:srgbClr val="BE0602"/>
                </a:solidFill>
              </a:rPr>
              <a:t> </a:t>
            </a:r>
            <a:r>
              <a:rPr lang="en-US" b="1" dirty="0" err="1" smtClean="0">
                <a:solidFill>
                  <a:srgbClr val="BE0602"/>
                </a:solidFill>
              </a:rPr>
              <a:t>của</a:t>
            </a:r>
            <a:r>
              <a:rPr lang="en-US" b="1" dirty="0" smtClean="0">
                <a:solidFill>
                  <a:srgbClr val="BE0602"/>
                </a:solidFill>
              </a:rPr>
              <a:t> Transistor</a:t>
            </a:r>
          </a:p>
        </p:txBody>
      </p:sp>
      <p:sp>
        <p:nvSpPr>
          <p:cNvPr id="83971" name="Rectangle 3"/>
          <p:cNvSpPr>
            <a:spLocks noGrp="1" noChangeArrowheads="1"/>
          </p:cNvSpPr>
          <p:nvPr>
            <p:ph type="body" idx="1"/>
          </p:nvPr>
        </p:nvSpPr>
        <p:spPr>
          <a:xfrm>
            <a:off x="228600" y="1828800"/>
            <a:ext cx="8610600" cy="4212696"/>
          </a:xfrm>
        </p:spPr>
        <p:txBody>
          <a:bodyPr>
            <a:normAutofit/>
          </a:bodyPr>
          <a:lstStyle/>
          <a:p>
            <a:pPr>
              <a:buFontTx/>
              <a:buNone/>
              <a:defRPr/>
            </a:pPr>
            <a:r>
              <a:rPr lang="en-US" sz="2400" dirty="0" smtClean="0"/>
              <a:t>Transistor </a:t>
            </a:r>
            <a:r>
              <a:rPr lang="en-US" sz="2400" dirty="0" err="1" smtClean="0"/>
              <a:t>có</a:t>
            </a:r>
            <a:r>
              <a:rPr lang="en-US" sz="2400" dirty="0" smtClean="0"/>
              <a:t> 2 </a:t>
            </a:r>
            <a:r>
              <a:rPr lang="en-US" sz="2400" dirty="0" err="1" smtClean="0"/>
              <a:t>chế</a:t>
            </a:r>
            <a:r>
              <a:rPr lang="en-US" sz="2400" dirty="0" smtClean="0"/>
              <a:t> </a:t>
            </a:r>
            <a:r>
              <a:rPr lang="en-US" sz="2400" dirty="0" err="1" smtClean="0"/>
              <a:t>độ</a:t>
            </a:r>
            <a:r>
              <a:rPr lang="en-US" sz="2400" dirty="0" smtClean="0"/>
              <a:t> </a:t>
            </a:r>
            <a:r>
              <a:rPr lang="en-US" sz="2400" dirty="0" err="1" smtClean="0"/>
              <a:t>làm</a:t>
            </a:r>
            <a:r>
              <a:rPr lang="en-US" sz="2400" dirty="0" smtClean="0"/>
              <a:t> </a:t>
            </a:r>
            <a:r>
              <a:rPr lang="en-US" sz="2400" dirty="0" err="1" smtClean="0"/>
              <a:t>việc</a:t>
            </a:r>
            <a:r>
              <a:rPr lang="en-US" sz="2400" dirty="0" smtClean="0"/>
              <a:t> </a:t>
            </a:r>
            <a:r>
              <a:rPr lang="en-US" sz="2400" dirty="0" err="1" smtClean="0"/>
              <a:t>tùy</a:t>
            </a:r>
            <a:r>
              <a:rPr lang="en-US" sz="2400" dirty="0" smtClean="0"/>
              <a:t> </a:t>
            </a:r>
            <a:r>
              <a:rPr lang="en-US" sz="2400" dirty="0" err="1" smtClean="0"/>
              <a:t>vào</a:t>
            </a:r>
            <a:r>
              <a:rPr lang="en-US" sz="2400" dirty="0" smtClean="0"/>
              <a:t> </a:t>
            </a:r>
            <a:r>
              <a:rPr lang="en-US" sz="2400" dirty="0" err="1" smtClean="0"/>
              <a:t>trạng</a:t>
            </a:r>
            <a:r>
              <a:rPr lang="en-US" sz="2400" dirty="0" smtClean="0"/>
              <a:t> </a:t>
            </a:r>
            <a:r>
              <a:rPr lang="en-US" sz="2400" dirty="0" err="1" smtClean="0"/>
              <a:t>thái</a:t>
            </a:r>
            <a:r>
              <a:rPr lang="en-US" sz="2400" dirty="0" smtClean="0"/>
              <a:t> </a:t>
            </a:r>
            <a:r>
              <a:rPr lang="en-US" sz="2400" dirty="0" err="1" smtClean="0"/>
              <a:t>phân</a:t>
            </a:r>
            <a:r>
              <a:rPr lang="en-US" sz="2400" dirty="0" smtClean="0"/>
              <a:t> </a:t>
            </a:r>
            <a:r>
              <a:rPr lang="en-US" sz="2400" dirty="0" err="1" smtClean="0"/>
              <a:t>cực</a:t>
            </a:r>
            <a:r>
              <a:rPr lang="en-US" sz="2400" dirty="0" smtClean="0"/>
              <a:t> </a:t>
            </a:r>
            <a:r>
              <a:rPr lang="en-US" sz="2400" dirty="0" err="1" smtClean="0"/>
              <a:t>của</a:t>
            </a:r>
            <a:r>
              <a:rPr lang="en-US" sz="2400" dirty="0" smtClean="0"/>
              <a:t> </a:t>
            </a:r>
            <a:r>
              <a:rPr lang="en-US" sz="2400" dirty="0" err="1" smtClean="0"/>
              <a:t>các</a:t>
            </a:r>
            <a:r>
              <a:rPr lang="en-US" sz="2400" dirty="0" smtClean="0"/>
              <a:t> </a:t>
            </a:r>
            <a:r>
              <a:rPr lang="en-US" sz="2400" dirty="0" err="1" smtClean="0"/>
              <a:t>chuyển</a:t>
            </a:r>
            <a:r>
              <a:rPr lang="en-US" sz="2400" dirty="0" smtClean="0"/>
              <a:t> </a:t>
            </a:r>
            <a:r>
              <a:rPr lang="en-US" sz="2400" dirty="0" err="1" smtClean="0"/>
              <a:t>tiếp</a:t>
            </a:r>
            <a:r>
              <a:rPr lang="en-US" sz="2400" dirty="0" smtClean="0"/>
              <a:t>.</a:t>
            </a:r>
          </a:p>
          <a:p>
            <a:pPr marL="514350" indent="-514350">
              <a:buFontTx/>
              <a:buAutoNum type="arabicPeriod"/>
              <a:defRPr/>
            </a:pPr>
            <a:r>
              <a:rPr lang="en-US" sz="2400" b="1" dirty="0" smtClean="0">
                <a:solidFill>
                  <a:schemeClr val="accent1">
                    <a:lumMod val="50000"/>
                  </a:schemeClr>
                </a:solidFill>
              </a:rPr>
              <a:t>Transistor </a:t>
            </a:r>
            <a:r>
              <a:rPr lang="en-US" sz="2400" b="1" dirty="0" err="1" smtClean="0">
                <a:solidFill>
                  <a:schemeClr val="accent1">
                    <a:lumMod val="50000"/>
                  </a:schemeClr>
                </a:solidFill>
              </a:rPr>
              <a:t>làm</a:t>
            </a:r>
            <a:r>
              <a:rPr lang="en-US" sz="2400" b="1" dirty="0" smtClean="0">
                <a:solidFill>
                  <a:schemeClr val="accent1">
                    <a:lumMod val="50000"/>
                  </a:schemeClr>
                </a:solidFill>
              </a:rPr>
              <a:t> </a:t>
            </a:r>
            <a:r>
              <a:rPr lang="en-US" sz="2400" b="1" dirty="0" err="1" smtClean="0">
                <a:solidFill>
                  <a:schemeClr val="accent1">
                    <a:lumMod val="50000"/>
                  </a:schemeClr>
                </a:solidFill>
              </a:rPr>
              <a:t>việc</a:t>
            </a:r>
            <a:r>
              <a:rPr lang="en-US" sz="2400" b="1" dirty="0" smtClean="0">
                <a:solidFill>
                  <a:schemeClr val="accent1">
                    <a:lumMod val="50000"/>
                  </a:schemeClr>
                </a:solidFill>
              </a:rPr>
              <a:t> ở </a:t>
            </a:r>
            <a:r>
              <a:rPr lang="en-US" sz="2400" b="1" dirty="0" err="1" smtClean="0">
                <a:solidFill>
                  <a:schemeClr val="accent1">
                    <a:lumMod val="50000"/>
                  </a:schemeClr>
                </a:solidFill>
              </a:rPr>
              <a:t>chế</a:t>
            </a:r>
            <a:r>
              <a:rPr lang="en-US" sz="2400" b="1" dirty="0" smtClean="0">
                <a:solidFill>
                  <a:schemeClr val="accent1">
                    <a:lumMod val="50000"/>
                  </a:schemeClr>
                </a:solidFill>
              </a:rPr>
              <a:t> </a:t>
            </a:r>
            <a:r>
              <a:rPr lang="en-US" sz="2400" b="1" dirty="0" err="1" smtClean="0">
                <a:solidFill>
                  <a:schemeClr val="accent1">
                    <a:lumMod val="50000"/>
                  </a:schemeClr>
                </a:solidFill>
              </a:rPr>
              <a:t>độ</a:t>
            </a:r>
            <a:r>
              <a:rPr lang="en-US" sz="2400" b="1" dirty="0" smtClean="0">
                <a:solidFill>
                  <a:schemeClr val="accent1">
                    <a:lumMod val="50000"/>
                  </a:schemeClr>
                </a:solidFill>
              </a:rPr>
              <a:t> </a:t>
            </a:r>
            <a:r>
              <a:rPr lang="en-US" sz="2400" b="1" dirty="0" err="1" smtClean="0">
                <a:solidFill>
                  <a:schemeClr val="accent1">
                    <a:lumMod val="50000"/>
                  </a:schemeClr>
                </a:solidFill>
              </a:rPr>
              <a:t>khuếch</a:t>
            </a:r>
            <a:r>
              <a:rPr lang="en-US" sz="2400" b="1" dirty="0" smtClean="0">
                <a:solidFill>
                  <a:schemeClr val="accent1">
                    <a:lumMod val="50000"/>
                  </a:schemeClr>
                </a:solidFill>
              </a:rPr>
              <a:t> </a:t>
            </a:r>
            <a:r>
              <a:rPr lang="en-US" sz="2400" b="1" dirty="0" err="1" smtClean="0">
                <a:solidFill>
                  <a:schemeClr val="accent1">
                    <a:lumMod val="50000"/>
                  </a:schemeClr>
                </a:solidFill>
              </a:rPr>
              <a:t>đại</a:t>
            </a:r>
            <a:r>
              <a:rPr lang="en-US" sz="2400" b="1" dirty="0" smtClean="0">
                <a:solidFill>
                  <a:schemeClr val="accent1">
                    <a:lumMod val="50000"/>
                  </a:schemeClr>
                </a:solidFill>
              </a:rPr>
              <a:t> (</a:t>
            </a:r>
            <a:r>
              <a:rPr lang="en-US" sz="2400" b="1" dirty="0" err="1" smtClean="0">
                <a:solidFill>
                  <a:schemeClr val="accent1">
                    <a:lumMod val="50000"/>
                  </a:schemeClr>
                </a:solidFill>
              </a:rPr>
              <a:t>còn</a:t>
            </a:r>
            <a:r>
              <a:rPr lang="en-US" sz="2400" b="1" dirty="0" smtClean="0">
                <a:solidFill>
                  <a:schemeClr val="accent1">
                    <a:lumMod val="50000"/>
                  </a:schemeClr>
                </a:solidFill>
              </a:rPr>
              <a:t> </a:t>
            </a:r>
            <a:r>
              <a:rPr lang="en-US" sz="2400" b="1" dirty="0" err="1" smtClean="0">
                <a:solidFill>
                  <a:schemeClr val="accent1">
                    <a:lumMod val="50000"/>
                  </a:schemeClr>
                </a:solidFill>
              </a:rPr>
              <a:t>gọi</a:t>
            </a:r>
            <a:r>
              <a:rPr lang="en-US" sz="2400" b="1" dirty="0" smtClean="0">
                <a:solidFill>
                  <a:schemeClr val="accent1">
                    <a:lumMod val="50000"/>
                  </a:schemeClr>
                </a:solidFill>
              </a:rPr>
              <a:t> </a:t>
            </a:r>
            <a:r>
              <a:rPr lang="en-US" sz="2400" b="1" dirty="0" err="1" smtClean="0">
                <a:solidFill>
                  <a:schemeClr val="accent1">
                    <a:lumMod val="50000"/>
                  </a:schemeClr>
                </a:solidFill>
              </a:rPr>
              <a:t>là</a:t>
            </a:r>
            <a:r>
              <a:rPr lang="en-US" sz="2400" b="1" dirty="0" smtClean="0">
                <a:solidFill>
                  <a:schemeClr val="accent1">
                    <a:lumMod val="50000"/>
                  </a:schemeClr>
                </a:solidFill>
              </a:rPr>
              <a:t> </a:t>
            </a:r>
            <a:r>
              <a:rPr lang="en-US" sz="2400" b="1" dirty="0" err="1" smtClean="0">
                <a:solidFill>
                  <a:schemeClr val="accent1">
                    <a:lumMod val="50000"/>
                  </a:schemeClr>
                </a:solidFill>
              </a:rPr>
              <a:t>chế</a:t>
            </a:r>
            <a:r>
              <a:rPr lang="en-US" sz="2400" b="1" dirty="0" smtClean="0">
                <a:solidFill>
                  <a:schemeClr val="accent1">
                    <a:lumMod val="50000"/>
                  </a:schemeClr>
                </a:solidFill>
              </a:rPr>
              <a:t> </a:t>
            </a:r>
            <a:r>
              <a:rPr lang="en-US" sz="2400" b="1" dirty="0" err="1" smtClean="0">
                <a:solidFill>
                  <a:schemeClr val="accent1">
                    <a:lumMod val="50000"/>
                  </a:schemeClr>
                </a:solidFill>
              </a:rPr>
              <a:t>độ</a:t>
            </a:r>
            <a:r>
              <a:rPr lang="en-US" sz="2400" b="1" dirty="0" smtClean="0">
                <a:solidFill>
                  <a:schemeClr val="accent1">
                    <a:lumMod val="50000"/>
                  </a:schemeClr>
                </a:solidFill>
              </a:rPr>
              <a:t> </a:t>
            </a:r>
            <a:r>
              <a:rPr lang="en-US" sz="2400" b="1" dirty="0" err="1" smtClean="0">
                <a:solidFill>
                  <a:schemeClr val="accent1">
                    <a:lumMod val="50000"/>
                  </a:schemeClr>
                </a:solidFill>
              </a:rPr>
              <a:t>tích</a:t>
            </a:r>
            <a:r>
              <a:rPr lang="en-US" sz="2400" b="1" dirty="0" smtClean="0">
                <a:solidFill>
                  <a:schemeClr val="accent1">
                    <a:lumMod val="50000"/>
                  </a:schemeClr>
                </a:solidFill>
              </a:rPr>
              <a:t> </a:t>
            </a:r>
            <a:r>
              <a:rPr lang="en-US" sz="2400" b="1" dirty="0" err="1" smtClean="0">
                <a:solidFill>
                  <a:schemeClr val="accent1">
                    <a:lumMod val="50000"/>
                  </a:schemeClr>
                </a:solidFill>
              </a:rPr>
              <a:t>cực</a:t>
            </a:r>
            <a:r>
              <a:rPr lang="en-US" sz="2400" b="1" dirty="0" smtClean="0">
                <a:solidFill>
                  <a:schemeClr val="accent1">
                    <a:lumMod val="50000"/>
                  </a:schemeClr>
                </a:solidFill>
              </a:rPr>
              <a:t>, </a:t>
            </a:r>
            <a:r>
              <a:rPr lang="en-US" sz="2400" b="1" dirty="0" err="1" smtClean="0">
                <a:solidFill>
                  <a:srgbClr val="C00000"/>
                </a:solidFill>
              </a:rPr>
              <a:t>điều</a:t>
            </a:r>
            <a:r>
              <a:rPr lang="en-US" sz="2400" b="1" dirty="0" smtClean="0">
                <a:solidFill>
                  <a:srgbClr val="C00000"/>
                </a:solidFill>
              </a:rPr>
              <a:t> </a:t>
            </a:r>
            <a:r>
              <a:rPr lang="en-US" sz="2400" b="1" dirty="0" err="1" smtClean="0">
                <a:solidFill>
                  <a:srgbClr val="C00000"/>
                </a:solidFill>
              </a:rPr>
              <a:t>khiển</a:t>
            </a:r>
            <a:r>
              <a:rPr lang="en-US" sz="2400" b="1" dirty="0" smtClean="0">
                <a:solidFill>
                  <a:srgbClr val="C00000"/>
                </a:solidFill>
              </a:rPr>
              <a:t> </a:t>
            </a:r>
            <a:r>
              <a:rPr lang="en-US" sz="2400" b="1" dirty="0" err="1" smtClean="0">
                <a:solidFill>
                  <a:srgbClr val="C00000"/>
                </a:solidFill>
              </a:rPr>
              <a:t>được</a:t>
            </a:r>
            <a:r>
              <a:rPr lang="en-US" sz="2400" b="1" dirty="0" smtClean="0">
                <a:solidFill>
                  <a:schemeClr val="accent1">
                    <a:lumMod val="50000"/>
                  </a:schemeClr>
                </a:solidFill>
              </a:rPr>
              <a:t>)</a:t>
            </a:r>
          </a:p>
          <a:p>
            <a:pPr marL="514350" indent="-514350">
              <a:buFontTx/>
              <a:buNone/>
              <a:defRPr/>
            </a:pPr>
            <a:r>
              <a:rPr lang="en-US" sz="2400" dirty="0" smtClean="0"/>
              <a:t>	- J</a:t>
            </a:r>
            <a:r>
              <a:rPr lang="en-US" sz="2400" baseline="-25000" dirty="0" smtClean="0"/>
              <a:t>E</a:t>
            </a:r>
            <a:r>
              <a:rPr lang="en-US" sz="2400" dirty="0" smtClean="0"/>
              <a:t> </a:t>
            </a:r>
            <a:r>
              <a:rPr lang="en-US" sz="2400" dirty="0" err="1" smtClean="0"/>
              <a:t>phân</a:t>
            </a:r>
            <a:r>
              <a:rPr lang="en-US" sz="2400" dirty="0" smtClean="0"/>
              <a:t> </a:t>
            </a:r>
            <a:r>
              <a:rPr lang="en-US" sz="2400" dirty="0" err="1" smtClean="0"/>
              <a:t>cực</a:t>
            </a:r>
            <a:r>
              <a:rPr lang="en-US" sz="2400" dirty="0" smtClean="0"/>
              <a:t> </a:t>
            </a:r>
            <a:r>
              <a:rPr lang="en-US" sz="2400" dirty="0" err="1" smtClean="0"/>
              <a:t>thuận</a:t>
            </a:r>
            <a:endParaRPr lang="en-US" sz="2400" dirty="0" smtClean="0"/>
          </a:p>
          <a:p>
            <a:pPr marL="514350" indent="-514350">
              <a:buFontTx/>
              <a:buNone/>
              <a:defRPr/>
            </a:pPr>
            <a:r>
              <a:rPr lang="en-US" sz="2400" dirty="0" smtClean="0"/>
              <a:t>	- J</a:t>
            </a:r>
            <a:r>
              <a:rPr lang="en-US" sz="2400" baseline="-25000" dirty="0" smtClean="0"/>
              <a:t>C</a:t>
            </a:r>
            <a:r>
              <a:rPr lang="en-US" sz="2400" dirty="0" smtClean="0"/>
              <a:t> </a:t>
            </a:r>
            <a:r>
              <a:rPr lang="en-US" sz="2400" dirty="0" err="1" smtClean="0"/>
              <a:t>phân</a:t>
            </a:r>
            <a:r>
              <a:rPr lang="en-US" sz="2400" dirty="0" smtClean="0"/>
              <a:t> </a:t>
            </a:r>
            <a:r>
              <a:rPr lang="en-US" sz="2400" dirty="0" err="1" smtClean="0"/>
              <a:t>cực</a:t>
            </a:r>
            <a:r>
              <a:rPr lang="en-US" sz="2400" dirty="0" smtClean="0"/>
              <a:t> </a:t>
            </a:r>
            <a:r>
              <a:rPr lang="en-US" sz="2400" dirty="0" err="1" smtClean="0"/>
              <a:t>ngược</a:t>
            </a:r>
            <a:endParaRPr lang="en-US" sz="2400" dirty="0" smtClean="0"/>
          </a:p>
          <a:p>
            <a:pPr marL="514350" indent="-514350">
              <a:buFontTx/>
              <a:buNone/>
              <a:defRPr/>
            </a:pPr>
            <a:r>
              <a:rPr lang="en-US" sz="2400" dirty="0" smtClean="0"/>
              <a:t>2. </a:t>
            </a:r>
            <a:r>
              <a:rPr lang="en-US" sz="2400" b="1" dirty="0" smtClean="0">
                <a:solidFill>
                  <a:schemeClr val="accent1">
                    <a:lumMod val="50000"/>
                  </a:schemeClr>
                </a:solidFill>
              </a:rPr>
              <a:t>Transistor </a:t>
            </a:r>
            <a:r>
              <a:rPr lang="en-US" sz="2400" b="1" dirty="0" err="1" smtClean="0">
                <a:solidFill>
                  <a:schemeClr val="accent1">
                    <a:lumMod val="50000"/>
                  </a:schemeClr>
                </a:solidFill>
              </a:rPr>
              <a:t>làm</a:t>
            </a:r>
            <a:r>
              <a:rPr lang="en-US" sz="2400" b="1" dirty="0" smtClean="0">
                <a:solidFill>
                  <a:schemeClr val="accent1">
                    <a:lumMod val="50000"/>
                  </a:schemeClr>
                </a:solidFill>
              </a:rPr>
              <a:t> </a:t>
            </a:r>
            <a:r>
              <a:rPr lang="en-US" sz="2400" b="1" dirty="0" err="1" smtClean="0">
                <a:solidFill>
                  <a:schemeClr val="accent1">
                    <a:lumMod val="50000"/>
                  </a:schemeClr>
                </a:solidFill>
              </a:rPr>
              <a:t>việc</a:t>
            </a:r>
            <a:r>
              <a:rPr lang="en-US" sz="2400" b="1" dirty="0" smtClean="0">
                <a:solidFill>
                  <a:schemeClr val="accent1">
                    <a:lumMod val="50000"/>
                  </a:schemeClr>
                </a:solidFill>
              </a:rPr>
              <a:t> ở </a:t>
            </a:r>
            <a:r>
              <a:rPr lang="en-US" sz="2400" b="1" dirty="0" err="1" smtClean="0">
                <a:solidFill>
                  <a:schemeClr val="accent1">
                    <a:lumMod val="50000"/>
                  </a:schemeClr>
                </a:solidFill>
              </a:rPr>
              <a:t>chế</a:t>
            </a:r>
            <a:r>
              <a:rPr lang="en-US" sz="2400" b="1" dirty="0" smtClean="0">
                <a:solidFill>
                  <a:schemeClr val="accent1">
                    <a:lumMod val="50000"/>
                  </a:schemeClr>
                </a:solidFill>
              </a:rPr>
              <a:t> </a:t>
            </a:r>
            <a:r>
              <a:rPr lang="en-US" sz="2400" b="1" dirty="0" err="1" smtClean="0">
                <a:solidFill>
                  <a:schemeClr val="accent1">
                    <a:lumMod val="50000"/>
                  </a:schemeClr>
                </a:solidFill>
              </a:rPr>
              <a:t>độ</a:t>
            </a:r>
            <a:r>
              <a:rPr lang="en-US" sz="2400" b="1" dirty="0" smtClean="0">
                <a:solidFill>
                  <a:schemeClr val="accent1">
                    <a:lumMod val="50000"/>
                  </a:schemeClr>
                </a:solidFill>
              </a:rPr>
              <a:t> </a:t>
            </a:r>
            <a:r>
              <a:rPr lang="en-US" sz="2400" b="1" dirty="0" err="1" smtClean="0">
                <a:solidFill>
                  <a:schemeClr val="accent1">
                    <a:lumMod val="50000"/>
                  </a:schemeClr>
                </a:solidFill>
              </a:rPr>
              <a:t>khóa</a:t>
            </a:r>
            <a:r>
              <a:rPr lang="en-US" sz="2400" b="1" dirty="0" smtClean="0">
                <a:solidFill>
                  <a:schemeClr val="accent1">
                    <a:lumMod val="50000"/>
                  </a:schemeClr>
                </a:solidFill>
              </a:rPr>
              <a:t> </a:t>
            </a:r>
            <a:r>
              <a:rPr lang="en-US" sz="2400" b="1" dirty="0" err="1" smtClean="0">
                <a:solidFill>
                  <a:schemeClr val="accent1">
                    <a:lumMod val="50000"/>
                  </a:schemeClr>
                </a:solidFill>
              </a:rPr>
              <a:t>điện</a:t>
            </a:r>
            <a:r>
              <a:rPr lang="en-US" sz="2400" b="1" dirty="0" smtClean="0">
                <a:solidFill>
                  <a:schemeClr val="accent1">
                    <a:lumMod val="50000"/>
                  </a:schemeClr>
                </a:solidFill>
              </a:rPr>
              <a:t> </a:t>
            </a:r>
            <a:r>
              <a:rPr lang="en-US" sz="2400" b="1" dirty="0" err="1" smtClean="0">
                <a:solidFill>
                  <a:schemeClr val="accent1">
                    <a:lumMod val="50000"/>
                  </a:schemeClr>
                </a:solidFill>
              </a:rPr>
              <a:t>tử</a:t>
            </a:r>
            <a:r>
              <a:rPr lang="en-US" sz="2400" b="1" dirty="0" smtClean="0">
                <a:solidFill>
                  <a:schemeClr val="accent1">
                    <a:lumMod val="50000"/>
                  </a:schemeClr>
                </a:solidFill>
              </a:rPr>
              <a:t> (</a:t>
            </a:r>
            <a:r>
              <a:rPr lang="en-US" sz="2400" b="1" dirty="0" err="1" smtClean="0">
                <a:solidFill>
                  <a:srgbClr val="C00000"/>
                </a:solidFill>
              </a:rPr>
              <a:t>không</a:t>
            </a:r>
            <a:r>
              <a:rPr lang="en-US" sz="2400" b="1" dirty="0" smtClean="0">
                <a:solidFill>
                  <a:srgbClr val="C00000"/>
                </a:solidFill>
              </a:rPr>
              <a:t> </a:t>
            </a:r>
            <a:r>
              <a:rPr lang="en-US" sz="2400" b="1" dirty="0" err="1" smtClean="0">
                <a:solidFill>
                  <a:srgbClr val="C00000"/>
                </a:solidFill>
              </a:rPr>
              <a:t>điều</a:t>
            </a:r>
            <a:r>
              <a:rPr lang="en-US" sz="2400" b="1" dirty="0" smtClean="0">
                <a:solidFill>
                  <a:srgbClr val="C00000"/>
                </a:solidFill>
              </a:rPr>
              <a:t> </a:t>
            </a:r>
            <a:r>
              <a:rPr lang="en-US" sz="2400" b="1" dirty="0" err="1" smtClean="0">
                <a:solidFill>
                  <a:srgbClr val="C00000"/>
                </a:solidFill>
              </a:rPr>
              <a:t>khiển</a:t>
            </a:r>
            <a:r>
              <a:rPr lang="en-US" sz="2400" b="1" dirty="0" smtClean="0">
                <a:solidFill>
                  <a:srgbClr val="C00000"/>
                </a:solidFill>
              </a:rPr>
              <a:t> </a:t>
            </a:r>
            <a:r>
              <a:rPr lang="en-US" sz="2400" b="1" dirty="0" err="1" smtClean="0">
                <a:solidFill>
                  <a:srgbClr val="C00000"/>
                </a:solidFill>
              </a:rPr>
              <a:t>được</a:t>
            </a:r>
            <a:r>
              <a:rPr lang="en-US" sz="2400" b="1" dirty="0" smtClean="0">
                <a:solidFill>
                  <a:schemeClr val="accent1">
                    <a:lumMod val="50000"/>
                  </a:schemeClr>
                </a:solidFill>
              </a:rPr>
              <a:t>)</a:t>
            </a:r>
          </a:p>
          <a:p>
            <a:pPr marL="301943" lvl="1" indent="0">
              <a:buNone/>
              <a:defRPr/>
            </a:pPr>
            <a:r>
              <a:rPr lang="en-US" sz="2400" smtClean="0"/>
              <a:t>- J</a:t>
            </a:r>
            <a:r>
              <a:rPr lang="en-US" sz="2400" baseline="-25000" smtClean="0"/>
              <a:t>E</a:t>
            </a:r>
            <a:r>
              <a:rPr lang="en-US" sz="2400" smtClean="0"/>
              <a:t> và </a:t>
            </a:r>
            <a:r>
              <a:rPr lang="en-US" sz="2400" dirty="0" smtClean="0"/>
              <a:t>J</a:t>
            </a:r>
            <a:r>
              <a:rPr lang="en-US" sz="2400" baseline="-25000" dirty="0" smtClean="0"/>
              <a:t>C</a:t>
            </a:r>
            <a:r>
              <a:rPr lang="en-US" sz="2400" dirty="0" smtClean="0"/>
              <a:t> </a:t>
            </a:r>
            <a:r>
              <a:rPr lang="en-US" sz="2400" dirty="0" err="1" smtClean="0"/>
              <a:t>phân</a:t>
            </a:r>
            <a:r>
              <a:rPr lang="en-US" sz="2400" dirty="0" smtClean="0"/>
              <a:t> </a:t>
            </a:r>
            <a:r>
              <a:rPr lang="en-US" sz="2400" dirty="0" err="1" smtClean="0"/>
              <a:t>cực</a:t>
            </a:r>
            <a:r>
              <a:rPr lang="en-US" sz="2400" dirty="0" smtClean="0"/>
              <a:t> </a:t>
            </a:r>
            <a:r>
              <a:rPr lang="en-US" sz="2400" dirty="0" err="1" smtClean="0"/>
              <a:t>thuận</a:t>
            </a:r>
            <a:r>
              <a:rPr lang="en-US" sz="2400" dirty="0" smtClean="0"/>
              <a:t> (</a:t>
            </a:r>
            <a:r>
              <a:rPr lang="en-US" sz="2400" dirty="0" err="1" smtClean="0"/>
              <a:t>dẫn</a:t>
            </a:r>
            <a:r>
              <a:rPr lang="en-US" sz="2400" dirty="0" smtClean="0"/>
              <a:t> </a:t>
            </a:r>
            <a:r>
              <a:rPr lang="en-US" sz="2400" dirty="0" err="1" smtClean="0"/>
              <a:t>bão</a:t>
            </a:r>
            <a:r>
              <a:rPr lang="en-US" sz="2400" dirty="0" smtClean="0"/>
              <a:t> </a:t>
            </a:r>
            <a:r>
              <a:rPr lang="en-US" sz="2400" dirty="0" err="1" smtClean="0"/>
              <a:t>hòa</a:t>
            </a:r>
            <a:r>
              <a:rPr lang="en-US" sz="2400" dirty="0" smtClean="0"/>
              <a:t>)</a:t>
            </a:r>
          </a:p>
          <a:p>
            <a:pPr marL="301943" lvl="1" indent="0">
              <a:buNone/>
              <a:defRPr/>
            </a:pPr>
            <a:r>
              <a:rPr lang="en-US" sz="2400" smtClean="0"/>
              <a:t>- J</a:t>
            </a:r>
            <a:r>
              <a:rPr lang="en-US" sz="2400" baseline="-25000" smtClean="0"/>
              <a:t>E</a:t>
            </a:r>
            <a:r>
              <a:rPr lang="en-US" sz="2400" smtClean="0"/>
              <a:t> và </a:t>
            </a:r>
            <a:r>
              <a:rPr lang="en-US" sz="2400" dirty="0" smtClean="0"/>
              <a:t>J</a:t>
            </a:r>
            <a:r>
              <a:rPr lang="en-US" sz="2400" baseline="-25000" dirty="0" smtClean="0"/>
              <a:t>C</a:t>
            </a:r>
            <a:r>
              <a:rPr lang="en-US" sz="2400" dirty="0" smtClean="0"/>
              <a:t> </a:t>
            </a:r>
            <a:r>
              <a:rPr lang="en-US" sz="2400" dirty="0" err="1" smtClean="0"/>
              <a:t>phân</a:t>
            </a:r>
            <a:r>
              <a:rPr lang="en-US" sz="2400" dirty="0" smtClean="0"/>
              <a:t> </a:t>
            </a:r>
            <a:r>
              <a:rPr lang="en-US" sz="2400" dirty="0" err="1" smtClean="0"/>
              <a:t>cực</a:t>
            </a:r>
            <a:r>
              <a:rPr lang="en-US" sz="2400" dirty="0" smtClean="0"/>
              <a:t> </a:t>
            </a:r>
            <a:r>
              <a:rPr lang="en-US" sz="2400" dirty="0" err="1" smtClean="0"/>
              <a:t>ngược</a:t>
            </a:r>
            <a:r>
              <a:rPr lang="en-US" sz="2400" dirty="0" smtClean="0"/>
              <a:t> (</a:t>
            </a:r>
            <a:r>
              <a:rPr lang="en-US" sz="2400" dirty="0" err="1" smtClean="0"/>
              <a:t>ngắt</a:t>
            </a:r>
            <a:r>
              <a:rPr lang="en-US" sz="2400" dirty="0" smtClean="0"/>
              <a:t>)</a:t>
            </a:r>
          </a:p>
        </p:txBody>
      </p:sp>
      <p:sp>
        <p:nvSpPr>
          <p:cNvPr id="5120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995B3C1-1316-40E0-BA53-7D1BBE594F76}" type="slidenum">
              <a:rPr lang="en-US" smtClean="0"/>
              <a:pPr eaLnBrk="1" hangingPunct="1"/>
              <a:t>9</a:t>
            </a:fld>
            <a:endParaRPr lang="en-US" smtClean="0"/>
          </a:p>
        </p:txBody>
      </p:sp>
    </p:spTree>
    <p:extLst>
      <p:ext uri="{BB962C8B-B14F-4D97-AF65-F5344CB8AC3E}">
        <p14:creationId xmlns:p14="http://schemas.microsoft.com/office/powerpoint/2010/main" val="31153931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5727700" y="847725"/>
            <a:ext cx="2808288" cy="2200275"/>
          </a:xfrm>
          <a:prstGeom prst="rect">
            <a:avLst/>
          </a:prstGeom>
          <a:solidFill>
            <a:srgbClr val="4545FF"/>
          </a:solidFill>
          <a:ln w="9525">
            <a:solidFill>
              <a:schemeClr val="tx1"/>
            </a:solidFill>
            <a:miter lim="800000"/>
            <a:headEnd/>
            <a:tailEnd/>
          </a:ln>
        </p:spPr>
        <p:txBody>
          <a:bodyPr wrap="none" anchor="ctr"/>
          <a:lstStyle/>
          <a:p>
            <a:endParaRPr lang="vi-VN"/>
          </a:p>
        </p:txBody>
      </p:sp>
      <p:sp>
        <p:nvSpPr>
          <p:cNvPr id="52227" name="Line 3"/>
          <p:cNvSpPr>
            <a:spLocks noChangeShapeType="1"/>
          </p:cNvSpPr>
          <p:nvPr/>
        </p:nvSpPr>
        <p:spPr bwMode="auto">
          <a:xfrm>
            <a:off x="5727700" y="84772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28" name="Line 4"/>
          <p:cNvSpPr>
            <a:spLocks noChangeShapeType="1"/>
          </p:cNvSpPr>
          <p:nvPr/>
        </p:nvSpPr>
        <p:spPr bwMode="auto">
          <a:xfrm>
            <a:off x="5738813" y="849313"/>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29" name="Line 5"/>
          <p:cNvSpPr>
            <a:spLocks noChangeShapeType="1"/>
          </p:cNvSpPr>
          <p:nvPr/>
        </p:nvSpPr>
        <p:spPr bwMode="auto">
          <a:xfrm>
            <a:off x="5740400" y="1122363"/>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0" name="Line 6"/>
          <p:cNvSpPr>
            <a:spLocks noChangeShapeType="1"/>
          </p:cNvSpPr>
          <p:nvPr/>
        </p:nvSpPr>
        <p:spPr bwMode="auto">
          <a:xfrm>
            <a:off x="5740400" y="1397000"/>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1" name="Line 7"/>
          <p:cNvSpPr>
            <a:spLocks noChangeShapeType="1"/>
          </p:cNvSpPr>
          <p:nvPr/>
        </p:nvSpPr>
        <p:spPr bwMode="auto">
          <a:xfrm>
            <a:off x="5740400" y="1671638"/>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2" name="Line 8"/>
          <p:cNvSpPr>
            <a:spLocks noChangeShapeType="1"/>
          </p:cNvSpPr>
          <p:nvPr/>
        </p:nvSpPr>
        <p:spPr bwMode="auto">
          <a:xfrm>
            <a:off x="5740400" y="1944688"/>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3" name="Line 9"/>
          <p:cNvSpPr>
            <a:spLocks noChangeShapeType="1"/>
          </p:cNvSpPr>
          <p:nvPr/>
        </p:nvSpPr>
        <p:spPr bwMode="auto">
          <a:xfrm>
            <a:off x="5740400" y="2219325"/>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4" name="Line 10"/>
          <p:cNvSpPr>
            <a:spLocks noChangeShapeType="1"/>
          </p:cNvSpPr>
          <p:nvPr/>
        </p:nvSpPr>
        <p:spPr bwMode="auto">
          <a:xfrm>
            <a:off x="5740400" y="2493963"/>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5" name="Line 11"/>
          <p:cNvSpPr>
            <a:spLocks noChangeShapeType="1"/>
          </p:cNvSpPr>
          <p:nvPr/>
        </p:nvSpPr>
        <p:spPr bwMode="auto">
          <a:xfrm>
            <a:off x="5740400" y="2768600"/>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6" name="Line 12"/>
          <p:cNvSpPr>
            <a:spLocks noChangeShapeType="1"/>
          </p:cNvSpPr>
          <p:nvPr/>
        </p:nvSpPr>
        <p:spPr bwMode="auto">
          <a:xfrm>
            <a:off x="5740400" y="3041650"/>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7" name="Line 13"/>
          <p:cNvSpPr>
            <a:spLocks noChangeShapeType="1"/>
          </p:cNvSpPr>
          <p:nvPr/>
        </p:nvSpPr>
        <p:spPr bwMode="auto">
          <a:xfrm>
            <a:off x="6015038" y="85725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8" name="Line 14"/>
          <p:cNvSpPr>
            <a:spLocks noChangeShapeType="1"/>
          </p:cNvSpPr>
          <p:nvPr/>
        </p:nvSpPr>
        <p:spPr bwMode="auto">
          <a:xfrm>
            <a:off x="6289675" y="85090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9" name="Line 15"/>
          <p:cNvSpPr>
            <a:spLocks noChangeShapeType="1"/>
          </p:cNvSpPr>
          <p:nvPr/>
        </p:nvSpPr>
        <p:spPr bwMode="auto">
          <a:xfrm>
            <a:off x="6292850" y="85725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0" name="Line 16"/>
          <p:cNvSpPr>
            <a:spLocks noChangeShapeType="1"/>
          </p:cNvSpPr>
          <p:nvPr/>
        </p:nvSpPr>
        <p:spPr bwMode="auto">
          <a:xfrm>
            <a:off x="6580188" y="86677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1" name="Line 17"/>
          <p:cNvSpPr>
            <a:spLocks noChangeShapeType="1"/>
          </p:cNvSpPr>
          <p:nvPr/>
        </p:nvSpPr>
        <p:spPr bwMode="auto">
          <a:xfrm>
            <a:off x="6854825" y="86042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2" name="Line 18"/>
          <p:cNvSpPr>
            <a:spLocks noChangeShapeType="1"/>
          </p:cNvSpPr>
          <p:nvPr/>
        </p:nvSpPr>
        <p:spPr bwMode="auto">
          <a:xfrm>
            <a:off x="7151688" y="85090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3" name="Line 19"/>
          <p:cNvSpPr>
            <a:spLocks noChangeShapeType="1"/>
          </p:cNvSpPr>
          <p:nvPr/>
        </p:nvSpPr>
        <p:spPr bwMode="auto">
          <a:xfrm>
            <a:off x="7429500" y="85090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4" name="Line 20"/>
          <p:cNvSpPr>
            <a:spLocks noChangeShapeType="1"/>
          </p:cNvSpPr>
          <p:nvPr/>
        </p:nvSpPr>
        <p:spPr bwMode="auto">
          <a:xfrm>
            <a:off x="7716838" y="86042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5" name="Line 21"/>
          <p:cNvSpPr>
            <a:spLocks noChangeShapeType="1"/>
          </p:cNvSpPr>
          <p:nvPr/>
        </p:nvSpPr>
        <p:spPr bwMode="auto">
          <a:xfrm>
            <a:off x="7991475" y="85407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6" name="Line 22"/>
          <p:cNvSpPr>
            <a:spLocks noChangeShapeType="1"/>
          </p:cNvSpPr>
          <p:nvPr/>
        </p:nvSpPr>
        <p:spPr bwMode="auto">
          <a:xfrm>
            <a:off x="7996238" y="85407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7" name="Line 23"/>
          <p:cNvSpPr>
            <a:spLocks noChangeShapeType="1"/>
          </p:cNvSpPr>
          <p:nvPr/>
        </p:nvSpPr>
        <p:spPr bwMode="auto">
          <a:xfrm>
            <a:off x="8266113" y="85407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8" name="Line 24"/>
          <p:cNvSpPr>
            <a:spLocks noChangeShapeType="1"/>
          </p:cNvSpPr>
          <p:nvPr/>
        </p:nvSpPr>
        <p:spPr bwMode="auto">
          <a:xfrm>
            <a:off x="8540750" y="84772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9" name="Rectangle 25"/>
          <p:cNvSpPr>
            <a:spLocks noChangeArrowheads="1"/>
          </p:cNvSpPr>
          <p:nvPr/>
        </p:nvSpPr>
        <p:spPr bwMode="auto">
          <a:xfrm>
            <a:off x="523875" y="882650"/>
            <a:ext cx="2808288" cy="2200275"/>
          </a:xfrm>
          <a:prstGeom prst="rect">
            <a:avLst/>
          </a:prstGeom>
          <a:solidFill>
            <a:srgbClr val="4545FF"/>
          </a:solidFill>
          <a:ln w="9525">
            <a:solidFill>
              <a:schemeClr val="tx1"/>
            </a:solidFill>
            <a:miter lim="800000"/>
            <a:headEnd/>
            <a:tailEnd/>
          </a:ln>
        </p:spPr>
        <p:txBody>
          <a:bodyPr wrap="none" anchor="ctr"/>
          <a:lstStyle/>
          <a:p>
            <a:endParaRPr lang="vi-VN"/>
          </a:p>
        </p:txBody>
      </p:sp>
      <p:sp>
        <p:nvSpPr>
          <p:cNvPr id="52250" name="Line 26"/>
          <p:cNvSpPr>
            <a:spLocks noChangeShapeType="1"/>
          </p:cNvSpPr>
          <p:nvPr/>
        </p:nvSpPr>
        <p:spPr bwMode="auto">
          <a:xfrm>
            <a:off x="523875" y="88265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1" name="Line 27"/>
          <p:cNvSpPr>
            <a:spLocks noChangeShapeType="1"/>
          </p:cNvSpPr>
          <p:nvPr/>
        </p:nvSpPr>
        <p:spPr bwMode="auto">
          <a:xfrm>
            <a:off x="534988" y="884238"/>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2" name="Line 28"/>
          <p:cNvSpPr>
            <a:spLocks noChangeShapeType="1"/>
          </p:cNvSpPr>
          <p:nvPr/>
        </p:nvSpPr>
        <p:spPr bwMode="auto">
          <a:xfrm>
            <a:off x="536575" y="1157288"/>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3" name="Line 29"/>
          <p:cNvSpPr>
            <a:spLocks noChangeShapeType="1"/>
          </p:cNvSpPr>
          <p:nvPr/>
        </p:nvSpPr>
        <p:spPr bwMode="auto">
          <a:xfrm>
            <a:off x="536575" y="1431925"/>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4" name="Line 30"/>
          <p:cNvSpPr>
            <a:spLocks noChangeShapeType="1"/>
          </p:cNvSpPr>
          <p:nvPr/>
        </p:nvSpPr>
        <p:spPr bwMode="auto">
          <a:xfrm>
            <a:off x="536575" y="1706563"/>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5" name="Line 31"/>
          <p:cNvSpPr>
            <a:spLocks noChangeShapeType="1"/>
          </p:cNvSpPr>
          <p:nvPr/>
        </p:nvSpPr>
        <p:spPr bwMode="auto">
          <a:xfrm>
            <a:off x="536575" y="1979613"/>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6" name="Line 32"/>
          <p:cNvSpPr>
            <a:spLocks noChangeShapeType="1"/>
          </p:cNvSpPr>
          <p:nvPr/>
        </p:nvSpPr>
        <p:spPr bwMode="auto">
          <a:xfrm>
            <a:off x="536575" y="2254250"/>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7" name="Line 33"/>
          <p:cNvSpPr>
            <a:spLocks noChangeShapeType="1"/>
          </p:cNvSpPr>
          <p:nvPr/>
        </p:nvSpPr>
        <p:spPr bwMode="auto">
          <a:xfrm>
            <a:off x="536575" y="2528888"/>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8" name="Line 34"/>
          <p:cNvSpPr>
            <a:spLocks noChangeShapeType="1"/>
          </p:cNvSpPr>
          <p:nvPr/>
        </p:nvSpPr>
        <p:spPr bwMode="auto">
          <a:xfrm>
            <a:off x="536575" y="2803525"/>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9" name="Line 35"/>
          <p:cNvSpPr>
            <a:spLocks noChangeShapeType="1"/>
          </p:cNvSpPr>
          <p:nvPr/>
        </p:nvSpPr>
        <p:spPr bwMode="auto">
          <a:xfrm>
            <a:off x="536575" y="3076575"/>
            <a:ext cx="279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0" name="Line 36"/>
          <p:cNvSpPr>
            <a:spLocks noChangeShapeType="1"/>
          </p:cNvSpPr>
          <p:nvPr/>
        </p:nvSpPr>
        <p:spPr bwMode="auto">
          <a:xfrm>
            <a:off x="811213" y="89217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1" name="Line 37"/>
          <p:cNvSpPr>
            <a:spLocks noChangeShapeType="1"/>
          </p:cNvSpPr>
          <p:nvPr/>
        </p:nvSpPr>
        <p:spPr bwMode="auto">
          <a:xfrm>
            <a:off x="1085850" y="88582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2" name="Line 38"/>
          <p:cNvSpPr>
            <a:spLocks noChangeShapeType="1"/>
          </p:cNvSpPr>
          <p:nvPr/>
        </p:nvSpPr>
        <p:spPr bwMode="auto">
          <a:xfrm>
            <a:off x="1376363" y="90170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3" name="Line 39"/>
          <p:cNvSpPr>
            <a:spLocks noChangeShapeType="1"/>
          </p:cNvSpPr>
          <p:nvPr/>
        </p:nvSpPr>
        <p:spPr bwMode="auto">
          <a:xfrm>
            <a:off x="1651000" y="89535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4" name="Line 40"/>
          <p:cNvSpPr>
            <a:spLocks noChangeShapeType="1"/>
          </p:cNvSpPr>
          <p:nvPr/>
        </p:nvSpPr>
        <p:spPr bwMode="auto">
          <a:xfrm>
            <a:off x="1660525" y="89217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5" name="Line 41"/>
          <p:cNvSpPr>
            <a:spLocks noChangeShapeType="1"/>
          </p:cNvSpPr>
          <p:nvPr/>
        </p:nvSpPr>
        <p:spPr bwMode="auto">
          <a:xfrm>
            <a:off x="1947863" y="88582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6" name="Line 42"/>
          <p:cNvSpPr>
            <a:spLocks noChangeShapeType="1"/>
          </p:cNvSpPr>
          <p:nvPr/>
        </p:nvSpPr>
        <p:spPr bwMode="auto">
          <a:xfrm>
            <a:off x="2225675" y="885825"/>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7" name="Line 43"/>
          <p:cNvSpPr>
            <a:spLocks noChangeShapeType="1"/>
          </p:cNvSpPr>
          <p:nvPr/>
        </p:nvSpPr>
        <p:spPr bwMode="auto">
          <a:xfrm>
            <a:off x="2513013" y="89535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8" name="Line 44"/>
          <p:cNvSpPr>
            <a:spLocks noChangeShapeType="1"/>
          </p:cNvSpPr>
          <p:nvPr/>
        </p:nvSpPr>
        <p:spPr bwMode="auto">
          <a:xfrm>
            <a:off x="2787650" y="88900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9" name="Line 45"/>
          <p:cNvSpPr>
            <a:spLocks noChangeShapeType="1"/>
          </p:cNvSpPr>
          <p:nvPr/>
        </p:nvSpPr>
        <p:spPr bwMode="auto">
          <a:xfrm>
            <a:off x="3067050" y="88265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70" name="Line 46"/>
          <p:cNvSpPr>
            <a:spLocks noChangeShapeType="1"/>
          </p:cNvSpPr>
          <p:nvPr/>
        </p:nvSpPr>
        <p:spPr bwMode="auto">
          <a:xfrm>
            <a:off x="3336925" y="882650"/>
            <a:ext cx="0" cy="2193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71" name="Rectangle 47"/>
          <p:cNvSpPr>
            <a:spLocks noChangeArrowheads="1"/>
          </p:cNvSpPr>
          <p:nvPr/>
        </p:nvSpPr>
        <p:spPr bwMode="auto">
          <a:xfrm>
            <a:off x="3276600" y="3505200"/>
            <a:ext cx="2514600" cy="1371600"/>
          </a:xfrm>
          <a:prstGeom prst="rect">
            <a:avLst/>
          </a:prstGeom>
          <a:solidFill>
            <a:srgbClr val="FFFF00"/>
          </a:solidFill>
          <a:ln w="9525">
            <a:miter lim="800000"/>
            <a:headEnd/>
            <a:tailEnd/>
          </a:ln>
          <a:scene3d>
            <a:camera prst="legacyPerspectiveTopRight"/>
            <a:lightRig rig="legacyFlat3" dir="b"/>
          </a:scene3d>
          <a:sp3d extrusionH="887400" prstMaterial="legacyMatte">
            <a:bevelT w="13500" h="13500" prst="angle"/>
            <a:bevelB w="13500" h="13500" prst="angle"/>
            <a:extrusionClr>
              <a:schemeClr val="bg2"/>
            </a:extrusionClr>
          </a:sp3d>
        </p:spPr>
        <p:txBody>
          <a:bodyPr wrap="none" anchor="ctr">
            <a:flatTx/>
          </a:bodyPr>
          <a:lstStyle/>
          <a:p>
            <a:endParaRPr lang="vi-VN"/>
          </a:p>
        </p:txBody>
      </p:sp>
      <p:sp>
        <p:nvSpPr>
          <p:cNvPr id="52272" name="Text Box 48"/>
          <p:cNvSpPr txBox="1">
            <a:spLocks noChangeArrowheads="1"/>
          </p:cNvSpPr>
          <p:nvPr/>
        </p:nvSpPr>
        <p:spPr bwMode="auto">
          <a:xfrm>
            <a:off x="3657600" y="3886200"/>
            <a:ext cx="22018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3200" b="1">
                <a:latin typeface="Times New Roman" pitchFamily="18" charset="0"/>
              </a:rPr>
              <a:t>Khuếch đại</a:t>
            </a:r>
          </a:p>
        </p:txBody>
      </p:sp>
      <p:grpSp>
        <p:nvGrpSpPr>
          <p:cNvPr id="52273" name="Group 49"/>
          <p:cNvGrpSpPr>
            <a:grpSpLocks/>
          </p:cNvGrpSpPr>
          <p:nvPr/>
        </p:nvGrpSpPr>
        <p:grpSpPr bwMode="auto">
          <a:xfrm rot="16200000" flipH="1">
            <a:off x="3799682" y="5344318"/>
            <a:ext cx="482600" cy="614363"/>
            <a:chOff x="864" y="1152"/>
            <a:chExt cx="417" cy="480"/>
          </a:xfrm>
        </p:grpSpPr>
        <p:sp>
          <p:nvSpPr>
            <p:cNvPr id="52312" name="Line 50"/>
            <p:cNvSpPr>
              <a:spLocks noChangeShapeType="1"/>
            </p:cNvSpPr>
            <p:nvPr/>
          </p:nvSpPr>
          <p:spPr bwMode="auto">
            <a:xfrm>
              <a:off x="864" y="1152"/>
              <a:ext cx="0" cy="48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313" name="Line 51"/>
            <p:cNvSpPr>
              <a:spLocks noChangeShapeType="1"/>
            </p:cNvSpPr>
            <p:nvPr/>
          </p:nvSpPr>
          <p:spPr bwMode="auto">
            <a:xfrm>
              <a:off x="1152" y="1152"/>
              <a:ext cx="0" cy="48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314" name="Line 52"/>
            <p:cNvSpPr>
              <a:spLocks noChangeShapeType="1"/>
            </p:cNvSpPr>
            <p:nvPr/>
          </p:nvSpPr>
          <p:spPr bwMode="auto">
            <a:xfrm>
              <a:off x="1281" y="1248"/>
              <a:ext cx="0" cy="30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315" name="Line 53"/>
            <p:cNvSpPr>
              <a:spLocks noChangeShapeType="1"/>
            </p:cNvSpPr>
            <p:nvPr/>
          </p:nvSpPr>
          <p:spPr bwMode="auto">
            <a:xfrm>
              <a:off x="1008" y="1248"/>
              <a:ext cx="0" cy="30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2274" name="Group 54"/>
          <p:cNvGrpSpPr>
            <a:grpSpLocks/>
          </p:cNvGrpSpPr>
          <p:nvPr/>
        </p:nvGrpSpPr>
        <p:grpSpPr bwMode="auto">
          <a:xfrm>
            <a:off x="4724400" y="6477000"/>
            <a:ext cx="762000" cy="304800"/>
            <a:chOff x="4176" y="3216"/>
            <a:chExt cx="480" cy="192"/>
          </a:xfrm>
        </p:grpSpPr>
        <p:sp>
          <p:nvSpPr>
            <p:cNvPr id="52309" name="Line 55"/>
            <p:cNvSpPr>
              <a:spLocks noChangeShapeType="1"/>
            </p:cNvSpPr>
            <p:nvPr/>
          </p:nvSpPr>
          <p:spPr bwMode="auto">
            <a:xfrm>
              <a:off x="4176" y="3216"/>
              <a:ext cx="48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310" name="Line 56"/>
            <p:cNvSpPr>
              <a:spLocks noChangeShapeType="1"/>
            </p:cNvSpPr>
            <p:nvPr/>
          </p:nvSpPr>
          <p:spPr bwMode="auto">
            <a:xfrm>
              <a:off x="4272" y="3312"/>
              <a:ext cx="288"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311" name="Line 57"/>
            <p:cNvSpPr>
              <a:spLocks noChangeShapeType="1"/>
            </p:cNvSpPr>
            <p:nvPr/>
          </p:nvSpPr>
          <p:spPr bwMode="auto">
            <a:xfrm>
              <a:off x="4368" y="3408"/>
              <a:ext cx="9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2275" name="Group 58"/>
          <p:cNvGrpSpPr>
            <a:grpSpLocks/>
          </p:cNvGrpSpPr>
          <p:nvPr/>
        </p:nvGrpSpPr>
        <p:grpSpPr bwMode="auto">
          <a:xfrm>
            <a:off x="3657600" y="6477000"/>
            <a:ext cx="762000" cy="304800"/>
            <a:chOff x="4176" y="3216"/>
            <a:chExt cx="480" cy="192"/>
          </a:xfrm>
        </p:grpSpPr>
        <p:sp>
          <p:nvSpPr>
            <p:cNvPr id="52306" name="Line 59"/>
            <p:cNvSpPr>
              <a:spLocks noChangeShapeType="1"/>
            </p:cNvSpPr>
            <p:nvPr/>
          </p:nvSpPr>
          <p:spPr bwMode="auto">
            <a:xfrm>
              <a:off x="4176" y="3216"/>
              <a:ext cx="48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307" name="Line 60"/>
            <p:cNvSpPr>
              <a:spLocks noChangeShapeType="1"/>
            </p:cNvSpPr>
            <p:nvPr/>
          </p:nvSpPr>
          <p:spPr bwMode="auto">
            <a:xfrm>
              <a:off x="4272" y="3312"/>
              <a:ext cx="288"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308" name="Line 61"/>
            <p:cNvSpPr>
              <a:spLocks noChangeShapeType="1"/>
            </p:cNvSpPr>
            <p:nvPr/>
          </p:nvSpPr>
          <p:spPr bwMode="auto">
            <a:xfrm>
              <a:off x="4368" y="3408"/>
              <a:ext cx="9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276" name="Line 62"/>
          <p:cNvSpPr>
            <a:spLocks noChangeShapeType="1"/>
          </p:cNvSpPr>
          <p:nvPr/>
        </p:nvSpPr>
        <p:spPr bwMode="auto">
          <a:xfrm flipV="1">
            <a:off x="4038600" y="4876800"/>
            <a:ext cx="0" cy="533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77" name="Line 63"/>
          <p:cNvSpPr>
            <a:spLocks noChangeShapeType="1"/>
          </p:cNvSpPr>
          <p:nvPr/>
        </p:nvSpPr>
        <p:spPr bwMode="auto">
          <a:xfrm>
            <a:off x="4038600" y="5927725"/>
            <a:ext cx="0" cy="533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78" name="Line 64"/>
          <p:cNvSpPr>
            <a:spLocks noChangeShapeType="1"/>
          </p:cNvSpPr>
          <p:nvPr/>
        </p:nvSpPr>
        <p:spPr bwMode="auto">
          <a:xfrm flipV="1">
            <a:off x="5105400" y="4876800"/>
            <a:ext cx="0" cy="1600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 name="Group 98"/>
          <p:cNvGrpSpPr>
            <a:grpSpLocks/>
          </p:cNvGrpSpPr>
          <p:nvPr/>
        </p:nvGrpSpPr>
        <p:grpSpPr bwMode="auto">
          <a:xfrm>
            <a:off x="5783263" y="1239838"/>
            <a:ext cx="2698750" cy="1404937"/>
            <a:chOff x="5783270" y="1239839"/>
            <a:chExt cx="2698753" cy="1404938"/>
          </a:xfrm>
        </p:grpSpPr>
        <p:grpSp>
          <p:nvGrpSpPr>
            <p:cNvPr id="52300" name="Group 96"/>
            <p:cNvGrpSpPr>
              <a:grpSpLocks/>
            </p:cNvGrpSpPr>
            <p:nvPr/>
          </p:nvGrpSpPr>
          <p:grpSpPr bwMode="auto">
            <a:xfrm>
              <a:off x="5783270" y="1239839"/>
              <a:ext cx="1347498" cy="1400155"/>
              <a:chOff x="5783270" y="1239839"/>
              <a:chExt cx="1347498" cy="1400155"/>
            </a:xfrm>
          </p:grpSpPr>
          <p:sp>
            <p:nvSpPr>
              <p:cNvPr id="52304" name="Freeform 68"/>
              <p:cNvSpPr>
                <a:spLocks/>
              </p:cNvSpPr>
              <p:nvPr/>
            </p:nvSpPr>
            <p:spPr bwMode="auto">
              <a:xfrm>
                <a:off x="5783270" y="1239839"/>
                <a:ext cx="671244" cy="699480"/>
              </a:xfrm>
              <a:custGeom>
                <a:avLst/>
                <a:gdLst>
                  <a:gd name="T0" fmla="*/ 2147483647 w 1066"/>
                  <a:gd name="T1" fmla="*/ 2147483647 h 1065"/>
                  <a:gd name="T2" fmla="*/ 2147483647 w 1066"/>
                  <a:gd name="T3" fmla="*/ 2147483647 h 1065"/>
                  <a:gd name="T4" fmla="*/ 2147483647 w 1066"/>
                  <a:gd name="T5" fmla="*/ 2147483647 h 1065"/>
                  <a:gd name="T6" fmla="*/ 2147483647 w 1066"/>
                  <a:gd name="T7" fmla="*/ 2147483647 h 1065"/>
                  <a:gd name="T8" fmla="*/ 0 w 1066"/>
                  <a:gd name="T9" fmla="*/ 2147483647 h 1065"/>
                  <a:gd name="T10" fmla="*/ 0 60000 65536"/>
                  <a:gd name="T11" fmla="*/ 0 60000 65536"/>
                  <a:gd name="T12" fmla="*/ 0 60000 65536"/>
                  <a:gd name="T13" fmla="*/ 0 60000 65536"/>
                  <a:gd name="T14" fmla="*/ 0 60000 65536"/>
                  <a:gd name="T15" fmla="*/ 0 w 1066"/>
                  <a:gd name="T16" fmla="*/ 0 h 1065"/>
                  <a:gd name="T17" fmla="*/ 1066 w 1066"/>
                  <a:gd name="T18" fmla="*/ 1065 h 1065"/>
                </a:gdLst>
                <a:ahLst/>
                <a:cxnLst>
                  <a:cxn ang="T10">
                    <a:pos x="T0" y="T1"/>
                  </a:cxn>
                  <a:cxn ang="T11">
                    <a:pos x="T2" y="T3"/>
                  </a:cxn>
                  <a:cxn ang="T12">
                    <a:pos x="T4" y="T5"/>
                  </a:cxn>
                  <a:cxn ang="T13">
                    <a:pos x="T6" y="T7"/>
                  </a:cxn>
                  <a:cxn ang="T14">
                    <a:pos x="T8" y="T9"/>
                  </a:cxn>
                </a:cxnLst>
                <a:rect l="T15" t="T16" r="T17" b="T18"/>
                <a:pathLst>
                  <a:path w="1066" h="1065">
                    <a:moveTo>
                      <a:pt x="1066" y="1065"/>
                    </a:moveTo>
                    <a:cubicBezTo>
                      <a:pt x="1016" y="934"/>
                      <a:pt x="854" y="455"/>
                      <a:pt x="766" y="279"/>
                    </a:cubicBezTo>
                    <a:cubicBezTo>
                      <a:pt x="678" y="103"/>
                      <a:pt x="612" y="20"/>
                      <a:pt x="538" y="10"/>
                    </a:cubicBezTo>
                    <a:cubicBezTo>
                      <a:pt x="464" y="0"/>
                      <a:pt x="411" y="41"/>
                      <a:pt x="321" y="217"/>
                    </a:cubicBezTo>
                    <a:cubicBezTo>
                      <a:pt x="231" y="393"/>
                      <a:pt x="67" y="888"/>
                      <a:pt x="0" y="1065"/>
                    </a:cubicBezTo>
                  </a:path>
                </a:pathLst>
              </a:custGeom>
              <a:noFill/>
              <a:ln w="571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52305" name="Freeform 69"/>
              <p:cNvSpPr>
                <a:spLocks/>
              </p:cNvSpPr>
              <p:nvPr/>
            </p:nvSpPr>
            <p:spPr bwMode="auto">
              <a:xfrm flipV="1">
                <a:off x="6459524" y="1940514"/>
                <a:ext cx="671244" cy="699480"/>
              </a:xfrm>
              <a:custGeom>
                <a:avLst/>
                <a:gdLst>
                  <a:gd name="T0" fmla="*/ 2147483647 w 1066"/>
                  <a:gd name="T1" fmla="*/ 2147483647 h 1065"/>
                  <a:gd name="T2" fmla="*/ 2147483647 w 1066"/>
                  <a:gd name="T3" fmla="*/ 2147483647 h 1065"/>
                  <a:gd name="T4" fmla="*/ 2147483647 w 1066"/>
                  <a:gd name="T5" fmla="*/ 2147483647 h 1065"/>
                  <a:gd name="T6" fmla="*/ 2147483647 w 1066"/>
                  <a:gd name="T7" fmla="*/ 2147483647 h 1065"/>
                  <a:gd name="T8" fmla="*/ 0 w 1066"/>
                  <a:gd name="T9" fmla="*/ 2147483647 h 1065"/>
                  <a:gd name="T10" fmla="*/ 0 60000 65536"/>
                  <a:gd name="T11" fmla="*/ 0 60000 65536"/>
                  <a:gd name="T12" fmla="*/ 0 60000 65536"/>
                  <a:gd name="T13" fmla="*/ 0 60000 65536"/>
                  <a:gd name="T14" fmla="*/ 0 60000 65536"/>
                  <a:gd name="T15" fmla="*/ 0 w 1066"/>
                  <a:gd name="T16" fmla="*/ 0 h 1065"/>
                  <a:gd name="T17" fmla="*/ 1066 w 1066"/>
                  <a:gd name="T18" fmla="*/ 1065 h 1065"/>
                </a:gdLst>
                <a:ahLst/>
                <a:cxnLst>
                  <a:cxn ang="T10">
                    <a:pos x="T0" y="T1"/>
                  </a:cxn>
                  <a:cxn ang="T11">
                    <a:pos x="T2" y="T3"/>
                  </a:cxn>
                  <a:cxn ang="T12">
                    <a:pos x="T4" y="T5"/>
                  </a:cxn>
                  <a:cxn ang="T13">
                    <a:pos x="T6" y="T7"/>
                  </a:cxn>
                  <a:cxn ang="T14">
                    <a:pos x="T8" y="T9"/>
                  </a:cxn>
                </a:cxnLst>
                <a:rect l="T15" t="T16" r="T17" b="T18"/>
                <a:pathLst>
                  <a:path w="1066" h="1065">
                    <a:moveTo>
                      <a:pt x="1066" y="1065"/>
                    </a:moveTo>
                    <a:cubicBezTo>
                      <a:pt x="1016" y="934"/>
                      <a:pt x="854" y="455"/>
                      <a:pt x="766" y="279"/>
                    </a:cubicBezTo>
                    <a:cubicBezTo>
                      <a:pt x="678" y="103"/>
                      <a:pt x="612" y="20"/>
                      <a:pt x="538" y="10"/>
                    </a:cubicBezTo>
                    <a:cubicBezTo>
                      <a:pt x="464" y="0"/>
                      <a:pt x="411" y="41"/>
                      <a:pt x="321" y="217"/>
                    </a:cubicBezTo>
                    <a:cubicBezTo>
                      <a:pt x="231" y="393"/>
                      <a:pt x="67" y="888"/>
                      <a:pt x="0" y="1065"/>
                    </a:cubicBezTo>
                  </a:path>
                </a:pathLst>
              </a:custGeom>
              <a:noFill/>
              <a:ln w="571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grpSp>
        <p:grpSp>
          <p:nvGrpSpPr>
            <p:cNvPr id="52301" name="Group 97"/>
            <p:cNvGrpSpPr>
              <a:grpSpLocks/>
            </p:cNvGrpSpPr>
            <p:nvPr/>
          </p:nvGrpSpPr>
          <p:grpSpPr bwMode="auto">
            <a:xfrm>
              <a:off x="7134525" y="1244622"/>
              <a:ext cx="1347498" cy="1400155"/>
              <a:chOff x="7134525" y="1244622"/>
              <a:chExt cx="1347498" cy="1400155"/>
            </a:xfrm>
          </p:grpSpPr>
          <p:sp>
            <p:nvSpPr>
              <p:cNvPr id="52302" name="Freeform 71"/>
              <p:cNvSpPr>
                <a:spLocks/>
              </p:cNvSpPr>
              <p:nvPr/>
            </p:nvSpPr>
            <p:spPr bwMode="auto">
              <a:xfrm>
                <a:off x="7134525" y="1244622"/>
                <a:ext cx="671244" cy="699480"/>
              </a:xfrm>
              <a:custGeom>
                <a:avLst/>
                <a:gdLst>
                  <a:gd name="T0" fmla="*/ 2147483647 w 1066"/>
                  <a:gd name="T1" fmla="*/ 2147483647 h 1065"/>
                  <a:gd name="T2" fmla="*/ 2147483647 w 1066"/>
                  <a:gd name="T3" fmla="*/ 2147483647 h 1065"/>
                  <a:gd name="T4" fmla="*/ 2147483647 w 1066"/>
                  <a:gd name="T5" fmla="*/ 2147483647 h 1065"/>
                  <a:gd name="T6" fmla="*/ 2147483647 w 1066"/>
                  <a:gd name="T7" fmla="*/ 2147483647 h 1065"/>
                  <a:gd name="T8" fmla="*/ 0 w 1066"/>
                  <a:gd name="T9" fmla="*/ 2147483647 h 1065"/>
                  <a:gd name="T10" fmla="*/ 0 60000 65536"/>
                  <a:gd name="T11" fmla="*/ 0 60000 65536"/>
                  <a:gd name="T12" fmla="*/ 0 60000 65536"/>
                  <a:gd name="T13" fmla="*/ 0 60000 65536"/>
                  <a:gd name="T14" fmla="*/ 0 60000 65536"/>
                  <a:gd name="T15" fmla="*/ 0 w 1066"/>
                  <a:gd name="T16" fmla="*/ 0 h 1065"/>
                  <a:gd name="T17" fmla="*/ 1066 w 1066"/>
                  <a:gd name="T18" fmla="*/ 1065 h 1065"/>
                </a:gdLst>
                <a:ahLst/>
                <a:cxnLst>
                  <a:cxn ang="T10">
                    <a:pos x="T0" y="T1"/>
                  </a:cxn>
                  <a:cxn ang="T11">
                    <a:pos x="T2" y="T3"/>
                  </a:cxn>
                  <a:cxn ang="T12">
                    <a:pos x="T4" y="T5"/>
                  </a:cxn>
                  <a:cxn ang="T13">
                    <a:pos x="T6" y="T7"/>
                  </a:cxn>
                  <a:cxn ang="T14">
                    <a:pos x="T8" y="T9"/>
                  </a:cxn>
                </a:cxnLst>
                <a:rect l="T15" t="T16" r="T17" b="T18"/>
                <a:pathLst>
                  <a:path w="1066" h="1065">
                    <a:moveTo>
                      <a:pt x="1066" y="1065"/>
                    </a:moveTo>
                    <a:cubicBezTo>
                      <a:pt x="1016" y="934"/>
                      <a:pt x="854" y="455"/>
                      <a:pt x="766" y="279"/>
                    </a:cubicBezTo>
                    <a:cubicBezTo>
                      <a:pt x="678" y="103"/>
                      <a:pt x="612" y="20"/>
                      <a:pt x="538" y="10"/>
                    </a:cubicBezTo>
                    <a:cubicBezTo>
                      <a:pt x="464" y="0"/>
                      <a:pt x="411" y="41"/>
                      <a:pt x="321" y="217"/>
                    </a:cubicBezTo>
                    <a:cubicBezTo>
                      <a:pt x="231" y="393"/>
                      <a:pt x="67" y="888"/>
                      <a:pt x="0" y="1065"/>
                    </a:cubicBezTo>
                  </a:path>
                </a:pathLst>
              </a:custGeom>
              <a:noFill/>
              <a:ln w="571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52303" name="Freeform 72"/>
              <p:cNvSpPr>
                <a:spLocks/>
              </p:cNvSpPr>
              <p:nvPr/>
            </p:nvSpPr>
            <p:spPr bwMode="auto">
              <a:xfrm flipV="1">
                <a:off x="7810779" y="1945297"/>
                <a:ext cx="671244" cy="699480"/>
              </a:xfrm>
              <a:custGeom>
                <a:avLst/>
                <a:gdLst>
                  <a:gd name="T0" fmla="*/ 2147483647 w 1066"/>
                  <a:gd name="T1" fmla="*/ 2147483647 h 1065"/>
                  <a:gd name="T2" fmla="*/ 2147483647 w 1066"/>
                  <a:gd name="T3" fmla="*/ 2147483647 h 1065"/>
                  <a:gd name="T4" fmla="*/ 2147483647 w 1066"/>
                  <a:gd name="T5" fmla="*/ 2147483647 h 1065"/>
                  <a:gd name="T6" fmla="*/ 2147483647 w 1066"/>
                  <a:gd name="T7" fmla="*/ 2147483647 h 1065"/>
                  <a:gd name="T8" fmla="*/ 0 w 1066"/>
                  <a:gd name="T9" fmla="*/ 2147483647 h 1065"/>
                  <a:gd name="T10" fmla="*/ 0 60000 65536"/>
                  <a:gd name="T11" fmla="*/ 0 60000 65536"/>
                  <a:gd name="T12" fmla="*/ 0 60000 65536"/>
                  <a:gd name="T13" fmla="*/ 0 60000 65536"/>
                  <a:gd name="T14" fmla="*/ 0 60000 65536"/>
                  <a:gd name="T15" fmla="*/ 0 w 1066"/>
                  <a:gd name="T16" fmla="*/ 0 h 1065"/>
                  <a:gd name="T17" fmla="*/ 1066 w 1066"/>
                  <a:gd name="T18" fmla="*/ 1065 h 1065"/>
                </a:gdLst>
                <a:ahLst/>
                <a:cxnLst>
                  <a:cxn ang="T10">
                    <a:pos x="T0" y="T1"/>
                  </a:cxn>
                  <a:cxn ang="T11">
                    <a:pos x="T2" y="T3"/>
                  </a:cxn>
                  <a:cxn ang="T12">
                    <a:pos x="T4" y="T5"/>
                  </a:cxn>
                  <a:cxn ang="T13">
                    <a:pos x="T6" y="T7"/>
                  </a:cxn>
                  <a:cxn ang="T14">
                    <a:pos x="T8" y="T9"/>
                  </a:cxn>
                </a:cxnLst>
                <a:rect l="T15" t="T16" r="T17" b="T18"/>
                <a:pathLst>
                  <a:path w="1066" h="1065">
                    <a:moveTo>
                      <a:pt x="1066" y="1065"/>
                    </a:moveTo>
                    <a:cubicBezTo>
                      <a:pt x="1016" y="934"/>
                      <a:pt x="854" y="455"/>
                      <a:pt x="766" y="279"/>
                    </a:cubicBezTo>
                    <a:cubicBezTo>
                      <a:pt x="678" y="103"/>
                      <a:pt x="612" y="20"/>
                      <a:pt x="538" y="10"/>
                    </a:cubicBezTo>
                    <a:cubicBezTo>
                      <a:pt x="464" y="0"/>
                      <a:pt x="411" y="41"/>
                      <a:pt x="321" y="217"/>
                    </a:cubicBezTo>
                    <a:cubicBezTo>
                      <a:pt x="231" y="393"/>
                      <a:pt x="67" y="888"/>
                      <a:pt x="0" y="1065"/>
                    </a:cubicBezTo>
                  </a:path>
                </a:pathLst>
              </a:custGeom>
              <a:noFill/>
              <a:ln w="571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grpSp>
      </p:grpSp>
      <p:sp>
        <p:nvSpPr>
          <p:cNvPr id="52280" name="AutoShape 73"/>
          <p:cNvSpPr>
            <a:spLocks noChangeArrowheads="1"/>
          </p:cNvSpPr>
          <p:nvPr/>
        </p:nvSpPr>
        <p:spPr bwMode="auto">
          <a:xfrm>
            <a:off x="5867400" y="4038600"/>
            <a:ext cx="2057400" cy="304800"/>
          </a:xfrm>
          <a:prstGeom prst="rightArrow">
            <a:avLst>
              <a:gd name="adj1" fmla="val 50000"/>
              <a:gd name="adj2" fmla="val 168750"/>
            </a:avLst>
          </a:prstGeom>
          <a:solidFill>
            <a:srgbClr val="9999FF"/>
          </a:solidFill>
          <a:ln w="9525">
            <a:solidFill>
              <a:schemeClr val="tx1"/>
            </a:solidFill>
            <a:miter lim="800000"/>
            <a:headEnd/>
            <a:tailEnd/>
          </a:ln>
        </p:spPr>
        <p:txBody>
          <a:bodyPr wrap="none" anchor="ctr"/>
          <a:lstStyle/>
          <a:p>
            <a:endParaRPr lang="vi-VN"/>
          </a:p>
        </p:txBody>
      </p:sp>
      <p:sp>
        <p:nvSpPr>
          <p:cNvPr id="52281" name="Text Box 74"/>
          <p:cNvSpPr txBox="1">
            <a:spLocks noChangeArrowheads="1"/>
          </p:cNvSpPr>
          <p:nvPr/>
        </p:nvSpPr>
        <p:spPr bwMode="auto">
          <a:xfrm>
            <a:off x="6400800" y="3581400"/>
            <a:ext cx="623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800" b="1">
                <a:latin typeface="Times New Roman" pitchFamily="18" charset="0"/>
              </a:rPr>
              <a:t>Ra</a:t>
            </a:r>
          </a:p>
        </p:txBody>
      </p:sp>
      <p:sp>
        <p:nvSpPr>
          <p:cNvPr id="11339" name="Text Box 75"/>
          <p:cNvSpPr txBox="1">
            <a:spLocks noChangeArrowheads="1"/>
          </p:cNvSpPr>
          <p:nvPr/>
        </p:nvSpPr>
        <p:spPr bwMode="auto">
          <a:xfrm>
            <a:off x="2057400" y="5864225"/>
            <a:ext cx="803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800" b="1">
                <a:latin typeface="Times New Roman" pitchFamily="18" charset="0"/>
              </a:rPr>
              <a:t>Vào</a:t>
            </a:r>
          </a:p>
        </p:txBody>
      </p:sp>
      <p:grpSp>
        <p:nvGrpSpPr>
          <p:cNvPr id="8" name="Group 76"/>
          <p:cNvGrpSpPr>
            <a:grpSpLocks/>
          </p:cNvGrpSpPr>
          <p:nvPr/>
        </p:nvGrpSpPr>
        <p:grpSpPr bwMode="auto">
          <a:xfrm>
            <a:off x="914400" y="5486400"/>
            <a:ext cx="2057400" cy="609600"/>
            <a:chOff x="576" y="3216"/>
            <a:chExt cx="1296" cy="384"/>
          </a:xfrm>
        </p:grpSpPr>
        <p:grpSp>
          <p:nvGrpSpPr>
            <p:cNvPr id="52296" name="Group 77"/>
            <p:cNvGrpSpPr>
              <a:grpSpLocks/>
            </p:cNvGrpSpPr>
            <p:nvPr/>
          </p:nvGrpSpPr>
          <p:grpSpPr bwMode="auto">
            <a:xfrm>
              <a:off x="576" y="3216"/>
              <a:ext cx="598" cy="384"/>
              <a:chOff x="576" y="3216"/>
              <a:chExt cx="598" cy="384"/>
            </a:xfrm>
          </p:grpSpPr>
          <p:sp>
            <p:nvSpPr>
              <p:cNvPr id="52298" name="Text Box 78"/>
              <p:cNvSpPr txBox="1">
                <a:spLocks noChangeArrowheads="1"/>
              </p:cNvSpPr>
              <p:nvPr/>
            </p:nvSpPr>
            <p:spPr bwMode="auto">
              <a:xfrm>
                <a:off x="576" y="3216"/>
                <a:ext cx="31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3200" b="1">
                    <a:latin typeface="Times New Roman" pitchFamily="18" charset="0"/>
                  </a:rPr>
                  <a:t>K</a:t>
                </a:r>
              </a:p>
            </p:txBody>
          </p:sp>
          <p:sp>
            <p:nvSpPr>
              <p:cNvPr id="52299" name="Text Box 79"/>
              <p:cNvSpPr txBox="1">
                <a:spLocks noChangeArrowheads="1"/>
              </p:cNvSpPr>
              <p:nvPr/>
            </p:nvSpPr>
            <p:spPr bwMode="auto">
              <a:xfrm>
                <a:off x="912" y="3235"/>
                <a:ext cx="26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3200" b="1">
                    <a:latin typeface="Times New Roman" pitchFamily="18" charset="0"/>
                  </a:rPr>
                  <a:t>=</a:t>
                </a:r>
              </a:p>
            </p:txBody>
          </p:sp>
        </p:grpSp>
        <p:sp>
          <p:nvSpPr>
            <p:cNvPr id="52297" name="Line 80"/>
            <p:cNvSpPr>
              <a:spLocks noChangeShapeType="1"/>
            </p:cNvSpPr>
            <p:nvPr/>
          </p:nvSpPr>
          <p:spPr bwMode="auto">
            <a:xfrm>
              <a:off x="1296" y="3436"/>
              <a:ext cx="57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 name="Group 99"/>
          <p:cNvGrpSpPr>
            <a:grpSpLocks/>
          </p:cNvGrpSpPr>
          <p:nvPr/>
        </p:nvGrpSpPr>
        <p:grpSpPr bwMode="auto">
          <a:xfrm>
            <a:off x="577850" y="1758950"/>
            <a:ext cx="2698750" cy="436563"/>
            <a:chOff x="577850" y="1758950"/>
            <a:chExt cx="2698750" cy="436563"/>
          </a:xfrm>
        </p:grpSpPr>
        <p:grpSp>
          <p:nvGrpSpPr>
            <p:cNvPr id="52290" name="Group 83"/>
            <p:cNvGrpSpPr>
              <a:grpSpLocks/>
            </p:cNvGrpSpPr>
            <p:nvPr/>
          </p:nvGrpSpPr>
          <p:grpSpPr bwMode="auto">
            <a:xfrm>
              <a:off x="577850" y="1758950"/>
              <a:ext cx="1347497" cy="435077"/>
              <a:chOff x="144" y="768"/>
              <a:chExt cx="1076" cy="1171"/>
            </a:xfrm>
          </p:grpSpPr>
          <p:sp>
            <p:nvSpPr>
              <p:cNvPr id="52294" name="Freeform 84"/>
              <p:cNvSpPr>
                <a:spLocks/>
              </p:cNvSpPr>
              <p:nvPr/>
            </p:nvSpPr>
            <p:spPr bwMode="auto">
              <a:xfrm>
                <a:off x="144" y="768"/>
                <a:ext cx="536" cy="585"/>
              </a:xfrm>
              <a:custGeom>
                <a:avLst/>
                <a:gdLst>
                  <a:gd name="T0" fmla="*/ 1 w 1066"/>
                  <a:gd name="T1" fmla="*/ 1 h 1065"/>
                  <a:gd name="T2" fmla="*/ 1 w 1066"/>
                  <a:gd name="T3" fmla="*/ 1 h 1065"/>
                  <a:gd name="T4" fmla="*/ 1 w 1066"/>
                  <a:gd name="T5" fmla="*/ 1 h 1065"/>
                  <a:gd name="T6" fmla="*/ 1 w 1066"/>
                  <a:gd name="T7" fmla="*/ 1 h 1065"/>
                  <a:gd name="T8" fmla="*/ 0 w 1066"/>
                  <a:gd name="T9" fmla="*/ 1 h 1065"/>
                  <a:gd name="T10" fmla="*/ 0 60000 65536"/>
                  <a:gd name="T11" fmla="*/ 0 60000 65536"/>
                  <a:gd name="T12" fmla="*/ 0 60000 65536"/>
                  <a:gd name="T13" fmla="*/ 0 60000 65536"/>
                  <a:gd name="T14" fmla="*/ 0 60000 65536"/>
                  <a:gd name="T15" fmla="*/ 0 w 1066"/>
                  <a:gd name="T16" fmla="*/ 0 h 1065"/>
                  <a:gd name="T17" fmla="*/ 1066 w 1066"/>
                  <a:gd name="T18" fmla="*/ 1065 h 1065"/>
                </a:gdLst>
                <a:ahLst/>
                <a:cxnLst>
                  <a:cxn ang="T10">
                    <a:pos x="T0" y="T1"/>
                  </a:cxn>
                  <a:cxn ang="T11">
                    <a:pos x="T2" y="T3"/>
                  </a:cxn>
                  <a:cxn ang="T12">
                    <a:pos x="T4" y="T5"/>
                  </a:cxn>
                  <a:cxn ang="T13">
                    <a:pos x="T6" y="T7"/>
                  </a:cxn>
                  <a:cxn ang="T14">
                    <a:pos x="T8" y="T9"/>
                  </a:cxn>
                </a:cxnLst>
                <a:rect l="T15" t="T16" r="T17" b="T18"/>
                <a:pathLst>
                  <a:path w="1066" h="1065">
                    <a:moveTo>
                      <a:pt x="1066" y="1065"/>
                    </a:moveTo>
                    <a:cubicBezTo>
                      <a:pt x="1016" y="934"/>
                      <a:pt x="854" y="455"/>
                      <a:pt x="766" y="279"/>
                    </a:cubicBezTo>
                    <a:cubicBezTo>
                      <a:pt x="678" y="103"/>
                      <a:pt x="612" y="20"/>
                      <a:pt x="538" y="10"/>
                    </a:cubicBezTo>
                    <a:cubicBezTo>
                      <a:pt x="464" y="0"/>
                      <a:pt x="411" y="41"/>
                      <a:pt x="321" y="217"/>
                    </a:cubicBezTo>
                    <a:cubicBezTo>
                      <a:pt x="231" y="393"/>
                      <a:pt x="67" y="888"/>
                      <a:pt x="0" y="1065"/>
                    </a:cubicBezTo>
                  </a:path>
                </a:pathLst>
              </a:custGeom>
              <a:noFill/>
              <a:ln w="571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52295" name="Freeform 85"/>
              <p:cNvSpPr>
                <a:spLocks/>
              </p:cNvSpPr>
              <p:nvPr/>
            </p:nvSpPr>
            <p:spPr bwMode="auto">
              <a:xfrm flipV="1">
                <a:off x="684" y="1354"/>
                <a:ext cx="536" cy="585"/>
              </a:xfrm>
              <a:custGeom>
                <a:avLst/>
                <a:gdLst>
                  <a:gd name="T0" fmla="*/ 1 w 1066"/>
                  <a:gd name="T1" fmla="*/ 1 h 1065"/>
                  <a:gd name="T2" fmla="*/ 1 w 1066"/>
                  <a:gd name="T3" fmla="*/ 1 h 1065"/>
                  <a:gd name="T4" fmla="*/ 1 w 1066"/>
                  <a:gd name="T5" fmla="*/ 1 h 1065"/>
                  <a:gd name="T6" fmla="*/ 1 w 1066"/>
                  <a:gd name="T7" fmla="*/ 1 h 1065"/>
                  <a:gd name="T8" fmla="*/ 0 w 1066"/>
                  <a:gd name="T9" fmla="*/ 1 h 1065"/>
                  <a:gd name="T10" fmla="*/ 0 60000 65536"/>
                  <a:gd name="T11" fmla="*/ 0 60000 65536"/>
                  <a:gd name="T12" fmla="*/ 0 60000 65536"/>
                  <a:gd name="T13" fmla="*/ 0 60000 65536"/>
                  <a:gd name="T14" fmla="*/ 0 60000 65536"/>
                  <a:gd name="T15" fmla="*/ 0 w 1066"/>
                  <a:gd name="T16" fmla="*/ 0 h 1065"/>
                  <a:gd name="T17" fmla="*/ 1066 w 1066"/>
                  <a:gd name="T18" fmla="*/ 1065 h 1065"/>
                </a:gdLst>
                <a:ahLst/>
                <a:cxnLst>
                  <a:cxn ang="T10">
                    <a:pos x="T0" y="T1"/>
                  </a:cxn>
                  <a:cxn ang="T11">
                    <a:pos x="T2" y="T3"/>
                  </a:cxn>
                  <a:cxn ang="T12">
                    <a:pos x="T4" y="T5"/>
                  </a:cxn>
                  <a:cxn ang="T13">
                    <a:pos x="T6" y="T7"/>
                  </a:cxn>
                  <a:cxn ang="T14">
                    <a:pos x="T8" y="T9"/>
                  </a:cxn>
                </a:cxnLst>
                <a:rect l="T15" t="T16" r="T17" b="T18"/>
                <a:pathLst>
                  <a:path w="1066" h="1065">
                    <a:moveTo>
                      <a:pt x="1066" y="1065"/>
                    </a:moveTo>
                    <a:cubicBezTo>
                      <a:pt x="1016" y="934"/>
                      <a:pt x="854" y="455"/>
                      <a:pt x="766" y="279"/>
                    </a:cubicBezTo>
                    <a:cubicBezTo>
                      <a:pt x="678" y="103"/>
                      <a:pt x="612" y="20"/>
                      <a:pt x="538" y="10"/>
                    </a:cubicBezTo>
                    <a:cubicBezTo>
                      <a:pt x="464" y="0"/>
                      <a:pt x="411" y="41"/>
                      <a:pt x="321" y="217"/>
                    </a:cubicBezTo>
                    <a:cubicBezTo>
                      <a:pt x="231" y="393"/>
                      <a:pt x="67" y="888"/>
                      <a:pt x="0" y="1065"/>
                    </a:cubicBezTo>
                  </a:path>
                </a:pathLst>
              </a:custGeom>
              <a:noFill/>
              <a:ln w="571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grpSp>
        <p:grpSp>
          <p:nvGrpSpPr>
            <p:cNvPr id="52291" name="Group 86"/>
            <p:cNvGrpSpPr>
              <a:grpSpLocks/>
            </p:cNvGrpSpPr>
            <p:nvPr/>
          </p:nvGrpSpPr>
          <p:grpSpPr bwMode="auto">
            <a:xfrm>
              <a:off x="1929103" y="1760436"/>
              <a:ext cx="1347497" cy="435077"/>
              <a:chOff x="144" y="768"/>
              <a:chExt cx="1076" cy="1171"/>
            </a:xfrm>
          </p:grpSpPr>
          <p:sp>
            <p:nvSpPr>
              <p:cNvPr id="52292" name="Freeform 87"/>
              <p:cNvSpPr>
                <a:spLocks/>
              </p:cNvSpPr>
              <p:nvPr/>
            </p:nvSpPr>
            <p:spPr bwMode="auto">
              <a:xfrm>
                <a:off x="144" y="768"/>
                <a:ext cx="536" cy="585"/>
              </a:xfrm>
              <a:custGeom>
                <a:avLst/>
                <a:gdLst>
                  <a:gd name="T0" fmla="*/ 1 w 1066"/>
                  <a:gd name="T1" fmla="*/ 1 h 1065"/>
                  <a:gd name="T2" fmla="*/ 1 w 1066"/>
                  <a:gd name="T3" fmla="*/ 1 h 1065"/>
                  <a:gd name="T4" fmla="*/ 1 w 1066"/>
                  <a:gd name="T5" fmla="*/ 1 h 1065"/>
                  <a:gd name="T6" fmla="*/ 1 w 1066"/>
                  <a:gd name="T7" fmla="*/ 1 h 1065"/>
                  <a:gd name="T8" fmla="*/ 0 w 1066"/>
                  <a:gd name="T9" fmla="*/ 1 h 1065"/>
                  <a:gd name="T10" fmla="*/ 0 60000 65536"/>
                  <a:gd name="T11" fmla="*/ 0 60000 65536"/>
                  <a:gd name="T12" fmla="*/ 0 60000 65536"/>
                  <a:gd name="T13" fmla="*/ 0 60000 65536"/>
                  <a:gd name="T14" fmla="*/ 0 60000 65536"/>
                  <a:gd name="T15" fmla="*/ 0 w 1066"/>
                  <a:gd name="T16" fmla="*/ 0 h 1065"/>
                  <a:gd name="T17" fmla="*/ 1066 w 1066"/>
                  <a:gd name="T18" fmla="*/ 1065 h 1065"/>
                </a:gdLst>
                <a:ahLst/>
                <a:cxnLst>
                  <a:cxn ang="T10">
                    <a:pos x="T0" y="T1"/>
                  </a:cxn>
                  <a:cxn ang="T11">
                    <a:pos x="T2" y="T3"/>
                  </a:cxn>
                  <a:cxn ang="T12">
                    <a:pos x="T4" y="T5"/>
                  </a:cxn>
                  <a:cxn ang="T13">
                    <a:pos x="T6" y="T7"/>
                  </a:cxn>
                  <a:cxn ang="T14">
                    <a:pos x="T8" y="T9"/>
                  </a:cxn>
                </a:cxnLst>
                <a:rect l="T15" t="T16" r="T17" b="T18"/>
                <a:pathLst>
                  <a:path w="1066" h="1065">
                    <a:moveTo>
                      <a:pt x="1066" y="1065"/>
                    </a:moveTo>
                    <a:cubicBezTo>
                      <a:pt x="1016" y="934"/>
                      <a:pt x="854" y="455"/>
                      <a:pt x="766" y="279"/>
                    </a:cubicBezTo>
                    <a:cubicBezTo>
                      <a:pt x="678" y="103"/>
                      <a:pt x="612" y="20"/>
                      <a:pt x="538" y="10"/>
                    </a:cubicBezTo>
                    <a:cubicBezTo>
                      <a:pt x="464" y="0"/>
                      <a:pt x="411" y="41"/>
                      <a:pt x="321" y="217"/>
                    </a:cubicBezTo>
                    <a:cubicBezTo>
                      <a:pt x="231" y="393"/>
                      <a:pt x="67" y="888"/>
                      <a:pt x="0" y="1065"/>
                    </a:cubicBezTo>
                  </a:path>
                </a:pathLst>
              </a:custGeom>
              <a:noFill/>
              <a:ln w="571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sp>
            <p:nvSpPr>
              <p:cNvPr id="52293" name="Freeform 88"/>
              <p:cNvSpPr>
                <a:spLocks/>
              </p:cNvSpPr>
              <p:nvPr/>
            </p:nvSpPr>
            <p:spPr bwMode="auto">
              <a:xfrm flipV="1">
                <a:off x="684" y="1354"/>
                <a:ext cx="536" cy="585"/>
              </a:xfrm>
              <a:custGeom>
                <a:avLst/>
                <a:gdLst>
                  <a:gd name="T0" fmla="*/ 1 w 1066"/>
                  <a:gd name="T1" fmla="*/ 1 h 1065"/>
                  <a:gd name="T2" fmla="*/ 1 w 1066"/>
                  <a:gd name="T3" fmla="*/ 1 h 1065"/>
                  <a:gd name="T4" fmla="*/ 1 w 1066"/>
                  <a:gd name="T5" fmla="*/ 1 h 1065"/>
                  <a:gd name="T6" fmla="*/ 1 w 1066"/>
                  <a:gd name="T7" fmla="*/ 1 h 1065"/>
                  <a:gd name="T8" fmla="*/ 0 w 1066"/>
                  <a:gd name="T9" fmla="*/ 1 h 1065"/>
                  <a:gd name="T10" fmla="*/ 0 60000 65536"/>
                  <a:gd name="T11" fmla="*/ 0 60000 65536"/>
                  <a:gd name="T12" fmla="*/ 0 60000 65536"/>
                  <a:gd name="T13" fmla="*/ 0 60000 65536"/>
                  <a:gd name="T14" fmla="*/ 0 60000 65536"/>
                  <a:gd name="T15" fmla="*/ 0 w 1066"/>
                  <a:gd name="T16" fmla="*/ 0 h 1065"/>
                  <a:gd name="T17" fmla="*/ 1066 w 1066"/>
                  <a:gd name="T18" fmla="*/ 1065 h 1065"/>
                </a:gdLst>
                <a:ahLst/>
                <a:cxnLst>
                  <a:cxn ang="T10">
                    <a:pos x="T0" y="T1"/>
                  </a:cxn>
                  <a:cxn ang="T11">
                    <a:pos x="T2" y="T3"/>
                  </a:cxn>
                  <a:cxn ang="T12">
                    <a:pos x="T4" y="T5"/>
                  </a:cxn>
                  <a:cxn ang="T13">
                    <a:pos x="T6" y="T7"/>
                  </a:cxn>
                  <a:cxn ang="T14">
                    <a:pos x="T8" y="T9"/>
                  </a:cxn>
                </a:cxnLst>
                <a:rect l="T15" t="T16" r="T17" b="T18"/>
                <a:pathLst>
                  <a:path w="1066" h="1065">
                    <a:moveTo>
                      <a:pt x="1066" y="1065"/>
                    </a:moveTo>
                    <a:cubicBezTo>
                      <a:pt x="1016" y="934"/>
                      <a:pt x="854" y="455"/>
                      <a:pt x="766" y="279"/>
                    </a:cubicBezTo>
                    <a:cubicBezTo>
                      <a:pt x="678" y="103"/>
                      <a:pt x="612" y="20"/>
                      <a:pt x="538" y="10"/>
                    </a:cubicBezTo>
                    <a:cubicBezTo>
                      <a:pt x="464" y="0"/>
                      <a:pt x="411" y="41"/>
                      <a:pt x="321" y="217"/>
                    </a:cubicBezTo>
                    <a:cubicBezTo>
                      <a:pt x="231" y="393"/>
                      <a:pt x="67" y="888"/>
                      <a:pt x="0" y="1065"/>
                    </a:cubicBezTo>
                  </a:path>
                </a:pathLst>
              </a:custGeom>
              <a:noFill/>
              <a:ln w="571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vi-VN"/>
              </a:p>
            </p:txBody>
          </p:sp>
        </p:grpSp>
      </p:grpSp>
      <p:sp>
        <p:nvSpPr>
          <p:cNvPr id="52285" name="AutoShape 89"/>
          <p:cNvSpPr>
            <a:spLocks noChangeArrowheads="1"/>
          </p:cNvSpPr>
          <p:nvPr/>
        </p:nvSpPr>
        <p:spPr bwMode="auto">
          <a:xfrm>
            <a:off x="1219200" y="4038600"/>
            <a:ext cx="2057400" cy="304800"/>
          </a:xfrm>
          <a:prstGeom prst="rightArrow">
            <a:avLst>
              <a:gd name="adj1" fmla="val 50000"/>
              <a:gd name="adj2" fmla="val 168750"/>
            </a:avLst>
          </a:prstGeom>
          <a:solidFill>
            <a:srgbClr val="9999FF"/>
          </a:solidFill>
          <a:ln w="9525">
            <a:solidFill>
              <a:schemeClr val="tx1"/>
            </a:solidFill>
            <a:miter lim="800000"/>
            <a:headEnd/>
            <a:tailEnd/>
          </a:ln>
        </p:spPr>
        <p:txBody>
          <a:bodyPr wrap="none" anchor="ctr"/>
          <a:lstStyle/>
          <a:p>
            <a:endParaRPr lang="vi-VN"/>
          </a:p>
        </p:txBody>
      </p:sp>
      <p:sp>
        <p:nvSpPr>
          <p:cNvPr id="52286" name="Text Box 90"/>
          <p:cNvSpPr txBox="1">
            <a:spLocks noChangeArrowheads="1"/>
          </p:cNvSpPr>
          <p:nvPr/>
        </p:nvSpPr>
        <p:spPr bwMode="auto">
          <a:xfrm>
            <a:off x="1447800" y="3581400"/>
            <a:ext cx="803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800" b="1">
                <a:latin typeface="Times New Roman" pitchFamily="18" charset="0"/>
              </a:rPr>
              <a:t>Vào</a:t>
            </a:r>
          </a:p>
        </p:txBody>
      </p:sp>
      <p:sp>
        <p:nvSpPr>
          <p:cNvPr id="11355" name="Text Box 91"/>
          <p:cNvSpPr txBox="1">
            <a:spLocks noChangeArrowheads="1"/>
          </p:cNvSpPr>
          <p:nvPr/>
        </p:nvSpPr>
        <p:spPr bwMode="auto">
          <a:xfrm>
            <a:off x="2101850" y="5314950"/>
            <a:ext cx="623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800" b="1">
                <a:latin typeface="Times New Roman" pitchFamily="18" charset="0"/>
              </a:rPr>
              <a:t>Ra</a:t>
            </a:r>
          </a:p>
        </p:txBody>
      </p:sp>
      <p:sp>
        <p:nvSpPr>
          <p:cNvPr id="52288" name="Rectangle 92"/>
          <p:cNvSpPr>
            <a:spLocks noChangeArrowheads="1"/>
          </p:cNvSpPr>
          <p:nvPr/>
        </p:nvSpPr>
        <p:spPr bwMode="auto">
          <a:xfrm>
            <a:off x="228600" y="228600"/>
            <a:ext cx="84582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vi-VN" sz="3600" b="1">
                <a:solidFill>
                  <a:srgbClr val="FFFF00"/>
                </a:solidFill>
              </a:rPr>
              <a:t>Khả năng khuếch đại của Transistor</a:t>
            </a:r>
          </a:p>
        </p:txBody>
      </p:sp>
      <p:sp>
        <p:nvSpPr>
          <p:cNvPr id="52289" name="Slide Number Placeholder 9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214ECFDD-F7B2-424D-866C-59E25AFEC6AC}" type="slidenum">
              <a:rPr lang="en-US" smtClean="0"/>
              <a:pPr eaLnBrk="1" hangingPunct="1"/>
              <a:t>10</a:t>
            </a:fld>
            <a:endParaRPr lang="en-US" smtClean="0"/>
          </a:p>
        </p:txBody>
      </p:sp>
    </p:spTree>
    <p:extLst>
      <p:ext uri="{BB962C8B-B14F-4D97-AF65-F5344CB8AC3E}">
        <p14:creationId xmlns:p14="http://schemas.microsoft.com/office/powerpoint/2010/main" val="24093021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Right)">
                                      <p:cBhvr>
                                        <p:cTn id="7" dur="3000"/>
                                        <p:tgtEl>
                                          <p:spTgt spid="10"/>
                                        </p:tgtEl>
                                      </p:cBhvr>
                                    </p:animEffect>
                                  </p:childTnLst>
                                </p:cTn>
                              </p:par>
                              <p:par>
                                <p:cTn id="8" presetID="18" presetClass="entr" presetSubtype="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strips(downRight)">
                                      <p:cBhvr>
                                        <p:cTn id="10" dur="3000"/>
                                        <p:tgtEl>
                                          <p:spTgt spid="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heckerboard(across)">
                                      <p:cBhvr>
                                        <p:cTn id="15" dur="500"/>
                                        <p:tgtEl>
                                          <p:spTgt spid="8"/>
                                        </p:tgtEl>
                                      </p:cBhvr>
                                    </p:animEffect>
                                  </p:childTnLst>
                                </p:cTn>
                              </p:par>
                            </p:childTnLst>
                          </p:cTn>
                        </p:par>
                        <p:par>
                          <p:cTn id="16" fill="hold" nodeType="afterGroup">
                            <p:stCondLst>
                              <p:cond delay="500"/>
                            </p:stCondLst>
                            <p:childTnLst>
                              <p:par>
                                <p:cTn id="17" presetID="2" presetClass="entr" presetSubtype="3" fill="hold" grpId="0" nodeType="afterEffect">
                                  <p:stCondLst>
                                    <p:cond delay="0"/>
                                  </p:stCondLst>
                                  <p:childTnLst>
                                    <p:set>
                                      <p:cBhvr>
                                        <p:cTn id="18" dur="1" fill="hold">
                                          <p:stCondLst>
                                            <p:cond delay="0"/>
                                          </p:stCondLst>
                                        </p:cTn>
                                        <p:tgtEl>
                                          <p:spTgt spid="11355"/>
                                        </p:tgtEl>
                                        <p:attrNameLst>
                                          <p:attrName>style.visibility</p:attrName>
                                        </p:attrNameLst>
                                      </p:cBhvr>
                                      <p:to>
                                        <p:strVal val="visible"/>
                                      </p:to>
                                    </p:set>
                                    <p:anim calcmode="lin" valueType="num">
                                      <p:cBhvr additive="base">
                                        <p:cTn id="19" dur="1000" fill="hold"/>
                                        <p:tgtEl>
                                          <p:spTgt spid="11355"/>
                                        </p:tgtEl>
                                        <p:attrNameLst>
                                          <p:attrName>ppt_x</p:attrName>
                                        </p:attrNameLst>
                                      </p:cBhvr>
                                      <p:tavLst>
                                        <p:tav tm="0">
                                          <p:val>
                                            <p:strVal val="1+#ppt_w/2"/>
                                          </p:val>
                                        </p:tav>
                                        <p:tav tm="100000">
                                          <p:val>
                                            <p:strVal val="#ppt_x"/>
                                          </p:val>
                                        </p:tav>
                                      </p:tavLst>
                                    </p:anim>
                                    <p:anim calcmode="lin" valueType="num">
                                      <p:cBhvr additive="base">
                                        <p:cTn id="20" dur="1000" fill="hold"/>
                                        <p:tgtEl>
                                          <p:spTgt spid="11355"/>
                                        </p:tgtEl>
                                        <p:attrNameLst>
                                          <p:attrName>ppt_y</p:attrName>
                                        </p:attrNameLst>
                                      </p:cBhvr>
                                      <p:tavLst>
                                        <p:tav tm="0">
                                          <p:val>
                                            <p:strVal val="0-#ppt_h/2"/>
                                          </p:val>
                                        </p:tav>
                                        <p:tav tm="100000">
                                          <p:val>
                                            <p:strVal val="#ppt_y"/>
                                          </p:val>
                                        </p:tav>
                                      </p:tavLst>
                                    </p:anim>
                                  </p:childTnLst>
                                </p:cTn>
                              </p:par>
                              <p:par>
                                <p:cTn id="21" presetID="2" presetClass="entr" presetSubtype="9" fill="hold" grpId="0" nodeType="withEffect">
                                  <p:stCondLst>
                                    <p:cond delay="0"/>
                                  </p:stCondLst>
                                  <p:childTnLst>
                                    <p:set>
                                      <p:cBhvr>
                                        <p:cTn id="22" dur="1" fill="hold">
                                          <p:stCondLst>
                                            <p:cond delay="0"/>
                                          </p:stCondLst>
                                        </p:cTn>
                                        <p:tgtEl>
                                          <p:spTgt spid="11339"/>
                                        </p:tgtEl>
                                        <p:attrNameLst>
                                          <p:attrName>style.visibility</p:attrName>
                                        </p:attrNameLst>
                                      </p:cBhvr>
                                      <p:to>
                                        <p:strVal val="visible"/>
                                      </p:to>
                                    </p:set>
                                    <p:anim calcmode="lin" valueType="num">
                                      <p:cBhvr additive="base">
                                        <p:cTn id="23" dur="500" fill="hold"/>
                                        <p:tgtEl>
                                          <p:spTgt spid="11339"/>
                                        </p:tgtEl>
                                        <p:attrNameLst>
                                          <p:attrName>ppt_x</p:attrName>
                                        </p:attrNameLst>
                                      </p:cBhvr>
                                      <p:tavLst>
                                        <p:tav tm="0">
                                          <p:val>
                                            <p:strVal val="0-#ppt_w/2"/>
                                          </p:val>
                                        </p:tav>
                                        <p:tav tm="100000">
                                          <p:val>
                                            <p:strVal val="#ppt_x"/>
                                          </p:val>
                                        </p:tav>
                                      </p:tavLst>
                                    </p:anim>
                                    <p:anim calcmode="lin" valueType="num">
                                      <p:cBhvr additive="base">
                                        <p:cTn id="24" dur="500" fill="hold"/>
                                        <p:tgtEl>
                                          <p:spTgt spid="1133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39" grpId="0" autoUpdateAnimBg="0"/>
      <p:bldP spid="1135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2"/>
          <p:cNvSpPr>
            <a:spLocks noGrp="1" noChangeArrowheads="1"/>
          </p:cNvSpPr>
          <p:nvPr>
            <p:ph type="title"/>
          </p:nvPr>
        </p:nvSpPr>
        <p:spPr>
          <a:xfrm>
            <a:off x="152400" y="228600"/>
            <a:ext cx="8915400" cy="990600"/>
          </a:xfrm>
        </p:spPr>
        <p:txBody>
          <a:bodyPr>
            <a:noAutofit/>
          </a:bodyPr>
          <a:lstStyle/>
          <a:p>
            <a:pPr>
              <a:defRPr/>
            </a:pPr>
            <a:r>
              <a:rPr lang="en-US" b="1" smtClean="0"/>
              <a:t>Phân cực cho Transistor (NPN)</a:t>
            </a:r>
            <a:endParaRPr lang="en-US" smtClean="0"/>
          </a:p>
        </p:txBody>
      </p:sp>
      <p:sp>
        <p:nvSpPr>
          <p:cNvPr id="53251" name="Rectangle 13"/>
          <p:cNvSpPr>
            <a:spLocks noGrp="1" noChangeArrowheads="1"/>
          </p:cNvSpPr>
          <p:nvPr>
            <p:ph type="body" idx="1"/>
          </p:nvPr>
        </p:nvSpPr>
        <p:spPr>
          <a:xfrm>
            <a:off x="412976" y="1447800"/>
            <a:ext cx="8197624" cy="5314950"/>
          </a:xfrm>
        </p:spPr>
        <p:txBody>
          <a:bodyPr>
            <a:normAutofit/>
          </a:bodyPr>
          <a:lstStyle/>
          <a:p>
            <a:pPr>
              <a:lnSpc>
                <a:spcPct val="120000"/>
              </a:lnSpc>
              <a:buClr>
                <a:srgbClr val="C00000"/>
              </a:buClr>
              <a:buFont typeface="Wingdings" pitchFamily="2" charset="2"/>
              <a:buChar char="Ø"/>
            </a:pPr>
            <a:r>
              <a:rPr lang="en-US" smtClean="0"/>
              <a:t>J</a:t>
            </a:r>
            <a:r>
              <a:rPr lang="en-US" baseline="-25000" smtClean="0"/>
              <a:t>E</a:t>
            </a:r>
            <a:r>
              <a:rPr lang="en-US" smtClean="0"/>
              <a:t> được phân cực thuận nên điện tử từ miền Emitter khuếch tán sang miền Base, đồng thời lỗ trống từ miền Base dịch chuyển sang miền Emitter.</a:t>
            </a:r>
          </a:p>
          <a:p>
            <a:pPr>
              <a:lnSpc>
                <a:spcPct val="120000"/>
              </a:lnSpc>
              <a:buClr>
                <a:srgbClr val="C00000"/>
              </a:buClr>
              <a:buFont typeface="Wingdings" pitchFamily="2" charset="2"/>
              <a:buChar char="Ø"/>
            </a:pPr>
            <a:r>
              <a:rPr lang="en-US"/>
              <a:t> </a:t>
            </a:r>
            <a:r>
              <a:rPr lang="en-US" smtClean="0"/>
              <a:t>Dòng I</a:t>
            </a:r>
            <a:r>
              <a:rPr lang="en-US" baseline="-25000" smtClean="0"/>
              <a:t>E</a:t>
            </a:r>
            <a:r>
              <a:rPr lang="en-US" smtClean="0"/>
              <a:t> gồm 2 thành phần: </a:t>
            </a:r>
            <a:r>
              <a:rPr lang="en-US" u="sng" smtClean="0">
                <a:solidFill>
                  <a:srgbClr val="C00000"/>
                </a:solidFill>
              </a:rPr>
              <a:t>dòng điện tử và dòng lỗ trống</a:t>
            </a:r>
            <a:r>
              <a:rPr lang="en-US" smtClean="0"/>
              <a:t>. </a:t>
            </a:r>
          </a:p>
          <a:p>
            <a:pPr marL="0" indent="0">
              <a:lnSpc>
                <a:spcPct val="120000"/>
              </a:lnSpc>
              <a:buClr>
                <a:srgbClr val="C00000"/>
              </a:buClr>
              <a:buNone/>
            </a:pPr>
            <a:endParaRPr lang="en-US" smtClean="0"/>
          </a:p>
        </p:txBody>
      </p:sp>
      <p:sp>
        <p:nvSpPr>
          <p:cNvPr id="5325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5683F70-A8B1-4980-A66F-AA8FDD750860}" type="slidenum">
              <a:rPr lang="en-US" smtClean="0"/>
              <a:pPr eaLnBrk="1" hangingPunct="1"/>
              <a:t>11</a:t>
            </a:fld>
            <a:endParaRPr lang="en-US" smtClean="0"/>
          </a:p>
        </p:txBody>
      </p:sp>
      <p:pic>
        <p:nvPicPr>
          <p:cNvPr id="348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581400"/>
            <a:ext cx="5715776"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334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2"/>
          <p:cNvSpPr>
            <a:spLocks noGrp="1" noChangeArrowheads="1"/>
          </p:cNvSpPr>
          <p:nvPr>
            <p:ph type="title"/>
          </p:nvPr>
        </p:nvSpPr>
        <p:spPr>
          <a:xfrm>
            <a:off x="152400" y="228600"/>
            <a:ext cx="8915400" cy="990600"/>
          </a:xfrm>
        </p:spPr>
        <p:txBody>
          <a:bodyPr>
            <a:noAutofit/>
          </a:bodyPr>
          <a:lstStyle/>
          <a:p>
            <a:pPr>
              <a:defRPr/>
            </a:pPr>
            <a:r>
              <a:rPr lang="en-US" b="1" smtClean="0"/>
              <a:t>Phân cực cho Transistor (NPN)</a:t>
            </a:r>
            <a:endParaRPr lang="en-US" smtClean="0"/>
          </a:p>
        </p:txBody>
      </p:sp>
      <p:sp>
        <p:nvSpPr>
          <p:cNvPr id="53251" name="Rectangle 13"/>
          <p:cNvSpPr>
            <a:spLocks noGrp="1" noChangeArrowheads="1"/>
          </p:cNvSpPr>
          <p:nvPr>
            <p:ph type="body" idx="1"/>
          </p:nvPr>
        </p:nvSpPr>
        <p:spPr>
          <a:xfrm>
            <a:off x="412976" y="1219200"/>
            <a:ext cx="8197624" cy="5543550"/>
          </a:xfrm>
        </p:spPr>
        <p:txBody>
          <a:bodyPr>
            <a:normAutofit/>
          </a:bodyPr>
          <a:lstStyle/>
          <a:p>
            <a:pPr>
              <a:lnSpc>
                <a:spcPct val="120000"/>
              </a:lnSpc>
              <a:buClr>
                <a:srgbClr val="C00000"/>
              </a:buClr>
              <a:buFont typeface="Wingdings" pitchFamily="2" charset="2"/>
              <a:buChar char="Ø"/>
            </a:pPr>
            <a:r>
              <a:rPr lang="en-US"/>
              <a:t>Điện tử được phun từ miền Emitter sang miền Base, tiếp tục khuếch tán sâu vào miền Base, xảy ra hiện tượng tái hợp hạt dẫn giữa điện tử và lỗ trống.</a:t>
            </a:r>
          </a:p>
          <a:p>
            <a:pPr>
              <a:lnSpc>
                <a:spcPct val="120000"/>
              </a:lnSpc>
              <a:buClr>
                <a:srgbClr val="C00000"/>
              </a:buClr>
              <a:buFont typeface="Wingdings" pitchFamily="2" charset="2"/>
              <a:buChar char="Ø"/>
            </a:pPr>
            <a:r>
              <a:rPr lang="en-US" smtClean="0"/>
              <a:t> Do miền Base mỏng nên có rất ít các điện tử tái hợp với lỗ trống, còn đa số các điện tử tới được chuyển tiếp J</a:t>
            </a:r>
            <a:r>
              <a:rPr lang="en-US" baseline="-25000" smtClean="0"/>
              <a:t>C</a:t>
            </a:r>
          </a:p>
        </p:txBody>
      </p:sp>
      <p:sp>
        <p:nvSpPr>
          <p:cNvPr id="5325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5683F70-A8B1-4980-A66F-AA8FDD750860}" type="slidenum">
              <a:rPr lang="en-US" smtClean="0"/>
              <a:pPr eaLnBrk="1" hangingPunct="1"/>
              <a:t>12</a:t>
            </a:fld>
            <a:endParaRPr lang="en-US" smtClean="0"/>
          </a:p>
        </p:txBody>
      </p:sp>
      <p:pic>
        <p:nvPicPr>
          <p:cNvPr id="348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995784"/>
            <a:ext cx="4953000" cy="2690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5964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2"/>
          <p:cNvSpPr>
            <a:spLocks noGrp="1" noChangeArrowheads="1"/>
          </p:cNvSpPr>
          <p:nvPr>
            <p:ph type="title"/>
          </p:nvPr>
        </p:nvSpPr>
        <p:spPr>
          <a:xfrm>
            <a:off x="152400" y="228600"/>
            <a:ext cx="8915400" cy="990600"/>
          </a:xfrm>
        </p:spPr>
        <p:txBody>
          <a:bodyPr>
            <a:noAutofit/>
          </a:bodyPr>
          <a:lstStyle/>
          <a:p>
            <a:pPr>
              <a:defRPr/>
            </a:pPr>
            <a:r>
              <a:rPr lang="en-US" b="1" smtClean="0"/>
              <a:t>Phân cực cho Transistor (NPN)</a:t>
            </a:r>
            <a:endParaRPr lang="en-US" smtClean="0"/>
          </a:p>
        </p:txBody>
      </p:sp>
      <p:sp>
        <p:nvSpPr>
          <p:cNvPr id="53251" name="Rectangle 13"/>
          <p:cNvSpPr>
            <a:spLocks noGrp="1" noChangeArrowheads="1"/>
          </p:cNvSpPr>
          <p:nvPr>
            <p:ph type="body" idx="1"/>
          </p:nvPr>
        </p:nvSpPr>
        <p:spPr>
          <a:xfrm>
            <a:off x="412976" y="1447800"/>
            <a:ext cx="8502424" cy="5314950"/>
          </a:xfrm>
        </p:spPr>
        <p:txBody>
          <a:bodyPr>
            <a:normAutofit/>
          </a:bodyPr>
          <a:lstStyle/>
          <a:p>
            <a:pPr>
              <a:lnSpc>
                <a:spcPct val="120000"/>
              </a:lnSpc>
              <a:buClr>
                <a:srgbClr val="C00000"/>
              </a:buClr>
              <a:buFont typeface="Wingdings" pitchFamily="2" charset="2"/>
              <a:buChar char="Ø"/>
            </a:pPr>
            <a:r>
              <a:rPr lang="en-US" smtClean="0"/>
              <a:t>Chuyển tiếp J</a:t>
            </a:r>
            <a:r>
              <a:rPr lang="en-US" baseline="-25000" smtClean="0"/>
              <a:t>C</a:t>
            </a:r>
            <a:r>
              <a:rPr lang="en-US" smtClean="0"/>
              <a:t> phân cực ngược nên các điện tử được cuốn sang miền Collector. </a:t>
            </a:r>
          </a:p>
          <a:p>
            <a:pPr>
              <a:lnSpc>
                <a:spcPct val="120000"/>
              </a:lnSpc>
              <a:buClr>
                <a:srgbClr val="C00000"/>
              </a:buClr>
              <a:buFont typeface="Wingdings" pitchFamily="2" charset="2"/>
              <a:buChar char="Ø"/>
            </a:pPr>
            <a:r>
              <a:rPr lang="en-US"/>
              <a:t> </a:t>
            </a:r>
            <a:r>
              <a:rPr lang="en-US" smtClean="0"/>
              <a:t>Dòng I</a:t>
            </a:r>
            <a:r>
              <a:rPr lang="en-US" baseline="-25000" smtClean="0"/>
              <a:t>C</a:t>
            </a:r>
            <a:r>
              <a:rPr lang="en-US" smtClean="0"/>
              <a:t> gồm 2 thành phần: </a:t>
            </a:r>
          </a:p>
          <a:p>
            <a:pPr marL="685800" indent="174625">
              <a:lnSpc>
                <a:spcPct val="120000"/>
              </a:lnSpc>
              <a:buClr>
                <a:srgbClr val="C00000"/>
              </a:buClr>
              <a:buFont typeface="Arial" pitchFamily="34" charset="0"/>
              <a:buChar char="•"/>
            </a:pPr>
            <a:r>
              <a:rPr lang="en-US" sz="2000"/>
              <a:t> </a:t>
            </a:r>
            <a:r>
              <a:rPr lang="en-US" sz="2000" smtClean="0"/>
              <a:t>I</a:t>
            </a:r>
            <a:r>
              <a:rPr lang="en-US" sz="2000" baseline="-25000" smtClean="0"/>
              <a:t>CB0</a:t>
            </a:r>
            <a:r>
              <a:rPr lang="en-US" sz="2000" smtClean="0"/>
              <a:t>: Dòng ngược bão hòa (dòng trôi của các hạt dẫn thiểu số)</a:t>
            </a:r>
          </a:p>
          <a:p>
            <a:pPr marL="685800" indent="174625">
              <a:lnSpc>
                <a:spcPct val="120000"/>
              </a:lnSpc>
              <a:buClr>
                <a:srgbClr val="C00000"/>
              </a:buClr>
              <a:buFont typeface="Arial" pitchFamily="34" charset="0"/>
              <a:buChar char="•"/>
            </a:pPr>
            <a:r>
              <a:rPr lang="en-US" sz="2000"/>
              <a:t> </a:t>
            </a:r>
            <a:r>
              <a:rPr lang="en-US" sz="2000" smtClean="0"/>
              <a:t>Dòng cuốn các hạt thiểu số trội từ miền Base sang miền Collector</a:t>
            </a:r>
            <a:endParaRPr lang="en-US" sz="2000"/>
          </a:p>
        </p:txBody>
      </p:sp>
      <p:sp>
        <p:nvSpPr>
          <p:cNvPr id="5325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5683F70-A8B1-4980-A66F-AA8FDD750860}" type="slidenum">
              <a:rPr lang="en-US" smtClean="0"/>
              <a:pPr eaLnBrk="1" hangingPunct="1"/>
              <a:t>13</a:t>
            </a:fld>
            <a:endParaRPr lang="en-US" smtClean="0"/>
          </a:p>
        </p:txBody>
      </p:sp>
      <p:pic>
        <p:nvPicPr>
          <p:cNvPr id="348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995784"/>
            <a:ext cx="4953000" cy="2690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1172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4274" name="Rectangle 3"/>
              <p:cNvSpPr>
                <a:spLocks noGrp="1" noChangeArrowheads="1"/>
              </p:cNvSpPr>
              <p:nvPr>
                <p:ph type="body" idx="1"/>
              </p:nvPr>
            </p:nvSpPr>
            <p:spPr>
              <a:xfrm>
                <a:off x="457200" y="1600200"/>
                <a:ext cx="8305800" cy="4800600"/>
              </a:xfrm>
            </p:spPr>
            <p:txBody>
              <a:bodyPr/>
              <a:lstStyle/>
              <a:p>
                <a:pPr>
                  <a:lnSpc>
                    <a:spcPct val="110000"/>
                  </a:lnSpc>
                  <a:buClr>
                    <a:srgbClr val="C00000"/>
                  </a:buClr>
                  <a:buFont typeface="Wingdings" pitchFamily="2" charset="2"/>
                  <a:buChar char="Ø"/>
                </a:pPr>
                <a:r>
                  <a:rPr lang="en-US" i="1" smtClean="0"/>
                  <a:t>I</a:t>
                </a:r>
                <a:r>
                  <a:rPr lang="en-US" i="1" baseline="-25000" smtClean="0"/>
                  <a:t>E </a:t>
                </a:r>
                <a:r>
                  <a:rPr lang="en-US" i="1" smtClean="0"/>
                  <a:t>= I</a:t>
                </a:r>
                <a:r>
                  <a:rPr lang="en-US" i="1" baseline="-25000" smtClean="0"/>
                  <a:t>C</a:t>
                </a:r>
                <a:r>
                  <a:rPr lang="en-US" i="1" smtClean="0"/>
                  <a:t> + I</a:t>
                </a:r>
                <a:r>
                  <a:rPr lang="en-US" i="1" baseline="-25000" smtClean="0"/>
                  <a:t>B</a:t>
                </a:r>
                <a:r>
                  <a:rPr lang="en-US" smtClean="0"/>
                  <a:t>  (thông thường </a:t>
                </a:r>
                <a:r>
                  <a:rPr lang="en-US" i="1" smtClean="0"/>
                  <a:t>I</a:t>
                </a:r>
                <a:r>
                  <a:rPr lang="en-US" i="1" baseline="-25000" smtClean="0"/>
                  <a:t>B </a:t>
                </a:r>
                <a:r>
                  <a:rPr lang="en-US" i="1" smtClean="0"/>
                  <a:t>&lt;&lt; I</a:t>
                </a:r>
                <a:r>
                  <a:rPr lang="en-US" i="1" baseline="-25000" smtClean="0"/>
                  <a:t>C </a:t>
                </a:r>
                <a:r>
                  <a:rPr lang="en-US" smtClean="0"/>
                  <a:t>và</a:t>
                </a:r>
                <a:r>
                  <a:rPr lang="en-US" i="1" baseline="-25000" smtClean="0"/>
                  <a:t> </a:t>
                </a:r>
                <a:r>
                  <a:rPr lang="en-US" i="1" smtClean="0"/>
                  <a:t>I</a:t>
                </a:r>
                <a:r>
                  <a:rPr lang="en-US" i="1" baseline="-25000" smtClean="0"/>
                  <a:t>E </a:t>
                </a:r>
                <a:r>
                  <a:rPr lang="en-US" i="1" smtClean="0"/>
                  <a:t>)</a:t>
                </a:r>
              </a:p>
              <a:p>
                <a:pPr>
                  <a:lnSpc>
                    <a:spcPct val="110000"/>
                  </a:lnSpc>
                  <a:buClr>
                    <a:srgbClr val="C00000"/>
                  </a:buClr>
                  <a:buFont typeface="Wingdings" pitchFamily="2" charset="2"/>
                  <a:buChar char="Ø"/>
                </a:pPr>
                <a:r>
                  <a:rPr lang="en-US" i="1" smtClean="0"/>
                  <a:t>Hệ số truyền đạt dòng điện: </a:t>
                </a:r>
              </a:p>
              <a:p>
                <a:pPr marL="0" indent="0">
                  <a:lnSpc>
                    <a:spcPct val="110000"/>
                  </a:lnSpc>
                  <a:buClr>
                    <a:srgbClr val="C00000"/>
                  </a:buClr>
                  <a:buNone/>
                </a:pPr>
                <a14:m>
                  <m:oMathPara xmlns:m="http://schemas.openxmlformats.org/officeDocument/2006/math">
                    <m:oMathParaPr>
                      <m:jc m:val="centerGroup"/>
                    </m:oMathParaPr>
                    <m:oMath xmlns:m="http://schemas.openxmlformats.org/officeDocument/2006/math">
                      <m:sSub>
                        <m:sSubPr>
                          <m:ctrlPr>
                            <a:rPr lang="en-US" i="1" smtClean="0">
                              <a:latin typeface="Cambria Math"/>
                            </a:rPr>
                          </m:ctrlPr>
                        </m:sSubPr>
                        <m:e>
                          <m:r>
                            <a:rPr lang="en-US" i="1" smtClean="0">
                              <a:latin typeface="Cambria Math"/>
                              <a:ea typeface="Cambria Math"/>
                            </a:rPr>
                            <m:t>𝛼</m:t>
                          </m:r>
                        </m:e>
                        <m:sub>
                          <m:r>
                            <a:rPr lang="en-US" b="0" i="1" smtClean="0">
                              <a:latin typeface="Cambria Math"/>
                            </a:rPr>
                            <m:t>𝑑𝑐</m:t>
                          </m:r>
                        </m:sub>
                      </m:sSub>
                      <m:r>
                        <a:rPr lang="en-US" b="0" i="1" smtClean="0">
                          <a:latin typeface="Cambria Math"/>
                        </a:rPr>
                        <m:t>=</m:t>
                      </m:r>
                      <m:f>
                        <m:fPr>
                          <m:ctrlPr>
                            <a:rPr lang="en-US" b="0" i="1" smtClean="0">
                              <a:latin typeface="Cambria Math"/>
                            </a:rPr>
                          </m:ctrlPr>
                        </m:fPr>
                        <m:num>
                          <m:sSub>
                            <m:sSubPr>
                              <m:ctrlPr>
                                <a:rPr lang="en-US" b="0" i="1" smtClean="0">
                                  <a:latin typeface="Cambria Math"/>
                                </a:rPr>
                              </m:ctrlPr>
                            </m:sSubPr>
                            <m:e>
                              <m:r>
                                <a:rPr lang="en-US" b="0" i="1" smtClean="0">
                                  <a:latin typeface="Cambria Math"/>
                                </a:rPr>
                                <m:t>𝐼</m:t>
                              </m:r>
                            </m:e>
                            <m:sub>
                              <m:r>
                                <a:rPr lang="en-US" b="0" i="1" smtClean="0">
                                  <a:latin typeface="Cambria Math"/>
                                </a:rPr>
                                <m:t>𝐶</m:t>
                              </m:r>
                            </m:sub>
                          </m:sSub>
                        </m:num>
                        <m:den>
                          <m:sSub>
                            <m:sSubPr>
                              <m:ctrlPr>
                                <a:rPr lang="en-US" b="0" i="1" smtClean="0">
                                  <a:latin typeface="Cambria Math"/>
                                </a:rPr>
                              </m:ctrlPr>
                            </m:sSubPr>
                            <m:e>
                              <m:r>
                                <a:rPr lang="en-US" b="0" i="1" smtClean="0">
                                  <a:latin typeface="Cambria Math"/>
                                </a:rPr>
                                <m:t>𝐼</m:t>
                              </m:r>
                            </m:e>
                            <m:sub>
                              <m:r>
                                <a:rPr lang="en-US" b="0" i="1" smtClean="0">
                                  <a:latin typeface="Cambria Math"/>
                                </a:rPr>
                                <m:t>𝐸</m:t>
                              </m:r>
                            </m:sub>
                          </m:sSub>
                        </m:den>
                      </m:f>
                      <m:r>
                        <a:rPr lang="en-US" b="0" i="1" smtClean="0">
                          <a:latin typeface="Cambria Math"/>
                        </a:rPr>
                        <m:t>;</m:t>
                      </m:r>
                      <m:sSub>
                        <m:sSubPr>
                          <m:ctrlPr>
                            <a:rPr lang="en-US" i="1">
                              <a:latin typeface="Cambria Math"/>
                            </a:rPr>
                          </m:ctrlPr>
                        </m:sSubPr>
                        <m:e>
                          <m:r>
                            <a:rPr lang="en-US" b="0" i="1" smtClean="0">
                              <a:latin typeface="Cambria Math"/>
                            </a:rPr>
                            <m:t>    </m:t>
                          </m:r>
                          <m:r>
                            <a:rPr lang="en-US" i="1">
                              <a:latin typeface="Cambria Math"/>
                              <a:ea typeface="Cambria Math"/>
                            </a:rPr>
                            <m:t>𝛼</m:t>
                          </m:r>
                        </m:e>
                        <m:sub>
                          <m:r>
                            <a:rPr lang="en-US" b="0" i="1" smtClean="0">
                              <a:latin typeface="Cambria Math"/>
                              <a:ea typeface="Cambria Math"/>
                            </a:rPr>
                            <m:t>𝑎</m:t>
                          </m:r>
                          <m:r>
                            <a:rPr lang="en-US" i="1">
                              <a:latin typeface="Cambria Math"/>
                            </a:rPr>
                            <m:t>𝑐</m:t>
                          </m:r>
                        </m:sub>
                      </m:sSub>
                      <m:r>
                        <a:rPr lang="en-US" i="1">
                          <a:latin typeface="Cambria Math"/>
                        </a:rPr>
                        <m:t>=</m:t>
                      </m:r>
                      <m:f>
                        <m:fPr>
                          <m:ctrlPr>
                            <a:rPr lang="en-US" i="1">
                              <a:latin typeface="Cambria Math"/>
                            </a:rPr>
                          </m:ctrlPr>
                        </m:fPr>
                        <m:num>
                          <m:sSub>
                            <m:sSubPr>
                              <m:ctrlPr>
                                <a:rPr lang="en-US" i="1">
                                  <a:latin typeface="Cambria Math"/>
                                </a:rPr>
                              </m:ctrlPr>
                            </m:sSubPr>
                            <m:e>
                              <m:r>
                                <a:rPr lang="en-US" b="0" i="1" smtClean="0">
                                  <a:latin typeface="Cambria Math"/>
                                </a:rPr>
                                <m:t>𝑑𝑖</m:t>
                              </m:r>
                            </m:e>
                            <m:sub>
                              <m:r>
                                <a:rPr lang="en-US" i="1">
                                  <a:latin typeface="Cambria Math"/>
                                </a:rPr>
                                <m:t>𝐶</m:t>
                              </m:r>
                            </m:sub>
                          </m:sSub>
                        </m:num>
                        <m:den>
                          <m:sSub>
                            <m:sSubPr>
                              <m:ctrlPr>
                                <a:rPr lang="en-US" i="1">
                                  <a:latin typeface="Cambria Math"/>
                                </a:rPr>
                              </m:ctrlPr>
                            </m:sSubPr>
                            <m:e>
                              <m:r>
                                <a:rPr lang="en-US" b="0" i="1" smtClean="0">
                                  <a:latin typeface="Cambria Math"/>
                                </a:rPr>
                                <m:t>𝑑𝑖</m:t>
                              </m:r>
                            </m:e>
                            <m:sub>
                              <m:r>
                                <a:rPr lang="en-US" i="1">
                                  <a:latin typeface="Cambria Math"/>
                                </a:rPr>
                                <m:t>𝐸</m:t>
                              </m:r>
                            </m:sub>
                          </m:sSub>
                        </m:den>
                      </m:f>
                    </m:oMath>
                  </m:oMathPara>
                </a14:m>
                <a:endParaRPr lang="en-US" i="1" smtClean="0"/>
              </a:p>
              <a:p>
                <a:pPr>
                  <a:lnSpc>
                    <a:spcPct val="110000"/>
                  </a:lnSpc>
                  <a:buClr>
                    <a:srgbClr val="C00000"/>
                  </a:buClr>
                  <a:buFont typeface="Wingdings" pitchFamily="2" charset="2"/>
                  <a:buChar char="Ø"/>
                </a:pPr>
                <a:endParaRPr lang="en-US" i="1">
                  <a:cs typeface="Times New Roman" pitchFamily="18" charset="0"/>
                </a:endParaRPr>
              </a:p>
              <a:p>
                <a:pPr>
                  <a:lnSpc>
                    <a:spcPct val="110000"/>
                  </a:lnSpc>
                  <a:buClr>
                    <a:srgbClr val="C00000"/>
                  </a:buClr>
                  <a:buFont typeface="Wingdings" pitchFamily="2" charset="2"/>
                  <a:buChar char="Ø"/>
                </a:pPr>
                <a:r>
                  <a:rPr lang="en-US" smtClean="0"/>
                  <a:t>Trên thực tế </a:t>
                </a:r>
                <a:r>
                  <a:rPr lang="el-GR" i="1" smtClean="0">
                    <a:cs typeface="Times New Roman" pitchFamily="18" charset="0"/>
                  </a:rPr>
                  <a:t>α</a:t>
                </a:r>
                <a:r>
                  <a:rPr lang="en-US" i="1" smtClean="0">
                    <a:cs typeface="Times New Roman" pitchFamily="18" charset="0"/>
                  </a:rPr>
                  <a:t> </a:t>
                </a:r>
                <a:r>
                  <a:rPr lang="en-US" baseline="-25000" smtClean="0"/>
                  <a:t>dc</a:t>
                </a:r>
                <a:r>
                  <a:rPr lang="en-US" smtClean="0"/>
                  <a:t> thường không khác nhiều với </a:t>
                </a:r>
                <a:br>
                  <a:rPr lang="en-US" smtClean="0"/>
                </a:br>
                <a:r>
                  <a:rPr lang="el-GR" i="1" smtClean="0">
                    <a:cs typeface="Times New Roman" pitchFamily="18" charset="0"/>
                  </a:rPr>
                  <a:t>α</a:t>
                </a:r>
                <a:r>
                  <a:rPr lang="en-US" i="1" smtClean="0">
                    <a:cs typeface="Times New Roman" pitchFamily="18" charset="0"/>
                  </a:rPr>
                  <a:t> </a:t>
                </a:r>
                <a:r>
                  <a:rPr lang="en-US" baseline="-25000" smtClean="0"/>
                  <a:t>ac</a:t>
                </a:r>
                <a:r>
                  <a:rPr lang="en-US" smtClean="0"/>
                  <a:t> và có giá trị gần bằng 1 (từ 0,9 đến 0.998). </a:t>
                </a:r>
              </a:p>
              <a:p>
                <a:pPr>
                  <a:lnSpc>
                    <a:spcPct val="110000"/>
                  </a:lnSpc>
                  <a:buClr>
                    <a:srgbClr val="C00000"/>
                  </a:buClr>
                  <a:buFont typeface="Wingdings" pitchFamily="2" charset="2"/>
                  <a:buChar char="Ø"/>
                </a:pPr>
                <a:r>
                  <a:rPr lang="en-US" smtClean="0"/>
                  <a:t>Nếu tính đến dòng rò I</a:t>
                </a:r>
                <a:r>
                  <a:rPr lang="en-US" baseline="-25000" smtClean="0"/>
                  <a:t>CBo</a:t>
                </a:r>
                <a:r>
                  <a:rPr lang="en-US" smtClean="0"/>
                  <a:t> thì: I</a:t>
                </a:r>
                <a:r>
                  <a:rPr lang="en-US" baseline="-25000" smtClean="0"/>
                  <a:t>C</a:t>
                </a:r>
                <a:r>
                  <a:rPr lang="en-US" baseline="-25000" smtClean="0">
                    <a:sym typeface="Symbol" pitchFamily="18" charset="2"/>
                  </a:rPr>
                  <a:t> </a:t>
                </a:r>
                <a:r>
                  <a:rPr lang="en-US" smtClean="0">
                    <a:sym typeface="Symbol" pitchFamily="18" charset="2"/>
                  </a:rPr>
                  <a:t>= </a:t>
                </a:r>
                <a:r>
                  <a:rPr lang="el-GR" smtClean="0">
                    <a:cs typeface="Times New Roman" pitchFamily="18" charset="0"/>
                    <a:sym typeface="Symbol" pitchFamily="18" charset="2"/>
                  </a:rPr>
                  <a:t>α</a:t>
                </a:r>
                <a:r>
                  <a:rPr lang="en-US" smtClean="0">
                    <a:sym typeface="Symbol" pitchFamily="18" charset="2"/>
                  </a:rPr>
                  <a:t>I</a:t>
                </a:r>
                <a:r>
                  <a:rPr lang="en-US" baseline="-25000" smtClean="0">
                    <a:sym typeface="Symbol" pitchFamily="18" charset="2"/>
                  </a:rPr>
                  <a:t>E</a:t>
                </a:r>
                <a:r>
                  <a:rPr lang="en-US" smtClean="0">
                    <a:sym typeface="Symbol" pitchFamily="18" charset="2"/>
                  </a:rPr>
                  <a:t> + </a:t>
                </a:r>
                <a:r>
                  <a:rPr lang="en-US" smtClean="0"/>
                  <a:t>I</a:t>
                </a:r>
                <a:r>
                  <a:rPr lang="en-US" baseline="-25000" smtClean="0"/>
                  <a:t>CBo</a:t>
                </a:r>
                <a:endParaRPr lang="en-US" smtClean="0">
                  <a:sym typeface="Symbol" pitchFamily="18" charset="2"/>
                </a:endParaRPr>
              </a:p>
              <a:p>
                <a:pPr>
                  <a:lnSpc>
                    <a:spcPct val="110000"/>
                  </a:lnSpc>
                </a:pPr>
                <a:endParaRPr lang="en-US" sz="2800" smtClean="0"/>
              </a:p>
            </p:txBody>
          </p:sp>
        </mc:Choice>
        <mc:Fallback xmlns="">
          <p:sp>
            <p:nvSpPr>
              <p:cNvPr id="54274" name="Rectangle 3"/>
              <p:cNvSpPr>
                <a:spLocks noGrp="1" noRot="1" noChangeAspect="1" noMove="1" noResize="1" noEditPoints="1" noAdjustHandles="1" noChangeArrowheads="1" noChangeShapeType="1" noTextEdit="1"/>
              </p:cNvSpPr>
              <p:nvPr>
                <p:ph type="body" idx="1"/>
              </p:nvPr>
            </p:nvSpPr>
            <p:spPr>
              <a:xfrm>
                <a:off x="457200" y="1600200"/>
                <a:ext cx="8305800" cy="4800600"/>
              </a:xfrm>
              <a:blipFill rotWithShape="1">
                <a:blip r:embed="rId2"/>
                <a:stretch>
                  <a:fillRect l="-954" t="-635"/>
                </a:stretch>
              </a:blipFill>
            </p:spPr>
            <p:txBody>
              <a:bodyPr/>
              <a:lstStyle/>
              <a:p>
                <a:r>
                  <a:rPr lang="en-US">
                    <a:noFill/>
                  </a:rPr>
                  <a:t> </a:t>
                </a:r>
              </a:p>
            </p:txBody>
          </p:sp>
        </mc:Fallback>
      </mc:AlternateContent>
      <p:sp>
        <p:nvSpPr>
          <p:cNvPr id="5427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E2D733B-89CF-4A10-963C-93C35996C6CF}" type="slidenum">
              <a:rPr lang="en-US" smtClean="0"/>
              <a:pPr eaLnBrk="1" hangingPunct="1"/>
              <a:t>14</a:t>
            </a:fld>
            <a:endParaRPr lang="en-US" smtClean="0"/>
          </a:p>
        </p:txBody>
      </p:sp>
      <p:sp>
        <p:nvSpPr>
          <p:cNvPr id="2" name="Title 1"/>
          <p:cNvSpPr>
            <a:spLocks noGrp="1"/>
          </p:cNvSpPr>
          <p:nvPr>
            <p:ph type="title"/>
          </p:nvPr>
        </p:nvSpPr>
        <p:spPr>
          <a:xfrm>
            <a:off x="457200" y="338328"/>
            <a:ext cx="8534400" cy="1252728"/>
          </a:xfrm>
        </p:spPr>
        <p:txBody>
          <a:bodyPr>
            <a:noAutofit/>
          </a:bodyPr>
          <a:lstStyle/>
          <a:p>
            <a:r>
              <a:rPr lang="en-US" b="1" smtClean="0"/>
              <a:t>Mối quan hệ giữa các dòng điện</a:t>
            </a:r>
            <a:endParaRPr lang="en-US"/>
          </a:p>
        </p:txBody>
      </p:sp>
    </p:spTree>
    <p:extLst>
      <p:ext uri="{BB962C8B-B14F-4D97-AF65-F5344CB8AC3E}">
        <p14:creationId xmlns:p14="http://schemas.microsoft.com/office/powerpoint/2010/main" val="23190405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type="body" idx="1"/>
          </p:nvPr>
        </p:nvSpPr>
        <p:spPr>
          <a:xfrm>
            <a:off x="457200" y="1295400"/>
            <a:ext cx="8229600" cy="5105400"/>
          </a:xfrm>
        </p:spPr>
        <p:txBody>
          <a:bodyPr/>
          <a:lstStyle/>
          <a:p>
            <a:pPr>
              <a:buClr>
                <a:srgbClr val="C00000"/>
              </a:buClr>
              <a:buFont typeface="Wingdings" pitchFamily="2" charset="2"/>
              <a:buChar char="Ø"/>
            </a:pPr>
            <a:r>
              <a:rPr lang="en-US" i="1" smtClean="0"/>
              <a:t> Hệ số khuếch đại dòng điện</a:t>
            </a:r>
            <a:endParaRPr lang="vi-VN" i="1" smtClean="0"/>
          </a:p>
          <a:p>
            <a:pPr lvl="1">
              <a:buFont typeface="Arial" pitchFamily="34" charset="0"/>
              <a:buChar char="•"/>
            </a:pPr>
            <a:r>
              <a:rPr lang="en-US" sz="2000" smtClean="0"/>
              <a:t> </a:t>
            </a:r>
            <a:r>
              <a:rPr lang="en-US" sz="2000" smtClean="0">
                <a:sym typeface="Symbol" pitchFamily="18" charset="2"/>
              </a:rPr>
              <a:t> </a:t>
            </a:r>
            <a:r>
              <a:rPr lang="vi-VN" sz="2000" baseline="-25000" smtClean="0"/>
              <a:t>dc</a:t>
            </a:r>
            <a:r>
              <a:rPr lang="vi-VN" sz="2000" smtClean="0"/>
              <a:t> - Hệ số khuếch đại dòng điện một chiều</a:t>
            </a:r>
            <a:endParaRPr lang="en-US" sz="2000" smtClean="0"/>
          </a:p>
          <a:p>
            <a:pPr lvl="1">
              <a:buFont typeface="Arial" pitchFamily="34" charset="0"/>
              <a:buChar char="•"/>
            </a:pPr>
            <a:r>
              <a:rPr lang="en-US" sz="2000" smtClean="0"/>
              <a:t> </a:t>
            </a:r>
            <a:r>
              <a:rPr lang="en-US" sz="2000" smtClean="0">
                <a:sym typeface="Symbol" pitchFamily="18" charset="2"/>
              </a:rPr>
              <a:t> </a:t>
            </a:r>
            <a:r>
              <a:rPr lang="vi-VN" sz="2000" baseline="-25000" smtClean="0"/>
              <a:t>ac</a:t>
            </a:r>
            <a:r>
              <a:rPr lang="vi-VN" sz="2000" smtClean="0"/>
              <a:t> - Hệ số khuếch đại dòng điện xoay chiều</a:t>
            </a:r>
            <a:endParaRPr lang="en-US" sz="2000" smtClean="0"/>
          </a:p>
          <a:p>
            <a:pPr marL="301943" lvl="1" indent="0">
              <a:buNone/>
            </a:pPr>
            <a:endParaRPr lang="en-US" sz="2000" smtClean="0"/>
          </a:p>
          <a:p>
            <a:pPr lvl="1">
              <a:buFont typeface="Arial" pitchFamily="34" charset="0"/>
              <a:buChar char="•"/>
            </a:pPr>
            <a:endParaRPr lang="en-US" sz="2400" smtClean="0"/>
          </a:p>
          <a:p>
            <a:pPr marL="301943" lvl="1" indent="0">
              <a:buNone/>
            </a:pPr>
            <a:endParaRPr lang="en-US" sz="2400"/>
          </a:p>
          <a:p>
            <a:pPr marL="403225" lvl="1" indent="-403225">
              <a:buClr>
                <a:srgbClr val="C00000"/>
              </a:buClr>
              <a:buFont typeface="Wingdings" pitchFamily="2" charset="2"/>
              <a:buChar char="Ø"/>
            </a:pPr>
            <a:r>
              <a:rPr lang="en-US" sz="2400" smtClean="0"/>
              <a:t> </a:t>
            </a:r>
            <a:r>
              <a:rPr lang="el-GR" sz="2400" smtClean="0"/>
              <a:t>β</a:t>
            </a:r>
            <a:r>
              <a:rPr lang="en-US" sz="2400" smtClean="0"/>
              <a:t> có giá trị từ vài chục tới vài trăm, giá trị điển hình từ 50-150.</a:t>
            </a:r>
          </a:p>
          <a:p>
            <a:pPr marL="403225" lvl="1" indent="-403225">
              <a:buClr>
                <a:srgbClr val="C00000"/>
              </a:buClr>
              <a:buFont typeface="Wingdings" pitchFamily="2" charset="2"/>
              <a:buChar char="Ø"/>
            </a:pPr>
            <a:r>
              <a:rPr lang="en-US" sz="2400"/>
              <a:t> </a:t>
            </a:r>
            <a:r>
              <a:rPr lang="en-US" sz="2400" smtClean="0"/>
              <a:t>Mối quan hệ giữa </a:t>
            </a:r>
            <a:r>
              <a:rPr lang="el-GR" sz="2400" smtClean="0"/>
              <a:t>α</a:t>
            </a:r>
            <a:r>
              <a:rPr lang="en-US" sz="2400" smtClean="0"/>
              <a:t> và </a:t>
            </a:r>
            <a:r>
              <a:rPr lang="el-GR" sz="2400" smtClean="0"/>
              <a:t>β</a:t>
            </a:r>
            <a:r>
              <a:rPr lang="en-US" sz="2400" smtClean="0"/>
              <a:t>:</a:t>
            </a:r>
          </a:p>
          <a:p>
            <a:pPr marL="403225" lvl="1" indent="-403225">
              <a:buClr>
                <a:srgbClr val="C00000"/>
              </a:buClr>
              <a:buFont typeface="Wingdings" pitchFamily="2" charset="2"/>
              <a:buChar char="Ø"/>
            </a:pPr>
            <a:endParaRPr lang="en-US" sz="2400"/>
          </a:p>
          <a:p>
            <a:pPr lvl="1">
              <a:buFont typeface="Arial" pitchFamily="34" charset="0"/>
              <a:buChar char="•"/>
            </a:pPr>
            <a:endParaRPr lang="vi-VN" sz="2400" smtClean="0"/>
          </a:p>
          <a:p>
            <a:endParaRPr lang="en-US" sz="2400" smtClean="0"/>
          </a:p>
        </p:txBody>
      </p:sp>
      <p:pic>
        <p:nvPicPr>
          <p:cNvPr id="5530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5181600"/>
            <a:ext cx="2824163"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3" name="Slide Number Placeholder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C3AF59B-0665-4F2E-B889-337ADB58D1A1}" type="slidenum">
              <a:rPr lang="en-US" smtClean="0"/>
              <a:pPr eaLnBrk="1" hangingPunct="1"/>
              <a:t>15</a:t>
            </a:fld>
            <a:endParaRPr lang="en-US" smtClean="0"/>
          </a:p>
        </p:txBody>
      </p:sp>
      <p:sp>
        <p:nvSpPr>
          <p:cNvPr id="11" name="Rectangle 12"/>
          <p:cNvSpPr>
            <a:spLocks noGrp="1" noChangeArrowheads="1"/>
          </p:cNvSpPr>
          <p:nvPr>
            <p:ph type="title"/>
          </p:nvPr>
        </p:nvSpPr>
        <p:spPr>
          <a:xfrm>
            <a:off x="152400" y="228600"/>
            <a:ext cx="8915400" cy="990600"/>
          </a:xfrm>
        </p:spPr>
        <p:txBody>
          <a:bodyPr>
            <a:normAutofit/>
          </a:bodyPr>
          <a:lstStyle/>
          <a:p>
            <a:pPr>
              <a:defRPr/>
            </a:pPr>
            <a:r>
              <a:rPr lang="en-US" b="1" smtClean="0"/>
              <a:t>Mối quan hệ giữa các dòng điện</a:t>
            </a:r>
            <a:endParaRPr lang="en-US" smtClean="0">
              <a:latin typeface="+mn-lt"/>
            </a:endParaRPr>
          </a:p>
        </p:txBody>
      </p:sp>
      <mc:AlternateContent xmlns:mc="http://schemas.openxmlformats.org/markup-compatibility/2006" xmlns:a14="http://schemas.microsoft.com/office/drawing/2010/main">
        <mc:Choice Requires="a14">
          <p:sp>
            <p:nvSpPr>
              <p:cNvPr id="2" name="Rectangle 1"/>
              <p:cNvSpPr/>
              <p:nvPr/>
            </p:nvSpPr>
            <p:spPr>
              <a:xfrm>
                <a:off x="2895601" y="2743200"/>
                <a:ext cx="3505200" cy="85401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a:rPr>
                          </m:ctrlPr>
                        </m:sSubPr>
                        <m:e>
                          <m:r>
                            <a:rPr lang="en-US" sz="2400" i="1" smtClean="0">
                              <a:latin typeface="Cambria Math"/>
                              <a:ea typeface="Cambria Math"/>
                            </a:rPr>
                            <m:t>𝛽</m:t>
                          </m:r>
                        </m:e>
                        <m:sub>
                          <m:r>
                            <a:rPr lang="en-US" sz="2400" i="1">
                              <a:latin typeface="Cambria Math"/>
                            </a:rPr>
                            <m:t>𝑑𝑐</m:t>
                          </m:r>
                        </m:sub>
                      </m:sSub>
                      <m:r>
                        <a:rPr lang="en-US" sz="2400" i="1">
                          <a:latin typeface="Cambria Math"/>
                        </a:rPr>
                        <m:t>=</m:t>
                      </m:r>
                      <m:f>
                        <m:fPr>
                          <m:ctrlPr>
                            <a:rPr lang="en-US" sz="2400" i="1">
                              <a:latin typeface="Cambria Math"/>
                            </a:rPr>
                          </m:ctrlPr>
                        </m:fPr>
                        <m:num>
                          <m:sSub>
                            <m:sSubPr>
                              <m:ctrlPr>
                                <a:rPr lang="en-US" sz="2400" i="1">
                                  <a:latin typeface="Cambria Math"/>
                                </a:rPr>
                              </m:ctrlPr>
                            </m:sSubPr>
                            <m:e>
                              <m:r>
                                <a:rPr lang="en-US" sz="2400" i="1">
                                  <a:latin typeface="Cambria Math"/>
                                </a:rPr>
                                <m:t>𝐼</m:t>
                              </m:r>
                            </m:e>
                            <m:sub>
                              <m:r>
                                <a:rPr lang="en-US" sz="2400" i="1">
                                  <a:latin typeface="Cambria Math"/>
                                </a:rPr>
                                <m:t>𝐶</m:t>
                              </m:r>
                            </m:sub>
                          </m:sSub>
                        </m:num>
                        <m:den>
                          <m:sSub>
                            <m:sSubPr>
                              <m:ctrlPr>
                                <a:rPr lang="en-US" sz="2400" i="1">
                                  <a:latin typeface="Cambria Math"/>
                                </a:rPr>
                              </m:ctrlPr>
                            </m:sSubPr>
                            <m:e>
                              <m:r>
                                <a:rPr lang="en-US" sz="2400" i="1">
                                  <a:latin typeface="Cambria Math"/>
                                </a:rPr>
                                <m:t>𝐼</m:t>
                              </m:r>
                            </m:e>
                            <m:sub>
                              <m:r>
                                <a:rPr lang="en-US" sz="2400" b="0" i="1" smtClean="0">
                                  <a:latin typeface="Cambria Math"/>
                                </a:rPr>
                                <m:t>𝐵</m:t>
                              </m:r>
                            </m:sub>
                          </m:sSub>
                        </m:den>
                      </m:f>
                      <m:r>
                        <a:rPr lang="en-US" sz="2400" i="1">
                          <a:latin typeface="Cambria Math"/>
                        </a:rPr>
                        <m:t>;</m:t>
                      </m:r>
                      <m:sSub>
                        <m:sSubPr>
                          <m:ctrlPr>
                            <a:rPr lang="en-US" sz="2400" i="1">
                              <a:latin typeface="Cambria Math"/>
                            </a:rPr>
                          </m:ctrlPr>
                        </m:sSubPr>
                        <m:e>
                          <m:r>
                            <a:rPr lang="en-US" sz="2400" i="1">
                              <a:latin typeface="Cambria Math"/>
                            </a:rPr>
                            <m:t>    </m:t>
                          </m:r>
                          <m:r>
                            <a:rPr lang="en-US" sz="2400" i="1" smtClean="0">
                              <a:latin typeface="Cambria Math"/>
                              <a:ea typeface="Cambria Math"/>
                            </a:rPr>
                            <m:t>𝛽</m:t>
                          </m:r>
                        </m:e>
                        <m:sub>
                          <m:r>
                            <a:rPr lang="en-US" sz="2400" b="0" i="1" smtClean="0">
                              <a:latin typeface="Cambria Math"/>
                              <a:ea typeface="Cambria Math"/>
                            </a:rPr>
                            <m:t>𝑎</m:t>
                          </m:r>
                          <m:r>
                            <a:rPr lang="en-US" sz="2400" i="1">
                              <a:latin typeface="Cambria Math"/>
                            </a:rPr>
                            <m:t>𝑐</m:t>
                          </m:r>
                        </m:sub>
                      </m:sSub>
                      <m:r>
                        <a:rPr lang="en-US" sz="2400" i="1">
                          <a:latin typeface="Cambria Math"/>
                        </a:rPr>
                        <m:t>=</m:t>
                      </m:r>
                      <m:f>
                        <m:fPr>
                          <m:ctrlPr>
                            <a:rPr lang="en-US" sz="2400" i="1">
                              <a:latin typeface="Cambria Math"/>
                            </a:rPr>
                          </m:ctrlPr>
                        </m:fPr>
                        <m:num>
                          <m:sSub>
                            <m:sSubPr>
                              <m:ctrlPr>
                                <a:rPr lang="en-US" sz="2400" i="1">
                                  <a:latin typeface="Cambria Math"/>
                                </a:rPr>
                              </m:ctrlPr>
                            </m:sSubPr>
                            <m:e>
                              <m:r>
                                <a:rPr lang="en-US" sz="2400" i="1">
                                  <a:latin typeface="Cambria Math"/>
                                </a:rPr>
                                <m:t>𝑑𝑖</m:t>
                              </m:r>
                            </m:e>
                            <m:sub>
                              <m:r>
                                <a:rPr lang="en-US" sz="2400" i="1">
                                  <a:latin typeface="Cambria Math"/>
                                </a:rPr>
                                <m:t>𝐶</m:t>
                              </m:r>
                            </m:sub>
                          </m:sSub>
                        </m:num>
                        <m:den>
                          <m:sSub>
                            <m:sSubPr>
                              <m:ctrlPr>
                                <a:rPr lang="en-US" sz="2400" i="1">
                                  <a:latin typeface="Cambria Math"/>
                                </a:rPr>
                              </m:ctrlPr>
                            </m:sSubPr>
                            <m:e>
                              <m:r>
                                <a:rPr lang="en-US" sz="2400" i="1">
                                  <a:latin typeface="Cambria Math"/>
                                </a:rPr>
                                <m:t>𝑑𝑖</m:t>
                              </m:r>
                            </m:e>
                            <m:sub>
                              <m:r>
                                <a:rPr lang="en-US" sz="2400" b="0" i="1" smtClean="0">
                                  <a:latin typeface="Cambria Math"/>
                                </a:rPr>
                                <m:t>𝐵</m:t>
                              </m:r>
                            </m:sub>
                          </m:sSub>
                        </m:den>
                      </m:f>
                    </m:oMath>
                  </m:oMathPara>
                </a14:m>
                <a:endParaRPr lang="en-US" sz="2400"/>
              </a:p>
            </p:txBody>
          </p:sp>
        </mc:Choice>
        <mc:Fallback xmlns="">
          <p:sp>
            <p:nvSpPr>
              <p:cNvPr id="2" name="Rectangle 1"/>
              <p:cNvSpPr>
                <a:spLocks noRot="1" noChangeAspect="1" noMove="1" noResize="1" noEditPoints="1" noAdjustHandles="1" noChangeArrowheads="1" noChangeShapeType="1" noTextEdit="1"/>
              </p:cNvSpPr>
              <p:nvPr/>
            </p:nvSpPr>
            <p:spPr>
              <a:xfrm>
                <a:off x="2895601" y="2743200"/>
                <a:ext cx="3505200" cy="854016"/>
              </a:xfrm>
              <a:prstGeom prst="rect">
                <a:avLst/>
              </a:prstGeom>
              <a:blipFill rotWithShape="1">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13351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457200" y="274638"/>
            <a:ext cx="8229600" cy="639762"/>
          </a:xfrm>
        </p:spPr>
        <p:txBody>
          <a:bodyPr>
            <a:noAutofit/>
          </a:bodyPr>
          <a:lstStyle/>
          <a:p>
            <a:r>
              <a:rPr lang="vi-VN" b="1" smtClean="0"/>
              <a:t>Các mạch cơ bản dùng BJT</a:t>
            </a:r>
            <a:endParaRPr lang="en-US" b="1" smtClean="0">
              <a:latin typeface=".VnTime" pitchFamily="34" charset="0"/>
            </a:endParaRPr>
          </a:p>
        </p:txBody>
      </p:sp>
      <p:sp>
        <p:nvSpPr>
          <p:cNvPr id="7172" name="Rectangle 3"/>
          <p:cNvSpPr>
            <a:spLocks noGrp="1" noChangeArrowheads="1"/>
          </p:cNvSpPr>
          <p:nvPr>
            <p:ph type="body" idx="1"/>
          </p:nvPr>
        </p:nvSpPr>
        <p:spPr>
          <a:xfrm>
            <a:off x="533400" y="1219200"/>
            <a:ext cx="8229600" cy="4373563"/>
          </a:xfrm>
        </p:spPr>
        <p:txBody>
          <a:bodyPr/>
          <a:lstStyle/>
          <a:p>
            <a:r>
              <a:rPr lang="vi-VN" sz="2400" smtClean="0"/>
              <a:t>Sơ đồ khối </a:t>
            </a:r>
            <a:r>
              <a:rPr lang="en-US" sz="2400" smtClean="0"/>
              <a:t>của một </a:t>
            </a:r>
            <a:r>
              <a:rPr lang="vi-VN" sz="2400" smtClean="0"/>
              <a:t>mạch khuếch đại</a:t>
            </a:r>
            <a:r>
              <a:rPr lang="en-US" sz="2400" smtClean="0"/>
              <a:t> đơn giản</a:t>
            </a:r>
            <a:endParaRPr lang="vi-VN" sz="2400" smtClean="0"/>
          </a:p>
          <a:p>
            <a:endParaRPr lang="en-US" sz="1800" smtClean="0"/>
          </a:p>
          <a:p>
            <a:endParaRPr lang="en-US" sz="1800" smtClean="0"/>
          </a:p>
          <a:p>
            <a:endParaRPr lang="vi-VN" sz="1800" smtClean="0"/>
          </a:p>
        </p:txBody>
      </p:sp>
      <p:sp>
        <p:nvSpPr>
          <p:cNvPr id="7173" name="Rectangle 5"/>
          <p:cNvSpPr>
            <a:spLocks noChangeArrowheads="1"/>
          </p:cNvSpPr>
          <p:nvPr/>
        </p:nvSpPr>
        <p:spPr bwMode="auto">
          <a:xfrm>
            <a:off x="0" y="2524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graphicFrame>
        <p:nvGraphicFramePr>
          <p:cNvPr id="7170" name="Object 4"/>
          <p:cNvGraphicFramePr>
            <a:graphicFrameLocks noChangeAspect="1"/>
          </p:cNvGraphicFramePr>
          <p:nvPr>
            <p:extLst>
              <p:ext uri="{D42A27DB-BD31-4B8C-83A1-F6EECF244321}">
                <p14:modId xmlns:p14="http://schemas.microsoft.com/office/powerpoint/2010/main" val="560074343"/>
              </p:ext>
            </p:extLst>
          </p:nvPr>
        </p:nvGraphicFramePr>
        <p:xfrm>
          <a:off x="533400" y="1905000"/>
          <a:ext cx="8386763" cy="3810000"/>
        </p:xfrm>
        <a:graphic>
          <a:graphicData uri="http://schemas.openxmlformats.org/presentationml/2006/ole">
            <mc:AlternateContent xmlns:mc="http://schemas.openxmlformats.org/markup-compatibility/2006">
              <mc:Choice xmlns:v="urn:schemas-microsoft-com:vml" Requires="v">
                <p:oleObj spid="_x0000_s22575" name="Visio" r:id="rId3" imgW="5641497" imgH="2137923" progId="Visio.Drawing.11">
                  <p:embed/>
                </p:oleObj>
              </mc:Choice>
              <mc:Fallback>
                <p:oleObj name="Visio" r:id="rId3" imgW="5641497" imgH="2137923"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905000"/>
                        <a:ext cx="8386763" cy="3810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4"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8CBC2EB-BFEA-4F41-BDF9-85EA57827CED}" type="slidenum">
              <a:rPr lang="en-US" smtClean="0"/>
              <a:pPr eaLnBrk="1" hangingPunct="1"/>
              <a:t>16</a:t>
            </a:fld>
            <a:endParaRPr lang="en-US" smtClean="0"/>
          </a:p>
        </p:txBody>
      </p:sp>
    </p:spTree>
    <p:extLst>
      <p:ext uri="{BB962C8B-B14F-4D97-AF65-F5344CB8AC3E}">
        <p14:creationId xmlns:p14="http://schemas.microsoft.com/office/powerpoint/2010/main" val="15486223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strips(upRight)">
                                      <p:cBhvr>
                                        <p:cTn id="7" dur="10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274638"/>
            <a:ext cx="8229600" cy="639762"/>
          </a:xfrm>
        </p:spPr>
        <p:txBody>
          <a:bodyPr>
            <a:noAutofit/>
          </a:bodyPr>
          <a:lstStyle/>
          <a:p>
            <a:r>
              <a:rPr lang="vi-VN" b="1" smtClean="0"/>
              <a:t>Các mạch cơ bản dùng BJT</a:t>
            </a:r>
            <a:endParaRPr lang="en-US" b="1" smtClean="0">
              <a:latin typeface=".VnTime" pitchFamily="34" charset="0"/>
            </a:endParaRPr>
          </a:p>
        </p:txBody>
      </p:sp>
      <p:sp>
        <p:nvSpPr>
          <p:cNvPr id="56323" name="Rectangle 3"/>
          <p:cNvSpPr>
            <a:spLocks noGrp="1" noChangeArrowheads="1"/>
          </p:cNvSpPr>
          <p:nvPr>
            <p:ph type="body" idx="1"/>
          </p:nvPr>
        </p:nvSpPr>
        <p:spPr>
          <a:xfrm>
            <a:off x="533400" y="1295400"/>
            <a:ext cx="8229600" cy="4297363"/>
          </a:xfrm>
        </p:spPr>
        <p:txBody>
          <a:bodyPr>
            <a:normAutofit lnSpcReduction="10000"/>
          </a:bodyPr>
          <a:lstStyle/>
          <a:p>
            <a:pPr>
              <a:buFontTx/>
              <a:buNone/>
            </a:pPr>
            <a:r>
              <a:rPr lang="vi-VN" sz="2400" b="1" u="sng" smtClean="0">
                <a:solidFill>
                  <a:srgbClr val="C00000"/>
                </a:solidFill>
              </a:rPr>
              <a:t>Có 3 cách mắc cơ bản</a:t>
            </a:r>
          </a:p>
          <a:p>
            <a:r>
              <a:rPr lang="en-US" sz="2400" smtClean="0"/>
              <a:t>Mạch Emitter chung (EC)</a:t>
            </a:r>
          </a:p>
          <a:p>
            <a:endParaRPr lang="en-US" sz="2400" smtClean="0"/>
          </a:p>
          <a:p>
            <a:endParaRPr lang="en-US" sz="2400" smtClean="0"/>
          </a:p>
          <a:p>
            <a:endParaRPr lang="en-US" sz="2400" smtClean="0"/>
          </a:p>
          <a:p>
            <a:r>
              <a:rPr lang="en-US" sz="2400" smtClean="0"/>
              <a:t>Mạch Collector chung (CC)</a:t>
            </a:r>
          </a:p>
          <a:p>
            <a:endParaRPr lang="en-US" sz="2400" smtClean="0"/>
          </a:p>
          <a:p>
            <a:endParaRPr lang="en-US" sz="2400" smtClean="0"/>
          </a:p>
          <a:p>
            <a:endParaRPr lang="en-US" sz="2400" smtClean="0"/>
          </a:p>
          <a:p>
            <a:r>
              <a:rPr lang="vi-VN" sz="2400" smtClean="0"/>
              <a:t>Mạch Bazơ chung (BC)</a:t>
            </a:r>
          </a:p>
        </p:txBody>
      </p:sp>
      <p:sp>
        <p:nvSpPr>
          <p:cNvPr id="56324" name="Rectangle 5"/>
          <p:cNvSpPr>
            <a:spLocks noChangeArrowheads="1"/>
          </p:cNvSpPr>
          <p:nvPr/>
        </p:nvSpPr>
        <p:spPr bwMode="auto">
          <a:xfrm>
            <a:off x="0" y="2524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632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2B03899-5DC8-4260-9BF0-A0A557CF7936}" type="slidenum">
              <a:rPr lang="en-US" smtClean="0"/>
              <a:pPr eaLnBrk="1" hangingPunct="1"/>
              <a:t>17</a:t>
            </a:fld>
            <a:endParaRPr lang="en-US" smtClean="0"/>
          </a:p>
        </p:txBody>
      </p:sp>
      <p:pic>
        <p:nvPicPr>
          <p:cNvPr id="56326"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914400"/>
            <a:ext cx="2514600" cy="180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7"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2897641"/>
            <a:ext cx="2682875" cy="19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8"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4887686"/>
            <a:ext cx="3211513" cy="177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56190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nodeType="afterEffect">
                                  <p:stCondLst>
                                    <p:cond delay="0"/>
                                  </p:stCondLst>
                                  <p:childTnLst>
                                    <p:set>
                                      <p:cBhvr>
                                        <p:cTn id="6" dur="1" fill="hold">
                                          <p:stCondLst>
                                            <p:cond delay="0"/>
                                          </p:stCondLst>
                                        </p:cTn>
                                        <p:tgtEl>
                                          <p:spTgt spid="56326"/>
                                        </p:tgtEl>
                                        <p:attrNameLst>
                                          <p:attrName>style.visibility</p:attrName>
                                        </p:attrNameLst>
                                      </p:cBhvr>
                                      <p:to>
                                        <p:strVal val="visible"/>
                                      </p:to>
                                    </p:set>
                                    <p:animEffect transition="in" filter="diamond(in)">
                                      <p:cBhvr>
                                        <p:cTn id="7" dur="2000"/>
                                        <p:tgtEl>
                                          <p:spTgt spid="563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xit" presetSubtype="16" fill="hold" nodeType="clickEffect">
                                  <p:stCondLst>
                                    <p:cond delay="0"/>
                                  </p:stCondLst>
                                  <p:childTnLst>
                                    <p:animEffect transition="out" filter="box(in)">
                                      <p:cBhvr>
                                        <p:cTn id="11" dur="500"/>
                                        <p:tgtEl>
                                          <p:spTgt spid="56326"/>
                                        </p:tgtEl>
                                      </p:cBhvr>
                                    </p:animEffect>
                                    <p:set>
                                      <p:cBhvr>
                                        <p:cTn id="12" dur="1" fill="hold">
                                          <p:stCondLst>
                                            <p:cond delay="499"/>
                                          </p:stCondLst>
                                        </p:cTn>
                                        <p:tgtEl>
                                          <p:spTgt spid="56326"/>
                                        </p:tgtEl>
                                        <p:attrNameLst>
                                          <p:attrName>style.visibility</p:attrName>
                                        </p:attrNameLst>
                                      </p:cBhvr>
                                      <p:to>
                                        <p:strVal val="hidden"/>
                                      </p:to>
                                    </p:se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56327"/>
                                        </p:tgtEl>
                                        <p:attrNameLst>
                                          <p:attrName>style.visibility</p:attrName>
                                        </p:attrNameLst>
                                      </p:cBhvr>
                                      <p:to>
                                        <p:strVal val="visible"/>
                                      </p:to>
                                    </p:set>
                                    <p:animEffect transition="in" filter="dissolve">
                                      <p:cBhvr>
                                        <p:cTn id="16" dur="500"/>
                                        <p:tgtEl>
                                          <p:spTgt spid="5632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xit" presetSubtype="2" fill="hold" nodeType="clickEffect">
                                  <p:stCondLst>
                                    <p:cond delay="0"/>
                                  </p:stCondLst>
                                  <p:childTnLst>
                                    <p:anim calcmode="lin" valueType="num">
                                      <p:cBhvr additive="base">
                                        <p:cTn id="20" dur="500"/>
                                        <p:tgtEl>
                                          <p:spTgt spid="56327"/>
                                        </p:tgtEl>
                                        <p:attrNameLst>
                                          <p:attrName>ppt_x</p:attrName>
                                        </p:attrNameLst>
                                      </p:cBhvr>
                                      <p:tavLst>
                                        <p:tav tm="0">
                                          <p:val>
                                            <p:strVal val="ppt_x"/>
                                          </p:val>
                                        </p:tav>
                                        <p:tav tm="100000">
                                          <p:val>
                                            <p:strVal val="1+ppt_w/2"/>
                                          </p:val>
                                        </p:tav>
                                      </p:tavLst>
                                    </p:anim>
                                    <p:anim calcmode="lin" valueType="num">
                                      <p:cBhvr additive="base">
                                        <p:cTn id="21" dur="500"/>
                                        <p:tgtEl>
                                          <p:spTgt spid="56327"/>
                                        </p:tgtEl>
                                        <p:attrNameLst>
                                          <p:attrName>ppt_y</p:attrName>
                                        </p:attrNameLst>
                                      </p:cBhvr>
                                      <p:tavLst>
                                        <p:tav tm="0">
                                          <p:val>
                                            <p:strVal val="ppt_y"/>
                                          </p:val>
                                        </p:tav>
                                        <p:tav tm="100000">
                                          <p:val>
                                            <p:strVal val="ppt_y"/>
                                          </p:val>
                                        </p:tav>
                                      </p:tavLst>
                                    </p:anim>
                                    <p:set>
                                      <p:cBhvr>
                                        <p:cTn id="22" dur="1" fill="hold">
                                          <p:stCondLst>
                                            <p:cond delay="499"/>
                                          </p:stCondLst>
                                        </p:cTn>
                                        <p:tgtEl>
                                          <p:spTgt spid="56327"/>
                                        </p:tgtEl>
                                        <p:attrNameLst>
                                          <p:attrName>style.visibility</p:attrName>
                                        </p:attrNameLst>
                                      </p:cBhvr>
                                      <p:to>
                                        <p:strVal val="hidden"/>
                                      </p:to>
                                    </p:set>
                                  </p:childTnLst>
                                </p:cTn>
                              </p:par>
                            </p:childTnLst>
                          </p:cTn>
                        </p:par>
                        <p:par>
                          <p:cTn id="23" fill="hold" nodeType="afterGroup">
                            <p:stCondLst>
                              <p:cond delay="500"/>
                            </p:stCondLst>
                            <p:childTnLst>
                              <p:par>
                                <p:cTn id="24" presetID="3" presetClass="entr" presetSubtype="10" fill="hold" nodeType="afterEffect">
                                  <p:stCondLst>
                                    <p:cond delay="0"/>
                                  </p:stCondLst>
                                  <p:childTnLst>
                                    <p:set>
                                      <p:cBhvr>
                                        <p:cTn id="25" dur="1" fill="hold">
                                          <p:stCondLst>
                                            <p:cond delay="0"/>
                                          </p:stCondLst>
                                        </p:cTn>
                                        <p:tgtEl>
                                          <p:spTgt spid="56328"/>
                                        </p:tgtEl>
                                        <p:attrNameLst>
                                          <p:attrName>style.visibility</p:attrName>
                                        </p:attrNameLst>
                                      </p:cBhvr>
                                      <p:to>
                                        <p:strVal val="visible"/>
                                      </p:to>
                                    </p:set>
                                    <p:animEffect transition="in" filter="blinds(horizontal)">
                                      <p:cBhvr>
                                        <p:cTn id="26" dur="500"/>
                                        <p:tgtEl>
                                          <p:spTgt spid="563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56326"/>
                                        </p:tgtEl>
                                        <p:attrNameLst>
                                          <p:attrName>style.visibility</p:attrName>
                                        </p:attrNameLst>
                                      </p:cBhvr>
                                      <p:to>
                                        <p:strVal val="visible"/>
                                      </p:to>
                                    </p:set>
                                    <p:anim calcmode="lin" valueType="num">
                                      <p:cBhvr additive="base">
                                        <p:cTn id="31" dur="500" fill="hold"/>
                                        <p:tgtEl>
                                          <p:spTgt spid="56326"/>
                                        </p:tgtEl>
                                        <p:attrNameLst>
                                          <p:attrName>ppt_x</p:attrName>
                                        </p:attrNameLst>
                                      </p:cBhvr>
                                      <p:tavLst>
                                        <p:tav tm="0">
                                          <p:val>
                                            <p:strVal val="1+#ppt_w/2"/>
                                          </p:val>
                                        </p:tav>
                                        <p:tav tm="100000">
                                          <p:val>
                                            <p:strVal val="#ppt_x"/>
                                          </p:val>
                                        </p:tav>
                                      </p:tavLst>
                                    </p:anim>
                                    <p:anim calcmode="lin" valueType="num">
                                      <p:cBhvr additive="base">
                                        <p:cTn id="32" dur="500" fill="hold"/>
                                        <p:tgtEl>
                                          <p:spTgt spid="56326"/>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56327"/>
                                        </p:tgtEl>
                                        <p:attrNameLst>
                                          <p:attrName>style.visibility</p:attrName>
                                        </p:attrNameLst>
                                      </p:cBhvr>
                                      <p:to>
                                        <p:strVal val="visible"/>
                                      </p:to>
                                    </p:set>
                                    <p:anim calcmode="lin" valueType="num">
                                      <p:cBhvr additive="base">
                                        <p:cTn id="35" dur="500" fill="hold"/>
                                        <p:tgtEl>
                                          <p:spTgt spid="56327"/>
                                        </p:tgtEl>
                                        <p:attrNameLst>
                                          <p:attrName>ppt_x</p:attrName>
                                        </p:attrNameLst>
                                      </p:cBhvr>
                                      <p:tavLst>
                                        <p:tav tm="0">
                                          <p:val>
                                            <p:strVal val="1+#ppt_w/2"/>
                                          </p:val>
                                        </p:tav>
                                        <p:tav tm="100000">
                                          <p:val>
                                            <p:strVal val="#ppt_x"/>
                                          </p:val>
                                        </p:tav>
                                      </p:tavLst>
                                    </p:anim>
                                    <p:anim calcmode="lin" valueType="num">
                                      <p:cBhvr additive="base">
                                        <p:cTn id="36" dur="500" fill="hold"/>
                                        <p:tgtEl>
                                          <p:spTgt spid="563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609600" y="457200"/>
            <a:ext cx="8229600" cy="838200"/>
          </a:xfrm>
        </p:spPr>
        <p:txBody>
          <a:bodyPr>
            <a:normAutofit/>
          </a:bodyPr>
          <a:lstStyle/>
          <a:p>
            <a:r>
              <a:rPr lang="en-US" b="1" smtClean="0">
                <a:latin typeface="Constantia" pitchFamily="18" charset="0"/>
              </a:rPr>
              <a:t>Mạch Emitter chung (CE)</a:t>
            </a:r>
          </a:p>
        </p:txBody>
      </p:sp>
      <p:sp>
        <p:nvSpPr>
          <p:cNvPr id="57347" name="Rectangle 6"/>
          <p:cNvSpPr>
            <a:spLocks noGrp="1" noChangeArrowheads="1"/>
          </p:cNvSpPr>
          <p:nvPr>
            <p:ph type="body" sz="half" idx="4294967295"/>
          </p:nvPr>
        </p:nvSpPr>
        <p:spPr>
          <a:xfrm>
            <a:off x="457200" y="1295400"/>
            <a:ext cx="4114800" cy="4343400"/>
          </a:xfrm>
          <a:prstGeom prst="rect">
            <a:avLst/>
          </a:prstGeom>
        </p:spPr>
        <p:txBody>
          <a:bodyPr/>
          <a:lstStyle/>
          <a:p>
            <a:pPr>
              <a:buClr>
                <a:srgbClr val="C00000"/>
              </a:buClr>
              <a:buFont typeface="Wingdings" pitchFamily="2" charset="2"/>
              <a:buChar char="Ø"/>
            </a:pPr>
            <a:r>
              <a:rPr lang="en-US" sz="2000" smtClean="0"/>
              <a:t> </a:t>
            </a:r>
            <a:r>
              <a:rPr lang="en-US" smtClean="0">
                <a:latin typeface="Constantia" pitchFamily="18" charset="0"/>
              </a:rPr>
              <a:t>T</a:t>
            </a:r>
            <a:r>
              <a:rPr lang="vi-VN" smtClean="0">
                <a:latin typeface="Constantia" pitchFamily="18" charset="0"/>
              </a:rPr>
              <a:t>ín hiệu </a:t>
            </a:r>
            <a:r>
              <a:rPr lang="en-US" smtClean="0">
                <a:latin typeface="Constantia" pitchFamily="18" charset="0"/>
              </a:rPr>
              <a:t>đ</a:t>
            </a:r>
            <a:r>
              <a:rPr lang="vi-VN" smtClean="0">
                <a:latin typeface="Constantia" pitchFamily="18" charset="0"/>
              </a:rPr>
              <a:t>iện áp xoay chiều cần khuếch đại được đưa vào giữa cực gốc (B) và cực phát (E) . Tín hiệu sau khi khuếch đại được lấy ra giữa cực góp (C) và cực phát (E).</a:t>
            </a:r>
            <a:endParaRPr lang="en-US" smtClean="0">
              <a:latin typeface="Constantia" pitchFamily="18" charset="0"/>
            </a:endParaRPr>
          </a:p>
          <a:p>
            <a:pPr>
              <a:buClr>
                <a:srgbClr val="C00000"/>
              </a:buClr>
              <a:buFont typeface="Wingdings" pitchFamily="2" charset="2"/>
              <a:buChar char="Ø"/>
            </a:pPr>
            <a:r>
              <a:rPr lang="en-US" smtClean="0">
                <a:latin typeface="Constantia" pitchFamily="18" charset="0"/>
              </a:rPr>
              <a:t>Sơ đồ này có khả năng khuếch đại cả dòng và áp.</a:t>
            </a:r>
          </a:p>
          <a:p>
            <a:pPr>
              <a:buClr>
                <a:srgbClr val="C00000"/>
              </a:buClr>
              <a:buFont typeface="Wingdings" pitchFamily="2" charset="2"/>
              <a:buChar char="Ø"/>
            </a:pPr>
            <a:r>
              <a:rPr lang="en-US" smtClean="0">
                <a:latin typeface="Constantia" pitchFamily="18" charset="0"/>
              </a:rPr>
              <a:t>Tín hiệu điện áp ra và điện áp vào đảo pha</a:t>
            </a:r>
            <a:endParaRPr lang="vi-VN" smtClean="0">
              <a:latin typeface="Constantia" pitchFamily="18" charset="0"/>
            </a:endParaRPr>
          </a:p>
          <a:p>
            <a:endParaRPr lang="en-US" sz="2000" smtClean="0">
              <a:latin typeface="Constantia" pitchFamily="18" charset="0"/>
            </a:endParaRPr>
          </a:p>
          <a:p>
            <a:endParaRPr lang="en-US" sz="2000" smtClean="0"/>
          </a:p>
          <a:p>
            <a:endParaRPr lang="en-US" sz="2000" smtClean="0"/>
          </a:p>
          <a:p>
            <a:endParaRPr lang="en-US" sz="2000" smtClean="0"/>
          </a:p>
          <a:p>
            <a:endParaRPr lang="en-US" sz="2000" smtClean="0"/>
          </a:p>
          <a:p>
            <a:endParaRPr lang="en-US" sz="2000" smtClean="0"/>
          </a:p>
        </p:txBody>
      </p:sp>
      <p:sp>
        <p:nvSpPr>
          <p:cNvPr id="57348"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7349" name="Rectangle 11"/>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7350" name="Rectangle 13"/>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7351"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11440B9-9EFE-4E70-8E6F-A7CCA3399853}" type="slidenum">
              <a:rPr lang="en-US" smtClean="0"/>
              <a:pPr eaLnBrk="1" hangingPunct="1"/>
              <a:t>18</a:t>
            </a:fld>
            <a:endParaRPr lang="en-US" smtClean="0"/>
          </a:p>
        </p:txBody>
      </p:sp>
      <p:pic>
        <p:nvPicPr>
          <p:cNvPr id="57352" name="Picture 12" descr="Common Emitter Amplifier Circuit"/>
          <p:cNvPicPr>
            <a:picLocks noChangeAspect="1" noChangeArrowheads="1"/>
          </p:cNvPicPr>
          <p:nvPr/>
        </p:nvPicPr>
        <p:blipFill>
          <a:blip r:embed="rId2">
            <a:lum bright="-30000" contrast="-40000"/>
            <a:extLst>
              <a:ext uri="{28A0092B-C50C-407E-A947-70E740481C1C}">
                <a14:useLocalDpi xmlns:a14="http://schemas.microsoft.com/office/drawing/2010/main" val="0"/>
              </a:ext>
            </a:extLst>
          </a:blip>
          <a:srcRect/>
          <a:stretch>
            <a:fillRect/>
          </a:stretch>
        </p:blipFill>
        <p:spPr bwMode="auto">
          <a:xfrm>
            <a:off x="4800600" y="1743868"/>
            <a:ext cx="3890962"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20554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nodeType="afterEffect">
                                  <p:stCondLst>
                                    <p:cond delay="0"/>
                                  </p:stCondLst>
                                  <p:childTnLst>
                                    <p:set>
                                      <p:cBhvr>
                                        <p:cTn id="6" dur="1" fill="hold">
                                          <p:stCondLst>
                                            <p:cond delay="0"/>
                                          </p:stCondLst>
                                        </p:cTn>
                                        <p:tgtEl>
                                          <p:spTgt spid="57352"/>
                                        </p:tgtEl>
                                        <p:attrNameLst>
                                          <p:attrName>style.visibility</p:attrName>
                                        </p:attrNameLst>
                                      </p:cBhvr>
                                      <p:to>
                                        <p:strVal val="visible"/>
                                      </p:to>
                                    </p:set>
                                    <p:animEffect transition="in" filter="diamond(in)">
                                      <p:cBhvr>
                                        <p:cTn id="7" dur="2000"/>
                                        <p:tgtEl>
                                          <p:spTgt spid="57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39"/>
          <p:cNvSpPr>
            <a:spLocks noGrp="1" noChangeArrowheads="1"/>
          </p:cNvSpPr>
          <p:nvPr>
            <p:ph type="body" sz="half" idx="4294967295"/>
          </p:nvPr>
        </p:nvSpPr>
        <p:spPr>
          <a:xfrm>
            <a:off x="457200" y="1447800"/>
            <a:ext cx="4038600" cy="4525963"/>
          </a:xfrm>
          <a:prstGeom prst="rect">
            <a:avLst/>
          </a:prstGeom>
        </p:spPr>
        <p:txBody>
          <a:bodyPr/>
          <a:lstStyle/>
          <a:p>
            <a:r>
              <a:rPr lang="vi-VN" smtClean="0">
                <a:latin typeface="Constantia" pitchFamily="18" charset="0"/>
              </a:rPr>
              <a:t>Họ đặc tuyến vào</a:t>
            </a:r>
          </a:p>
        </p:txBody>
      </p:sp>
      <p:sp>
        <p:nvSpPr>
          <p:cNvPr id="8198" name="Rectangle 2"/>
          <p:cNvSpPr>
            <a:spLocks noGrp="1" noChangeArrowheads="1"/>
          </p:cNvSpPr>
          <p:nvPr>
            <p:ph type="title"/>
          </p:nvPr>
        </p:nvSpPr>
        <p:spPr/>
        <p:txBody>
          <a:bodyPr/>
          <a:lstStyle/>
          <a:p>
            <a:r>
              <a:rPr lang="vi-VN" b="1" smtClean="0">
                <a:latin typeface="Constantia" pitchFamily="18" charset="0"/>
              </a:rPr>
              <a:t>Họ đặc tuyến vào/ra mạch </a:t>
            </a:r>
            <a:r>
              <a:rPr lang="en-US" b="1" smtClean="0">
                <a:latin typeface="Constantia" pitchFamily="18" charset="0"/>
              </a:rPr>
              <a:t>CE</a:t>
            </a:r>
          </a:p>
        </p:txBody>
      </p:sp>
      <p:sp>
        <p:nvSpPr>
          <p:cNvPr id="8199" name="Rectangle 4"/>
          <p:cNvSpPr>
            <a:spLocks noGrp="1" noChangeArrowheads="1"/>
          </p:cNvSpPr>
          <p:nvPr>
            <p:ph type="body" sz="half" idx="4294967295"/>
          </p:nvPr>
        </p:nvSpPr>
        <p:spPr>
          <a:xfrm>
            <a:off x="4648200" y="1447800"/>
            <a:ext cx="4040188" cy="4525963"/>
          </a:xfrm>
          <a:prstGeom prst="rect">
            <a:avLst/>
          </a:prstGeom>
        </p:spPr>
        <p:txBody>
          <a:bodyPr/>
          <a:lstStyle/>
          <a:p>
            <a:r>
              <a:rPr lang="vi-VN" i="1" smtClean="0">
                <a:latin typeface="Constantia" pitchFamily="18" charset="0"/>
              </a:rPr>
              <a:t>Họ đặc tuyến ra</a:t>
            </a:r>
          </a:p>
        </p:txBody>
      </p:sp>
      <p:graphicFrame>
        <p:nvGraphicFramePr>
          <p:cNvPr id="8194" name="Object 5"/>
          <p:cNvGraphicFramePr>
            <a:graphicFrameLocks noGrp="1" noChangeAspect="1"/>
          </p:cNvGraphicFramePr>
          <p:nvPr>
            <p:ph sz="half" idx="4294967295"/>
            <p:extLst>
              <p:ext uri="{D42A27DB-BD31-4B8C-83A1-F6EECF244321}">
                <p14:modId xmlns:p14="http://schemas.microsoft.com/office/powerpoint/2010/main" val="986509359"/>
              </p:ext>
            </p:extLst>
          </p:nvPr>
        </p:nvGraphicFramePr>
        <p:xfrm>
          <a:off x="1417638" y="1981200"/>
          <a:ext cx="2114550" cy="500063"/>
        </p:xfrm>
        <a:graphic>
          <a:graphicData uri="http://schemas.openxmlformats.org/presentationml/2006/ole">
            <mc:AlternateContent xmlns:mc="http://schemas.openxmlformats.org/markup-compatibility/2006">
              <mc:Choice xmlns:v="urn:schemas-microsoft-com:vml" Requires="v">
                <p:oleObj spid="_x0000_s23689" name="Equation" r:id="rId3" imgW="1180800" imgH="279360" progId="Equation.DSMT4">
                  <p:embed/>
                </p:oleObj>
              </mc:Choice>
              <mc:Fallback>
                <p:oleObj name="Equation" r:id="rId3" imgW="1180800" imgH="279360" progId="Equation.DSMT4">
                  <p:embed/>
                  <p:pic>
                    <p:nvPicPr>
                      <p:cNvPr id="0" name=""/>
                      <p:cNvPicPr>
                        <a:picLocks noChangeAspect="1" noChangeArrowheads="1"/>
                      </p:cNvPicPr>
                      <p:nvPr/>
                    </p:nvPicPr>
                    <p:blipFill>
                      <a:blip r:embed="rId4"/>
                      <a:srcRect/>
                      <a:stretch>
                        <a:fillRect/>
                      </a:stretch>
                    </p:blipFill>
                    <p:spPr bwMode="auto">
                      <a:xfrm>
                        <a:off x="1417638" y="1981200"/>
                        <a:ext cx="211455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200"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2438400"/>
            <a:ext cx="3278188" cy="353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195" name="Object 41"/>
          <p:cNvGraphicFramePr>
            <a:graphicFrameLocks noChangeAspect="1"/>
          </p:cNvGraphicFramePr>
          <p:nvPr>
            <p:extLst>
              <p:ext uri="{D42A27DB-BD31-4B8C-83A1-F6EECF244321}">
                <p14:modId xmlns:p14="http://schemas.microsoft.com/office/powerpoint/2010/main" val="4257883000"/>
              </p:ext>
            </p:extLst>
          </p:nvPr>
        </p:nvGraphicFramePr>
        <p:xfrm>
          <a:off x="5292725" y="1981200"/>
          <a:ext cx="2136775" cy="534988"/>
        </p:xfrm>
        <a:graphic>
          <a:graphicData uri="http://schemas.openxmlformats.org/presentationml/2006/ole">
            <mc:AlternateContent xmlns:mc="http://schemas.openxmlformats.org/markup-compatibility/2006">
              <mc:Choice xmlns:v="urn:schemas-microsoft-com:vml" Requires="v">
                <p:oleObj spid="_x0000_s23690" name="Equation" r:id="rId6" imgW="1130040" imgH="279360" progId="Equation.DSMT4">
                  <p:embed/>
                </p:oleObj>
              </mc:Choice>
              <mc:Fallback>
                <p:oleObj name="Equation" r:id="rId6" imgW="1130040" imgH="279360" progId="Equation.DSMT4">
                  <p:embed/>
                  <p:pic>
                    <p:nvPicPr>
                      <p:cNvPr id="0" name=""/>
                      <p:cNvPicPr>
                        <a:picLocks noChangeAspect="1" noChangeArrowheads="1"/>
                      </p:cNvPicPr>
                      <p:nvPr/>
                    </p:nvPicPr>
                    <p:blipFill>
                      <a:blip r:embed="rId7"/>
                      <a:srcRect/>
                      <a:stretch>
                        <a:fillRect/>
                      </a:stretch>
                    </p:blipFill>
                    <p:spPr bwMode="auto">
                      <a:xfrm>
                        <a:off x="5292725" y="1981200"/>
                        <a:ext cx="21367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6" name="Object 42"/>
          <p:cNvGraphicFramePr>
            <a:graphicFrameLocks noChangeAspect="1"/>
          </p:cNvGraphicFramePr>
          <p:nvPr/>
        </p:nvGraphicFramePr>
        <p:xfrm>
          <a:off x="4800600" y="2717800"/>
          <a:ext cx="4038600" cy="3063875"/>
        </p:xfrm>
        <a:graphic>
          <a:graphicData uri="http://schemas.openxmlformats.org/presentationml/2006/ole">
            <mc:AlternateContent xmlns:mc="http://schemas.openxmlformats.org/markup-compatibility/2006">
              <mc:Choice xmlns:v="urn:schemas-microsoft-com:vml" Requires="v">
                <p:oleObj spid="_x0000_s23691" name="Visio" r:id="rId8" imgW="3803904" imgH="2886151" progId="Visio.Drawing.11">
                  <p:embed/>
                </p:oleObj>
              </mc:Choice>
              <mc:Fallback>
                <p:oleObj name="Visio" r:id="rId8" imgW="3803904" imgH="2886151" progId="Visio.Drawing.1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0" y="2717800"/>
                        <a:ext cx="4038600" cy="306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01"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83CE3F5-63CE-4923-A7D9-DDB0B033BE6F}" type="slidenum">
              <a:rPr lang="en-US" smtClean="0"/>
              <a:pPr eaLnBrk="1" hangingPunct="1"/>
              <a:t>19</a:t>
            </a:fld>
            <a:endParaRPr lang="en-US" smtClean="0"/>
          </a:p>
        </p:txBody>
      </p:sp>
    </p:spTree>
    <p:extLst>
      <p:ext uri="{BB962C8B-B14F-4D97-AF65-F5344CB8AC3E}">
        <p14:creationId xmlns:p14="http://schemas.microsoft.com/office/powerpoint/2010/main" val="29538926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197">
                                            <p:txEl>
                                              <p:pRg st="0" end="0"/>
                                            </p:txEl>
                                          </p:spTgt>
                                        </p:tgtEl>
                                        <p:attrNameLst>
                                          <p:attrName>style.visibility</p:attrName>
                                        </p:attrNameLst>
                                      </p:cBhvr>
                                      <p:to>
                                        <p:strVal val="visible"/>
                                      </p:to>
                                    </p:set>
                                    <p:animEffect transition="in" filter="checkerboard(across)">
                                      <p:cBhvr>
                                        <p:cTn id="7" dur="1000"/>
                                        <p:tgtEl>
                                          <p:spTgt spid="8197">
                                            <p:txEl>
                                              <p:pRg st="0" end="0"/>
                                            </p:txEl>
                                          </p:spTgt>
                                        </p:tgtEl>
                                      </p:cBhvr>
                                    </p:animEffect>
                                  </p:childTnLst>
                                </p:cTn>
                              </p:par>
                            </p:childTnLst>
                          </p:cTn>
                        </p:par>
                        <p:par>
                          <p:cTn id="8" fill="hold" nodeType="afterGroup">
                            <p:stCondLst>
                              <p:cond delay="1000"/>
                            </p:stCondLst>
                            <p:childTnLst>
                              <p:par>
                                <p:cTn id="9" presetID="5" presetClass="entr" presetSubtype="10" fill="hold" nodeType="afterEffect">
                                  <p:stCondLst>
                                    <p:cond delay="0"/>
                                  </p:stCondLst>
                                  <p:childTnLst>
                                    <p:set>
                                      <p:cBhvr>
                                        <p:cTn id="10" dur="1" fill="hold">
                                          <p:stCondLst>
                                            <p:cond delay="0"/>
                                          </p:stCondLst>
                                        </p:cTn>
                                        <p:tgtEl>
                                          <p:spTgt spid="8200"/>
                                        </p:tgtEl>
                                        <p:attrNameLst>
                                          <p:attrName>style.visibility</p:attrName>
                                        </p:attrNameLst>
                                      </p:cBhvr>
                                      <p:to>
                                        <p:strVal val="visible"/>
                                      </p:to>
                                    </p:set>
                                    <p:animEffect transition="in" filter="checkerboard(across)">
                                      <p:cBhvr>
                                        <p:cTn id="11" dur="1000"/>
                                        <p:tgtEl>
                                          <p:spTgt spid="820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199">
                                            <p:txEl>
                                              <p:pRg st="0" end="0"/>
                                            </p:txEl>
                                          </p:spTgt>
                                        </p:tgtEl>
                                        <p:attrNameLst>
                                          <p:attrName>style.visibility</p:attrName>
                                        </p:attrNameLst>
                                      </p:cBhvr>
                                      <p:to>
                                        <p:strVal val="visible"/>
                                      </p:to>
                                    </p:set>
                                    <p:animEffect transition="in" filter="dissolve">
                                      <p:cBhvr>
                                        <p:cTn id="16" dur="500"/>
                                        <p:tgtEl>
                                          <p:spTgt spid="8199">
                                            <p:txEl>
                                              <p:pRg st="0" end="0"/>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8196"/>
                                        </p:tgtEl>
                                        <p:attrNameLst>
                                          <p:attrName>style.visibility</p:attrName>
                                        </p:attrNameLst>
                                      </p:cBhvr>
                                      <p:to>
                                        <p:strVal val="visible"/>
                                      </p:to>
                                    </p:set>
                                    <p:animEffect transition="in" filter="dissolve">
                                      <p:cBhvr>
                                        <p:cTn id="19"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build="p"/>
      <p:bldP spid="819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57200" y="304800"/>
            <a:ext cx="8229600" cy="838200"/>
          </a:xfrm>
        </p:spPr>
        <p:txBody>
          <a:bodyPr>
            <a:normAutofit/>
          </a:bodyPr>
          <a:lstStyle/>
          <a:p>
            <a:r>
              <a:rPr lang="en-US" b="1" smtClean="0">
                <a:latin typeface="Constantia" pitchFamily="18" charset="0"/>
              </a:rPr>
              <a:t>Mạch Base chung (CB)</a:t>
            </a:r>
          </a:p>
        </p:txBody>
      </p:sp>
      <p:sp>
        <p:nvSpPr>
          <p:cNvPr id="58371" name="Rectangle 3"/>
          <p:cNvSpPr>
            <a:spLocks noGrp="1" noChangeArrowheads="1"/>
          </p:cNvSpPr>
          <p:nvPr>
            <p:ph type="body" sz="half" idx="4294967295"/>
          </p:nvPr>
        </p:nvSpPr>
        <p:spPr>
          <a:xfrm>
            <a:off x="228600" y="1219200"/>
            <a:ext cx="4343400" cy="5638800"/>
          </a:xfrm>
          <a:prstGeom prst="rect">
            <a:avLst/>
          </a:prstGeom>
        </p:spPr>
        <p:txBody>
          <a:bodyPr/>
          <a:lstStyle/>
          <a:p>
            <a:pPr>
              <a:buClr>
                <a:srgbClr val="C00000"/>
              </a:buClr>
              <a:buFont typeface="Wingdings" pitchFamily="2" charset="2"/>
              <a:buChar char="Ø"/>
            </a:pPr>
            <a:r>
              <a:rPr lang="vi-VN" smtClean="0">
                <a:latin typeface="Constantia" pitchFamily="18" charset="0"/>
              </a:rPr>
              <a:t>Tín hiệu xoay chiều được đưa vào cực Emit</a:t>
            </a:r>
            <a:r>
              <a:rPr lang="en-US" smtClean="0">
                <a:latin typeface="Constantia" pitchFamily="18" charset="0"/>
              </a:rPr>
              <a:t>ơ</a:t>
            </a:r>
            <a:r>
              <a:rPr lang="vi-VN" smtClean="0">
                <a:latin typeface="Constantia" pitchFamily="18" charset="0"/>
              </a:rPr>
              <a:t>. Tín hiệu sau khi khuếch đại được lấy ra giữa Colecto và Bazơ.</a:t>
            </a:r>
            <a:endParaRPr lang="en-US">
              <a:latin typeface="Constantia" pitchFamily="18" charset="0"/>
            </a:endParaRPr>
          </a:p>
          <a:p>
            <a:pPr>
              <a:buClr>
                <a:srgbClr val="C00000"/>
              </a:buClr>
              <a:buFont typeface="Wingdings" pitchFamily="2" charset="2"/>
              <a:buChar char="Ø"/>
            </a:pPr>
            <a:r>
              <a:rPr lang="vi-VN" smtClean="0">
                <a:latin typeface="Constantia" pitchFamily="18" charset="0"/>
              </a:rPr>
              <a:t>Tín hiệu vào và tín hiệu ra đồng pha</a:t>
            </a:r>
            <a:endParaRPr lang="en-US" smtClean="0">
              <a:latin typeface="Constantia" pitchFamily="18" charset="0"/>
            </a:endParaRPr>
          </a:p>
          <a:p>
            <a:pPr>
              <a:buClr>
                <a:srgbClr val="C00000"/>
              </a:buClr>
              <a:buFont typeface="Wingdings" pitchFamily="2" charset="2"/>
              <a:buChar char="Ø"/>
            </a:pPr>
            <a:r>
              <a:rPr lang="vi-VN" smtClean="0">
                <a:latin typeface="Constantia" pitchFamily="18" charset="0"/>
              </a:rPr>
              <a:t>Hệ số khuếch đại dòng K</a:t>
            </a:r>
            <a:r>
              <a:rPr lang="vi-VN" baseline="-25000" smtClean="0">
                <a:latin typeface="Constantia" pitchFamily="18" charset="0"/>
              </a:rPr>
              <a:t>i</a:t>
            </a:r>
            <a:r>
              <a:rPr lang="vi-VN" smtClean="0">
                <a:latin typeface="Constantia" pitchFamily="18" charset="0"/>
              </a:rPr>
              <a:t> = I</a:t>
            </a:r>
            <a:r>
              <a:rPr lang="vi-VN" baseline="-25000" smtClean="0">
                <a:latin typeface="Constantia" pitchFamily="18" charset="0"/>
              </a:rPr>
              <a:t>C</a:t>
            </a:r>
            <a:r>
              <a:rPr lang="vi-VN" smtClean="0">
                <a:latin typeface="Constantia" pitchFamily="18" charset="0"/>
              </a:rPr>
              <a:t>/I</a:t>
            </a:r>
            <a:r>
              <a:rPr lang="vi-VN" baseline="-25000" smtClean="0">
                <a:latin typeface="Constantia" pitchFamily="18" charset="0"/>
              </a:rPr>
              <a:t>E</a:t>
            </a:r>
            <a:r>
              <a:rPr lang="vi-VN" smtClean="0">
                <a:latin typeface="Constantia" pitchFamily="18" charset="0"/>
              </a:rPr>
              <a:t> = 0,95 </a:t>
            </a:r>
            <a:r>
              <a:rPr lang="vi-VN" smtClean="0">
                <a:latin typeface="Constantia" pitchFamily="18" charset="0"/>
                <a:sym typeface="Symbol" pitchFamily="18" charset="2"/>
              </a:rPr>
              <a:t> 0,99</a:t>
            </a:r>
            <a:endParaRPr lang="en-US" smtClean="0">
              <a:latin typeface="Constantia" pitchFamily="18" charset="0"/>
              <a:sym typeface="Symbol" pitchFamily="18" charset="2"/>
            </a:endParaRPr>
          </a:p>
          <a:p>
            <a:pPr>
              <a:buClr>
                <a:srgbClr val="C00000"/>
              </a:buClr>
              <a:buFont typeface="Wingdings" pitchFamily="2" charset="2"/>
              <a:buChar char="Ø"/>
            </a:pPr>
            <a:r>
              <a:rPr lang="en-US" smtClean="0">
                <a:latin typeface="Constantia" pitchFamily="18" charset="0"/>
              </a:rPr>
              <a:t>Mạch CB khuếch đại điện áp chứ không khuếch đại dòng</a:t>
            </a:r>
            <a:endParaRPr lang="vi-VN" smtClean="0">
              <a:latin typeface="Constantia" pitchFamily="18" charset="0"/>
            </a:endParaRPr>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a:p>
            <a:endParaRPr lang="en-US" sz="2000" smtClean="0"/>
          </a:p>
        </p:txBody>
      </p:sp>
      <p:sp>
        <p:nvSpPr>
          <p:cNvPr id="5837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8373" name="Rectangle 6"/>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8374" name="Rectangle 7"/>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8376"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8377" name="Slide Number Placeholder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0E23391-B5A5-4894-9166-450834510A81}" type="slidenum">
              <a:rPr lang="en-US" smtClean="0"/>
              <a:pPr eaLnBrk="1" hangingPunct="1"/>
              <a:t>20</a:t>
            </a:fld>
            <a:endParaRPr lang="en-US" smtClean="0"/>
          </a:p>
        </p:txBody>
      </p:sp>
      <p:graphicFrame>
        <p:nvGraphicFramePr>
          <p:cNvPr id="3" name="Object 2"/>
          <p:cNvGraphicFramePr>
            <a:graphicFrameLocks noChangeAspect="1"/>
          </p:cNvGraphicFramePr>
          <p:nvPr>
            <p:extLst>
              <p:ext uri="{D42A27DB-BD31-4B8C-83A1-F6EECF244321}">
                <p14:modId xmlns:p14="http://schemas.microsoft.com/office/powerpoint/2010/main" val="2562795946"/>
              </p:ext>
            </p:extLst>
          </p:nvPr>
        </p:nvGraphicFramePr>
        <p:xfrm>
          <a:off x="4294310" y="1828800"/>
          <a:ext cx="4849690" cy="3192462"/>
        </p:xfrm>
        <a:graphic>
          <a:graphicData uri="http://schemas.openxmlformats.org/presentationml/2006/ole">
            <mc:AlternateContent xmlns:mc="http://schemas.openxmlformats.org/markup-compatibility/2006">
              <mc:Choice xmlns:v="urn:schemas-microsoft-com:vml" Requires="v">
                <p:oleObj spid="_x0000_s36887" name="Visio" r:id="rId3" imgW="3337546" imgH="2194560" progId="Visio.Drawing.15">
                  <p:embed/>
                </p:oleObj>
              </mc:Choice>
              <mc:Fallback>
                <p:oleObj name="Visio" r:id="rId3" imgW="3337546" imgH="2194560" progId="Visio.Drawing.15">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4310" y="1828800"/>
                        <a:ext cx="4849690" cy="319246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16738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457200" y="338328"/>
            <a:ext cx="8229600" cy="957072"/>
          </a:xfrm>
        </p:spPr>
        <p:txBody>
          <a:bodyPr>
            <a:noAutofit/>
          </a:bodyPr>
          <a:lstStyle/>
          <a:p>
            <a:r>
              <a:rPr lang="vi-VN" b="1" smtClean="0">
                <a:latin typeface="Constantia" pitchFamily="18" charset="0"/>
              </a:rPr>
              <a:t>Họ đặc tuyến vào/ra mạch </a:t>
            </a:r>
            <a:r>
              <a:rPr lang="en-US" b="1" smtClean="0">
                <a:latin typeface="Constantia" pitchFamily="18" charset="0"/>
              </a:rPr>
              <a:t>CB</a:t>
            </a:r>
          </a:p>
        </p:txBody>
      </p:sp>
      <p:sp>
        <p:nvSpPr>
          <p:cNvPr id="9221" name="Rectangle 3"/>
          <p:cNvSpPr>
            <a:spLocks noGrp="1" noChangeArrowheads="1"/>
          </p:cNvSpPr>
          <p:nvPr>
            <p:ph type="body" sz="half" idx="4294967295"/>
          </p:nvPr>
        </p:nvSpPr>
        <p:spPr>
          <a:xfrm>
            <a:off x="4648200" y="1447800"/>
            <a:ext cx="4040188" cy="4525963"/>
          </a:xfrm>
          <a:prstGeom prst="rect">
            <a:avLst/>
          </a:prstGeom>
        </p:spPr>
        <p:txBody>
          <a:bodyPr/>
          <a:lstStyle/>
          <a:p>
            <a:r>
              <a:rPr lang="en-US" smtClean="0">
                <a:latin typeface="Constantia" pitchFamily="18" charset="0"/>
              </a:rPr>
              <a:t>        </a:t>
            </a:r>
            <a:r>
              <a:rPr lang="vi-VN" smtClean="0">
                <a:latin typeface="Constantia" pitchFamily="18" charset="0"/>
              </a:rPr>
              <a:t>Họ đặc tuyến ra</a:t>
            </a:r>
          </a:p>
        </p:txBody>
      </p:sp>
      <p:sp>
        <p:nvSpPr>
          <p:cNvPr id="9222" name="Rectangle 6"/>
          <p:cNvSpPr>
            <a:spLocks noGrp="1" noChangeArrowheads="1"/>
          </p:cNvSpPr>
          <p:nvPr>
            <p:ph type="body" sz="half" idx="4294967295"/>
          </p:nvPr>
        </p:nvSpPr>
        <p:spPr>
          <a:xfrm>
            <a:off x="457200" y="1447800"/>
            <a:ext cx="4038600" cy="4525963"/>
          </a:xfrm>
          <a:prstGeom prst="rect">
            <a:avLst/>
          </a:prstGeom>
        </p:spPr>
        <p:txBody>
          <a:bodyPr/>
          <a:lstStyle/>
          <a:p>
            <a:r>
              <a:rPr lang="vi-VN" sz="2400" smtClean="0">
                <a:latin typeface="Constantia" pitchFamily="18" charset="0"/>
              </a:rPr>
              <a:t>Họ đặc tuyến vào</a:t>
            </a:r>
            <a:endParaRPr lang="en-US" sz="2400" smtClean="0">
              <a:latin typeface="Constantia" pitchFamily="18" charset="0"/>
            </a:endParaRPr>
          </a:p>
        </p:txBody>
      </p:sp>
      <p:graphicFrame>
        <p:nvGraphicFramePr>
          <p:cNvPr id="9218" name="Object 4"/>
          <p:cNvGraphicFramePr>
            <a:graphicFrameLocks noGrp="1" noChangeAspect="1"/>
          </p:cNvGraphicFramePr>
          <p:nvPr>
            <p:ph sz="half" idx="4294967295"/>
            <p:extLst>
              <p:ext uri="{D42A27DB-BD31-4B8C-83A1-F6EECF244321}">
                <p14:modId xmlns:p14="http://schemas.microsoft.com/office/powerpoint/2010/main" val="1225126789"/>
              </p:ext>
            </p:extLst>
          </p:nvPr>
        </p:nvGraphicFramePr>
        <p:xfrm>
          <a:off x="971550" y="1992313"/>
          <a:ext cx="2090738" cy="500062"/>
        </p:xfrm>
        <a:graphic>
          <a:graphicData uri="http://schemas.openxmlformats.org/presentationml/2006/ole">
            <mc:AlternateContent xmlns:mc="http://schemas.openxmlformats.org/markup-compatibility/2006">
              <mc:Choice xmlns:v="urn:schemas-microsoft-com:vml" Requires="v">
                <p:oleObj spid="_x0000_s24675" name="Equation" r:id="rId3" imgW="1168200" imgH="279360" progId="Equation.DSMT4">
                  <p:embed/>
                </p:oleObj>
              </mc:Choice>
              <mc:Fallback>
                <p:oleObj name="Equation" r:id="rId3" imgW="1168200" imgH="279360" progId="Equation.DSMT4">
                  <p:embed/>
                  <p:pic>
                    <p:nvPicPr>
                      <p:cNvPr id="0" name=""/>
                      <p:cNvPicPr>
                        <a:picLocks noChangeAspect="1" noChangeArrowheads="1"/>
                      </p:cNvPicPr>
                      <p:nvPr/>
                    </p:nvPicPr>
                    <p:blipFill>
                      <a:blip r:embed="rId4"/>
                      <a:srcRect/>
                      <a:stretch>
                        <a:fillRect/>
                      </a:stretch>
                    </p:blipFill>
                    <p:spPr bwMode="auto">
                      <a:xfrm>
                        <a:off x="971550" y="1992313"/>
                        <a:ext cx="2090738" cy="500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9" name="Object 8"/>
          <p:cNvGraphicFramePr>
            <a:graphicFrameLocks noChangeAspect="1"/>
          </p:cNvGraphicFramePr>
          <p:nvPr>
            <p:extLst>
              <p:ext uri="{D42A27DB-BD31-4B8C-83A1-F6EECF244321}">
                <p14:modId xmlns:p14="http://schemas.microsoft.com/office/powerpoint/2010/main" val="273227409"/>
              </p:ext>
            </p:extLst>
          </p:nvPr>
        </p:nvGraphicFramePr>
        <p:xfrm>
          <a:off x="5599113" y="1968500"/>
          <a:ext cx="2135187" cy="534988"/>
        </p:xfrm>
        <a:graphic>
          <a:graphicData uri="http://schemas.openxmlformats.org/presentationml/2006/ole">
            <mc:AlternateContent xmlns:mc="http://schemas.openxmlformats.org/markup-compatibility/2006">
              <mc:Choice xmlns:v="urn:schemas-microsoft-com:vml" Requires="v">
                <p:oleObj spid="_x0000_s24676" name="Equation" r:id="rId5" imgW="1130040" imgH="279360" progId="Equation.DSMT4">
                  <p:embed/>
                </p:oleObj>
              </mc:Choice>
              <mc:Fallback>
                <p:oleObj name="Equation" r:id="rId5" imgW="1130040" imgH="279360" progId="Equation.DSMT4">
                  <p:embed/>
                  <p:pic>
                    <p:nvPicPr>
                      <p:cNvPr id="0" name=""/>
                      <p:cNvPicPr>
                        <a:picLocks noChangeAspect="1" noChangeArrowheads="1"/>
                      </p:cNvPicPr>
                      <p:nvPr/>
                    </p:nvPicPr>
                    <p:blipFill>
                      <a:blip r:embed="rId6"/>
                      <a:srcRect/>
                      <a:stretch>
                        <a:fillRect/>
                      </a:stretch>
                    </p:blipFill>
                    <p:spPr bwMode="auto">
                      <a:xfrm>
                        <a:off x="5599113" y="1968500"/>
                        <a:ext cx="2135187"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5"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B697537-C32C-4295-A9BA-0224851A8F64}" type="slidenum">
              <a:rPr lang="en-US" smtClean="0"/>
              <a:pPr eaLnBrk="1" hangingPunct="1"/>
              <a:t>21</a:t>
            </a:fld>
            <a:endParaRPr lang="en-US" smtClean="0"/>
          </a:p>
        </p:txBody>
      </p:sp>
      <p:sp>
        <p:nvSpPr>
          <p:cNvPr id="2" name="Rectangle 5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4632" name="Picture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2514600"/>
            <a:ext cx="7416499" cy="3609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95409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9222">
                                            <p:txEl>
                                              <p:pRg st="0" end="0"/>
                                            </p:txEl>
                                          </p:spTgt>
                                        </p:tgtEl>
                                        <p:attrNameLst>
                                          <p:attrName>style.visibility</p:attrName>
                                        </p:attrNameLst>
                                      </p:cBhvr>
                                      <p:to>
                                        <p:strVal val="visible"/>
                                      </p:to>
                                    </p:set>
                                    <p:animEffect transition="in" filter="diamond(in)">
                                      <p:cBhvr>
                                        <p:cTn id="7" dur="2000"/>
                                        <p:tgtEl>
                                          <p:spTgt spid="92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9221">
                                            <p:txEl>
                                              <p:pRg st="0" end="0"/>
                                            </p:txEl>
                                          </p:spTgt>
                                        </p:tgtEl>
                                        <p:attrNameLst>
                                          <p:attrName>style.visibility</p:attrName>
                                        </p:attrNameLst>
                                      </p:cBhvr>
                                      <p:to>
                                        <p:strVal val="visible"/>
                                      </p:to>
                                    </p:set>
                                    <p:animEffect transition="in" filter="diamond(in)">
                                      <p:cBhvr>
                                        <p:cTn id="12" dur="2000"/>
                                        <p:tgtEl>
                                          <p:spTgt spid="92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build="p"/>
      <p:bldP spid="922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381000" y="381000"/>
            <a:ext cx="8229600" cy="838200"/>
          </a:xfrm>
        </p:spPr>
        <p:txBody>
          <a:bodyPr>
            <a:normAutofit/>
          </a:bodyPr>
          <a:lstStyle/>
          <a:p>
            <a:r>
              <a:rPr lang="en-US" b="1" smtClean="0"/>
              <a:t>Mạch Collector chung (CC)</a:t>
            </a:r>
            <a:endParaRPr lang="en-US" b="1" smtClean="0">
              <a:latin typeface=".VnTime" pitchFamily="34" charset="0"/>
            </a:endParaRPr>
          </a:p>
        </p:txBody>
      </p:sp>
      <mc:AlternateContent xmlns:mc="http://schemas.openxmlformats.org/markup-compatibility/2006" xmlns:a14="http://schemas.microsoft.com/office/drawing/2010/main">
        <mc:Choice Requires="a14">
          <p:sp>
            <p:nvSpPr>
              <p:cNvPr id="59395" name="Rectangle 3"/>
              <p:cNvSpPr>
                <a:spLocks noGrp="1" noChangeArrowheads="1"/>
              </p:cNvSpPr>
              <p:nvPr>
                <p:ph type="body" idx="1"/>
              </p:nvPr>
            </p:nvSpPr>
            <p:spPr>
              <a:xfrm>
                <a:off x="304800" y="1676400"/>
                <a:ext cx="4724400" cy="4068763"/>
              </a:xfrm>
            </p:spPr>
            <p:txBody>
              <a:bodyPr>
                <a:normAutofit/>
              </a:bodyPr>
              <a:lstStyle/>
              <a:p>
                <a:pPr>
                  <a:buClr>
                    <a:srgbClr val="C00000"/>
                  </a:buClr>
                  <a:buFont typeface="Wingdings" pitchFamily="2" charset="2"/>
                  <a:buChar char="Ø"/>
                </a:pPr>
                <a:r>
                  <a:rPr lang="en-US" smtClean="0"/>
                  <a:t>Tín hiệu điện áp đưa vào giữa cực B và C và lấy ra giữa cực E và C.</a:t>
                </a:r>
              </a:p>
              <a:p>
                <a:pPr>
                  <a:buClr>
                    <a:srgbClr val="C00000"/>
                  </a:buClr>
                  <a:buFont typeface="Wingdings" pitchFamily="2" charset="2"/>
                  <a:buChar char="Ø"/>
                </a:pPr>
                <a:r>
                  <a:rPr lang="vi-VN" smtClean="0"/>
                  <a:t>Tín hiệu </a:t>
                </a:r>
                <a:r>
                  <a:rPr lang="en-US" smtClean="0"/>
                  <a:t>điện áp </a:t>
                </a:r>
                <a:r>
                  <a:rPr lang="vi-VN" smtClean="0"/>
                  <a:t>vào và tín hiệu </a:t>
                </a:r>
                <a:r>
                  <a:rPr lang="en-US" smtClean="0"/>
                  <a:t>điện áp </a:t>
                </a:r>
                <a:r>
                  <a:rPr lang="vi-VN" smtClean="0"/>
                  <a:t>ra đồng pha</a:t>
                </a:r>
                <a:endParaRPr lang="en-US" smtClean="0"/>
              </a:p>
              <a:p>
                <a:pPr>
                  <a:buClr>
                    <a:srgbClr val="C00000"/>
                  </a:buClr>
                  <a:buFont typeface="Wingdings" pitchFamily="2" charset="2"/>
                  <a:buChar char="Ø"/>
                </a:pPr>
                <a:r>
                  <a:rPr lang="en-US"/>
                  <a:t> </a:t>
                </a:r>
                <a:r>
                  <a:rPr lang="en-US" smtClean="0"/>
                  <a:t>Hệ số khuếch đại điện áp: </a:t>
                </a:r>
                <a14:m>
                  <m:oMath xmlns:m="http://schemas.openxmlformats.org/officeDocument/2006/math">
                    <m:sSub>
                      <m:sSubPr>
                        <m:ctrlPr>
                          <a:rPr lang="en-US" i="1" smtClean="0">
                            <a:latin typeface="Cambria Math"/>
                          </a:rPr>
                        </m:ctrlPr>
                      </m:sSubPr>
                      <m:e>
                        <m:r>
                          <a:rPr lang="en-US" b="0" i="1" smtClean="0">
                            <a:latin typeface="Cambria Math"/>
                          </a:rPr>
                          <m:t>𝐾</m:t>
                        </m:r>
                      </m:e>
                      <m:sub>
                        <m:r>
                          <a:rPr lang="en-US" b="0" i="1" smtClean="0">
                            <a:latin typeface="Cambria Math"/>
                          </a:rPr>
                          <m:t>𝑢</m:t>
                        </m:r>
                      </m:sub>
                    </m:sSub>
                    <m:r>
                      <a:rPr lang="en-US" i="1" smtClean="0">
                        <a:latin typeface="Cambria Math"/>
                        <a:ea typeface="Cambria Math"/>
                      </a:rPr>
                      <m:t>≈</m:t>
                    </m:r>
                    <m:r>
                      <a:rPr lang="en-US" b="0" i="1" smtClean="0">
                        <a:latin typeface="Cambria Math"/>
                        <a:ea typeface="Cambria Math"/>
                      </a:rPr>
                      <m:t>1→ </m:t>
                    </m:r>
                  </m:oMath>
                </a14:m>
                <a:r>
                  <a:rPr lang="en-US" smtClean="0"/>
                  <a:t>mạch lặp Emitter</a:t>
                </a:r>
              </a:p>
              <a:p>
                <a:pPr>
                  <a:buClr>
                    <a:srgbClr val="C00000"/>
                  </a:buClr>
                  <a:buFont typeface="Wingdings" pitchFamily="2" charset="2"/>
                  <a:buChar char="Ø"/>
                </a:pPr>
                <a:r>
                  <a:rPr lang="en-US"/>
                  <a:t> </a:t>
                </a:r>
                <a:r>
                  <a:rPr lang="en-US" smtClean="0"/>
                  <a:t>Hệ số khuếch đại dòng lớn</a:t>
                </a:r>
              </a:p>
            </p:txBody>
          </p:sp>
        </mc:Choice>
        <mc:Fallback xmlns="">
          <p:sp>
            <p:nvSpPr>
              <p:cNvPr id="59395" name="Rectangle 3"/>
              <p:cNvSpPr>
                <a:spLocks noGrp="1" noRot="1" noChangeAspect="1" noMove="1" noResize="1" noEditPoints="1" noAdjustHandles="1" noChangeArrowheads="1" noChangeShapeType="1" noTextEdit="1"/>
              </p:cNvSpPr>
              <p:nvPr>
                <p:ph type="body" idx="1"/>
              </p:nvPr>
            </p:nvSpPr>
            <p:spPr>
              <a:xfrm>
                <a:off x="304800" y="1676400"/>
                <a:ext cx="4724400" cy="4068763"/>
              </a:xfrm>
              <a:blipFill rotWithShape="1">
                <a:blip r:embed="rId3"/>
                <a:stretch>
                  <a:fillRect l="-1677" t="-1199" r="-3484"/>
                </a:stretch>
              </a:blipFill>
            </p:spPr>
            <p:txBody>
              <a:bodyPr/>
              <a:lstStyle/>
              <a:p>
                <a:r>
                  <a:rPr lang="en-US">
                    <a:noFill/>
                  </a:rPr>
                  <a:t> </a:t>
                </a:r>
              </a:p>
            </p:txBody>
          </p:sp>
        </mc:Fallback>
      </mc:AlternateContent>
      <p:sp>
        <p:nvSpPr>
          <p:cNvPr id="5939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9397" name="Rectangle 5"/>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9398" name="Rectangle 6"/>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9399"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9400" name="Rectangle 2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9401" name="Rectangle 23"/>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59402" name="Slide Number Placeholder 1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C219D05-B5D5-494E-AC73-7BDECE82DA3B}" type="slidenum">
              <a:rPr lang="en-US" smtClean="0"/>
              <a:pPr eaLnBrk="1" hangingPunct="1"/>
              <a:t>22</a:t>
            </a:fld>
            <a:endParaRPr lang="en-US" smtClean="0"/>
          </a:p>
        </p:txBody>
      </p:sp>
      <p:graphicFrame>
        <p:nvGraphicFramePr>
          <p:cNvPr id="12" name="Object 11"/>
          <p:cNvGraphicFramePr>
            <a:graphicFrameLocks noChangeAspect="1"/>
          </p:cNvGraphicFramePr>
          <p:nvPr>
            <p:extLst>
              <p:ext uri="{D42A27DB-BD31-4B8C-83A1-F6EECF244321}">
                <p14:modId xmlns:p14="http://schemas.microsoft.com/office/powerpoint/2010/main" val="3761102324"/>
              </p:ext>
            </p:extLst>
          </p:nvPr>
        </p:nvGraphicFramePr>
        <p:xfrm>
          <a:off x="4648200" y="2057400"/>
          <a:ext cx="4582290" cy="3429000"/>
        </p:xfrm>
        <a:graphic>
          <a:graphicData uri="http://schemas.openxmlformats.org/presentationml/2006/ole">
            <mc:AlternateContent xmlns:mc="http://schemas.openxmlformats.org/markup-compatibility/2006">
              <mc:Choice xmlns:v="urn:schemas-microsoft-com:vml" Requires="v">
                <p:oleObj spid="_x0000_s42003" name="Visio" r:id="rId4" imgW="3291948" imgH="2476440" progId="Visio.Drawing.15">
                  <p:embed/>
                </p:oleObj>
              </mc:Choice>
              <mc:Fallback>
                <p:oleObj name="Visio" r:id="rId4" imgW="3291948" imgH="2476440" progId="Visio.Drawing.15">
                  <p:embed/>
                  <p:pic>
                    <p:nvPicPr>
                      <p:cNvPr id="0" name=""/>
                      <p:cNvPicPr>
                        <a:picLocks noChangeAspect="1" noChangeArrowheads="1"/>
                      </p:cNvPicPr>
                      <p:nvPr/>
                    </p:nvPicPr>
                    <p:blipFill>
                      <a:blip r:embed="rId5"/>
                      <a:srcRect/>
                      <a:stretch>
                        <a:fillRect/>
                      </a:stretch>
                    </p:blipFill>
                    <p:spPr bwMode="auto">
                      <a:xfrm>
                        <a:off x="4648200" y="2057400"/>
                        <a:ext cx="4582290" cy="3429000"/>
                      </a:xfrm>
                      <a:prstGeom prst="rect">
                        <a:avLst/>
                      </a:prstGeom>
                      <a:noFill/>
                    </p:spPr>
                  </p:pic>
                </p:oleObj>
              </mc:Fallback>
            </mc:AlternateContent>
          </a:graphicData>
        </a:graphic>
      </p:graphicFrame>
    </p:spTree>
    <p:extLst>
      <p:ext uri="{BB962C8B-B14F-4D97-AF65-F5344CB8AC3E}">
        <p14:creationId xmlns:p14="http://schemas.microsoft.com/office/powerpoint/2010/main" val="509926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b="1" smtClean="0">
                <a:solidFill>
                  <a:schemeClr val="bg1">
                    <a:lumMod val="95000"/>
                  </a:schemeClr>
                </a:solidFill>
              </a:rPr>
              <a:t>PHÂN CỰC CHO BJT</a:t>
            </a:r>
            <a:endParaRPr lang="en-US" b="1" smtClean="0">
              <a:solidFill>
                <a:schemeClr val="bg1">
                  <a:lumMod val="95000"/>
                </a:schemeClr>
              </a:solidFill>
              <a:latin typeface=".VnTimeH" pitchFamily="34" charset="0"/>
            </a:endParaRPr>
          </a:p>
        </p:txBody>
      </p:sp>
      <p:sp>
        <p:nvSpPr>
          <p:cNvPr id="60419" name="Rectangle 3"/>
          <p:cNvSpPr>
            <a:spLocks noGrp="1" noChangeArrowheads="1"/>
          </p:cNvSpPr>
          <p:nvPr>
            <p:ph type="body" idx="1"/>
          </p:nvPr>
        </p:nvSpPr>
        <p:spPr>
          <a:xfrm>
            <a:off x="685800" y="1676400"/>
            <a:ext cx="7713133" cy="3603096"/>
          </a:xfrm>
        </p:spPr>
        <p:txBody>
          <a:bodyPr>
            <a:normAutofit/>
          </a:bodyPr>
          <a:lstStyle/>
          <a:p>
            <a:pPr>
              <a:lnSpc>
                <a:spcPct val="140000"/>
              </a:lnSpc>
              <a:buBlip>
                <a:blip r:embed="rId2"/>
              </a:buBlip>
            </a:pPr>
            <a:r>
              <a:rPr lang="en-US" sz="2800" smtClean="0"/>
              <a:t>Nguyên tắc chung</a:t>
            </a:r>
          </a:p>
          <a:p>
            <a:pPr>
              <a:lnSpc>
                <a:spcPct val="140000"/>
              </a:lnSpc>
              <a:buBlip>
                <a:blip r:embed="rId2"/>
              </a:buBlip>
            </a:pPr>
            <a:r>
              <a:rPr lang="vi-VN" sz="2800" smtClean="0"/>
              <a:t>Đường tải tĩnh và điểm công tác tĩnh</a:t>
            </a:r>
          </a:p>
          <a:p>
            <a:pPr>
              <a:lnSpc>
                <a:spcPct val="140000"/>
              </a:lnSpc>
              <a:buBlip>
                <a:blip r:embed="rId2"/>
              </a:buBlip>
            </a:pPr>
            <a:r>
              <a:rPr lang="vi-VN" sz="2800" smtClean="0"/>
              <a:t>Phân cực bằng dòng I</a:t>
            </a:r>
            <a:r>
              <a:rPr lang="vi-VN" sz="2800" baseline="-25000" smtClean="0"/>
              <a:t>B</a:t>
            </a:r>
            <a:r>
              <a:rPr lang="vi-VN" sz="2800" smtClean="0"/>
              <a:t> cố định</a:t>
            </a:r>
          </a:p>
          <a:p>
            <a:pPr>
              <a:lnSpc>
                <a:spcPct val="140000"/>
              </a:lnSpc>
              <a:buBlip>
                <a:blip r:embed="rId2"/>
              </a:buBlip>
            </a:pPr>
            <a:r>
              <a:rPr lang="vi-VN" sz="2800" smtClean="0"/>
              <a:t>Phân cực bằng hồi tiếp âm điện áp</a:t>
            </a:r>
          </a:p>
          <a:p>
            <a:pPr>
              <a:lnSpc>
                <a:spcPct val="140000"/>
              </a:lnSpc>
              <a:buBlip>
                <a:blip r:embed="rId2"/>
              </a:buBlip>
            </a:pPr>
            <a:r>
              <a:rPr lang="en-US" sz="2800" smtClean="0"/>
              <a:t>Phân cực bằng phân áp</a:t>
            </a:r>
          </a:p>
        </p:txBody>
      </p:sp>
      <p:sp>
        <p:nvSpPr>
          <p:cNvPr id="6042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85054C1-A312-436C-8341-85A98BF071F4}" type="slidenum">
              <a:rPr lang="en-US" smtClean="0"/>
              <a:pPr eaLnBrk="1" hangingPunct="1"/>
              <a:t>23</a:t>
            </a:fld>
            <a:endParaRPr lang="en-US" smtClean="0"/>
          </a:p>
        </p:txBody>
      </p:sp>
    </p:spTree>
    <p:extLst>
      <p:ext uri="{BB962C8B-B14F-4D97-AF65-F5344CB8AC3E}">
        <p14:creationId xmlns:p14="http://schemas.microsoft.com/office/powerpoint/2010/main" val="10376674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57200" y="0"/>
            <a:ext cx="8229600" cy="1143000"/>
          </a:xfrm>
        </p:spPr>
        <p:txBody>
          <a:bodyPr/>
          <a:lstStyle/>
          <a:p>
            <a:r>
              <a:rPr lang="en-US" b="1" smtClean="0"/>
              <a:t>Nguyên tắc chung</a:t>
            </a:r>
            <a:endParaRPr lang="en-US" b="1" smtClean="0">
              <a:latin typeface=".VnTime" pitchFamily="34" charset="0"/>
            </a:endParaRPr>
          </a:p>
        </p:txBody>
      </p:sp>
      <p:sp>
        <p:nvSpPr>
          <p:cNvPr id="92163" name="Rectangle 3"/>
          <p:cNvSpPr>
            <a:spLocks noGrp="1" noChangeArrowheads="1"/>
          </p:cNvSpPr>
          <p:nvPr>
            <p:ph type="body" idx="1"/>
          </p:nvPr>
        </p:nvSpPr>
        <p:spPr>
          <a:xfrm>
            <a:off x="457200" y="1143000"/>
            <a:ext cx="8229600" cy="5257800"/>
          </a:xfrm>
        </p:spPr>
        <p:txBody>
          <a:bodyPr>
            <a:noAutofit/>
          </a:bodyPr>
          <a:lstStyle/>
          <a:p>
            <a:pPr>
              <a:buFontTx/>
              <a:buNone/>
              <a:defRPr/>
            </a:pPr>
            <a:r>
              <a:rPr lang="en-US" sz="2800" b="1" u="sng" smtClean="0">
                <a:solidFill>
                  <a:srgbClr val="C00000"/>
                </a:solidFill>
              </a:rPr>
              <a:t>Phân cực</a:t>
            </a:r>
            <a:r>
              <a:rPr lang="en-US" sz="2800" b="1" smtClean="0">
                <a:solidFill>
                  <a:srgbClr val="C00000"/>
                </a:solidFill>
              </a:rPr>
              <a:t> </a:t>
            </a:r>
            <a:r>
              <a:rPr lang="vi-VN" smtClean="0"/>
              <a:t>: Cấp điện áp một chiều phù hợp cho các cực của BJT để nó có thể làm việc ở 1 trong 3 chế độ (khuếch đại, thông bão hoà, ngắt)</a:t>
            </a:r>
            <a:endParaRPr lang="en-US" smtClean="0"/>
          </a:p>
          <a:p>
            <a:pPr>
              <a:buFontTx/>
              <a:buNone/>
              <a:defRPr/>
            </a:pPr>
            <a:endParaRPr lang="vi-VN" smtClean="0"/>
          </a:p>
        </p:txBody>
      </p:sp>
      <p:sp>
        <p:nvSpPr>
          <p:cNvPr id="6144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A80A0DD-A2DA-4BFD-BDF3-4E224C445342}" type="slidenum">
              <a:rPr lang="en-US" smtClean="0"/>
              <a:pPr eaLnBrk="1" hangingPunct="1"/>
              <a:t>24</a:t>
            </a:fld>
            <a:endParaRPr lang="en-US" smtClean="0"/>
          </a:p>
        </p:txBody>
      </p:sp>
      <p:graphicFrame>
        <p:nvGraphicFramePr>
          <p:cNvPr id="2" name="Table 1"/>
          <p:cNvGraphicFramePr>
            <a:graphicFrameLocks noGrp="1"/>
          </p:cNvGraphicFramePr>
          <p:nvPr>
            <p:extLst>
              <p:ext uri="{D42A27DB-BD31-4B8C-83A1-F6EECF244321}">
                <p14:modId xmlns:p14="http://schemas.microsoft.com/office/powerpoint/2010/main" val="1711857937"/>
              </p:ext>
            </p:extLst>
          </p:nvPr>
        </p:nvGraphicFramePr>
        <p:xfrm>
          <a:off x="609600" y="2514598"/>
          <a:ext cx="8305800" cy="3657600"/>
        </p:xfrm>
        <a:graphic>
          <a:graphicData uri="http://schemas.openxmlformats.org/drawingml/2006/table">
            <a:tbl>
              <a:tblPr firstRow="1" firstCol="1" lastRow="1" lastCol="1" bandRow="1" bandCol="1">
                <a:tableStyleId>{72833802-FEF1-4C79-8D5D-14CF1EAF98D9}</a:tableStyleId>
              </a:tblPr>
              <a:tblGrid>
                <a:gridCol w="2181048"/>
                <a:gridCol w="2445889"/>
                <a:gridCol w="2002463"/>
                <a:gridCol w="1676400"/>
              </a:tblGrid>
              <a:tr h="731520">
                <a:tc>
                  <a:txBody>
                    <a:bodyPr/>
                    <a:lstStyle/>
                    <a:p>
                      <a:pPr algn="ctr">
                        <a:lnSpc>
                          <a:spcPct val="115000"/>
                        </a:lnSpc>
                        <a:spcAft>
                          <a:spcPts val="300"/>
                        </a:spcAft>
                        <a:tabLst>
                          <a:tab pos="450215" algn="l"/>
                          <a:tab pos="540385" algn="l"/>
                          <a:tab pos="2971800" algn="l"/>
                        </a:tabLst>
                      </a:pPr>
                      <a:r>
                        <a:rPr lang="vi-VN" sz="2000">
                          <a:effectLst/>
                          <a:latin typeface="Constantia" pitchFamily="18" charset="0"/>
                        </a:rPr>
                        <a:t>J</a:t>
                      </a:r>
                      <a:r>
                        <a:rPr lang="vi-VN" sz="2000" baseline="-25000">
                          <a:effectLst/>
                          <a:latin typeface="Constantia" pitchFamily="18" charset="0"/>
                        </a:rPr>
                        <a:t>E</a:t>
                      </a:r>
                      <a:endParaRPr lang="en-US" sz="2000">
                        <a:effectLst/>
                        <a:latin typeface="Constantia" pitchFamily="18" charset="0"/>
                        <a:ea typeface="Times New Roman"/>
                      </a:endParaRPr>
                    </a:p>
                  </a:txBody>
                  <a:tcPr marL="17780" marR="17780" marT="0" marB="0" anchor="ctr"/>
                </a:tc>
                <a:tc>
                  <a:txBody>
                    <a:bodyPr/>
                    <a:lstStyle/>
                    <a:p>
                      <a:pPr algn="ctr">
                        <a:lnSpc>
                          <a:spcPct val="115000"/>
                        </a:lnSpc>
                        <a:spcAft>
                          <a:spcPts val="300"/>
                        </a:spcAft>
                        <a:tabLst>
                          <a:tab pos="450215" algn="l"/>
                          <a:tab pos="540385" algn="l"/>
                          <a:tab pos="2971800" algn="l"/>
                        </a:tabLst>
                      </a:pPr>
                      <a:r>
                        <a:rPr lang="vi-VN" sz="2000">
                          <a:effectLst/>
                          <a:latin typeface="Constantia" pitchFamily="18" charset="0"/>
                        </a:rPr>
                        <a:t>J</a:t>
                      </a:r>
                      <a:r>
                        <a:rPr lang="vi-VN" sz="2000" baseline="-25000">
                          <a:effectLst/>
                          <a:latin typeface="Constantia" pitchFamily="18" charset="0"/>
                        </a:rPr>
                        <a:t>C</a:t>
                      </a:r>
                      <a:endParaRPr lang="en-US" sz="2000">
                        <a:effectLst/>
                        <a:latin typeface="Constantia" pitchFamily="18" charset="0"/>
                        <a:ea typeface="Times New Roman"/>
                      </a:endParaRPr>
                    </a:p>
                  </a:txBody>
                  <a:tcPr marL="68580" marR="68580" marT="0" marB="0" anchor="ctr"/>
                </a:tc>
                <a:tc>
                  <a:txBody>
                    <a:bodyPr/>
                    <a:lstStyle/>
                    <a:p>
                      <a:pPr algn="ctr">
                        <a:lnSpc>
                          <a:spcPct val="115000"/>
                        </a:lnSpc>
                        <a:spcAft>
                          <a:spcPts val="300"/>
                        </a:spcAft>
                        <a:tabLst>
                          <a:tab pos="450215" algn="l"/>
                          <a:tab pos="540385" algn="l"/>
                          <a:tab pos="2971800" algn="l"/>
                        </a:tabLst>
                      </a:pPr>
                      <a:r>
                        <a:rPr lang="vi-VN" sz="2000">
                          <a:effectLst/>
                        </a:rPr>
                        <a:t>Miền làm việc</a:t>
                      </a:r>
                      <a:endParaRPr lang="en-US" sz="2000">
                        <a:effectLst/>
                        <a:latin typeface="Constantia" pitchFamily="18" charset="0"/>
                        <a:ea typeface="Times New Roman"/>
                      </a:endParaRPr>
                    </a:p>
                  </a:txBody>
                  <a:tcPr marL="68580" marR="68580" marT="0" marB="0" anchor="ctr"/>
                </a:tc>
                <a:tc>
                  <a:txBody>
                    <a:bodyPr/>
                    <a:lstStyle/>
                    <a:p>
                      <a:pPr algn="ctr">
                        <a:lnSpc>
                          <a:spcPct val="115000"/>
                        </a:lnSpc>
                        <a:spcAft>
                          <a:spcPts val="300"/>
                        </a:spcAft>
                        <a:tabLst>
                          <a:tab pos="450215" algn="l"/>
                          <a:tab pos="540385" algn="l"/>
                          <a:tab pos="2971800" algn="l"/>
                        </a:tabLst>
                      </a:pPr>
                      <a:r>
                        <a:rPr lang="vi-VN" sz="2000">
                          <a:effectLst/>
                        </a:rPr>
                        <a:t>Ứng dụng</a:t>
                      </a:r>
                      <a:endParaRPr lang="en-US" sz="2000">
                        <a:effectLst/>
                        <a:latin typeface="Constantia" pitchFamily="18" charset="0"/>
                        <a:ea typeface="Times New Roman"/>
                      </a:endParaRPr>
                    </a:p>
                  </a:txBody>
                  <a:tcPr marL="68580" marR="68580" marT="0" marB="0" anchor="ctr"/>
                </a:tc>
              </a:tr>
              <a:tr h="731520">
                <a:tc>
                  <a:txBody>
                    <a:bodyPr/>
                    <a:lstStyle/>
                    <a:p>
                      <a:pPr indent="100330" algn="just">
                        <a:lnSpc>
                          <a:spcPct val="115000"/>
                        </a:lnSpc>
                        <a:spcAft>
                          <a:spcPts val="300"/>
                        </a:spcAft>
                        <a:tabLst>
                          <a:tab pos="157480" algn="l"/>
                          <a:tab pos="450215" algn="l"/>
                          <a:tab pos="540385" algn="l"/>
                          <a:tab pos="2971800" algn="l"/>
                        </a:tabLst>
                      </a:pPr>
                      <a:r>
                        <a:rPr lang="vi-VN" sz="2000" b="0">
                          <a:effectLst/>
                          <a:latin typeface="Constantia" pitchFamily="18" charset="0"/>
                        </a:rPr>
                        <a:t>Phân cực ngược</a:t>
                      </a:r>
                      <a:endParaRPr lang="en-US" sz="2000" b="0">
                        <a:effectLst/>
                        <a:latin typeface="Constantia" pitchFamily="18" charset="0"/>
                        <a:ea typeface="Times New Roman"/>
                      </a:endParaRPr>
                    </a:p>
                  </a:txBody>
                  <a:tcPr marL="17780" marR="17780" marT="0" marB="0" anchor="ctr"/>
                </a:tc>
                <a:tc>
                  <a:txBody>
                    <a:bodyPr/>
                    <a:lstStyle/>
                    <a:p>
                      <a:pPr indent="49530" algn="just">
                        <a:lnSpc>
                          <a:spcPct val="115000"/>
                        </a:lnSpc>
                        <a:spcAft>
                          <a:spcPts val="300"/>
                        </a:spcAft>
                        <a:tabLst>
                          <a:tab pos="450215" algn="l"/>
                          <a:tab pos="540385" algn="l"/>
                          <a:tab pos="2971800" algn="l"/>
                        </a:tabLst>
                      </a:pPr>
                      <a:r>
                        <a:rPr lang="vi-VN" sz="2000" b="0">
                          <a:effectLst/>
                          <a:latin typeface="Constantia" pitchFamily="18" charset="0"/>
                        </a:rPr>
                        <a:t>Phân cực ngược</a:t>
                      </a:r>
                      <a:endParaRPr lang="en-US" sz="2000" b="0">
                        <a:effectLst/>
                        <a:latin typeface="Constantia" pitchFamily="18" charset="0"/>
                        <a:ea typeface="Times New Roman"/>
                      </a:endParaRPr>
                    </a:p>
                  </a:txBody>
                  <a:tcPr marL="68580" marR="68580" marT="0" marB="0" anchor="ctr"/>
                </a:tc>
                <a:tc>
                  <a:txBody>
                    <a:bodyPr/>
                    <a:lstStyle/>
                    <a:p>
                      <a:pPr indent="54610" algn="just">
                        <a:lnSpc>
                          <a:spcPct val="115000"/>
                        </a:lnSpc>
                        <a:spcAft>
                          <a:spcPts val="300"/>
                        </a:spcAft>
                        <a:tabLst>
                          <a:tab pos="450215" algn="l"/>
                          <a:tab pos="540385" algn="l"/>
                          <a:tab pos="2971800" algn="l"/>
                        </a:tabLst>
                      </a:pPr>
                      <a:r>
                        <a:rPr lang="vi-VN" sz="2000" b="0">
                          <a:effectLst/>
                          <a:latin typeface="Constantia" pitchFamily="18" charset="0"/>
                        </a:rPr>
                        <a:t>Miền cắt</a:t>
                      </a:r>
                      <a:endParaRPr lang="en-US" sz="2000" b="0">
                        <a:effectLst/>
                        <a:latin typeface="Constantia" pitchFamily="18" charset="0"/>
                        <a:ea typeface="Times New Roman"/>
                      </a:endParaRPr>
                    </a:p>
                  </a:txBody>
                  <a:tcPr marL="68580" marR="68580" marT="0" marB="0" anchor="ctr"/>
                </a:tc>
                <a:tc>
                  <a:txBody>
                    <a:bodyPr/>
                    <a:lstStyle/>
                    <a:p>
                      <a:pPr indent="54610" algn="just">
                        <a:lnSpc>
                          <a:spcPct val="115000"/>
                        </a:lnSpc>
                        <a:spcAft>
                          <a:spcPts val="300"/>
                        </a:spcAft>
                        <a:tabLst>
                          <a:tab pos="450215" algn="l"/>
                          <a:tab pos="540385" algn="l"/>
                          <a:tab pos="2971800" algn="l"/>
                        </a:tabLst>
                      </a:pPr>
                      <a:r>
                        <a:rPr lang="vi-VN" sz="2000" b="0">
                          <a:effectLst/>
                          <a:latin typeface="Constantia" pitchFamily="18" charset="0"/>
                        </a:rPr>
                        <a:t>Khóa</a:t>
                      </a:r>
                      <a:endParaRPr lang="en-US" sz="2000" b="0">
                        <a:effectLst/>
                        <a:latin typeface="Constantia" pitchFamily="18" charset="0"/>
                        <a:ea typeface="Times New Roman"/>
                      </a:endParaRPr>
                    </a:p>
                  </a:txBody>
                  <a:tcPr marL="68580" marR="68580" marT="0" marB="0" anchor="ctr"/>
                </a:tc>
              </a:tr>
              <a:tr h="731520">
                <a:tc>
                  <a:txBody>
                    <a:bodyPr/>
                    <a:lstStyle/>
                    <a:p>
                      <a:pPr indent="100330" algn="just">
                        <a:lnSpc>
                          <a:spcPct val="115000"/>
                        </a:lnSpc>
                        <a:spcAft>
                          <a:spcPts val="300"/>
                        </a:spcAft>
                        <a:tabLst>
                          <a:tab pos="157480" algn="l"/>
                          <a:tab pos="450215" algn="l"/>
                          <a:tab pos="540385" algn="l"/>
                          <a:tab pos="2971800" algn="l"/>
                        </a:tabLst>
                      </a:pPr>
                      <a:r>
                        <a:rPr lang="vi-VN" sz="2000" b="0">
                          <a:effectLst/>
                          <a:latin typeface="Constantia" pitchFamily="18" charset="0"/>
                        </a:rPr>
                        <a:t>Phân cực thuận</a:t>
                      </a:r>
                      <a:endParaRPr lang="en-US" sz="2000" b="0">
                        <a:effectLst/>
                        <a:latin typeface="Constantia" pitchFamily="18" charset="0"/>
                        <a:ea typeface="Times New Roman"/>
                      </a:endParaRPr>
                    </a:p>
                  </a:txBody>
                  <a:tcPr marL="17780" marR="17780" marT="0" marB="0" anchor="ctr">
                    <a:solidFill>
                      <a:srgbClr val="FFFF00"/>
                    </a:solidFill>
                  </a:tcPr>
                </a:tc>
                <a:tc>
                  <a:txBody>
                    <a:bodyPr/>
                    <a:lstStyle/>
                    <a:p>
                      <a:pPr indent="49530" algn="just">
                        <a:lnSpc>
                          <a:spcPct val="115000"/>
                        </a:lnSpc>
                        <a:spcAft>
                          <a:spcPts val="300"/>
                        </a:spcAft>
                        <a:tabLst>
                          <a:tab pos="450215" algn="l"/>
                          <a:tab pos="540385" algn="l"/>
                          <a:tab pos="2971800" algn="l"/>
                        </a:tabLst>
                      </a:pPr>
                      <a:r>
                        <a:rPr lang="vi-VN" sz="2000" b="0">
                          <a:effectLst/>
                          <a:latin typeface="Constantia" pitchFamily="18" charset="0"/>
                        </a:rPr>
                        <a:t>Phân cực ngược</a:t>
                      </a:r>
                      <a:endParaRPr lang="en-US" sz="2000" b="0">
                        <a:effectLst/>
                        <a:latin typeface="Constantia" pitchFamily="18" charset="0"/>
                        <a:ea typeface="Times New Roman"/>
                      </a:endParaRPr>
                    </a:p>
                  </a:txBody>
                  <a:tcPr marL="68580" marR="68580" marT="0" marB="0" anchor="ctr">
                    <a:solidFill>
                      <a:srgbClr val="FFFF00"/>
                    </a:solidFill>
                  </a:tcPr>
                </a:tc>
                <a:tc>
                  <a:txBody>
                    <a:bodyPr/>
                    <a:lstStyle/>
                    <a:p>
                      <a:pPr indent="54610" algn="just">
                        <a:lnSpc>
                          <a:spcPct val="115000"/>
                        </a:lnSpc>
                        <a:spcAft>
                          <a:spcPts val="300"/>
                        </a:spcAft>
                        <a:tabLst>
                          <a:tab pos="450215" algn="l"/>
                          <a:tab pos="540385" algn="l"/>
                          <a:tab pos="2971800" algn="l"/>
                        </a:tabLst>
                      </a:pPr>
                      <a:r>
                        <a:rPr lang="vi-VN" sz="2000" b="0">
                          <a:effectLst/>
                          <a:latin typeface="Constantia" pitchFamily="18" charset="0"/>
                        </a:rPr>
                        <a:t>Miền tích cực</a:t>
                      </a:r>
                      <a:endParaRPr lang="en-US" sz="2000" b="0">
                        <a:effectLst/>
                        <a:latin typeface="Constantia" pitchFamily="18" charset="0"/>
                        <a:ea typeface="Times New Roman"/>
                      </a:endParaRPr>
                    </a:p>
                  </a:txBody>
                  <a:tcPr marL="68580" marR="68580" marT="0" marB="0" anchor="ctr">
                    <a:solidFill>
                      <a:srgbClr val="FFFF00"/>
                    </a:solidFill>
                  </a:tcPr>
                </a:tc>
                <a:tc>
                  <a:txBody>
                    <a:bodyPr/>
                    <a:lstStyle/>
                    <a:p>
                      <a:pPr indent="54610" algn="just">
                        <a:lnSpc>
                          <a:spcPct val="115000"/>
                        </a:lnSpc>
                        <a:spcAft>
                          <a:spcPts val="300"/>
                        </a:spcAft>
                        <a:tabLst>
                          <a:tab pos="450215" algn="l"/>
                          <a:tab pos="540385" algn="l"/>
                          <a:tab pos="2971800" algn="l"/>
                        </a:tabLst>
                      </a:pPr>
                      <a:r>
                        <a:rPr lang="vi-VN" sz="2000" b="0">
                          <a:effectLst/>
                          <a:latin typeface="Constantia" pitchFamily="18" charset="0"/>
                        </a:rPr>
                        <a:t>Khuếch đại</a:t>
                      </a:r>
                      <a:endParaRPr lang="en-US" sz="2000" b="0">
                        <a:effectLst/>
                        <a:latin typeface="Constantia" pitchFamily="18" charset="0"/>
                        <a:ea typeface="Times New Roman"/>
                      </a:endParaRPr>
                    </a:p>
                  </a:txBody>
                  <a:tcPr marL="68580" marR="68580" marT="0" marB="0" anchor="ctr">
                    <a:solidFill>
                      <a:srgbClr val="FFFF00"/>
                    </a:solidFill>
                  </a:tcPr>
                </a:tc>
              </a:tr>
              <a:tr h="731520">
                <a:tc>
                  <a:txBody>
                    <a:bodyPr/>
                    <a:lstStyle/>
                    <a:p>
                      <a:pPr indent="100330" algn="just">
                        <a:lnSpc>
                          <a:spcPct val="115000"/>
                        </a:lnSpc>
                        <a:spcAft>
                          <a:spcPts val="300"/>
                        </a:spcAft>
                        <a:tabLst>
                          <a:tab pos="157480" algn="l"/>
                          <a:tab pos="450215" algn="l"/>
                          <a:tab pos="540385" algn="l"/>
                          <a:tab pos="2971800" algn="l"/>
                        </a:tabLst>
                      </a:pPr>
                      <a:r>
                        <a:rPr lang="vi-VN" sz="2000" b="0">
                          <a:effectLst/>
                          <a:latin typeface="Constantia" pitchFamily="18" charset="0"/>
                        </a:rPr>
                        <a:t>Phân cực thuận</a:t>
                      </a:r>
                      <a:endParaRPr lang="en-US" sz="2000" b="0">
                        <a:effectLst/>
                        <a:latin typeface="Constantia" pitchFamily="18" charset="0"/>
                        <a:ea typeface="Times New Roman"/>
                      </a:endParaRPr>
                    </a:p>
                  </a:txBody>
                  <a:tcPr marL="17780" marR="17780" marT="0" marB="0" anchor="ctr"/>
                </a:tc>
                <a:tc>
                  <a:txBody>
                    <a:bodyPr/>
                    <a:lstStyle/>
                    <a:p>
                      <a:pPr indent="49530" algn="just">
                        <a:lnSpc>
                          <a:spcPct val="115000"/>
                        </a:lnSpc>
                        <a:spcAft>
                          <a:spcPts val="300"/>
                        </a:spcAft>
                        <a:tabLst>
                          <a:tab pos="450215" algn="l"/>
                          <a:tab pos="540385" algn="l"/>
                          <a:tab pos="2971800" algn="l"/>
                        </a:tabLst>
                      </a:pPr>
                      <a:r>
                        <a:rPr lang="vi-VN" sz="2000" b="0">
                          <a:effectLst/>
                          <a:latin typeface="Constantia" pitchFamily="18" charset="0"/>
                        </a:rPr>
                        <a:t>Phân cực thuận</a:t>
                      </a:r>
                      <a:endParaRPr lang="en-US" sz="2000" b="0">
                        <a:effectLst/>
                        <a:latin typeface="Constantia" pitchFamily="18" charset="0"/>
                        <a:ea typeface="Times New Roman"/>
                      </a:endParaRPr>
                    </a:p>
                  </a:txBody>
                  <a:tcPr marL="68580" marR="68580" marT="0" marB="0" anchor="ctr"/>
                </a:tc>
                <a:tc>
                  <a:txBody>
                    <a:bodyPr/>
                    <a:lstStyle/>
                    <a:p>
                      <a:pPr indent="54610" algn="just">
                        <a:lnSpc>
                          <a:spcPct val="115000"/>
                        </a:lnSpc>
                        <a:spcAft>
                          <a:spcPts val="300"/>
                        </a:spcAft>
                        <a:tabLst>
                          <a:tab pos="450215" algn="l"/>
                          <a:tab pos="540385" algn="l"/>
                          <a:tab pos="2971800" algn="l"/>
                        </a:tabLst>
                      </a:pPr>
                      <a:r>
                        <a:rPr lang="vi-VN" sz="2000" b="0">
                          <a:effectLst/>
                          <a:latin typeface="Constantia" pitchFamily="18" charset="0"/>
                        </a:rPr>
                        <a:t>Miền bão hòa</a:t>
                      </a:r>
                      <a:endParaRPr lang="en-US" sz="2000" b="0">
                        <a:effectLst/>
                        <a:latin typeface="Constantia" pitchFamily="18" charset="0"/>
                        <a:ea typeface="Times New Roman"/>
                      </a:endParaRPr>
                    </a:p>
                  </a:txBody>
                  <a:tcPr marL="68580" marR="68580" marT="0" marB="0" anchor="ctr"/>
                </a:tc>
                <a:tc>
                  <a:txBody>
                    <a:bodyPr/>
                    <a:lstStyle/>
                    <a:p>
                      <a:pPr indent="54610" algn="just">
                        <a:lnSpc>
                          <a:spcPct val="115000"/>
                        </a:lnSpc>
                        <a:spcAft>
                          <a:spcPts val="300"/>
                        </a:spcAft>
                        <a:tabLst>
                          <a:tab pos="450215" algn="l"/>
                          <a:tab pos="540385" algn="l"/>
                          <a:tab pos="2971800" algn="l"/>
                        </a:tabLst>
                      </a:pPr>
                      <a:r>
                        <a:rPr lang="vi-VN" sz="2000" b="0">
                          <a:effectLst/>
                          <a:latin typeface="Constantia" pitchFamily="18" charset="0"/>
                        </a:rPr>
                        <a:t>Khóa</a:t>
                      </a:r>
                      <a:endParaRPr lang="en-US" sz="2000" b="0">
                        <a:effectLst/>
                        <a:latin typeface="Constantia" pitchFamily="18" charset="0"/>
                        <a:ea typeface="Times New Roman"/>
                      </a:endParaRPr>
                    </a:p>
                  </a:txBody>
                  <a:tcPr marL="68580" marR="68580" marT="0" marB="0" anchor="ctr"/>
                </a:tc>
              </a:tr>
              <a:tr h="731520">
                <a:tc>
                  <a:txBody>
                    <a:bodyPr/>
                    <a:lstStyle/>
                    <a:p>
                      <a:pPr indent="100330" algn="just">
                        <a:lnSpc>
                          <a:spcPct val="115000"/>
                        </a:lnSpc>
                        <a:spcAft>
                          <a:spcPts val="300"/>
                        </a:spcAft>
                        <a:tabLst>
                          <a:tab pos="157480" algn="l"/>
                          <a:tab pos="450215" algn="l"/>
                          <a:tab pos="540385" algn="l"/>
                          <a:tab pos="2971800" algn="l"/>
                        </a:tabLst>
                      </a:pPr>
                      <a:r>
                        <a:rPr lang="vi-VN" sz="2000" b="0">
                          <a:effectLst/>
                          <a:latin typeface="Constantia" pitchFamily="18" charset="0"/>
                        </a:rPr>
                        <a:t>Phân cực ngược</a:t>
                      </a:r>
                      <a:endParaRPr lang="en-US" sz="2000" b="0">
                        <a:effectLst/>
                        <a:latin typeface="Constantia" pitchFamily="18" charset="0"/>
                        <a:ea typeface="Times New Roman"/>
                      </a:endParaRPr>
                    </a:p>
                  </a:txBody>
                  <a:tcPr marL="17780" marR="17780" marT="0" marB="0" anchor="ctr"/>
                </a:tc>
                <a:tc>
                  <a:txBody>
                    <a:bodyPr/>
                    <a:lstStyle/>
                    <a:p>
                      <a:pPr indent="49530" algn="just">
                        <a:lnSpc>
                          <a:spcPct val="115000"/>
                        </a:lnSpc>
                        <a:spcAft>
                          <a:spcPts val="300"/>
                        </a:spcAft>
                        <a:tabLst>
                          <a:tab pos="450215" algn="l"/>
                          <a:tab pos="540385" algn="l"/>
                          <a:tab pos="2971800" algn="l"/>
                        </a:tabLst>
                      </a:pPr>
                      <a:r>
                        <a:rPr lang="vi-VN" sz="2000" b="0">
                          <a:effectLst/>
                          <a:latin typeface="Constantia" pitchFamily="18" charset="0"/>
                        </a:rPr>
                        <a:t>Phân cực thuận</a:t>
                      </a:r>
                      <a:endParaRPr lang="en-US" sz="2000" b="0">
                        <a:effectLst/>
                        <a:latin typeface="Constantia" pitchFamily="18" charset="0"/>
                        <a:ea typeface="Times New Roman"/>
                      </a:endParaRPr>
                    </a:p>
                  </a:txBody>
                  <a:tcPr marL="68580" marR="68580" marT="0" marB="0" anchor="ctr"/>
                </a:tc>
                <a:tc>
                  <a:txBody>
                    <a:bodyPr/>
                    <a:lstStyle/>
                    <a:p>
                      <a:pPr indent="54610" algn="just">
                        <a:lnSpc>
                          <a:spcPct val="115000"/>
                        </a:lnSpc>
                        <a:spcAft>
                          <a:spcPts val="300"/>
                        </a:spcAft>
                        <a:tabLst>
                          <a:tab pos="450215" algn="l"/>
                          <a:tab pos="540385" algn="l"/>
                          <a:tab pos="2971800" algn="l"/>
                        </a:tabLst>
                      </a:pPr>
                      <a:r>
                        <a:rPr lang="vi-VN" sz="2000" b="0">
                          <a:effectLst/>
                          <a:latin typeface="Constantia" pitchFamily="18" charset="0"/>
                        </a:rPr>
                        <a:t>Tích cực ngược</a:t>
                      </a:r>
                      <a:endParaRPr lang="en-US" sz="2000" b="0">
                        <a:effectLst/>
                        <a:latin typeface="Constantia" pitchFamily="18" charset="0"/>
                        <a:ea typeface="Times New Roman"/>
                      </a:endParaRPr>
                    </a:p>
                  </a:txBody>
                  <a:tcPr marL="68580" marR="68580" marT="0" marB="0" anchor="ctr"/>
                </a:tc>
                <a:tc>
                  <a:txBody>
                    <a:bodyPr/>
                    <a:lstStyle/>
                    <a:p>
                      <a:pPr indent="54610" algn="just">
                        <a:lnSpc>
                          <a:spcPct val="115000"/>
                        </a:lnSpc>
                        <a:spcAft>
                          <a:spcPts val="300"/>
                        </a:spcAft>
                        <a:tabLst>
                          <a:tab pos="450215" algn="l"/>
                          <a:tab pos="540385" algn="l"/>
                          <a:tab pos="2971800" algn="l"/>
                        </a:tabLst>
                      </a:pPr>
                      <a:r>
                        <a:rPr lang="vi-VN" sz="2000" b="0">
                          <a:effectLst/>
                          <a:latin typeface="Constantia" pitchFamily="18" charset="0"/>
                        </a:rPr>
                        <a:t> </a:t>
                      </a:r>
                      <a:endParaRPr lang="en-US" sz="2000" b="0">
                        <a:effectLst/>
                        <a:latin typeface="Constantia" pitchFamily="18" charset="0"/>
                        <a:ea typeface="Times New Roman"/>
                      </a:endParaRPr>
                    </a:p>
                  </a:txBody>
                  <a:tcPr marL="68580" marR="68580" marT="0" marB="0" anchor="ctr"/>
                </a:tc>
              </a:tr>
            </a:tbl>
          </a:graphicData>
        </a:graphic>
      </p:graphicFrame>
    </p:spTree>
    <p:extLst>
      <p:ext uri="{BB962C8B-B14F-4D97-AF65-F5344CB8AC3E}">
        <p14:creationId xmlns:p14="http://schemas.microsoft.com/office/powerpoint/2010/main" val="31814245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57200" y="0"/>
            <a:ext cx="8229600" cy="1143000"/>
          </a:xfrm>
        </p:spPr>
        <p:txBody>
          <a:bodyPr/>
          <a:lstStyle/>
          <a:p>
            <a:r>
              <a:rPr lang="en-US" b="1" smtClean="0"/>
              <a:t>Nguyên tắc chung</a:t>
            </a:r>
            <a:endParaRPr lang="en-US" b="1" smtClean="0">
              <a:latin typeface=".VnTime" pitchFamily="34" charset="0"/>
            </a:endParaRPr>
          </a:p>
        </p:txBody>
      </p:sp>
      <p:sp>
        <p:nvSpPr>
          <p:cNvPr id="92163" name="Rectangle 3"/>
          <p:cNvSpPr>
            <a:spLocks noGrp="1" noChangeArrowheads="1"/>
          </p:cNvSpPr>
          <p:nvPr>
            <p:ph type="body" idx="1"/>
          </p:nvPr>
        </p:nvSpPr>
        <p:spPr>
          <a:xfrm>
            <a:off x="457200" y="1371600"/>
            <a:ext cx="8229600" cy="5257800"/>
          </a:xfrm>
        </p:spPr>
        <p:txBody>
          <a:bodyPr>
            <a:noAutofit/>
          </a:bodyPr>
          <a:lstStyle/>
          <a:p>
            <a:pPr>
              <a:buClr>
                <a:srgbClr val="C00000"/>
              </a:buClr>
              <a:buFont typeface="Wingdings" pitchFamily="2" charset="2"/>
              <a:buChar char="Ø"/>
              <a:defRPr/>
            </a:pPr>
            <a:r>
              <a:rPr lang="vi-VN" smtClean="0">
                <a:solidFill>
                  <a:srgbClr val="C00000"/>
                </a:solidFill>
              </a:rPr>
              <a:t>Chế độ khuếch đại:  </a:t>
            </a:r>
            <a:r>
              <a:rPr lang="vi-VN" smtClean="0"/>
              <a:t>đặt điện áp một chiều lên các chân cực sao cho chuyển tiếp </a:t>
            </a:r>
            <a:r>
              <a:rPr lang="en-US" smtClean="0"/>
              <a:t>J</a:t>
            </a:r>
            <a:r>
              <a:rPr lang="vi-VN" baseline="-25000" smtClean="0"/>
              <a:t>E</a:t>
            </a:r>
            <a:r>
              <a:rPr lang="vi-VN" smtClean="0"/>
              <a:t> phân cực thuận và chuyển tiếp </a:t>
            </a:r>
            <a:r>
              <a:rPr lang="en-US" smtClean="0"/>
              <a:t>J</a:t>
            </a:r>
            <a:r>
              <a:rPr lang="vi-VN" baseline="-25000" smtClean="0"/>
              <a:t>C </a:t>
            </a:r>
            <a:r>
              <a:rPr lang="vi-VN" smtClean="0"/>
              <a:t>phân cực ngược</a:t>
            </a:r>
            <a:r>
              <a:rPr lang="en-US" smtClean="0"/>
              <a:t> </a:t>
            </a:r>
          </a:p>
          <a:p>
            <a:pPr marL="968375" indent="-282575">
              <a:buFont typeface="Arial" pitchFamily="34" charset="0"/>
              <a:buChar char="•"/>
              <a:defRPr/>
            </a:pPr>
            <a:r>
              <a:rPr lang="en-US" smtClean="0"/>
              <a:t>Transistor loại NPN: V</a:t>
            </a:r>
            <a:r>
              <a:rPr lang="en-US" baseline="-25000" smtClean="0"/>
              <a:t>E</a:t>
            </a:r>
            <a:r>
              <a:rPr lang="en-US" smtClean="0"/>
              <a:t> &lt; V</a:t>
            </a:r>
            <a:r>
              <a:rPr lang="en-US" baseline="-25000" smtClean="0"/>
              <a:t>B</a:t>
            </a:r>
            <a:r>
              <a:rPr lang="en-US" smtClean="0"/>
              <a:t> &lt; V</a:t>
            </a:r>
            <a:r>
              <a:rPr lang="en-US" baseline="-25000" smtClean="0"/>
              <a:t>C</a:t>
            </a:r>
          </a:p>
          <a:p>
            <a:pPr marL="1033463" indent="-347663">
              <a:buFont typeface="Arial" pitchFamily="34" charset="0"/>
              <a:buChar char="•"/>
              <a:defRPr/>
            </a:pPr>
            <a:r>
              <a:rPr lang="en-US" smtClean="0"/>
              <a:t>Transistor loại PNP: V</a:t>
            </a:r>
            <a:r>
              <a:rPr lang="en-US" baseline="-25000" smtClean="0"/>
              <a:t>E</a:t>
            </a:r>
            <a:r>
              <a:rPr lang="en-US" smtClean="0"/>
              <a:t> &gt; V</a:t>
            </a:r>
            <a:r>
              <a:rPr lang="en-US" baseline="-25000" smtClean="0"/>
              <a:t>B</a:t>
            </a:r>
            <a:r>
              <a:rPr lang="en-US" smtClean="0"/>
              <a:t> &gt;V</a:t>
            </a:r>
            <a:r>
              <a:rPr lang="en-US" baseline="-25000" smtClean="0"/>
              <a:t>C</a:t>
            </a:r>
          </a:p>
          <a:p>
            <a:pPr>
              <a:buClr>
                <a:srgbClr val="C00000"/>
              </a:buClr>
              <a:buFont typeface="Wingdings" pitchFamily="2" charset="2"/>
              <a:buChar char="Ø"/>
              <a:defRPr/>
            </a:pPr>
            <a:r>
              <a:rPr lang="en-US" smtClean="0"/>
              <a:t> </a:t>
            </a:r>
            <a:r>
              <a:rPr lang="vi-VN" smtClean="0"/>
              <a:t>Khi tính toán chế độ một chiều trong vùng tích cực ta dùng các công thức sau :</a:t>
            </a:r>
          </a:p>
          <a:p>
            <a:pPr marL="685800" indent="228600">
              <a:buFont typeface="Arial" pitchFamily="34" charset="0"/>
              <a:buChar char="•"/>
              <a:defRPr/>
            </a:pPr>
            <a:r>
              <a:rPr lang="fr-FR" i="1" smtClean="0"/>
              <a:t>V</a:t>
            </a:r>
            <a:r>
              <a:rPr lang="fr-FR" i="1" baseline="-25000" smtClean="0"/>
              <a:t>BE</a:t>
            </a:r>
            <a:r>
              <a:rPr lang="fr-FR" i="1" smtClean="0"/>
              <a:t> </a:t>
            </a:r>
            <a:r>
              <a:rPr lang="fr-FR" i="1" smtClean="0"/>
              <a:t>= </a:t>
            </a:r>
            <a:r>
              <a:rPr lang="fr-FR" i="1"/>
              <a:t>0.7V (đối với Si); </a:t>
            </a:r>
            <a:r>
              <a:rPr lang="fr-FR" i="1" smtClean="0"/>
              <a:t>V</a:t>
            </a:r>
            <a:r>
              <a:rPr lang="fr-FR" i="1" baseline="-25000" smtClean="0"/>
              <a:t>BE</a:t>
            </a:r>
            <a:r>
              <a:rPr lang="fr-FR" i="1" smtClean="0"/>
              <a:t> </a:t>
            </a:r>
            <a:r>
              <a:rPr lang="fr-FR" i="1"/>
              <a:t>= </a:t>
            </a:r>
            <a:r>
              <a:rPr lang="fr-FR" i="1" smtClean="0"/>
              <a:t>0.3V </a:t>
            </a:r>
            <a:r>
              <a:rPr lang="fr-FR" i="1"/>
              <a:t>(đối với </a:t>
            </a:r>
            <a:r>
              <a:rPr lang="fr-FR" i="1" smtClean="0"/>
              <a:t>Ge)</a:t>
            </a:r>
          </a:p>
          <a:p>
            <a:pPr marL="685800" indent="228600">
              <a:buFont typeface="Arial" pitchFamily="34" charset="0"/>
              <a:buChar char="•"/>
              <a:defRPr/>
            </a:pPr>
            <a:r>
              <a:rPr lang="fr-FR" i="1" smtClean="0"/>
              <a:t>I</a:t>
            </a:r>
            <a:r>
              <a:rPr lang="fr-FR" i="1" baseline="-25000" smtClean="0"/>
              <a:t>C</a:t>
            </a:r>
            <a:r>
              <a:rPr lang="fr-FR" i="1" smtClean="0"/>
              <a:t> = </a:t>
            </a:r>
            <a:r>
              <a:rPr lang="fr-FR" i="1" smtClean="0">
                <a:sym typeface="Symbol"/>
              </a:rPr>
              <a:t></a:t>
            </a:r>
            <a:r>
              <a:rPr lang="fr-FR" i="1" smtClean="0"/>
              <a:t>I</a:t>
            </a:r>
            <a:r>
              <a:rPr lang="fr-FR" i="1" baseline="-25000" smtClean="0"/>
              <a:t>B</a:t>
            </a:r>
          </a:p>
          <a:p>
            <a:pPr marL="685800" indent="228600">
              <a:buFont typeface="Arial" pitchFamily="34" charset="0"/>
              <a:buChar char="•"/>
              <a:defRPr/>
            </a:pPr>
            <a:r>
              <a:rPr lang="fr-FR" i="1" smtClean="0"/>
              <a:t>I</a:t>
            </a:r>
            <a:r>
              <a:rPr lang="fr-FR" i="1" baseline="-25000" smtClean="0"/>
              <a:t>E</a:t>
            </a:r>
            <a:r>
              <a:rPr lang="fr-FR" i="1" smtClean="0"/>
              <a:t>= I</a:t>
            </a:r>
            <a:r>
              <a:rPr lang="fr-FR" i="1" baseline="-25000" smtClean="0"/>
              <a:t>B</a:t>
            </a:r>
            <a:r>
              <a:rPr lang="fr-FR" i="1" smtClean="0"/>
              <a:t> + I</a:t>
            </a:r>
            <a:r>
              <a:rPr lang="fr-FR" i="1" baseline="-25000" smtClean="0"/>
              <a:t>C</a:t>
            </a:r>
            <a:r>
              <a:rPr lang="fr-FR" i="1" smtClean="0"/>
              <a:t> = (</a:t>
            </a:r>
            <a:r>
              <a:rPr lang="fr-FR" i="1" smtClean="0">
                <a:sym typeface="Symbol"/>
              </a:rPr>
              <a:t> </a:t>
            </a:r>
            <a:r>
              <a:rPr lang="fr-FR" i="1" smtClean="0"/>
              <a:t>+1)I</a:t>
            </a:r>
            <a:r>
              <a:rPr lang="fr-FR" i="1" baseline="-25000" smtClean="0"/>
              <a:t>B</a:t>
            </a:r>
            <a:endParaRPr lang="en-US" i="1" baseline="-25000" smtClean="0"/>
          </a:p>
        </p:txBody>
      </p:sp>
      <p:sp>
        <p:nvSpPr>
          <p:cNvPr id="6144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A80A0DD-A2DA-4BFD-BDF3-4E224C445342}" type="slidenum">
              <a:rPr lang="en-US" smtClean="0"/>
              <a:pPr eaLnBrk="1" hangingPunct="1"/>
              <a:t>25</a:t>
            </a:fld>
            <a:endParaRPr lang="en-US" smtClean="0"/>
          </a:p>
        </p:txBody>
      </p:sp>
    </p:spTree>
    <p:extLst>
      <p:ext uri="{BB962C8B-B14F-4D97-AF65-F5344CB8AC3E}">
        <p14:creationId xmlns:p14="http://schemas.microsoft.com/office/powerpoint/2010/main" val="10825115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noAutofit/>
          </a:bodyPr>
          <a:lstStyle/>
          <a:p>
            <a:r>
              <a:rPr lang="en-US" b="1" smtClean="0">
                <a:latin typeface="Constantia" pitchFamily="18" charset="0"/>
              </a:rPr>
              <a:t>Đường tải tĩnh và điểm công tác tĩnh</a:t>
            </a:r>
          </a:p>
        </p:txBody>
      </p:sp>
      <p:sp>
        <p:nvSpPr>
          <p:cNvPr id="62467" name="Rectangle 3"/>
          <p:cNvSpPr>
            <a:spLocks noGrp="1" noChangeArrowheads="1"/>
          </p:cNvSpPr>
          <p:nvPr>
            <p:ph type="body" sz="half" idx="4294967295"/>
          </p:nvPr>
        </p:nvSpPr>
        <p:spPr>
          <a:xfrm>
            <a:off x="457200" y="1600200"/>
            <a:ext cx="4040188" cy="4525963"/>
          </a:xfrm>
          <a:prstGeom prst="rect">
            <a:avLst/>
          </a:prstGeom>
        </p:spPr>
        <p:txBody>
          <a:bodyPr/>
          <a:lstStyle/>
          <a:p>
            <a:r>
              <a:rPr lang="vi-VN" sz="2000" smtClean="0">
                <a:solidFill>
                  <a:srgbClr val="C00000"/>
                </a:solidFill>
                <a:latin typeface="Constantia" pitchFamily="18" charset="0"/>
              </a:rPr>
              <a:t>Đường tải tĩnh </a:t>
            </a:r>
            <a:r>
              <a:rPr lang="vi-VN" sz="2000" smtClean="0">
                <a:latin typeface="Constantia" pitchFamily="18" charset="0"/>
              </a:rPr>
              <a:t>được vẽ trên đặc tuyến ra tĩnh của transitor để nghiên cứu dòng điện và điện áp một chiều khi mắc trong một mạch cụ thể nào đó.</a:t>
            </a:r>
            <a:endParaRPr lang="en-US" sz="2000" smtClean="0">
              <a:latin typeface="Constantia" pitchFamily="18" charset="0"/>
            </a:endParaRPr>
          </a:p>
          <a:p>
            <a:r>
              <a:rPr lang="vi-VN" sz="2000" smtClean="0">
                <a:solidFill>
                  <a:srgbClr val="C00000"/>
                </a:solidFill>
                <a:latin typeface="Constantia" pitchFamily="18" charset="0"/>
              </a:rPr>
              <a:t>Điểm công tác tĩnh </a:t>
            </a:r>
            <a:r>
              <a:rPr lang="vi-VN" sz="2000" smtClean="0">
                <a:latin typeface="Constantia" pitchFamily="18" charset="0"/>
              </a:rPr>
              <a:t>(hay điểm tĩnh, điểm phân cực) là điểm nằm trên đường tải tĩnh xác định dòng điện và điện áp trên transitor khi không có tín hiệu đặt vào, nghĩa là xác định điều kiện phân cực cho transitor.</a:t>
            </a:r>
          </a:p>
          <a:p>
            <a:endParaRPr lang="en-US" sz="1800" smtClean="0">
              <a:latin typeface="Constantia" pitchFamily="18" charset="0"/>
            </a:endParaRPr>
          </a:p>
        </p:txBody>
      </p:sp>
      <p:sp>
        <p:nvSpPr>
          <p:cNvPr id="62468" name="Rectangle 5"/>
          <p:cNvSpPr>
            <a:spLocks noChangeArrowheads="1"/>
          </p:cNvSpPr>
          <p:nvPr/>
        </p:nvSpPr>
        <p:spPr bwMode="auto">
          <a:xfrm>
            <a:off x="5105400" y="5181600"/>
            <a:ext cx="37560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vi-VN" sz="1600" b="1" i="1"/>
              <a:t>Đường tải tĩnh và điểm công tác tĩnh</a:t>
            </a:r>
          </a:p>
        </p:txBody>
      </p:sp>
      <p:sp>
        <p:nvSpPr>
          <p:cNvPr id="62469"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F64264F-CB39-43A0-A376-E47A53BA7724}" type="slidenum">
              <a:rPr lang="en-US" smtClean="0"/>
              <a:pPr eaLnBrk="1" hangingPunct="1"/>
              <a:t>26</a:t>
            </a:fld>
            <a:endParaRPr lang="en-US" smtClean="0"/>
          </a:p>
        </p:txBody>
      </p:sp>
      <p:grpSp>
        <p:nvGrpSpPr>
          <p:cNvPr id="62470" name="Group 10"/>
          <p:cNvGrpSpPr>
            <a:grpSpLocks noChangeAspect="1"/>
          </p:cNvGrpSpPr>
          <p:nvPr/>
        </p:nvGrpSpPr>
        <p:grpSpPr bwMode="auto">
          <a:xfrm>
            <a:off x="4646613" y="1676400"/>
            <a:ext cx="4497387" cy="3384550"/>
            <a:chOff x="2927" y="1056"/>
            <a:chExt cx="2833" cy="2132"/>
          </a:xfrm>
        </p:grpSpPr>
        <p:sp>
          <p:nvSpPr>
            <p:cNvPr id="62471" name="AutoShape 9"/>
            <p:cNvSpPr>
              <a:spLocks noChangeAspect="1" noChangeArrowheads="1" noTextEdit="1"/>
            </p:cNvSpPr>
            <p:nvPr/>
          </p:nvSpPr>
          <p:spPr bwMode="auto">
            <a:xfrm>
              <a:off x="2927" y="1056"/>
              <a:ext cx="2833" cy="2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62472"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8" y="1106"/>
              <a:ext cx="2666" cy="2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3" name="Rectangle 12"/>
            <p:cNvSpPr>
              <a:spLocks noChangeArrowheads="1"/>
            </p:cNvSpPr>
            <p:nvPr/>
          </p:nvSpPr>
          <p:spPr bwMode="auto">
            <a:xfrm>
              <a:off x="4997" y="2742"/>
              <a:ext cx="748" cy="1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2474" name="Rectangle 13"/>
            <p:cNvSpPr>
              <a:spLocks noChangeArrowheads="1"/>
            </p:cNvSpPr>
            <p:nvPr/>
          </p:nvSpPr>
          <p:spPr bwMode="auto">
            <a:xfrm>
              <a:off x="5082" y="2751"/>
              <a:ext cx="65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b="1">
                  <a:solidFill>
                    <a:srgbClr val="C00000"/>
                  </a:solidFill>
                  <a:latin typeface="Times New Roman" pitchFamily="18" charset="0"/>
                </a:rPr>
                <a:t>Đường tải tĩnh</a:t>
              </a:r>
              <a:endParaRPr lang="en-US" b="1">
                <a:solidFill>
                  <a:srgbClr val="C00000"/>
                </a:solidFill>
              </a:endParaRPr>
            </a:p>
          </p:txBody>
        </p:sp>
        <p:sp>
          <p:nvSpPr>
            <p:cNvPr id="62475" name="Rectangle 14"/>
            <p:cNvSpPr>
              <a:spLocks noChangeArrowheads="1"/>
            </p:cNvSpPr>
            <p:nvPr/>
          </p:nvSpPr>
          <p:spPr bwMode="auto">
            <a:xfrm>
              <a:off x="3548" y="2305"/>
              <a:ext cx="448" cy="1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2476" name="Rectangle 16"/>
            <p:cNvSpPr>
              <a:spLocks noChangeArrowheads="1"/>
            </p:cNvSpPr>
            <p:nvPr/>
          </p:nvSpPr>
          <p:spPr bwMode="auto">
            <a:xfrm>
              <a:off x="3575" y="2208"/>
              <a:ext cx="4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sz="1300" b="1">
                  <a:solidFill>
                    <a:srgbClr val="C00000"/>
                  </a:solidFill>
                  <a:latin typeface="Times New Roman" pitchFamily="18" charset="0"/>
                </a:rPr>
                <a:t>Điểm công tác tĩnh Q</a:t>
              </a:r>
              <a:endParaRPr lang="en-US" b="1">
                <a:solidFill>
                  <a:srgbClr val="C00000"/>
                </a:solidFill>
              </a:endParaRPr>
            </a:p>
          </p:txBody>
        </p:sp>
        <p:sp>
          <p:nvSpPr>
            <p:cNvPr id="62477" name="Rectangle 17"/>
            <p:cNvSpPr>
              <a:spLocks noChangeArrowheads="1"/>
            </p:cNvSpPr>
            <p:nvPr/>
          </p:nvSpPr>
          <p:spPr bwMode="auto">
            <a:xfrm>
              <a:off x="4863" y="2947"/>
              <a:ext cx="314" cy="1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2478" name="Rectangle 18"/>
            <p:cNvSpPr>
              <a:spLocks noChangeArrowheads="1"/>
            </p:cNvSpPr>
            <p:nvPr/>
          </p:nvSpPr>
          <p:spPr bwMode="auto">
            <a:xfrm>
              <a:off x="4939" y="2959"/>
              <a:ext cx="212"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000000"/>
                  </a:solidFill>
                  <a:latin typeface="Times New Roman" pitchFamily="18" charset="0"/>
                </a:rPr>
                <a:t>Vcc</a:t>
              </a:r>
              <a:endParaRPr lang="en-US"/>
            </a:p>
          </p:txBody>
        </p:sp>
        <p:sp>
          <p:nvSpPr>
            <p:cNvPr id="62479" name="Rectangle 19"/>
            <p:cNvSpPr>
              <a:spLocks noChangeArrowheads="1"/>
            </p:cNvSpPr>
            <p:nvPr/>
          </p:nvSpPr>
          <p:spPr bwMode="auto">
            <a:xfrm>
              <a:off x="2995" y="1525"/>
              <a:ext cx="313"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2480" name="Rectangle 20"/>
            <p:cNvSpPr>
              <a:spLocks noChangeArrowheads="1"/>
            </p:cNvSpPr>
            <p:nvPr/>
          </p:nvSpPr>
          <p:spPr bwMode="auto">
            <a:xfrm>
              <a:off x="3008" y="1535"/>
              <a:ext cx="212"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000000"/>
                  </a:solidFill>
                  <a:latin typeface="Times New Roman" pitchFamily="18" charset="0"/>
                </a:rPr>
                <a:t>Vcc</a:t>
              </a:r>
              <a:endParaRPr lang="en-US"/>
            </a:p>
          </p:txBody>
        </p:sp>
        <p:sp>
          <p:nvSpPr>
            <p:cNvPr id="62481" name="Rectangle 21"/>
            <p:cNvSpPr>
              <a:spLocks noChangeArrowheads="1"/>
            </p:cNvSpPr>
            <p:nvPr/>
          </p:nvSpPr>
          <p:spPr bwMode="auto">
            <a:xfrm>
              <a:off x="3170" y="1535"/>
              <a:ext cx="75"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000000"/>
                  </a:solidFill>
                  <a:latin typeface="Times New Roman" pitchFamily="18" charset="0"/>
                </a:rPr>
                <a:t>/</a:t>
              </a:r>
              <a:endParaRPr lang="en-US"/>
            </a:p>
          </p:txBody>
        </p:sp>
        <p:sp>
          <p:nvSpPr>
            <p:cNvPr id="62482" name="Rectangle 22"/>
            <p:cNvSpPr>
              <a:spLocks noChangeArrowheads="1"/>
            </p:cNvSpPr>
            <p:nvPr/>
          </p:nvSpPr>
          <p:spPr bwMode="auto">
            <a:xfrm>
              <a:off x="3201" y="1535"/>
              <a:ext cx="143"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000000"/>
                  </a:solidFill>
                  <a:latin typeface="Times New Roman" pitchFamily="18" charset="0"/>
                </a:rPr>
                <a:t>Rt</a:t>
              </a:r>
              <a:endParaRPr lang="en-US"/>
            </a:p>
          </p:txBody>
        </p:sp>
        <p:sp>
          <p:nvSpPr>
            <p:cNvPr id="62483" name="Rectangle 23"/>
            <p:cNvSpPr>
              <a:spLocks noChangeArrowheads="1"/>
            </p:cNvSpPr>
            <p:nvPr/>
          </p:nvSpPr>
          <p:spPr bwMode="auto">
            <a:xfrm>
              <a:off x="2950" y="1072"/>
              <a:ext cx="358" cy="1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2484" name="Rectangle 24"/>
            <p:cNvSpPr>
              <a:spLocks noChangeArrowheads="1"/>
            </p:cNvSpPr>
            <p:nvPr/>
          </p:nvSpPr>
          <p:spPr bwMode="auto">
            <a:xfrm>
              <a:off x="2996" y="1081"/>
              <a:ext cx="8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VnTime" pitchFamily="34" charset="0"/>
                </a:rPr>
                <a:t>i</a:t>
              </a:r>
              <a:endParaRPr lang="en-US"/>
            </a:p>
          </p:txBody>
        </p:sp>
        <p:sp>
          <p:nvSpPr>
            <p:cNvPr id="62485" name="Rectangle 25"/>
            <p:cNvSpPr>
              <a:spLocks noChangeArrowheads="1"/>
            </p:cNvSpPr>
            <p:nvPr/>
          </p:nvSpPr>
          <p:spPr bwMode="auto">
            <a:xfrm>
              <a:off x="3020" y="1119"/>
              <a:ext cx="75"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900" i="1">
                  <a:solidFill>
                    <a:srgbClr val="000000"/>
                  </a:solidFill>
                  <a:latin typeface=".VnTime" pitchFamily="34" charset="0"/>
                </a:rPr>
                <a:t>C</a:t>
              </a:r>
              <a:endParaRPr lang="en-US"/>
            </a:p>
          </p:txBody>
        </p:sp>
        <p:sp>
          <p:nvSpPr>
            <p:cNvPr id="62486" name="Rectangle 26"/>
            <p:cNvSpPr>
              <a:spLocks noChangeArrowheads="1"/>
            </p:cNvSpPr>
            <p:nvPr/>
          </p:nvSpPr>
          <p:spPr bwMode="auto">
            <a:xfrm>
              <a:off x="3064" y="1081"/>
              <a:ext cx="87"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VnTime" pitchFamily="34" charset="0"/>
                </a:rPr>
                <a:t>(</a:t>
              </a:r>
              <a:endParaRPr lang="en-US"/>
            </a:p>
          </p:txBody>
        </p:sp>
        <p:sp>
          <p:nvSpPr>
            <p:cNvPr id="62487" name="Rectangle 27"/>
            <p:cNvSpPr>
              <a:spLocks noChangeArrowheads="1"/>
            </p:cNvSpPr>
            <p:nvPr/>
          </p:nvSpPr>
          <p:spPr bwMode="auto">
            <a:xfrm>
              <a:off x="3101" y="1081"/>
              <a:ext cx="19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VnTime" pitchFamily="34" charset="0"/>
                </a:rPr>
                <a:t>mA</a:t>
              </a:r>
              <a:endParaRPr lang="en-US"/>
            </a:p>
          </p:txBody>
        </p:sp>
        <p:sp>
          <p:nvSpPr>
            <p:cNvPr id="62488" name="Rectangle 28"/>
            <p:cNvSpPr>
              <a:spLocks noChangeArrowheads="1"/>
            </p:cNvSpPr>
            <p:nvPr/>
          </p:nvSpPr>
          <p:spPr bwMode="auto">
            <a:xfrm>
              <a:off x="3232" y="1081"/>
              <a:ext cx="87"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VnTime" pitchFamily="34" charset="0"/>
                </a:rPr>
                <a:t>)</a:t>
              </a:r>
              <a:endParaRPr lang="en-US"/>
            </a:p>
          </p:txBody>
        </p:sp>
        <p:sp>
          <p:nvSpPr>
            <p:cNvPr id="62489" name="Rectangle 29"/>
            <p:cNvSpPr>
              <a:spLocks noChangeArrowheads="1"/>
            </p:cNvSpPr>
            <p:nvPr/>
          </p:nvSpPr>
          <p:spPr bwMode="auto">
            <a:xfrm>
              <a:off x="5222" y="2970"/>
              <a:ext cx="359"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2490" name="Rectangle 30"/>
            <p:cNvSpPr>
              <a:spLocks noChangeArrowheads="1"/>
            </p:cNvSpPr>
            <p:nvPr/>
          </p:nvSpPr>
          <p:spPr bwMode="auto">
            <a:xfrm>
              <a:off x="5256" y="2978"/>
              <a:ext cx="125"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VnTime" pitchFamily="34" charset="0"/>
                </a:rPr>
                <a:t>U</a:t>
              </a:r>
              <a:endParaRPr lang="en-US"/>
            </a:p>
          </p:txBody>
        </p:sp>
        <p:sp>
          <p:nvSpPr>
            <p:cNvPr id="62491" name="Rectangle 31"/>
            <p:cNvSpPr>
              <a:spLocks noChangeArrowheads="1"/>
            </p:cNvSpPr>
            <p:nvPr/>
          </p:nvSpPr>
          <p:spPr bwMode="auto">
            <a:xfrm>
              <a:off x="5331" y="3016"/>
              <a:ext cx="11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900" i="1">
                  <a:solidFill>
                    <a:srgbClr val="000000"/>
                  </a:solidFill>
                  <a:latin typeface=".VnTime" pitchFamily="34" charset="0"/>
                </a:rPr>
                <a:t>CE</a:t>
              </a:r>
              <a:endParaRPr lang="en-US"/>
            </a:p>
          </p:txBody>
        </p:sp>
        <p:sp>
          <p:nvSpPr>
            <p:cNvPr id="62492" name="Rectangle 32"/>
            <p:cNvSpPr>
              <a:spLocks noChangeArrowheads="1"/>
            </p:cNvSpPr>
            <p:nvPr/>
          </p:nvSpPr>
          <p:spPr bwMode="auto">
            <a:xfrm>
              <a:off x="5418" y="2978"/>
              <a:ext cx="87"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VnTime" pitchFamily="34" charset="0"/>
                </a:rPr>
                <a:t>(</a:t>
              </a:r>
              <a:endParaRPr lang="en-US"/>
            </a:p>
          </p:txBody>
        </p:sp>
        <p:sp>
          <p:nvSpPr>
            <p:cNvPr id="62493" name="Rectangle 33"/>
            <p:cNvSpPr>
              <a:spLocks noChangeArrowheads="1"/>
            </p:cNvSpPr>
            <p:nvPr/>
          </p:nvSpPr>
          <p:spPr bwMode="auto">
            <a:xfrm>
              <a:off x="5449" y="2978"/>
              <a:ext cx="11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VnTime" pitchFamily="34" charset="0"/>
                </a:rPr>
                <a:t>V</a:t>
              </a:r>
              <a:endParaRPr lang="en-US"/>
            </a:p>
          </p:txBody>
        </p:sp>
        <p:sp>
          <p:nvSpPr>
            <p:cNvPr id="62494" name="Rectangle 34"/>
            <p:cNvSpPr>
              <a:spLocks noChangeArrowheads="1"/>
            </p:cNvSpPr>
            <p:nvPr/>
          </p:nvSpPr>
          <p:spPr bwMode="auto">
            <a:xfrm>
              <a:off x="5512" y="2978"/>
              <a:ext cx="87"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i="1">
                  <a:solidFill>
                    <a:srgbClr val="000000"/>
                  </a:solidFill>
                  <a:latin typeface=".VnTime" pitchFamily="34" charset="0"/>
                </a:rPr>
                <a:t>)</a:t>
              </a:r>
              <a:endParaRPr lang="en-US"/>
            </a:p>
          </p:txBody>
        </p:sp>
        <p:sp>
          <p:nvSpPr>
            <p:cNvPr id="62495" name="Rectangle 35"/>
            <p:cNvSpPr>
              <a:spLocks noChangeArrowheads="1"/>
            </p:cNvSpPr>
            <p:nvPr/>
          </p:nvSpPr>
          <p:spPr bwMode="auto">
            <a:xfrm>
              <a:off x="3936" y="3075"/>
              <a:ext cx="897" cy="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2496" name="Rectangle 36"/>
            <p:cNvSpPr>
              <a:spLocks noChangeArrowheads="1"/>
            </p:cNvSpPr>
            <p:nvPr/>
          </p:nvSpPr>
          <p:spPr bwMode="auto">
            <a:xfrm>
              <a:off x="2950" y="1683"/>
              <a:ext cx="89" cy="9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spTree>
    <p:extLst>
      <p:ext uri="{BB962C8B-B14F-4D97-AF65-F5344CB8AC3E}">
        <p14:creationId xmlns:p14="http://schemas.microsoft.com/office/powerpoint/2010/main" val="5098128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normAutofit/>
          </a:bodyPr>
          <a:lstStyle/>
          <a:p>
            <a:r>
              <a:rPr lang="vi-VN" smtClean="0"/>
              <a:t>Chọn điểm công tác tĩnh</a:t>
            </a:r>
            <a:endParaRPr lang="en-US" smtClean="0">
              <a:latin typeface=".VnTime" pitchFamily="34" charset="0"/>
            </a:endParaRPr>
          </a:p>
        </p:txBody>
      </p:sp>
      <p:sp>
        <p:nvSpPr>
          <p:cNvPr id="63491" name="Rectangle 5"/>
          <p:cNvSpPr>
            <a:spLocks noGrp="1" noChangeArrowheads="1"/>
          </p:cNvSpPr>
          <p:nvPr>
            <p:ph type="body" sz="half" idx="4294967295"/>
          </p:nvPr>
        </p:nvSpPr>
        <p:spPr>
          <a:xfrm>
            <a:off x="4800600" y="1600200"/>
            <a:ext cx="4343400" cy="4525963"/>
          </a:xfrm>
          <a:prstGeom prst="rect">
            <a:avLst/>
          </a:prstGeom>
        </p:spPr>
        <p:txBody>
          <a:bodyPr/>
          <a:lstStyle/>
          <a:p>
            <a:r>
              <a:rPr lang="vi-VN" sz="2000" smtClean="0"/>
              <a:t>Việc chọn vị trí cho Q có ý nghĩa rất lớn đối với chế độ làm việc của transistor.</a:t>
            </a:r>
            <a:endParaRPr lang="en-US" sz="2000" smtClean="0"/>
          </a:p>
          <a:p>
            <a:endParaRPr lang="vi-VN" sz="2000" smtClean="0"/>
          </a:p>
          <a:p>
            <a:r>
              <a:rPr lang="vi-VN" sz="2000" smtClean="0"/>
              <a:t>Khi transistor làm việc ở chế độ khuếch đại, thông thường người ta chọn Q nằm giữa đường tải tĩnh (giữa vùng tích cực) để tín hiệu đầu ra có thể có biên độ lớn nhất mà không bị méo. </a:t>
            </a:r>
          </a:p>
        </p:txBody>
      </p:sp>
      <p:sp>
        <p:nvSpPr>
          <p:cNvPr id="6349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08C606B-2A29-4E27-997F-CA0250CEB1FF}" type="slidenum">
              <a:rPr lang="en-US" smtClean="0"/>
              <a:pPr eaLnBrk="1" hangingPunct="1"/>
              <a:t>27</a:t>
            </a:fld>
            <a:endParaRPr lang="en-US" smtClean="0"/>
          </a:p>
        </p:txBody>
      </p:sp>
      <p:pic>
        <p:nvPicPr>
          <p:cNvPr id="63493" name="Picture 8" descr="Collector Characteris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19200"/>
            <a:ext cx="4800600"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4820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afterEffect">
                                  <p:stCondLst>
                                    <p:cond delay="0"/>
                                  </p:stCondLst>
                                  <p:iterate type="lt">
                                    <p:tmPct val="5000"/>
                                  </p:iterate>
                                  <p:childTnLst>
                                    <p:set>
                                      <p:cBhvr>
                                        <p:cTn id="6" dur="1" fill="hold">
                                          <p:stCondLst>
                                            <p:cond delay="0"/>
                                          </p:stCondLst>
                                        </p:cTn>
                                        <p:tgtEl>
                                          <p:spTgt spid="63493"/>
                                        </p:tgtEl>
                                        <p:attrNameLst>
                                          <p:attrName>style.visibility</p:attrName>
                                        </p:attrNameLst>
                                      </p:cBhvr>
                                      <p:to>
                                        <p:strVal val="visible"/>
                                      </p:to>
                                    </p:set>
                                    <p:anim calcmode="lin" valueType="num">
                                      <p:cBhvr>
                                        <p:cTn id="7" dur="1000" fill="hold"/>
                                        <p:tgtEl>
                                          <p:spTgt spid="63493"/>
                                        </p:tgtEl>
                                        <p:attrNameLst>
                                          <p:attrName>ppt_w</p:attrName>
                                        </p:attrNameLst>
                                      </p:cBhvr>
                                      <p:tavLst>
                                        <p:tav tm="0">
                                          <p:val>
                                            <p:fltVal val="0"/>
                                          </p:val>
                                        </p:tav>
                                        <p:tav tm="100000">
                                          <p:val>
                                            <p:strVal val="#ppt_w"/>
                                          </p:val>
                                        </p:tav>
                                      </p:tavLst>
                                    </p:anim>
                                    <p:anim calcmode="lin" valueType="num">
                                      <p:cBhvr>
                                        <p:cTn id="8" dur="1000" fill="hold"/>
                                        <p:tgtEl>
                                          <p:spTgt spid="63493"/>
                                        </p:tgtEl>
                                        <p:attrNameLst>
                                          <p:attrName>ppt_h</p:attrName>
                                        </p:attrNameLst>
                                      </p:cBhvr>
                                      <p:tavLst>
                                        <p:tav tm="0">
                                          <p:val>
                                            <p:fltVal val="0"/>
                                          </p:val>
                                        </p:tav>
                                        <p:tav tm="100000">
                                          <p:val>
                                            <p:strVal val="#ppt_h"/>
                                          </p:val>
                                        </p:tav>
                                      </p:tavLst>
                                    </p:anim>
                                    <p:anim calcmode="lin" valueType="num">
                                      <p:cBhvr>
                                        <p:cTn id="9" dur="1000" fill="hold"/>
                                        <p:tgtEl>
                                          <p:spTgt spid="63493"/>
                                        </p:tgtEl>
                                        <p:attrNameLst>
                                          <p:attrName>style.rotation</p:attrName>
                                        </p:attrNameLst>
                                      </p:cBhvr>
                                      <p:tavLst>
                                        <p:tav tm="0">
                                          <p:val>
                                            <p:fltVal val="90"/>
                                          </p:val>
                                        </p:tav>
                                        <p:tav tm="100000">
                                          <p:val>
                                            <p:fltVal val="0"/>
                                          </p:val>
                                        </p:tav>
                                      </p:tavLst>
                                    </p:anim>
                                    <p:animEffect transition="in" filter="fade">
                                      <p:cBhvr>
                                        <p:cTn id="10" dur="1000"/>
                                        <p:tgtEl>
                                          <p:spTgt spid="63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vi-VN" sz="3600" smtClean="0"/>
              <a:t>Ổn định điểm công tác tĩnh</a:t>
            </a:r>
            <a:endParaRPr lang="en-US" sz="3600" smtClean="0">
              <a:latin typeface=".VnTime" pitchFamily="34" charset="0"/>
            </a:endParaRPr>
          </a:p>
        </p:txBody>
      </p:sp>
      <p:sp>
        <p:nvSpPr>
          <p:cNvPr id="95235" name="Rectangle 3"/>
          <p:cNvSpPr>
            <a:spLocks noGrp="1" noChangeArrowheads="1"/>
          </p:cNvSpPr>
          <p:nvPr>
            <p:ph type="body" idx="1"/>
          </p:nvPr>
        </p:nvSpPr>
        <p:spPr>
          <a:xfrm>
            <a:off x="457200" y="1371600"/>
            <a:ext cx="8229600" cy="4525963"/>
          </a:xfrm>
        </p:spPr>
        <p:txBody>
          <a:bodyPr>
            <a:normAutofit lnSpcReduction="10000"/>
          </a:bodyPr>
          <a:lstStyle/>
          <a:p>
            <a:pPr>
              <a:defRPr/>
            </a:pPr>
            <a:r>
              <a:rPr lang="vi-VN" sz="2000" smtClean="0"/>
              <a:t>Vị trí của điểm làm việc tĩnh rất quan trọng trong hoạt động của BJT</a:t>
            </a:r>
            <a:r>
              <a:rPr lang="en-US" sz="2000" smtClean="0"/>
              <a:t> </a:t>
            </a:r>
          </a:p>
          <a:p>
            <a:pPr>
              <a:defRPr/>
            </a:pPr>
            <a:r>
              <a:rPr lang="vi-VN" sz="2000" smtClean="0"/>
              <a:t>Nguyên nhân dẫn đến sự thay đổi vị trí của điểm Q:</a:t>
            </a:r>
          </a:p>
          <a:p>
            <a:pPr lvl="1">
              <a:defRPr/>
            </a:pPr>
            <a:r>
              <a:rPr lang="vi-VN" sz="1600" smtClean="0">
                <a:ea typeface="+mn-ea"/>
                <a:cs typeface="+mn-cs"/>
              </a:rPr>
              <a:t>Nhiệt độ thay đổi</a:t>
            </a:r>
          </a:p>
          <a:p>
            <a:pPr lvl="1">
              <a:defRPr/>
            </a:pPr>
            <a:r>
              <a:rPr lang="vi-VN" sz="1600" smtClean="0">
                <a:ea typeface="+mn-ea"/>
                <a:cs typeface="+mn-cs"/>
              </a:rPr>
              <a:t>sự hoá già của linh kiện theo thời gian hoạt động</a:t>
            </a:r>
          </a:p>
          <a:p>
            <a:pPr lvl="1">
              <a:defRPr/>
            </a:pPr>
            <a:r>
              <a:rPr lang="vi-VN" sz="1600" smtClean="0">
                <a:ea typeface="+mn-ea"/>
                <a:cs typeface="+mn-cs"/>
              </a:rPr>
              <a:t>sự không ổn định của nguồn cung cấp ...</a:t>
            </a:r>
          </a:p>
          <a:p>
            <a:pPr>
              <a:defRPr/>
            </a:pPr>
            <a:r>
              <a:rPr lang="vi-VN" sz="2000" smtClean="0"/>
              <a:t>Trong đó yếu tố về nhiệt độ là yếu tố thường xuyên tác động và có thể hạn chế được. Do tính chất chung của bán dẫn là đặc tính điện phụ thuộc vào nhiệt độ nên dòng điện và điện áp trên transistor phụ thuộc rất nhiều vào nhiệt độ. Nghĩa là điểm làm việc tĩnh sẽ bị di chuyển khi nhiệt độ thay đổi. </a:t>
            </a:r>
          </a:p>
          <a:p>
            <a:pPr>
              <a:defRPr/>
            </a:pPr>
            <a:r>
              <a:rPr lang="vi-VN" sz="2000" smtClean="0"/>
              <a:t>ảnh hưởng của nhiệt độ chính là ảnh hưởng tới hai tham số là dòng ngược I</a:t>
            </a:r>
            <a:r>
              <a:rPr lang="vi-VN" sz="2000" baseline="-25000" smtClean="0"/>
              <a:t>CB0</a:t>
            </a:r>
            <a:r>
              <a:rPr lang="vi-VN" sz="2000" smtClean="0"/>
              <a:t> và điện áp U</a:t>
            </a:r>
            <a:r>
              <a:rPr lang="vi-VN" sz="2000" baseline="-25000" smtClean="0"/>
              <a:t>BE</a:t>
            </a:r>
            <a:r>
              <a:rPr lang="vi-VN" sz="2000" smtClean="0"/>
              <a:t>.</a:t>
            </a:r>
          </a:p>
          <a:p>
            <a:pPr lvl="1">
              <a:defRPr/>
            </a:pPr>
            <a:r>
              <a:rPr lang="vi-VN" sz="1600" smtClean="0">
                <a:ea typeface="+mn-ea"/>
                <a:cs typeface="+mn-cs"/>
              </a:rPr>
              <a:t>U</a:t>
            </a:r>
            <a:r>
              <a:rPr lang="vi-VN" sz="1600" baseline="-25000" smtClean="0">
                <a:ea typeface="+mn-ea"/>
                <a:cs typeface="+mn-cs"/>
              </a:rPr>
              <a:t>BE</a:t>
            </a:r>
            <a:r>
              <a:rPr lang="vi-VN" sz="1600" smtClean="0">
                <a:ea typeface="+mn-ea"/>
                <a:cs typeface="+mn-cs"/>
              </a:rPr>
              <a:t> biến đổi khoảng –2,2mV/</a:t>
            </a:r>
            <a:r>
              <a:rPr lang="vi-VN" sz="1600" baseline="30000" smtClean="0">
                <a:ea typeface="+mn-ea"/>
                <a:cs typeface="+mn-cs"/>
              </a:rPr>
              <a:t>0</a:t>
            </a:r>
            <a:r>
              <a:rPr lang="vi-VN" sz="1600" smtClean="0">
                <a:ea typeface="+mn-ea"/>
                <a:cs typeface="+mn-cs"/>
              </a:rPr>
              <a:t>C đối với transistor loại Si và -1,8mV/</a:t>
            </a:r>
            <a:r>
              <a:rPr lang="vi-VN" sz="1600" baseline="30000" smtClean="0">
                <a:ea typeface="+mn-ea"/>
                <a:cs typeface="+mn-cs"/>
              </a:rPr>
              <a:t>0</a:t>
            </a:r>
            <a:r>
              <a:rPr lang="vi-VN" sz="1600" smtClean="0">
                <a:ea typeface="+mn-ea"/>
                <a:cs typeface="+mn-cs"/>
              </a:rPr>
              <a:t>C đối với transistor Ge.</a:t>
            </a:r>
          </a:p>
          <a:p>
            <a:pPr lvl="1">
              <a:defRPr/>
            </a:pPr>
            <a:r>
              <a:rPr lang="vi-VN" sz="1600" smtClean="0">
                <a:ea typeface="+mn-ea"/>
                <a:cs typeface="+mn-cs"/>
              </a:rPr>
              <a:t>I</a:t>
            </a:r>
            <a:r>
              <a:rPr lang="vi-VN" sz="1600" baseline="-25000" smtClean="0">
                <a:ea typeface="+mn-ea"/>
                <a:cs typeface="+mn-cs"/>
              </a:rPr>
              <a:t>CB0</a:t>
            </a:r>
            <a:r>
              <a:rPr lang="vi-VN" sz="1600" smtClean="0">
                <a:ea typeface="+mn-ea"/>
                <a:cs typeface="+mn-cs"/>
              </a:rPr>
              <a:t> tăng gấp 2 lần khi nhiệt độ tăng 10</a:t>
            </a:r>
            <a:r>
              <a:rPr lang="vi-VN" sz="1600" baseline="30000" smtClean="0">
                <a:ea typeface="+mn-ea"/>
                <a:cs typeface="+mn-cs"/>
              </a:rPr>
              <a:t>0</a:t>
            </a:r>
            <a:r>
              <a:rPr lang="vi-VN" sz="1600" smtClean="0">
                <a:ea typeface="+mn-ea"/>
                <a:cs typeface="+mn-cs"/>
              </a:rPr>
              <a:t>C</a:t>
            </a:r>
            <a:endParaRPr lang="en-US" sz="1600" smtClean="0">
              <a:ea typeface="+mn-ea"/>
              <a:cs typeface="+mn-cs"/>
            </a:endParaRPr>
          </a:p>
        </p:txBody>
      </p:sp>
      <p:sp>
        <p:nvSpPr>
          <p:cNvPr id="6451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A0B40D0-20A6-4008-922C-A55D6EBCDDD5}" type="slidenum">
              <a:rPr lang="en-US" smtClean="0"/>
              <a:pPr eaLnBrk="1" hangingPunct="1"/>
              <a:t>28</a:t>
            </a:fld>
            <a:endParaRPr lang="en-US" smtClean="0"/>
          </a:p>
        </p:txBody>
      </p:sp>
    </p:spTree>
    <p:extLst>
      <p:ext uri="{BB962C8B-B14F-4D97-AF65-F5344CB8AC3E}">
        <p14:creationId xmlns:p14="http://schemas.microsoft.com/office/powerpoint/2010/main" val="37427490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57200" y="274638"/>
            <a:ext cx="8229600" cy="792162"/>
          </a:xfrm>
        </p:spPr>
        <p:txBody>
          <a:bodyPr/>
          <a:lstStyle/>
          <a:p>
            <a:r>
              <a:rPr lang="vi-VN" sz="3600" smtClean="0"/>
              <a:t>Sơ đồ phân cực cố định</a:t>
            </a:r>
            <a:r>
              <a:rPr lang="en-US" sz="3600" smtClean="0"/>
              <a:t> (1) </a:t>
            </a:r>
            <a:endParaRPr lang="en-US" sz="3600" smtClean="0">
              <a:latin typeface=".VnTime" pitchFamily="34" charset="0"/>
            </a:endParaRPr>
          </a:p>
        </p:txBody>
      </p:sp>
      <p:sp>
        <p:nvSpPr>
          <p:cNvPr id="65539" name="Rectangle 4"/>
          <p:cNvSpPr>
            <a:spLocks noGrp="1" noChangeArrowheads="1"/>
          </p:cNvSpPr>
          <p:nvPr>
            <p:ph type="body" sz="half" idx="4294967295"/>
          </p:nvPr>
        </p:nvSpPr>
        <p:spPr>
          <a:xfrm>
            <a:off x="609600" y="1295400"/>
            <a:ext cx="8534400" cy="4525963"/>
          </a:xfrm>
          <a:prstGeom prst="rect">
            <a:avLst/>
          </a:prstGeom>
        </p:spPr>
        <p:txBody>
          <a:bodyPr>
            <a:normAutofit fontScale="92500" lnSpcReduction="20000"/>
          </a:bodyPr>
          <a:lstStyle/>
          <a:p>
            <a:r>
              <a:rPr lang="vi-VN" sz="2000" b="1" smtClean="0">
                <a:solidFill>
                  <a:srgbClr val="C00000"/>
                </a:solidFill>
              </a:rPr>
              <a:t>Mạch ph</a:t>
            </a:r>
            <a:r>
              <a:rPr lang="en-US" sz="2000" b="1" smtClean="0">
                <a:solidFill>
                  <a:srgbClr val="C00000"/>
                </a:solidFill>
              </a:rPr>
              <a:t>â</a:t>
            </a:r>
            <a:r>
              <a:rPr lang="vi-VN" sz="2000" b="1" smtClean="0">
                <a:solidFill>
                  <a:srgbClr val="C00000"/>
                </a:solidFill>
              </a:rPr>
              <a:t>n cực cố định</a:t>
            </a:r>
          </a:p>
          <a:p>
            <a:endParaRPr lang="en-US" sz="1800" smtClean="0"/>
          </a:p>
          <a:p>
            <a:endParaRPr lang="en-US" sz="1800" smtClean="0"/>
          </a:p>
          <a:p>
            <a:endParaRPr lang="en-US" sz="1800" smtClean="0"/>
          </a:p>
          <a:p>
            <a:endParaRPr lang="en-US" sz="1800" smtClean="0"/>
          </a:p>
          <a:p>
            <a:endParaRPr lang="en-US" sz="1800" smtClean="0"/>
          </a:p>
          <a:p>
            <a:endParaRPr lang="en-US" sz="1800" smtClean="0"/>
          </a:p>
          <a:p>
            <a:endParaRPr lang="en-US" sz="1800" smtClean="0"/>
          </a:p>
          <a:p>
            <a:endParaRPr lang="en-US" sz="1800" smtClean="0"/>
          </a:p>
          <a:p>
            <a:endParaRPr lang="en-US" sz="1800" smtClean="0"/>
          </a:p>
          <a:p>
            <a:r>
              <a:rPr lang="en-US" sz="1800" smtClean="0"/>
              <a:t>V</a:t>
            </a:r>
            <a:r>
              <a:rPr lang="en-US" sz="1800" baseline="-25000" smtClean="0"/>
              <a:t>CC</a:t>
            </a:r>
            <a:r>
              <a:rPr lang="en-US" sz="1800" smtClean="0"/>
              <a:t> là nguồn cung cấp một chiều</a:t>
            </a:r>
          </a:p>
          <a:p>
            <a:r>
              <a:rPr lang="vi-VN" sz="1800" smtClean="0"/>
              <a:t>R</a:t>
            </a:r>
            <a:r>
              <a:rPr lang="vi-VN" sz="1800" baseline="-25000" smtClean="0"/>
              <a:t>B</a:t>
            </a:r>
            <a:r>
              <a:rPr lang="vi-VN" sz="1800" smtClean="0"/>
              <a:t> đấu từ dương nguồn Vcc về cực gốc để dẫn điện áp dương về cực gốc.</a:t>
            </a:r>
          </a:p>
          <a:p>
            <a:r>
              <a:rPr lang="vi-VN" sz="1800" smtClean="0"/>
              <a:t>R</a:t>
            </a:r>
            <a:r>
              <a:rPr lang="vi-VN" sz="1800" baseline="-25000" smtClean="0"/>
              <a:t>C</a:t>
            </a:r>
            <a:r>
              <a:rPr lang="vi-VN" sz="1800" smtClean="0"/>
              <a:t> dẫn điện áp từ dương nguồn Vcc về cực góp.</a:t>
            </a:r>
          </a:p>
          <a:p>
            <a:r>
              <a:rPr lang="en-US" sz="1800" smtClean="0"/>
              <a:t>C</a:t>
            </a:r>
            <a:r>
              <a:rPr lang="en-US" sz="1800" baseline="-25000" smtClean="0"/>
              <a:t>1</a:t>
            </a:r>
            <a:r>
              <a:rPr lang="en-US" sz="1800" smtClean="0"/>
              <a:t>, C</a:t>
            </a:r>
            <a:r>
              <a:rPr lang="en-US" sz="1800" baseline="-25000" smtClean="0"/>
              <a:t>2</a:t>
            </a:r>
            <a:r>
              <a:rPr lang="en-US" sz="1800" smtClean="0"/>
              <a:t>: tụ nối tầng</a:t>
            </a:r>
          </a:p>
          <a:p>
            <a:r>
              <a:rPr lang="vi-VN" sz="1800" smtClean="0"/>
              <a:t>Dòng điện I</a:t>
            </a:r>
            <a:r>
              <a:rPr lang="vi-VN" sz="1800" baseline="-25000" smtClean="0"/>
              <a:t>B</a:t>
            </a:r>
            <a:r>
              <a:rPr lang="vi-VN" sz="1800" smtClean="0"/>
              <a:t> chạy từ dương nguồn Vcc qua R</a:t>
            </a:r>
            <a:r>
              <a:rPr lang="vi-VN" sz="1800" baseline="-25000" smtClean="0"/>
              <a:t>B</a:t>
            </a:r>
            <a:r>
              <a:rPr lang="vi-VN" sz="1800" smtClean="0"/>
              <a:t> , qua BJT về âm nguồn.</a:t>
            </a:r>
          </a:p>
          <a:p>
            <a:r>
              <a:rPr lang="vi-VN" sz="1800" smtClean="0"/>
              <a:t>Dòng điện I</a:t>
            </a:r>
            <a:r>
              <a:rPr lang="vi-VN" sz="1800" baseline="-25000" smtClean="0"/>
              <a:t>C</a:t>
            </a:r>
            <a:r>
              <a:rPr lang="vi-VN" sz="1800" smtClean="0"/>
              <a:t> chạy từ dương nguồn Vcc qua R</a:t>
            </a:r>
            <a:r>
              <a:rPr lang="vi-VN" sz="1800" baseline="-25000" smtClean="0"/>
              <a:t>C</a:t>
            </a:r>
            <a:r>
              <a:rPr lang="vi-VN" sz="1800" smtClean="0"/>
              <a:t> , qua BJT về âm nguồn.</a:t>
            </a:r>
          </a:p>
          <a:p>
            <a:endParaRPr lang="en-US" sz="1800" smtClean="0"/>
          </a:p>
        </p:txBody>
      </p:sp>
      <p:pic>
        <p:nvPicPr>
          <p:cNvPr id="6554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762000"/>
            <a:ext cx="59436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CBD0C5E-EE2B-4B6E-893F-E6AC18D27684}" type="slidenum">
              <a:rPr lang="en-US" smtClean="0"/>
              <a:pPr eaLnBrk="1" hangingPunct="1"/>
              <a:t>29</a:t>
            </a:fld>
            <a:endParaRPr lang="en-US" smtClean="0"/>
          </a:p>
        </p:txBody>
      </p:sp>
    </p:spTree>
    <p:extLst>
      <p:ext uri="{BB962C8B-B14F-4D97-AF65-F5344CB8AC3E}">
        <p14:creationId xmlns:p14="http://schemas.microsoft.com/office/powerpoint/2010/main" val="22236866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nodeType="after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diamond(in)">
                                      <p:cBhvr>
                                        <p:cTn id="7" dur="2000"/>
                                        <p:tgtEl>
                                          <p:spTgt spid="65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Grp="1" noChangeArrowheads="1"/>
          </p:cNvSpPr>
          <p:nvPr>
            <p:ph type="title"/>
          </p:nvPr>
        </p:nvSpPr>
        <p:spPr>
          <a:xfrm>
            <a:off x="457200" y="338138"/>
            <a:ext cx="8229600" cy="758825"/>
          </a:xfrm>
        </p:spPr>
        <p:txBody>
          <a:bodyPr>
            <a:noAutofit/>
          </a:bodyPr>
          <a:lstStyle/>
          <a:p>
            <a:r>
              <a:rPr lang="vi-VN" sz="3600" smtClean="0"/>
              <a:t>Sơ đồ phân cực cố định</a:t>
            </a:r>
            <a:r>
              <a:rPr lang="en-US" sz="3600" smtClean="0"/>
              <a:t> (2)</a:t>
            </a:r>
            <a:r>
              <a:rPr lang="vi-VN" sz="3600" smtClean="0"/>
              <a:t> </a:t>
            </a:r>
            <a:br>
              <a:rPr lang="vi-VN" sz="3600" smtClean="0"/>
            </a:br>
            <a:r>
              <a:rPr lang="vi-VN" sz="2800" i="1" smtClean="0"/>
              <a:t>(xác định điểm công tác tĩnh Q)</a:t>
            </a:r>
            <a:endParaRPr lang="en-US" sz="1600" i="1" smtClean="0">
              <a:latin typeface=".VnTime" pitchFamily="34" charset="0"/>
            </a:endParaRPr>
          </a:p>
        </p:txBody>
      </p:sp>
      <p:sp>
        <p:nvSpPr>
          <p:cNvPr id="10246" name="Rectangle 3"/>
          <p:cNvSpPr>
            <a:spLocks noGrp="1" noChangeArrowheads="1"/>
          </p:cNvSpPr>
          <p:nvPr>
            <p:ph type="body" idx="1"/>
          </p:nvPr>
        </p:nvSpPr>
        <p:spPr>
          <a:xfrm>
            <a:off x="457200" y="1143000"/>
            <a:ext cx="8229600" cy="5715000"/>
          </a:xfrm>
        </p:spPr>
        <p:txBody>
          <a:bodyPr>
            <a:normAutofit/>
          </a:bodyPr>
          <a:lstStyle/>
          <a:p>
            <a:r>
              <a:rPr lang="vi-VN" sz="1800" smtClean="0"/>
              <a:t>PT  Kirchhoff cho vòng điện áp phía đầu vào ta được phương trình:</a:t>
            </a:r>
          </a:p>
          <a:p>
            <a:r>
              <a:rPr lang="ja-JP" altLang="en-US" sz="1800" smtClean="0">
                <a:ea typeface="MS PGothic" pitchFamily="34" charset="-128"/>
              </a:rPr>
              <a:t>		</a:t>
            </a:r>
            <a:r>
              <a:rPr lang="en-US" altLang="ja-JP" sz="1800" smtClean="0">
                <a:ea typeface="MS PGothic" pitchFamily="34" charset="-128"/>
              </a:rPr>
              <a:t>V</a:t>
            </a:r>
            <a:r>
              <a:rPr lang="en-US" altLang="ja-JP" sz="1800" baseline="-25000" smtClean="0">
                <a:ea typeface="MS PGothic" pitchFamily="34" charset="-128"/>
              </a:rPr>
              <a:t>CC</a:t>
            </a:r>
            <a:r>
              <a:rPr lang="ja-JP" altLang="en-US" sz="1800" smtClean="0">
                <a:ea typeface="MS PGothic" pitchFamily="34" charset="-128"/>
              </a:rPr>
              <a:t> </a:t>
            </a:r>
            <a:r>
              <a:rPr lang="en-US" altLang="ja-JP" sz="1800" smtClean="0">
                <a:ea typeface="MS PGothic" pitchFamily="34" charset="-128"/>
              </a:rPr>
              <a:t>= U</a:t>
            </a:r>
            <a:r>
              <a:rPr lang="en-US" altLang="ja-JP" sz="1800" baseline="-25000" smtClean="0">
                <a:ea typeface="MS PGothic" pitchFamily="34" charset="-128"/>
              </a:rPr>
              <a:t>BE</a:t>
            </a:r>
            <a:r>
              <a:rPr lang="ja-JP" altLang="en-US" sz="1800" smtClean="0">
                <a:ea typeface="MS PGothic" pitchFamily="34" charset="-128"/>
              </a:rPr>
              <a:t> </a:t>
            </a:r>
            <a:r>
              <a:rPr lang="en-US" altLang="ja-JP" sz="1800" smtClean="0">
                <a:ea typeface="MS PGothic" pitchFamily="34" charset="-128"/>
              </a:rPr>
              <a:t>+ R</a:t>
            </a:r>
            <a:r>
              <a:rPr lang="en-US" altLang="ja-JP" sz="1800" baseline="-25000" smtClean="0">
                <a:ea typeface="MS PGothic" pitchFamily="34" charset="-128"/>
              </a:rPr>
              <a:t>B</a:t>
            </a:r>
            <a:r>
              <a:rPr lang="ja-JP" altLang="en-US" sz="1800" smtClean="0">
                <a:ea typeface="MS PGothic" pitchFamily="34" charset="-128"/>
              </a:rPr>
              <a:t> </a:t>
            </a:r>
            <a:r>
              <a:rPr lang="en-US" altLang="ja-JP" sz="1800" smtClean="0">
                <a:ea typeface="MS PGothic" pitchFamily="34" charset="-128"/>
              </a:rPr>
              <a:t>.I</a:t>
            </a:r>
            <a:r>
              <a:rPr lang="en-US" altLang="ja-JP" sz="1800" baseline="-25000" smtClean="0">
                <a:ea typeface="MS PGothic" pitchFamily="34" charset="-128"/>
              </a:rPr>
              <a:t>B</a:t>
            </a:r>
            <a:r>
              <a:rPr lang="ja-JP" altLang="en-US" sz="1800" baseline="-25000" smtClean="0">
                <a:ea typeface="MS PGothic" pitchFamily="34" charset="-128"/>
              </a:rPr>
              <a:t> </a:t>
            </a:r>
            <a:r>
              <a:rPr lang="en-US" altLang="ja-JP" sz="1800" baseline="-25000" smtClean="0">
                <a:ea typeface="MS PGothic" pitchFamily="34" charset="-128"/>
              </a:rPr>
              <a:t> </a:t>
            </a:r>
            <a:r>
              <a:rPr lang="en-US" altLang="ja-JP" sz="1800" smtClean="0">
                <a:ea typeface="MS PGothic" pitchFamily="34" charset="-128"/>
              </a:rPr>
              <a:t>    </a:t>
            </a:r>
            <a:r>
              <a:rPr lang="ja-JP" altLang="en-US" sz="1800" smtClean="0">
                <a:ea typeface="MS PGothic" pitchFamily="34" charset="-128"/>
                <a:sym typeface="Wingdings" pitchFamily="2" charset="2"/>
              </a:rPr>
              <a:t></a:t>
            </a:r>
            <a:r>
              <a:rPr lang="en-US" altLang="ja-JP" sz="1800" smtClean="0">
                <a:ea typeface="MS PGothic" pitchFamily="34" charset="-128"/>
                <a:sym typeface="Wingdings" pitchFamily="2" charset="2"/>
              </a:rPr>
              <a:t>	</a:t>
            </a:r>
            <a:r>
              <a:rPr lang="ja-JP" altLang="en-US" sz="1800" smtClean="0">
                <a:ea typeface="MS PGothic" pitchFamily="34" charset="-128"/>
                <a:sym typeface="Wingdings" pitchFamily="2" charset="2"/>
              </a:rPr>
              <a:t> </a:t>
            </a:r>
            <a:r>
              <a:rPr lang="en-US" altLang="ja-JP" sz="1800" smtClean="0">
                <a:ea typeface="MS PGothic" pitchFamily="34" charset="-128"/>
                <a:sym typeface="Wingdings" pitchFamily="2" charset="2"/>
              </a:rPr>
              <a:t>I</a:t>
            </a:r>
            <a:r>
              <a:rPr lang="en-US" altLang="ja-JP" sz="1800" baseline="-25000" smtClean="0">
                <a:ea typeface="MS PGothic" pitchFamily="34" charset="-128"/>
                <a:sym typeface="Wingdings" pitchFamily="2" charset="2"/>
              </a:rPr>
              <a:t>B</a:t>
            </a:r>
            <a:r>
              <a:rPr lang="en-US" altLang="ja-JP" sz="1800" smtClean="0">
                <a:ea typeface="MS PGothic" pitchFamily="34" charset="-128"/>
                <a:sym typeface="Wingdings" pitchFamily="2" charset="2"/>
              </a:rPr>
              <a:t>= (V</a:t>
            </a:r>
            <a:r>
              <a:rPr lang="en-US" altLang="ja-JP" sz="1800" baseline="-25000" smtClean="0">
                <a:ea typeface="MS PGothic" pitchFamily="34" charset="-128"/>
                <a:sym typeface="Wingdings" pitchFamily="2" charset="2"/>
              </a:rPr>
              <a:t>CC</a:t>
            </a:r>
            <a:r>
              <a:rPr lang="ja-JP" altLang="en-US" sz="1800" smtClean="0">
                <a:ea typeface="MS PGothic" pitchFamily="34" charset="-128"/>
                <a:sym typeface="Wingdings" pitchFamily="2" charset="2"/>
              </a:rPr>
              <a:t> </a:t>
            </a:r>
            <a:r>
              <a:rPr lang="en-US" altLang="ja-JP" sz="1800" smtClean="0">
                <a:ea typeface="MS PGothic" pitchFamily="34" charset="-128"/>
                <a:sym typeface="Wingdings" pitchFamily="2" charset="2"/>
              </a:rPr>
              <a:t>–</a:t>
            </a:r>
            <a:r>
              <a:rPr lang="ja-JP" altLang="en-US" sz="1800" smtClean="0">
                <a:ea typeface="MS PGothic" pitchFamily="34" charset="-128"/>
                <a:sym typeface="Wingdings" pitchFamily="2" charset="2"/>
              </a:rPr>
              <a:t> </a:t>
            </a:r>
            <a:r>
              <a:rPr lang="en-US" altLang="ja-JP" sz="1800" smtClean="0">
                <a:ea typeface="MS PGothic" pitchFamily="34" charset="-128"/>
                <a:sym typeface="Wingdings" pitchFamily="2" charset="2"/>
              </a:rPr>
              <a:t>U</a:t>
            </a:r>
            <a:r>
              <a:rPr lang="en-US" altLang="ja-JP" sz="1800" baseline="-25000" smtClean="0">
                <a:ea typeface="MS PGothic" pitchFamily="34" charset="-128"/>
                <a:sym typeface="Wingdings" pitchFamily="2" charset="2"/>
              </a:rPr>
              <a:t>BE</a:t>
            </a:r>
            <a:r>
              <a:rPr lang="en-US" altLang="ja-JP" sz="1800" smtClean="0">
                <a:ea typeface="MS PGothic" pitchFamily="34" charset="-128"/>
                <a:sym typeface="Wingdings" pitchFamily="2" charset="2"/>
              </a:rPr>
              <a:t>)/R</a:t>
            </a:r>
            <a:r>
              <a:rPr lang="en-US" altLang="ja-JP" sz="1800" baseline="-25000" smtClean="0">
                <a:ea typeface="MS PGothic" pitchFamily="34" charset="-128"/>
                <a:sym typeface="Wingdings" pitchFamily="2" charset="2"/>
              </a:rPr>
              <a:t>B</a:t>
            </a:r>
            <a:r>
              <a:rPr lang="ja-JP" altLang="en-US" sz="1800" smtClean="0">
                <a:ea typeface="MS PGothic" pitchFamily="34" charset="-128"/>
                <a:sym typeface="Wingdings" pitchFamily="2" charset="2"/>
              </a:rPr>
              <a:t> </a:t>
            </a:r>
            <a:endParaRPr lang="en-US" altLang="ja-JP" sz="1800" smtClean="0">
              <a:ea typeface="MS PGothic" pitchFamily="34" charset="-128"/>
              <a:sym typeface="Wingdings" pitchFamily="2" charset="2"/>
            </a:endParaRPr>
          </a:p>
          <a:p>
            <a:r>
              <a:rPr lang="en-US" altLang="ja-JP" sz="1800" smtClean="0">
                <a:ea typeface="MS PGothic" pitchFamily="34" charset="-128"/>
              </a:rPr>
              <a:t>Khi làm việc ở</a:t>
            </a:r>
            <a:r>
              <a:rPr lang="ja-JP" altLang="en-US" sz="1800" smtClean="0">
                <a:ea typeface="MS PGothic" pitchFamily="34" charset="-128"/>
              </a:rPr>
              <a:t> </a:t>
            </a:r>
            <a:r>
              <a:rPr lang="en-US" altLang="ja-JP" sz="1800" smtClean="0">
                <a:ea typeface="MS PGothic" pitchFamily="34" charset="-128"/>
              </a:rPr>
              <a:t>chế</a:t>
            </a:r>
            <a:r>
              <a:rPr lang="ja-JP" altLang="en-US" sz="1800" smtClean="0">
                <a:ea typeface="MS PGothic" pitchFamily="34" charset="-128"/>
              </a:rPr>
              <a:t> </a:t>
            </a:r>
            <a:r>
              <a:rPr lang="vi-VN" altLang="ja-JP" sz="1800" smtClean="0"/>
              <a:t>độ</a:t>
            </a:r>
            <a:r>
              <a:rPr lang="ja-JP" altLang="en-US" sz="1800" smtClean="0">
                <a:ea typeface="MS PGothic" pitchFamily="34" charset="-128"/>
              </a:rPr>
              <a:t> </a:t>
            </a:r>
            <a:r>
              <a:rPr lang="vi-VN" altLang="ja-JP" sz="1800" smtClean="0"/>
              <a:t>khuếch đại U</a:t>
            </a:r>
            <a:r>
              <a:rPr lang="vi-VN" altLang="ja-JP" sz="1800" baseline="-25000" smtClean="0"/>
              <a:t>BE</a:t>
            </a:r>
            <a:r>
              <a:rPr lang="ja-JP" altLang="en-US" sz="1800" smtClean="0">
                <a:ea typeface="MS PGothic" pitchFamily="34" charset="-128"/>
              </a:rPr>
              <a:t> </a:t>
            </a:r>
            <a:r>
              <a:rPr lang="en-US" altLang="ja-JP" sz="1800" smtClean="0">
                <a:ea typeface="MS PGothic" pitchFamily="34" charset="-128"/>
              </a:rPr>
              <a:t>có giá trị</a:t>
            </a:r>
            <a:r>
              <a:rPr lang="ja-JP" altLang="en-US" sz="1800" smtClean="0">
                <a:ea typeface="MS PGothic" pitchFamily="34" charset="-128"/>
              </a:rPr>
              <a:t> </a:t>
            </a:r>
            <a:r>
              <a:rPr lang="en-US" altLang="ja-JP" sz="1800" smtClean="0">
                <a:ea typeface="MS PGothic" pitchFamily="34" charset="-128"/>
              </a:rPr>
              <a:t>rất nhỏ</a:t>
            </a:r>
            <a:r>
              <a:rPr lang="ja-JP" altLang="en-US" sz="1800" smtClean="0">
                <a:ea typeface="MS PGothic" pitchFamily="34" charset="-128"/>
              </a:rPr>
              <a:t> </a:t>
            </a:r>
            <a:r>
              <a:rPr lang="en-US" altLang="ja-JP" sz="1800" smtClean="0">
                <a:ea typeface="MS PGothic" pitchFamily="34" charset="-128"/>
              </a:rPr>
              <a:t>do chuyển tiếp Emitter phân cực thuận. Nên ta có:</a:t>
            </a:r>
            <a:endParaRPr lang="ja-JP" altLang="en-US" sz="1800" smtClean="0">
              <a:ea typeface="MS PGothic" pitchFamily="34" charset="-128"/>
            </a:endParaRPr>
          </a:p>
          <a:p>
            <a:endParaRPr lang="ja-JP" altLang="en-US" sz="1800" smtClean="0">
              <a:ea typeface="MS PGothic" pitchFamily="34" charset="-128"/>
            </a:endParaRPr>
          </a:p>
          <a:p>
            <a:r>
              <a:rPr lang="en-US" altLang="ja-JP" sz="1800" smtClean="0">
                <a:ea typeface="MS PGothic" pitchFamily="34" charset="-128"/>
              </a:rPr>
              <a:t>Ta thấy dòng I</a:t>
            </a:r>
            <a:r>
              <a:rPr lang="en-US" altLang="ja-JP" sz="1800" baseline="-25000" smtClean="0">
                <a:ea typeface="MS PGothic" pitchFamily="34" charset="-128"/>
              </a:rPr>
              <a:t>B </a:t>
            </a:r>
            <a:r>
              <a:rPr lang="en-US" altLang="ja-JP" sz="1800" smtClean="0">
                <a:ea typeface="MS PGothic" pitchFamily="34" charset="-128"/>
              </a:rPr>
              <a:t>có giá trị</a:t>
            </a:r>
            <a:r>
              <a:rPr lang="ja-JP" altLang="en-US" sz="1800" smtClean="0">
                <a:ea typeface="MS PGothic" pitchFamily="34" charset="-128"/>
              </a:rPr>
              <a:t> </a:t>
            </a:r>
            <a:r>
              <a:rPr lang="vi-VN" altLang="ja-JP" sz="1800" smtClean="0"/>
              <a:t>không đổi  nên phương pháp này được gọi  </a:t>
            </a:r>
            <a:r>
              <a:rPr lang="vi-VN" altLang="ja-JP" sz="1800" i="1" u="sng" smtClean="0"/>
              <a:t>là phương pháp phân cực bằng dòng I</a:t>
            </a:r>
            <a:r>
              <a:rPr lang="vi-VN" altLang="ja-JP" sz="1800" i="1" u="sng" baseline="-25000" smtClean="0"/>
              <a:t>B</a:t>
            </a:r>
            <a:r>
              <a:rPr lang="ja-JP" altLang="en-US" sz="1800" i="1" u="sng" smtClean="0">
                <a:ea typeface="MS PGothic" pitchFamily="34" charset="-128"/>
              </a:rPr>
              <a:t> </a:t>
            </a:r>
            <a:r>
              <a:rPr lang="en-US" altLang="ja-JP" sz="1800" i="1" u="sng" smtClean="0">
                <a:ea typeface="MS PGothic" pitchFamily="34" charset="-128"/>
              </a:rPr>
              <a:t>cố</a:t>
            </a:r>
            <a:r>
              <a:rPr lang="ja-JP" altLang="en-US" sz="1800" i="1" u="sng" smtClean="0">
                <a:ea typeface="MS PGothic" pitchFamily="34" charset="-128"/>
              </a:rPr>
              <a:t> </a:t>
            </a:r>
            <a:r>
              <a:rPr lang="vi-VN" altLang="ja-JP" sz="1800" i="1" u="sng" smtClean="0"/>
              <a:t>định.</a:t>
            </a:r>
            <a:r>
              <a:rPr lang="ja-JP" altLang="en-US" sz="1800" i="1" u="sng" smtClean="0">
                <a:ea typeface="MS PGothic" pitchFamily="34" charset="-128"/>
              </a:rPr>
              <a:t> </a:t>
            </a:r>
          </a:p>
          <a:p>
            <a:r>
              <a:rPr lang="vi-VN" altLang="ja-JP" sz="1800" smtClean="0"/>
              <a:t>Viết phương trình Kirchhoff</a:t>
            </a:r>
            <a:r>
              <a:rPr lang="ja-JP" altLang="en-US" sz="1800" b="1" smtClean="0">
                <a:ea typeface="MS PGothic" pitchFamily="34" charset="-128"/>
              </a:rPr>
              <a:t> </a:t>
            </a:r>
            <a:r>
              <a:rPr lang="vi-VN" altLang="ja-JP" sz="1800" b="1" smtClean="0"/>
              <a:t>cho vòng điện áp phía đầu ra:</a:t>
            </a:r>
            <a:endParaRPr lang="ja-JP" altLang="en-US" sz="1800" b="1" smtClean="0">
              <a:ea typeface="MS PGothic" pitchFamily="34" charset="-128"/>
            </a:endParaRPr>
          </a:p>
          <a:p>
            <a:pPr marL="0" indent="0">
              <a:buNone/>
            </a:pPr>
            <a:r>
              <a:rPr lang="en-US" altLang="ja-JP" sz="1800">
                <a:ea typeface="MS PGothic" pitchFamily="34" charset="-128"/>
              </a:rPr>
              <a:t>	</a:t>
            </a:r>
            <a:r>
              <a:rPr lang="en-US" altLang="ja-JP" sz="1800" smtClean="0">
                <a:ea typeface="MS PGothic" pitchFamily="34" charset="-128"/>
              </a:rPr>
              <a:t>	</a:t>
            </a:r>
            <a:r>
              <a:rPr lang="ja-JP" altLang="en-US" sz="1800" smtClean="0">
                <a:ea typeface="MS PGothic" pitchFamily="34" charset="-128"/>
              </a:rPr>
              <a:t>	</a:t>
            </a:r>
            <a:r>
              <a:rPr lang="en-US" altLang="ja-JP" sz="1800" b="1" smtClean="0">
                <a:solidFill>
                  <a:srgbClr val="C00000"/>
                </a:solidFill>
                <a:ea typeface="MS PGothic" pitchFamily="34" charset="-128"/>
              </a:rPr>
              <a:t>V</a:t>
            </a:r>
            <a:r>
              <a:rPr lang="en-US" altLang="ja-JP" sz="1800" b="1" baseline="-25000" smtClean="0">
                <a:solidFill>
                  <a:srgbClr val="C00000"/>
                </a:solidFill>
                <a:ea typeface="MS PGothic" pitchFamily="34" charset="-128"/>
              </a:rPr>
              <a:t>CC</a:t>
            </a:r>
            <a:r>
              <a:rPr lang="ja-JP" altLang="en-US" sz="1800" b="1" smtClean="0">
                <a:solidFill>
                  <a:srgbClr val="C00000"/>
                </a:solidFill>
                <a:ea typeface="MS PGothic" pitchFamily="34" charset="-128"/>
              </a:rPr>
              <a:t> </a:t>
            </a:r>
            <a:r>
              <a:rPr lang="en-US" altLang="ja-JP" sz="1800" b="1" smtClean="0">
                <a:solidFill>
                  <a:srgbClr val="C00000"/>
                </a:solidFill>
                <a:ea typeface="MS PGothic" pitchFamily="34" charset="-128"/>
              </a:rPr>
              <a:t>= U</a:t>
            </a:r>
            <a:r>
              <a:rPr lang="en-US" altLang="ja-JP" sz="1800" b="1" baseline="-25000" smtClean="0">
                <a:solidFill>
                  <a:srgbClr val="C00000"/>
                </a:solidFill>
                <a:ea typeface="MS PGothic" pitchFamily="34" charset="-128"/>
              </a:rPr>
              <a:t>CE</a:t>
            </a:r>
            <a:r>
              <a:rPr lang="ja-JP" altLang="en-US" sz="1800" b="1" smtClean="0">
                <a:solidFill>
                  <a:srgbClr val="C00000"/>
                </a:solidFill>
                <a:ea typeface="MS PGothic" pitchFamily="34" charset="-128"/>
              </a:rPr>
              <a:t> </a:t>
            </a:r>
            <a:r>
              <a:rPr lang="en-US" altLang="ja-JP" sz="1800" b="1" smtClean="0">
                <a:solidFill>
                  <a:srgbClr val="C00000"/>
                </a:solidFill>
                <a:ea typeface="MS PGothic" pitchFamily="34" charset="-128"/>
              </a:rPr>
              <a:t>+ R</a:t>
            </a:r>
            <a:r>
              <a:rPr lang="en-US" altLang="ja-JP" sz="1800" b="1" baseline="-25000" smtClean="0">
                <a:solidFill>
                  <a:srgbClr val="C00000"/>
                </a:solidFill>
                <a:ea typeface="MS PGothic" pitchFamily="34" charset="-128"/>
              </a:rPr>
              <a:t>C</a:t>
            </a:r>
            <a:r>
              <a:rPr lang="ja-JP" altLang="en-US" sz="1800" b="1" smtClean="0">
                <a:solidFill>
                  <a:srgbClr val="C00000"/>
                </a:solidFill>
                <a:ea typeface="MS PGothic" pitchFamily="34" charset="-128"/>
              </a:rPr>
              <a:t> </a:t>
            </a:r>
            <a:r>
              <a:rPr lang="en-US" altLang="ja-JP" sz="1800" b="1" smtClean="0">
                <a:solidFill>
                  <a:srgbClr val="C00000"/>
                </a:solidFill>
                <a:ea typeface="MS PGothic" pitchFamily="34" charset="-128"/>
              </a:rPr>
              <a:t>.I</a:t>
            </a:r>
            <a:r>
              <a:rPr lang="en-US" altLang="ja-JP" sz="1800" b="1" baseline="-25000" smtClean="0">
                <a:solidFill>
                  <a:srgbClr val="C00000"/>
                </a:solidFill>
                <a:ea typeface="MS PGothic" pitchFamily="34" charset="-128"/>
              </a:rPr>
              <a:t>C</a:t>
            </a:r>
            <a:r>
              <a:rPr lang="ja-JP" altLang="en-US" sz="1800" b="1" smtClean="0">
                <a:solidFill>
                  <a:srgbClr val="C00000"/>
                </a:solidFill>
                <a:ea typeface="MS PGothic" pitchFamily="34" charset="-128"/>
                <a:sym typeface="Wingdings" pitchFamily="2" charset="2"/>
              </a:rPr>
              <a:t> </a:t>
            </a:r>
            <a:r>
              <a:rPr lang="vi-VN" altLang="ja-JP" sz="1800" b="1" smtClean="0">
                <a:solidFill>
                  <a:srgbClr val="C00000"/>
                </a:solidFill>
                <a:sym typeface="Wingdings" pitchFamily="2" charset="2"/>
              </a:rPr>
              <a:t>phương trình đường tải tĩnh</a:t>
            </a:r>
            <a:endParaRPr lang="ja-JP" altLang="en-US" sz="1800" b="1" baseline="-25000" smtClean="0">
              <a:solidFill>
                <a:srgbClr val="C00000"/>
              </a:solidFill>
              <a:ea typeface="MS PGothic" pitchFamily="34" charset="-128"/>
              <a:sym typeface="Wingdings" pitchFamily="2" charset="2"/>
            </a:endParaRPr>
          </a:p>
          <a:p>
            <a:r>
              <a:rPr lang="en-US" altLang="ja-JP" sz="1800" smtClean="0">
                <a:ea typeface="MS PGothic" pitchFamily="34" charset="-128"/>
              </a:rPr>
              <a:t>Giá trị</a:t>
            </a:r>
            <a:r>
              <a:rPr lang="ja-JP" altLang="en-US" sz="1800" smtClean="0">
                <a:ea typeface="MS PGothic" pitchFamily="34" charset="-128"/>
              </a:rPr>
              <a:t> </a:t>
            </a:r>
            <a:r>
              <a:rPr lang="vi-VN" altLang="ja-JP" sz="1800" smtClean="0"/>
              <a:t>dòng I</a:t>
            </a:r>
            <a:r>
              <a:rPr lang="vi-VN" altLang="ja-JP" sz="1800" baseline="-25000" smtClean="0"/>
              <a:t>C </a:t>
            </a:r>
            <a:r>
              <a:rPr lang="vi-VN" altLang="ja-JP" sz="1800" smtClean="0"/>
              <a:t>chạy qua điện trở</a:t>
            </a:r>
            <a:r>
              <a:rPr lang="ja-JP" altLang="en-US" sz="1800" smtClean="0">
                <a:ea typeface="MS PGothic" pitchFamily="34" charset="-128"/>
              </a:rPr>
              <a:t> </a:t>
            </a:r>
            <a:r>
              <a:rPr lang="en-US" altLang="ja-JP" sz="1800" smtClean="0">
                <a:ea typeface="MS PGothic" pitchFamily="34" charset="-128"/>
              </a:rPr>
              <a:t>R</a:t>
            </a:r>
            <a:r>
              <a:rPr lang="en-US" altLang="ja-JP" sz="1800" baseline="-25000" smtClean="0">
                <a:ea typeface="MS PGothic" pitchFamily="34" charset="-128"/>
              </a:rPr>
              <a:t>C</a:t>
            </a:r>
            <a:r>
              <a:rPr lang="ja-JP" altLang="en-US" sz="1800" smtClean="0">
                <a:ea typeface="MS PGothic" pitchFamily="34" charset="-128"/>
              </a:rPr>
              <a:t> </a:t>
            </a:r>
            <a:r>
              <a:rPr lang="vi-VN" altLang="ja-JP" sz="1800" smtClean="0"/>
              <a:t>(dòng I</a:t>
            </a:r>
            <a:r>
              <a:rPr lang="vi-VN" altLang="ja-JP" sz="1800" baseline="-25000" smtClean="0"/>
              <a:t>CQ</a:t>
            </a:r>
            <a:r>
              <a:rPr lang="vi-VN" altLang="ja-JP" sz="1800" smtClean="0"/>
              <a:t>) được tính theo công thức:</a:t>
            </a:r>
            <a:endParaRPr lang="ja-JP" altLang="en-US" sz="1800" smtClean="0">
              <a:ea typeface="MS PGothic" pitchFamily="34" charset="-128"/>
            </a:endParaRPr>
          </a:p>
          <a:p>
            <a:endParaRPr lang="ja-JP" altLang="en-US" sz="1800" smtClean="0">
              <a:ea typeface="MS PGothic" pitchFamily="34" charset="-128"/>
            </a:endParaRPr>
          </a:p>
          <a:p>
            <a:endParaRPr lang="ja-JP" altLang="en-US" sz="1800" smtClean="0">
              <a:ea typeface="MS PGothic" pitchFamily="34" charset="-128"/>
            </a:endParaRPr>
          </a:p>
          <a:p>
            <a:r>
              <a:rPr lang="vi-VN" altLang="ja-JP" sz="1800" smtClean="0"/>
              <a:t>để</a:t>
            </a:r>
            <a:r>
              <a:rPr lang="ja-JP" altLang="en-US" sz="1800" smtClean="0">
                <a:ea typeface="MS PGothic" pitchFamily="34" charset="-128"/>
              </a:rPr>
              <a:t> </a:t>
            </a:r>
            <a:r>
              <a:rPr lang="en-US" altLang="ja-JP" sz="1800" smtClean="0">
                <a:ea typeface="MS PGothic" pitchFamily="34" charset="-128"/>
              </a:rPr>
              <a:t>tìm giá trị</a:t>
            </a:r>
            <a:r>
              <a:rPr lang="ja-JP" altLang="en-US" sz="1800" smtClean="0">
                <a:ea typeface="MS PGothic" pitchFamily="34" charset="-128"/>
              </a:rPr>
              <a:t> </a:t>
            </a:r>
            <a:r>
              <a:rPr lang="vi-VN" altLang="ja-JP" sz="1800" smtClean="0"/>
              <a:t>điện áp U</a:t>
            </a:r>
            <a:r>
              <a:rPr lang="vi-VN" altLang="ja-JP" sz="1800" baseline="-25000" smtClean="0"/>
              <a:t>CEQ</a:t>
            </a:r>
            <a:r>
              <a:rPr lang="vi-VN" altLang="ja-JP" sz="1800" smtClean="0"/>
              <a:t> ta thay giá trị</a:t>
            </a:r>
            <a:r>
              <a:rPr lang="ja-JP" altLang="en-US" sz="1800" smtClean="0">
                <a:ea typeface="MS PGothic" pitchFamily="34" charset="-128"/>
              </a:rPr>
              <a:t> </a:t>
            </a:r>
            <a:r>
              <a:rPr lang="en-US" altLang="ja-JP" sz="1800" smtClean="0">
                <a:ea typeface="MS PGothic" pitchFamily="34" charset="-128"/>
              </a:rPr>
              <a:t>I</a:t>
            </a:r>
            <a:r>
              <a:rPr lang="en-US" altLang="ja-JP" sz="1800" baseline="-25000" smtClean="0">
                <a:ea typeface="MS PGothic" pitchFamily="34" charset="-128"/>
              </a:rPr>
              <a:t>CQ</a:t>
            </a:r>
            <a:r>
              <a:rPr lang="ja-JP" altLang="en-US" sz="1800" smtClean="0">
                <a:ea typeface="MS PGothic" pitchFamily="34" charset="-128"/>
              </a:rPr>
              <a:t>  </a:t>
            </a:r>
            <a:r>
              <a:rPr lang="vi-VN" altLang="ja-JP" sz="1800" smtClean="0"/>
              <a:t>vào phương trình đường tải tĩnh. Vậy ta có:</a:t>
            </a:r>
            <a:endParaRPr lang="ja-JP" altLang="en-US" sz="1800" smtClean="0">
              <a:ea typeface="MS PGothic" pitchFamily="34" charset="-128"/>
            </a:endParaRPr>
          </a:p>
          <a:p>
            <a:endParaRPr lang="ja-JP" altLang="en-US" sz="1800" smtClean="0">
              <a:ea typeface="MS PGothic" pitchFamily="34" charset="-128"/>
            </a:endParaRPr>
          </a:p>
          <a:p>
            <a:r>
              <a:rPr lang="en-US" altLang="ja-JP" sz="1800" smtClean="0">
                <a:ea typeface="MS PGothic" pitchFamily="34" charset="-128"/>
              </a:rPr>
              <a:t>Khi này </a:t>
            </a:r>
            <a:r>
              <a:rPr lang="vi-VN" altLang="ja-JP" sz="1800" smtClean="0"/>
              <a:t>điểm công tác tĩnh Q xác định bằng 3 giá trị</a:t>
            </a:r>
            <a:r>
              <a:rPr lang="ja-JP" altLang="en-US" sz="1800" smtClean="0">
                <a:ea typeface="MS PGothic" pitchFamily="34" charset="-128"/>
              </a:rPr>
              <a:t> </a:t>
            </a:r>
            <a:r>
              <a:rPr lang="en-US" altLang="ja-JP" sz="1800" smtClean="0">
                <a:ea typeface="MS PGothic" pitchFamily="34" charset="-128"/>
              </a:rPr>
              <a:t>(I</a:t>
            </a:r>
            <a:r>
              <a:rPr lang="en-US" altLang="ja-JP" sz="1800" baseline="-25000" smtClean="0">
                <a:ea typeface="MS PGothic" pitchFamily="34" charset="-128"/>
              </a:rPr>
              <a:t>BQ</a:t>
            </a:r>
            <a:r>
              <a:rPr lang="en-US" altLang="ja-JP" sz="1800" smtClean="0">
                <a:ea typeface="MS PGothic" pitchFamily="34" charset="-128"/>
              </a:rPr>
              <a:t>, I</a:t>
            </a:r>
            <a:r>
              <a:rPr lang="en-US" altLang="ja-JP" sz="1800" baseline="-25000" smtClean="0">
                <a:ea typeface="MS PGothic" pitchFamily="34" charset="-128"/>
              </a:rPr>
              <a:t>CQ</a:t>
            </a:r>
            <a:r>
              <a:rPr lang="en-US" altLang="ja-JP" sz="1800" smtClean="0">
                <a:ea typeface="MS PGothic" pitchFamily="34" charset="-128"/>
              </a:rPr>
              <a:t>, U</a:t>
            </a:r>
            <a:r>
              <a:rPr lang="en-US" altLang="ja-JP" sz="1800" baseline="-25000" smtClean="0">
                <a:ea typeface="MS PGothic" pitchFamily="34" charset="-128"/>
              </a:rPr>
              <a:t>CEQ</a:t>
            </a:r>
            <a:r>
              <a:rPr lang="en-US" altLang="ja-JP" sz="1800" smtClean="0">
                <a:ea typeface="MS PGothic" pitchFamily="34" charset="-128"/>
              </a:rPr>
              <a:t>)</a:t>
            </a:r>
            <a:r>
              <a:rPr lang="ja-JP" altLang="en-US" sz="1800" smtClean="0">
                <a:ea typeface="MS PGothic" pitchFamily="34" charset="-128"/>
              </a:rPr>
              <a:t>		</a:t>
            </a:r>
          </a:p>
        </p:txBody>
      </p:sp>
      <p:sp>
        <p:nvSpPr>
          <p:cNvPr id="10247" name="Rectangle 5"/>
          <p:cNvSpPr>
            <a:spLocks noChangeArrowheads="1"/>
          </p:cNvSpPr>
          <p:nvPr/>
        </p:nvSpPr>
        <p:spPr bwMode="auto">
          <a:xfrm>
            <a:off x="0" y="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sz="1600"/>
          </a:p>
        </p:txBody>
      </p:sp>
      <p:graphicFrame>
        <p:nvGraphicFramePr>
          <p:cNvPr id="10242" name="Object 4"/>
          <p:cNvGraphicFramePr>
            <a:graphicFrameLocks noChangeAspect="1"/>
          </p:cNvGraphicFramePr>
          <p:nvPr>
            <p:extLst>
              <p:ext uri="{D42A27DB-BD31-4B8C-83A1-F6EECF244321}">
                <p14:modId xmlns:p14="http://schemas.microsoft.com/office/powerpoint/2010/main" val="2299495656"/>
              </p:ext>
            </p:extLst>
          </p:nvPr>
        </p:nvGraphicFramePr>
        <p:xfrm>
          <a:off x="3886200" y="2190070"/>
          <a:ext cx="914400" cy="677635"/>
        </p:xfrm>
        <a:graphic>
          <a:graphicData uri="http://schemas.openxmlformats.org/presentationml/2006/ole">
            <mc:AlternateContent xmlns:mc="http://schemas.openxmlformats.org/markup-compatibility/2006">
              <mc:Choice xmlns:v="urn:schemas-microsoft-com:vml" Requires="v">
                <p:oleObj spid="_x0000_s25737" name="Equation" r:id="rId3" imgW="583947" imgH="431613" progId="Equation.DSMT4">
                  <p:embed/>
                </p:oleObj>
              </mc:Choice>
              <mc:Fallback>
                <p:oleObj name="Equation" r:id="rId3" imgW="583947" imgH="431613"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2190070"/>
                        <a:ext cx="914400" cy="677635"/>
                      </a:xfrm>
                      <a:prstGeom prst="rect">
                        <a:avLst/>
                      </a:prstGeom>
                      <a:noFill/>
                      <a:extLst/>
                    </p:spPr>
                  </p:pic>
                </p:oleObj>
              </mc:Fallback>
            </mc:AlternateContent>
          </a:graphicData>
        </a:graphic>
      </p:graphicFrame>
      <p:sp>
        <p:nvSpPr>
          <p:cNvPr id="10248" name="Rectangle 7"/>
          <p:cNvSpPr>
            <a:spLocks noChangeArrowheads="1"/>
          </p:cNvSpPr>
          <p:nvPr/>
        </p:nvSpPr>
        <p:spPr bwMode="auto">
          <a:xfrm>
            <a:off x="0" y="320992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sz="1600"/>
          </a:p>
        </p:txBody>
      </p:sp>
      <p:graphicFrame>
        <p:nvGraphicFramePr>
          <p:cNvPr id="10243" name="Object 6"/>
          <p:cNvGraphicFramePr>
            <a:graphicFrameLocks noChangeAspect="1"/>
          </p:cNvGraphicFramePr>
          <p:nvPr>
            <p:extLst>
              <p:ext uri="{D42A27DB-BD31-4B8C-83A1-F6EECF244321}">
                <p14:modId xmlns:p14="http://schemas.microsoft.com/office/powerpoint/2010/main" val="531083820"/>
              </p:ext>
            </p:extLst>
          </p:nvPr>
        </p:nvGraphicFramePr>
        <p:xfrm>
          <a:off x="3276600" y="4343400"/>
          <a:ext cx="1905000" cy="654050"/>
        </p:xfrm>
        <a:graphic>
          <a:graphicData uri="http://schemas.openxmlformats.org/presentationml/2006/ole">
            <mc:AlternateContent xmlns:mc="http://schemas.openxmlformats.org/markup-compatibility/2006">
              <mc:Choice xmlns:v="urn:schemas-microsoft-com:vml" Requires="v">
                <p:oleObj spid="_x0000_s25738" name="Equation" r:id="rId5" imgW="1282700" imgH="431800" progId="Equation.DSMT4">
                  <p:embed/>
                </p:oleObj>
              </mc:Choice>
              <mc:Fallback>
                <p:oleObj name="Equation" r:id="rId5" imgW="1282700" imgH="431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4343400"/>
                        <a:ext cx="1905000" cy="65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9" name="Rectangle 9"/>
          <p:cNvSpPr>
            <a:spLocks noChangeArrowheads="1"/>
          </p:cNvSpPr>
          <p:nvPr/>
        </p:nvSpPr>
        <p:spPr bwMode="auto">
          <a:xfrm>
            <a:off x="0" y="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sz="1600"/>
          </a:p>
        </p:txBody>
      </p:sp>
      <p:graphicFrame>
        <p:nvGraphicFramePr>
          <p:cNvPr id="10244" name="Object 8"/>
          <p:cNvGraphicFramePr>
            <a:graphicFrameLocks noChangeAspect="1"/>
          </p:cNvGraphicFramePr>
          <p:nvPr>
            <p:extLst>
              <p:ext uri="{D42A27DB-BD31-4B8C-83A1-F6EECF244321}">
                <p14:modId xmlns:p14="http://schemas.microsoft.com/office/powerpoint/2010/main" val="1972571947"/>
              </p:ext>
            </p:extLst>
          </p:nvPr>
        </p:nvGraphicFramePr>
        <p:xfrm>
          <a:off x="3276600" y="5486400"/>
          <a:ext cx="2057400" cy="411162"/>
        </p:xfrm>
        <a:graphic>
          <a:graphicData uri="http://schemas.openxmlformats.org/presentationml/2006/ole">
            <mc:AlternateContent xmlns:mc="http://schemas.openxmlformats.org/markup-compatibility/2006">
              <mc:Choice xmlns:v="urn:schemas-microsoft-com:vml" Requires="v">
                <p:oleObj spid="_x0000_s25739" name="Equation" r:id="rId7" imgW="1231366" imgH="241195" progId="Equation.DSMT4">
                  <p:embed/>
                </p:oleObj>
              </mc:Choice>
              <mc:Fallback>
                <p:oleObj name="Equation" r:id="rId7" imgW="1231366" imgH="24119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5486400"/>
                        <a:ext cx="2057400"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0" name="Slide Number Placeholder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F84E87D-3B77-46BB-BD50-20F21DAEB500}" type="slidenum">
              <a:rPr lang="en-US" sz="1200" smtClean="0"/>
              <a:pPr eaLnBrk="1" hangingPunct="1"/>
              <a:t>30</a:t>
            </a:fld>
            <a:endParaRPr lang="en-US" sz="1200" smtClean="0"/>
          </a:p>
        </p:txBody>
      </p:sp>
    </p:spTree>
    <p:extLst>
      <p:ext uri="{BB962C8B-B14F-4D97-AF65-F5344CB8AC3E}">
        <p14:creationId xmlns:p14="http://schemas.microsoft.com/office/powerpoint/2010/main" val="32722267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vi-VN" sz="3600" smtClean="0"/>
              <a:t>Sơ đồ phân cực cố định (3)</a:t>
            </a:r>
            <a:br>
              <a:rPr lang="vi-VN" sz="3600" smtClean="0"/>
            </a:br>
            <a:r>
              <a:rPr lang="vi-VN" sz="2800" i="1" smtClean="0"/>
              <a:t>Đường tải tĩnh và điểm công tác tĩnh </a:t>
            </a:r>
            <a:endParaRPr lang="en-US" sz="1200" smtClean="0"/>
          </a:p>
        </p:txBody>
      </p:sp>
      <p:sp>
        <p:nvSpPr>
          <p:cNvPr id="11268" name="Rectangle 4"/>
          <p:cNvSpPr>
            <a:spLocks noGrp="1" noChangeArrowheads="1"/>
          </p:cNvSpPr>
          <p:nvPr>
            <p:ph type="body" sz="half" idx="4294967295"/>
          </p:nvPr>
        </p:nvSpPr>
        <p:spPr>
          <a:xfrm>
            <a:off x="457200" y="1600200"/>
            <a:ext cx="4038600" cy="4525963"/>
          </a:xfrm>
          <a:prstGeom prst="rect">
            <a:avLst/>
          </a:prstGeom>
        </p:spPr>
        <p:txBody>
          <a:bodyPr/>
          <a:lstStyle/>
          <a:p>
            <a:r>
              <a:rPr lang="vi-VN" sz="2000" smtClean="0"/>
              <a:t>Minh hoạ trên đặc tuyến ra tĩnh</a:t>
            </a:r>
          </a:p>
        </p:txBody>
      </p:sp>
      <p:sp>
        <p:nvSpPr>
          <p:cNvPr id="11269" name="Rectangle 5"/>
          <p:cNvSpPr>
            <a:spLocks noGrp="1" noChangeArrowheads="1"/>
          </p:cNvSpPr>
          <p:nvPr>
            <p:ph type="body" sz="half" idx="4294967295"/>
          </p:nvPr>
        </p:nvSpPr>
        <p:spPr>
          <a:xfrm>
            <a:off x="5105400" y="2209800"/>
            <a:ext cx="4038600" cy="3916363"/>
          </a:xfrm>
          <a:prstGeom prst="rect">
            <a:avLst/>
          </a:prstGeom>
        </p:spPr>
        <p:txBody>
          <a:bodyPr>
            <a:noAutofit/>
          </a:bodyPr>
          <a:lstStyle/>
          <a:p>
            <a:r>
              <a:rPr lang="en-US" altLang="ja-JP" smtClean="0">
                <a:ea typeface="MS PGothic" pitchFamily="34" charset="-128"/>
              </a:rPr>
              <a:t>Để vẽ đường tải tĩnh ta cần xác định hai điểm:</a:t>
            </a:r>
          </a:p>
          <a:p>
            <a:pPr lvl="1"/>
            <a:r>
              <a:rPr lang="en-US" altLang="ja-JP" sz="2000" smtClean="0">
                <a:ea typeface="MS PGothic" pitchFamily="34" charset="-128"/>
              </a:rPr>
              <a:t>Một điểm trên trục tung tương ứng với điện U</a:t>
            </a:r>
            <a:r>
              <a:rPr lang="en-US" altLang="ja-JP" sz="2000" baseline="-25000" smtClean="0">
                <a:ea typeface="MS PGothic" pitchFamily="34" charset="-128"/>
              </a:rPr>
              <a:t>CE</a:t>
            </a:r>
            <a:r>
              <a:rPr lang="en-US" altLang="ja-JP" sz="2000" smtClean="0">
                <a:ea typeface="MS PGothic" pitchFamily="34" charset="-128"/>
              </a:rPr>
              <a:t> =0 và I</a:t>
            </a:r>
            <a:r>
              <a:rPr lang="en-US" altLang="ja-JP" sz="2000" baseline="-25000" smtClean="0">
                <a:ea typeface="MS PGothic" pitchFamily="34" charset="-128"/>
              </a:rPr>
              <a:t>C</a:t>
            </a:r>
            <a:r>
              <a:rPr lang="en-US" altLang="ja-JP" sz="2000" smtClean="0">
                <a:ea typeface="MS PGothic" pitchFamily="34" charset="-128"/>
              </a:rPr>
              <a:t> = V</a:t>
            </a:r>
            <a:r>
              <a:rPr lang="en-US" altLang="ja-JP" sz="2000" baseline="-25000" smtClean="0">
                <a:ea typeface="MS PGothic" pitchFamily="34" charset="-128"/>
              </a:rPr>
              <a:t>CC</a:t>
            </a:r>
            <a:r>
              <a:rPr lang="en-US" altLang="ja-JP" sz="2000" smtClean="0">
                <a:ea typeface="MS PGothic" pitchFamily="34" charset="-128"/>
              </a:rPr>
              <a:t>/R</a:t>
            </a:r>
            <a:r>
              <a:rPr lang="en-US" altLang="ja-JP" sz="2000" baseline="-25000" smtClean="0">
                <a:ea typeface="MS PGothic" pitchFamily="34" charset="-128"/>
              </a:rPr>
              <a:t>C</a:t>
            </a:r>
          </a:p>
          <a:p>
            <a:pPr lvl="1"/>
            <a:r>
              <a:rPr lang="en-US" altLang="ja-JP" sz="2000" smtClean="0">
                <a:ea typeface="MS PGothic" pitchFamily="34" charset="-128"/>
              </a:rPr>
              <a:t>Một điểm trên trục hoành tương ứng với I</a:t>
            </a:r>
            <a:r>
              <a:rPr lang="en-US" altLang="ja-JP" sz="2000" baseline="-25000" smtClean="0">
                <a:ea typeface="MS PGothic" pitchFamily="34" charset="-128"/>
              </a:rPr>
              <a:t>C</a:t>
            </a:r>
            <a:r>
              <a:rPr lang="en-US" altLang="ja-JP" sz="2000" smtClean="0">
                <a:ea typeface="MS PGothic" pitchFamily="34" charset="-128"/>
              </a:rPr>
              <a:t> = 0 và U</a:t>
            </a:r>
            <a:r>
              <a:rPr lang="en-US" altLang="ja-JP" sz="2000" baseline="-25000" smtClean="0">
                <a:ea typeface="MS PGothic" pitchFamily="34" charset="-128"/>
              </a:rPr>
              <a:t>CE</a:t>
            </a:r>
            <a:r>
              <a:rPr lang="en-US" altLang="ja-JP" sz="2000" smtClean="0">
                <a:ea typeface="MS PGothic" pitchFamily="34" charset="-128"/>
              </a:rPr>
              <a:t> = V</a:t>
            </a:r>
            <a:r>
              <a:rPr lang="en-US" altLang="ja-JP" sz="2000" baseline="-25000" smtClean="0">
                <a:ea typeface="MS PGothic" pitchFamily="34" charset="-128"/>
              </a:rPr>
              <a:t>CC</a:t>
            </a:r>
            <a:endParaRPr lang="en-US" altLang="ja-JP" sz="2000" b="1" baseline="-25000" smtClean="0">
              <a:ea typeface="MS PGothic" pitchFamily="34" charset="-128"/>
            </a:endParaRPr>
          </a:p>
          <a:p>
            <a:r>
              <a:rPr lang="en-US" altLang="ja-JP" smtClean="0">
                <a:ea typeface="MS PGothic" pitchFamily="34" charset="-128"/>
              </a:rPr>
              <a:t>Điểm công tác tĩnh của mạch là giao của đường tải tĩnh và đặc tuyến ra </a:t>
            </a:r>
            <a:br>
              <a:rPr lang="en-US" altLang="ja-JP" smtClean="0">
                <a:ea typeface="MS PGothic" pitchFamily="34" charset="-128"/>
              </a:rPr>
            </a:br>
            <a:r>
              <a:rPr lang="en-US" altLang="ja-JP" smtClean="0">
                <a:ea typeface="MS PGothic" pitchFamily="34" charset="-128"/>
              </a:rPr>
              <a:t>I</a:t>
            </a:r>
            <a:r>
              <a:rPr lang="en-US" altLang="ja-JP" baseline="-25000" smtClean="0">
                <a:ea typeface="MS PGothic" pitchFamily="34" charset="-128"/>
              </a:rPr>
              <a:t>B</a:t>
            </a:r>
            <a:r>
              <a:rPr lang="en-US" altLang="ja-JP" smtClean="0">
                <a:ea typeface="MS PGothic" pitchFamily="34" charset="-128"/>
              </a:rPr>
              <a:t> = V</a:t>
            </a:r>
            <a:r>
              <a:rPr lang="en-US" altLang="ja-JP" baseline="-25000" smtClean="0">
                <a:ea typeface="MS PGothic" pitchFamily="34" charset="-128"/>
              </a:rPr>
              <a:t>CC</a:t>
            </a:r>
            <a:r>
              <a:rPr lang="en-US" altLang="ja-JP" smtClean="0">
                <a:ea typeface="MS PGothic" pitchFamily="34" charset="-128"/>
              </a:rPr>
              <a:t>/ R</a:t>
            </a:r>
            <a:r>
              <a:rPr lang="en-US" altLang="ja-JP" baseline="-25000" smtClean="0">
                <a:ea typeface="MS PGothic" pitchFamily="34" charset="-128"/>
              </a:rPr>
              <a:t>B</a:t>
            </a:r>
            <a:r>
              <a:rPr lang="en-US" altLang="ja-JP" smtClean="0">
                <a:ea typeface="MS PGothic" pitchFamily="34" charset="-128"/>
              </a:rPr>
              <a:t> </a:t>
            </a:r>
            <a:endParaRPr lang="en-US" smtClean="0"/>
          </a:p>
        </p:txBody>
      </p:sp>
      <p:sp>
        <p:nvSpPr>
          <p:cNvPr id="11270" name="Rectangle 7"/>
          <p:cNvSpPr>
            <a:spLocks noChangeArrowheads="1"/>
          </p:cNvSpPr>
          <p:nvPr/>
        </p:nvSpPr>
        <p:spPr bwMode="auto">
          <a:xfrm>
            <a:off x="0" y="2371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graphicFrame>
        <p:nvGraphicFramePr>
          <p:cNvPr id="11266" name="Object 6"/>
          <p:cNvGraphicFramePr>
            <a:graphicFrameLocks noChangeAspect="1"/>
          </p:cNvGraphicFramePr>
          <p:nvPr/>
        </p:nvGraphicFramePr>
        <p:xfrm>
          <a:off x="0" y="2286000"/>
          <a:ext cx="5200650" cy="3319463"/>
        </p:xfrm>
        <a:graphic>
          <a:graphicData uri="http://schemas.openxmlformats.org/presentationml/2006/ole">
            <mc:AlternateContent xmlns:mc="http://schemas.openxmlformats.org/markup-compatibility/2006">
              <mc:Choice xmlns:v="urn:schemas-microsoft-com:vml" Requires="v">
                <p:oleObj spid="_x0000_s26670" name="Visio" r:id="rId3" imgW="3320421" imgH="2115447" progId="Visio.Drawing.11">
                  <p:embed/>
                </p:oleObj>
              </mc:Choice>
              <mc:Fallback>
                <p:oleObj name="Visio" r:id="rId3" imgW="3320421" imgH="2115447"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86000"/>
                        <a:ext cx="5200650" cy="3319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E3B0A07-5E6B-490E-A7E3-81E9DCC33B9D}" type="slidenum">
              <a:rPr lang="en-US" smtClean="0"/>
              <a:pPr eaLnBrk="1" hangingPunct="1"/>
              <a:t>31</a:t>
            </a:fld>
            <a:endParaRPr lang="en-US" smtClean="0"/>
          </a:p>
        </p:txBody>
      </p:sp>
    </p:spTree>
    <p:extLst>
      <p:ext uri="{BB962C8B-B14F-4D97-AF65-F5344CB8AC3E}">
        <p14:creationId xmlns:p14="http://schemas.microsoft.com/office/powerpoint/2010/main" val="1842104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after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checkerboard(across)">
                                      <p:cBhvr>
                                        <p:cTn id="7" dur="500"/>
                                        <p:tgtEl>
                                          <p:spTgt spid="1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457200" y="1600200"/>
            <a:ext cx="8686800" cy="4525963"/>
          </a:xfrm>
        </p:spPr>
        <p:txBody>
          <a:bodyPr>
            <a:noAutofit/>
          </a:bodyPr>
          <a:lstStyle/>
          <a:p>
            <a:r>
              <a:rPr lang="vi-VN" altLang="ja-JP" smtClean="0"/>
              <a:t>Khi nhiệt độ</a:t>
            </a:r>
            <a:r>
              <a:rPr lang="ja-JP" altLang="en-US" smtClean="0">
                <a:ea typeface="MS PGothic" pitchFamily="34" charset="-128"/>
              </a:rPr>
              <a:t> </a:t>
            </a:r>
            <a:r>
              <a:rPr lang="vi-VN" altLang="ja-JP" smtClean="0"/>
              <a:t>thay đổi, hệ</a:t>
            </a:r>
            <a:r>
              <a:rPr lang="ja-JP" altLang="en-US" smtClean="0">
                <a:ea typeface="MS PGothic" pitchFamily="34" charset="-128"/>
              </a:rPr>
              <a:t> </a:t>
            </a:r>
            <a:r>
              <a:rPr lang="en-US" altLang="ja-JP" smtClean="0">
                <a:ea typeface="MS PGothic" pitchFamily="34" charset="-128"/>
              </a:rPr>
              <a:t>số</a:t>
            </a:r>
            <a:r>
              <a:rPr lang="ja-JP" altLang="en-US" smtClean="0">
                <a:ea typeface="MS PGothic" pitchFamily="34" charset="-128"/>
              </a:rPr>
              <a:t> </a:t>
            </a:r>
            <a:r>
              <a:rPr lang="ja-JP" altLang="en-US" smtClean="0">
                <a:ea typeface="MS PGothic" pitchFamily="34" charset="-128"/>
                <a:sym typeface="Symbol" pitchFamily="18" charset="2"/>
              </a:rPr>
              <a:t> </a:t>
            </a:r>
            <a:r>
              <a:rPr lang="vi-VN" altLang="ja-JP" smtClean="0">
                <a:sym typeface="Symbol" pitchFamily="18" charset="2"/>
              </a:rPr>
              <a:t>thay đổi làm cho I</a:t>
            </a:r>
            <a:r>
              <a:rPr lang="vi-VN" altLang="ja-JP" baseline="-25000" smtClean="0">
                <a:sym typeface="Symbol" pitchFamily="18" charset="2"/>
              </a:rPr>
              <a:t>C</a:t>
            </a:r>
            <a:r>
              <a:rPr lang="ja-JP" altLang="en-US" smtClean="0">
                <a:ea typeface="MS PGothic" pitchFamily="34" charset="-128"/>
                <a:sym typeface="Symbol" pitchFamily="18" charset="2"/>
              </a:rPr>
              <a:t>  </a:t>
            </a:r>
            <a:r>
              <a:rPr lang="vi-VN" altLang="ja-JP" smtClean="0">
                <a:sym typeface="Symbol" pitchFamily="18" charset="2"/>
              </a:rPr>
              <a:t>thay đổi (</a:t>
            </a:r>
            <a:r>
              <a:rPr lang="en-US" altLang="ja-JP" smtClean="0">
                <a:ea typeface="MS PGothic" pitchFamily="34" charset="-128"/>
                <a:sym typeface="Symbol" pitchFamily="18" charset="2"/>
              </a:rPr>
              <a:t>vì </a:t>
            </a:r>
            <a:r>
              <a:rPr lang="vi-VN" altLang="ja-JP" smtClean="0">
                <a:sym typeface="Symbol" pitchFamily="18" charset="2"/>
              </a:rPr>
              <a:t>I</a:t>
            </a:r>
            <a:r>
              <a:rPr lang="vi-VN" altLang="ja-JP" baseline="-25000" smtClean="0">
                <a:sym typeface="Symbol" pitchFamily="18" charset="2"/>
              </a:rPr>
              <a:t>C</a:t>
            </a:r>
            <a:r>
              <a:rPr lang="vi-VN" altLang="ja-JP" smtClean="0">
                <a:sym typeface="Symbol" pitchFamily="18" charset="2"/>
              </a:rPr>
              <a:t>= </a:t>
            </a:r>
            <a:r>
              <a:rPr lang="ja-JP" altLang="en-US" smtClean="0">
                <a:ea typeface="MS PGothic" pitchFamily="34" charset="-128"/>
                <a:sym typeface="Symbol" pitchFamily="18" charset="2"/>
              </a:rPr>
              <a:t></a:t>
            </a:r>
            <a:r>
              <a:rPr lang="en-US" altLang="ja-JP" smtClean="0">
                <a:ea typeface="MS PGothic" pitchFamily="34" charset="-128"/>
                <a:sym typeface="Symbol" pitchFamily="18" charset="2"/>
              </a:rPr>
              <a:t>I</a:t>
            </a:r>
            <a:r>
              <a:rPr lang="en-US" altLang="ja-JP" baseline="-25000" smtClean="0">
                <a:ea typeface="MS PGothic" pitchFamily="34" charset="-128"/>
                <a:sym typeface="Symbol" pitchFamily="18" charset="2"/>
              </a:rPr>
              <a:t>B</a:t>
            </a:r>
            <a:r>
              <a:rPr lang="vi-VN" altLang="ja-JP" smtClean="0">
                <a:sym typeface="Symbol" pitchFamily="18" charset="2"/>
              </a:rPr>
              <a:t>). Do đó điểm làm việc tĩnh Q </a:t>
            </a:r>
            <a:r>
              <a:rPr lang="en-US" altLang="ja-JP" smtClean="0">
                <a:ea typeface="MS PGothic" pitchFamily="34" charset="-128"/>
                <a:sym typeface="Symbol" pitchFamily="18" charset="2"/>
              </a:rPr>
              <a:t>(I</a:t>
            </a:r>
            <a:r>
              <a:rPr lang="en-US" altLang="ja-JP" baseline="-25000" smtClean="0">
                <a:ea typeface="MS PGothic" pitchFamily="34" charset="-128"/>
                <a:sym typeface="Symbol" pitchFamily="18" charset="2"/>
              </a:rPr>
              <a:t>CQ</a:t>
            </a:r>
            <a:r>
              <a:rPr lang="en-US" altLang="ja-JP" smtClean="0">
                <a:ea typeface="MS PGothic" pitchFamily="34" charset="-128"/>
                <a:sym typeface="Symbol" pitchFamily="18" charset="2"/>
              </a:rPr>
              <a:t>, U</a:t>
            </a:r>
            <a:r>
              <a:rPr lang="en-US" altLang="ja-JP" baseline="-25000" smtClean="0">
                <a:ea typeface="MS PGothic" pitchFamily="34" charset="-128"/>
                <a:sym typeface="Symbol" pitchFamily="18" charset="2"/>
              </a:rPr>
              <a:t>CEQ</a:t>
            </a:r>
            <a:r>
              <a:rPr lang="en-US" altLang="ja-JP" smtClean="0">
                <a:ea typeface="MS PGothic" pitchFamily="34" charset="-128"/>
                <a:sym typeface="Symbol" pitchFamily="18" charset="2"/>
              </a:rPr>
              <a:t>)</a:t>
            </a:r>
            <a:r>
              <a:rPr lang="vi-VN" altLang="ja-JP" smtClean="0">
                <a:sym typeface="Symbol" pitchFamily="18" charset="2"/>
              </a:rPr>
              <a:t>sẽ</a:t>
            </a:r>
            <a:r>
              <a:rPr lang="ja-JP" altLang="en-US" smtClean="0">
                <a:ea typeface="MS PGothic" pitchFamily="34" charset="-128"/>
                <a:sym typeface="Symbol" pitchFamily="18" charset="2"/>
              </a:rPr>
              <a:t> </a:t>
            </a:r>
            <a:r>
              <a:rPr lang="vi-VN" altLang="ja-JP" smtClean="0">
                <a:sym typeface="Symbol" pitchFamily="18" charset="2"/>
              </a:rPr>
              <a:t>thay đổi nhiều theo </a:t>
            </a:r>
            <a:r>
              <a:rPr lang="ja-JP" altLang="en-US" smtClean="0">
                <a:ea typeface="MS PGothic" pitchFamily="34" charset="-128"/>
                <a:sym typeface="Symbol" pitchFamily="18" charset="2"/>
              </a:rPr>
              <a:t> </a:t>
            </a:r>
            <a:r>
              <a:rPr lang="vi-VN" altLang="ja-JP" smtClean="0">
                <a:sym typeface="Symbol" pitchFamily="18" charset="2"/>
              </a:rPr>
              <a:t>khi nhiệt độ</a:t>
            </a:r>
            <a:r>
              <a:rPr lang="ja-JP" altLang="en-US" smtClean="0">
                <a:ea typeface="MS PGothic" pitchFamily="34" charset="-128"/>
                <a:sym typeface="Symbol" pitchFamily="18" charset="2"/>
              </a:rPr>
              <a:t> </a:t>
            </a:r>
            <a:r>
              <a:rPr lang="vi-VN" altLang="ja-JP" smtClean="0">
                <a:sym typeface="Symbol" pitchFamily="18" charset="2"/>
              </a:rPr>
              <a:t>thay đổi.</a:t>
            </a:r>
            <a:endParaRPr lang="ja-JP" altLang="en-US" smtClean="0">
              <a:ea typeface="MS PGothic" pitchFamily="34" charset="-128"/>
              <a:sym typeface="Symbol" pitchFamily="18" charset="2"/>
            </a:endParaRPr>
          </a:p>
          <a:p>
            <a:r>
              <a:rPr lang="en-US" altLang="ja-JP" smtClean="0">
                <a:ea typeface="MS PGothic" pitchFamily="34" charset="-128"/>
              </a:rPr>
              <a:t>Hệ</a:t>
            </a:r>
            <a:r>
              <a:rPr lang="ja-JP" altLang="en-US" smtClean="0">
                <a:ea typeface="MS PGothic" pitchFamily="34" charset="-128"/>
              </a:rPr>
              <a:t> </a:t>
            </a:r>
            <a:r>
              <a:rPr lang="en-US" altLang="ja-JP" smtClean="0">
                <a:ea typeface="MS PGothic" pitchFamily="34" charset="-128"/>
              </a:rPr>
              <a:t>số</a:t>
            </a:r>
            <a:r>
              <a:rPr lang="ja-JP" altLang="en-US" smtClean="0">
                <a:ea typeface="MS PGothic" pitchFamily="34" charset="-128"/>
              </a:rPr>
              <a:t> </a:t>
            </a:r>
            <a:r>
              <a:rPr lang="vi-VN" altLang="ja-JP" smtClean="0"/>
              <a:t>ổn định nhiệt</a:t>
            </a:r>
            <a:endParaRPr lang="ja-JP" altLang="en-US" smtClean="0">
              <a:ea typeface="MS PGothic" pitchFamily="34" charset="-128"/>
            </a:endParaRPr>
          </a:p>
          <a:p>
            <a:endParaRPr lang="ja-JP" altLang="en-US" smtClean="0">
              <a:ea typeface="MS PGothic" pitchFamily="34" charset="-128"/>
            </a:endParaRPr>
          </a:p>
          <a:p>
            <a:r>
              <a:rPr lang="en-US" altLang="ja-JP" smtClean="0">
                <a:ea typeface="MS PGothic" pitchFamily="34" charset="-128"/>
              </a:rPr>
              <a:t>Vì  I</a:t>
            </a:r>
            <a:r>
              <a:rPr lang="en-US" altLang="ja-JP" baseline="-25000" smtClean="0">
                <a:ea typeface="MS PGothic" pitchFamily="34" charset="-128"/>
              </a:rPr>
              <a:t>B</a:t>
            </a:r>
            <a:r>
              <a:rPr lang="ja-JP" altLang="en-US" smtClean="0">
                <a:ea typeface="MS PGothic" pitchFamily="34" charset="-128"/>
              </a:rPr>
              <a:t> </a:t>
            </a:r>
            <a:r>
              <a:rPr lang="vi-VN" altLang="ja-JP" smtClean="0"/>
              <a:t>không đổi nên có </a:t>
            </a:r>
            <a:r>
              <a:rPr lang="ja-JP" altLang="en-US" smtClean="0">
                <a:ea typeface="MS PGothic" pitchFamily="34" charset="-128"/>
                <a:sym typeface="Symbol" pitchFamily="18" charset="2"/>
              </a:rPr>
              <a:t></a:t>
            </a:r>
            <a:r>
              <a:rPr lang="en-US" altLang="ja-JP" smtClean="0">
                <a:ea typeface="MS PGothic" pitchFamily="34" charset="-128"/>
                <a:sym typeface="Symbol" pitchFamily="18" charset="2"/>
              </a:rPr>
              <a:t>I</a:t>
            </a:r>
            <a:r>
              <a:rPr lang="en-US" altLang="ja-JP" baseline="-25000" smtClean="0">
                <a:ea typeface="MS PGothic" pitchFamily="34" charset="-128"/>
                <a:sym typeface="Symbol" pitchFamily="18" charset="2"/>
              </a:rPr>
              <a:t>B</a:t>
            </a:r>
            <a:r>
              <a:rPr lang="ja-JP" altLang="en-US" smtClean="0">
                <a:ea typeface="MS PGothic" pitchFamily="34" charset="-128"/>
                <a:sym typeface="Symbol" pitchFamily="18" charset="2"/>
              </a:rPr>
              <a:t> </a:t>
            </a:r>
            <a:r>
              <a:rPr lang="en-US" altLang="ja-JP" smtClean="0">
                <a:ea typeface="MS PGothic" pitchFamily="34" charset="-128"/>
                <a:sym typeface="Symbol" pitchFamily="18" charset="2"/>
              </a:rPr>
              <a:t>= 0. Thay vào công thức trên có:</a:t>
            </a:r>
            <a:endParaRPr lang="ja-JP" altLang="en-US" smtClean="0">
              <a:ea typeface="MS PGothic" pitchFamily="34" charset="-128"/>
              <a:sym typeface="Symbol" pitchFamily="18" charset="2"/>
            </a:endParaRPr>
          </a:p>
          <a:p>
            <a:r>
              <a:rPr lang="ja-JP" altLang="en-US" smtClean="0">
                <a:ea typeface="MS PGothic" pitchFamily="34" charset="-128"/>
              </a:rPr>
              <a:t>					</a:t>
            </a:r>
            <a:r>
              <a:rPr lang="en-US" altLang="ja-JP" smtClean="0">
                <a:ea typeface="MS PGothic" pitchFamily="34" charset="-128"/>
              </a:rPr>
              <a:t>S= </a:t>
            </a:r>
            <a:r>
              <a:rPr lang="ja-JP" altLang="en-US" smtClean="0">
                <a:ea typeface="MS PGothic" pitchFamily="34" charset="-128"/>
                <a:sym typeface="Symbol" pitchFamily="18" charset="2"/>
              </a:rPr>
              <a:t> </a:t>
            </a:r>
            <a:r>
              <a:rPr lang="en-US" altLang="ja-JP" smtClean="0">
                <a:ea typeface="MS PGothic" pitchFamily="34" charset="-128"/>
                <a:sym typeface="Symbol" pitchFamily="18" charset="2"/>
              </a:rPr>
              <a:t>+ 1</a:t>
            </a:r>
            <a:endParaRPr lang="ja-JP" altLang="en-US" smtClean="0">
              <a:ea typeface="MS PGothic" pitchFamily="34" charset="-128"/>
              <a:sym typeface="Symbol" pitchFamily="18" charset="2"/>
            </a:endParaRPr>
          </a:p>
          <a:p>
            <a:r>
              <a:rPr lang="en-US" altLang="ja-JP" smtClean="0">
                <a:ea typeface="MS PGothic" pitchFamily="34" charset="-128"/>
              </a:rPr>
              <a:t>Nhận xét</a:t>
            </a:r>
            <a:endParaRPr lang="ja-JP" altLang="en-US" smtClean="0">
              <a:ea typeface="MS PGothic" pitchFamily="34" charset="-128"/>
            </a:endParaRPr>
          </a:p>
          <a:p>
            <a:pPr lvl="1"/>
            <a:r>
              <a:rPr lang="en-US" altLang="ja-JP" sz="2000" smtClean="0">
                <a:ea typeface="MS PGothic" pitchFamily="34" charset="-128"/>
              </a:rPr>
              <a:t>Hệ</a:t>
            </a:r>
            <a:r>
              <a:rPr lang="ja-JP" altLang="en-US" sz="2000" smtClean="0">
                <a:ea typeface="MS PGothic" pitchFamily="34" charset="-128"/>
              </a:rPr>
              <a:t> </a:t>
            </a:r>
            <a:r>
              <a:rPr lang="en-US" altLang="ja-JP" sz="2000" smtClean="0">
                <a:ea typeface="MS PGothic" pitchFamily="34" charset="-128"/>
              </a:rPr>
              <a:t>số</a:t>
            </a:r>
            <a:r>
              <a:rPr lang="ja-JP" altLang="en-US" sz="2000" smtClean="0">
                <a:ea typeface="MS PGothic" pitchFamily="34" charset="-128"/>
              </a:rPr>
              <a:t> </a:t>
            </a:r>
            <a:r>
              <a:rPr lang="vi-VN" altLang="ja-JP" sz="2000" smtClean="0"/>
              <a:t>ổn định nhiệt S lớn do </a:t>
            </a:r>
            <a:r>
              <a:rPr lang="ja-JP" altLang="en-US" sz="2000" smtClean="0">
                <a:ea typeface="MS PGothic" pitchFamily="34" charset="-128"/>
                <a:sym typeface="Symbol" pitchFamily="18" charset="2"/>
              </a:rPr>
              <a:t> </a:t>
            </a:r>
            <a:r>
              <a:rPr lang="en-US" altLang="ja-JP" sz="2000" smtClean="0">
                <a:ea typeface="MS PGothic" pitchFamily="34" charset="-128"/>
                <a:sym typeface="Symbol" pitchFamily="18" charset="2"/>
              </a:rPr>
              <a:t>lớn</a:t>
            </a:r>
            <a:endParaRPr lang="ja-JP" altLang="en-US" sz="2000" smtClean="0">
              <a:ea typeface="MS PGothic" pitchFamily="34" charset="-128"/>
              <a:sym typeface="Symbol" pitchFamily="18" charset="2"/>
            </a:endParaRPr>
          </a:p>
          <a:p>
            <a:pPr lvl="1"/>
            <a:r>
              <a:rPr lang="vi-VN" altLang="ja-JP" sz="2000" smtClean="0"/>
              <a:t>Muốn thay đổi S phải thay đổi </a:t>
            </a:r>
            <a:r>
              <a:rPr lang="ja-JP" altLang="en-US" sz="2000" smtClean="0">
                <a:ea typeface="MS PGothic" pitchFamily="34" charset="-128"/>
                <a:sym typeface="Symbol" pitchFamily="18" charset="2"/>
              </a:rPr>
              <a:t> </a:t>
            </a:r>
            <a:r>
              <a:rPr lang="ja-JP" altLang="en-US" sz="2000" smtClean="0">
                <a:ea typeface="MS PGothic" pitchFamily="34" charset="-128"/>
                <a:sym typeface="Wingdings" pitchFamily="2" charset="2"/>
              </a:rPr>
              <a:t> </a:t>
            </a:r>
            <a:r>
              <a:rPr lang="vi-VN" altLang="ja-JP" sz="2000" smtClean="0">
                <a:sym typeface="Wingdings" pitchFamily="2" charset="2"/>
              </a:rPr>
              <a:t>thay đổi BJ</a:t>
            </a:r>
            <a:r>
              <a:rPr lang="en-US" altLang="ja-JP" sz="2000" smtClean="0">
                <a:ea typeface="MS PGothic" pitchFamily="34" charset="-128"/>
                <a:sym typeface="Wingdings" pitchFamily="2" charset="2"/>
              </a:rPr>
              <a:t>T </a:t>
            </a:r>
            <a:r>
              <a:rPr lang="ja-JP" altLang="en-US" sz="2000" smtClean="0">
                <a:ea typeface="MS PGothic" pitchFamily="34" charset="-128"/>
                <a:sym typeface="Wingdings" pitchFamily="2" charset="2"/>
              </a:rPr>
              <a:t> </a:t>
            </a:r>
            <a:r>
              <a:rPr lang="en-US" altLang="ja-JP" sz="2000" smtClean="0">
                <a:ea typeface="MS PGothic" pitchFamily="34" charset="-128"/>
                <a:sym typeface="Wingdings" pitchFamily="2" charset="2"/>
              </a:rPr>
              <a:t>Mạch bị</a:t>
            </a:r>
            <a:r>
              <a:rPr lang="ja-JP" altLang="en-US" sz="2000" smtClean="0">
                <a:ea typeface="MS PGothic" pitchFamily="34" charset="-128"/>
                <a:sym typeface="Wingdings" pitchFamily="2" charset="2"/>
              </a:rPr>
              <a:t> </a:t>
            </a:r>
            <a:r>
              <a:rPr lang="vi-VN" altLang="ja-JP" sz="2000" smtClean="0">
                <a:sym typeface="Wingdings" pitchFamily="2" charset="2"/>
              </a:rPr>
              <a:t>ảnh hưởng lớn bởi nhiệt độ. Trong thực tế</a:t>
            </a:r>
            <a:r>
              <a:rPr lang="ja-JP" altLang="en-US" sz="2000" smtClean="0">
                <a:ea typeface="MS PGothic" pitchFamily="34" charset="-128"/>
                <a:sym typeface="Wingdings" pitchFamily="2" charset="2"/>
              </a:rPr>
              <a:t> </a:t>
            </a:r>
            <a:r>
              <a:rPr lang="en-US" altLang="ja-JP" sz="2000" smtClean="0">
                <a:ea typeface="MS PGothic" pitchFamily="34" charset="-128"/>
                <a:sym typeface="Wingdings" pitchFamily="2" charset="2"/>
              </a:rPr>
              <a:t>chỉ</a:t>
            </a:r>
            <a:r>
              <a:rPr lang="ja-JP" altLang="en-US" sz="2000" smtClean="0">
                <a:ea typeface="MS PGothic" pitchFamily="34" charset="-128"/>
                <a:sym typeface="Wingdings" pitchFamily="2" charset="2"/>
              </a:rPr>
              <a:t> </a:t>
            </a:r>
            <a:r>
              <a:rPr lang="vi-VN" altLang="ja-JP" sz="2000" smtClean="0">
                <a:sym typeface="Wingdings" pitchFamily="2" charset="2"/>
              </a:rPr>
              <a:t>dùng cách phân cực này khi không yêu cầu độ</a:t>
            </a:r>
            <a:r>
              <a:rPr lang="ja-JP" altLang="en-US" sz="2000" smtClean="0">
                <a:ea typeface="MS PGothic" pitchFamily="34" charset="-128"/>
                <a:sym typeface="Wingdings" pitchFamily="2" charset="2"/>
              </a:rPr>
              <a:t> </a:t>
            </a:r>
            <a:r>
              <a:rPr lang="vi-VN" altLang="ja-JP" sz="2000" smtClean="0">
                <a:sym typeface="Wingdings" pitchFamily="2" charset="2"/>
              </a:rPr>
              <a:t>ổn định nhiệt cao.</a:t>
            </a:r>
            <a:endParaRPr lang="ja-JP" altLang="en-US" sz="2000" smtClean="0">
              <a:ea typeface="MS PGothic" pitchFamily="34" charset="-128"/>
              <a:sym typeface="Wingdings" pitchFamily="2" charset="2"/>
            </a:endParaRPr>
          </a:p>
          <a:p>
            <a:endParaRPr lang="en-US" smtClean="0"/>
          </a:p>
        </p:txBody>
      </p:sp>
      <p:sp>
        <p:nvSpPr>
          <p:cNvPr id="12292" name="Rectangle 4"/>
          <p:cNvSpPr>
            <a:spLocks noGrp="1" noChangeArrowheads="1"/>
          </p:cNvSpPr>
          <p:nvPr>
            <p:ph type="title"/>
          </p:nvPr>
        </p:nvSpPr>
        <p:spPr>
          <a:noFill/>
        </p:spPr>
        <p:txBody>
          <a:bodyPr>
            <a:noAutofit/>
          </a:bodyPr>
          <a:lstStyle/>
          <a:p>
            <a:r>
              <a:rPr lang="vi-VN" sz="4000" smtClean="0"/>
              <a:t>Sơ đồ phân cực cố định </a:t>
            </a:r>
            <a:r>
              <a:rPr lang="en-US" sz="4000" smtClean="0"/>
              <a:t>(4)</a:t>
            </a:r>
            <a:r>
              <a:rPr lang="vi-VN" sz="4000" smtClean="0"/>
              <a:t/>
            </a:r>
            <a:br>
              <a:rPr lang="vi-VN" sz="4000" smtClean="0"/>
            </a:br>
            <a:r>
              <a:rPr lang="vi-VN" sz="4000" i="1" smtClean="0"/>
              <a:t>Độ ổn định nhiệt </a:t>
            </a:r>
            <a:endParaRPr lang="en-US" sz="4000" smtClean="0">
              <a:latin typeface=".VnTime" pitchFamily="34" charset="0"/>
            </a:endParaRPr>
          </a:p>
        </p:txBody>
      </p:sp>
      <p:sp>
        <p:nvSpPr>
          <p:cNvPr id="12293"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graphicFrame>
        <p:nvGraphicFramePr>
          <p:cNvPr id="12290" name="Object 5"/>
          <p:cNvGraphicFramePr>
            <a:graphicFrameLocks noChangeAspect="1"/>
          </p:cNvGraphicFramePr>
          <p:nvPr>
            <p:extLst>
              <p:ext uri="{D42A27DB-BD31-4B8C-83A1-F6EECF244321}">
                <p14:modId xmlns:p14="http://schemas.microsoft.com/office/powerpoint/2010/main" val="351277537"/>
              </p:ext>
            </p:extLst>
          </p:nvPr>
        </p:nvGraphicFramePr>
        <p:xfrm>
          <a:off x="3657600" y="2743200"/>
          <a:ext cx="3227388" cy="773113"/>
        </p:xfrm>
        <a:graphic>
          <a:graphicData uri="http://schemas.openxmlformats.org/presentationml/2006/ole">
            <mc:AlternateContent xmlns:mc="http://schemas.openxmlformats.org/markup-compatibility/2006">
              <mc:Choice xmlns:v="urn:schemas-microsoft-com:vml" Requires="v">
                <p:oleObj spid="_x0000_s27694" name="Equation" r:id="rId3" imgW="1828800" imgH="444500" progId="Equation.DSMT4">
                  <p:embed/>
                </p:oleObj>
              </mc:Choice>
              <mc:Fallback>
                <p:oleObj name="Equation" r:id="rId3" imgW="1828800" imgH="4445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743200"/>
                        <a:ext cx="3227388" cy="773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B1FFCD0-13A8-48B1-A8D3-FFC14DB4993F}" type="slidenum">
              <a:rPr lang="en-US" smtClean="0"/>
              <a:pPr eaLnBrk="1" hangingPunct="1"/>
              <a:t>32</a:t>
            </a:fld>
            <a:endParaRPr lang="en-US" smtClean="0"/>
          </a:p>
        </p:txBody>
      </p:sp>
    </p:spTree>
    <p:extLst>
      <p:ext uri="{BB962C8B-B14F-4D97-AF65-F5344CB8AC3E}">
        <p14:creationId xmlns:p14="http://schemas.microsoft.com/office/powerpoint/2010/main" val="30885747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a:xfrm>
            <a:off x="457200" y="274638"/>
            <a:ext cx="8229600" cy="715962"/>
          </a:xfrm>
        </p:spPr>
        <p:txBody>
          <a:bodyPr>
            <a:noAutofit/>
          </a:bodyPr>
          <a:lstStyle/>
          <a:p>
            <a:pPr>
              <a:defRPr/>
            </a:pPr>
            <a:r>
              <a:rPr lang="en-US" smtClean="0"/>
              <a:t>Bài tập</a:t>
            </a:r>
          </a:p>
        </p:txBody>
      </p:sp>
      <p:sp>
        <p:nvSpPr>
          <p:cNvPr id="13317" name="Rectangle 7"/>
          <p:cNvSpPr>
            <a:spLocks noGrp="1" noChangeArrowheads="1"/>
          </p:cNvSpPr>
          <p:nvPr>
            <p:ph type="body" sz="half" idx="4294967295"/>
          </p:nvPr>
        </p:nvSpPr>
        <p:spPr>
          <a:xfrm>
            <a:off x="457200" y="1143000"/>
            <a:ext cx="8534400" cy="4525963"/>
          </a:xfrm>
          <a:prstGeom prst="rect">
            <a:avLst/>
          </a:prstGeom>
        </p:spPr>
        <p:txBody>
          <a:bodyPr>
            <a:normAutofit/>
          </a:bodyPr>
          <a:lstStyle/>
          <a:p>
            <a:r>
              <a:rPr lang="vi-VN" smtClean="0"/>
              <a:t>Cho sơ đồ mạch sau</a:t>
            </a:r>
            <a:r>
              <a:rPr lang="en-US" smtClean="0"/>
              <a:t> và họ đặc tuyến ra như hình dưới đây</a:t>
            </a:r>
            <a:endParaRPr lang="vi-VN" smtClean="0"/>
          </a:p>
        </p:txBody>
      </p:sp>
      <p:sp>
        <p:nvSpPr>
          <p:cNvPr id="13318" name="Rectangle 8"/>
          <p:cNvSpPr>
            <a:spLocks noGrp="1" noChangeArrowheads="1"/>
          </p:cNvSpPr>
          <p:nvPr>
            <p:ph type="body" sz="half" idx="4294967295"/>
          </p:nvPr>
        </p:nvSpPr>
        <p:spPr>
          <a:xfrm>
            <a:off x="457200" y="4724400"/>
            <a:ext cx="8686800" cy="1600200"/>
          </a:xfrm>
          <a:prstGeom prst="rect">
            <a:avLst/>
          </a:prstGeom>
        </p:spPr>
        <p:txBody>
          <a:bodyPr/>
          <a:lstStyle/>
          <a:p>
            <a:r>
              <a:rPr lang="vi-VN" sz="2400" smtClean="0"/>
              <a:t>Xác định điểm công tác tĩnh Q</a:t>
            </a:r>
          </a:p>
          <a:p>
            <a:r>
              <a:rPr lang="vi-VN" sz="2400" smtClean="0"/>
              <a:t>Minh hoạ trên đồ thị đặc tuyến ra</a:t>
            </a:r>
          </a:p>
          <a:p>
            <a:r>
              <a:rPr lang="vi-VN" sz="2400" smtClean="0"/>
              <a:t>Nhận xét về hoạt động của mạch</a:t>
            </a:r>
          </a:p>
        </p:txBody>
      </p:sp>
      <p:graphicFrame>
        <p:nvGraphicFramePr>
          <p:cNvPr id="13314" name="Object 5"/>
          <p:cNvGraphicFramePr>
            <a:graphicFrameLocks noChangeAspect="1"/>
          </p:cNvGraphicFramePr>
          <p:nvPr/>
        </p:nvGraphicFramePr>
        <p:xfrm>
          <a:off x="92075" y="1676400"/>
          <a:ext cx="4175125" cy="2743200"/>
        </p:xfrm>
        <a:graphic>
          <a:graphicData uri="http://schemas.openxmlformats.org/presentationml/2006/ole">
            <mc:AlternateContent xmlns:mc="http://schemas.openxmlformats.org/markup-compatibility/2006">
              <mc:Choice xmlns:v="urn:schemas-microsoft-com:vml" Requires="v">
                <p:oleObj spid="_x0000_s28764" name="Visio" r:id="rId4" imgW="3030996" imgH="1908093" progId="Visio.Drawing.11">
                  <p:embed/>
                </p:oleObj>
              </mc:Choice>
              <mc:Fallback>
                <p:oleObj name="Visio" r:id="rId4" imgW="3030996" imgH="1908093"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75" y="1676400"/>
                        <a:ext cx="4175125" cy="274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4"/>
          <p:cNvGraphicFramePr>
            <a:graphicFrameLocks noChangeAspect="1"/>
          </p:cNvGraphicFramePr>
          <p:nvPr>
            <p:extLst>
              <p:ext uri="{D42A27DB-BD31-4B8C-83A1-F6EECF244321}">
                <p14:modId xmlns:p14="http://schemas.microsoft.com/office/powerpoint/2010/main" val="2889911886"/>
              </p:ext>
            </p:extLst>
          </p:nvPr>
        </p:nvGraphicFramePr>
        <p:xfrm>
          <a:off x="4267200" y="1850571"/>
          <a:ext cx="4495800" cy="2930525"/>
        </p:xfrm>
        <a:graphic>
          <a:graphicData uri="http://schemas.openxmlformats.org/presentationml/2006/ole">
            <mc:AlternateContent xmlns:mc="http://schemas.openxmlformats.org/markup-compatibility/2006">
              <mc:Choice xmlns:v="urn:schemas-microsoft-com:vml" Requires="v">
                <p:oleObj spid="_x0000_s28765" name="Visio" r:id="rId6" imgW="3238296" imgH="2115447" progId="Visio.Drawing.11">
                  <p:embed/>
                </p:oleObj>
              </mc:Choice>
              <mc:Fallback>
                <p:oleObj name="Visio" r:id="rId6" imgW="3238296" imgH="2115447"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7200" y="1850571"/>
                        <a:ext cx="4495800" cy="293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9" name="Rectangle 6"/>
          <p:cNvSpPr>
            <a:spLocks noChangeArrowheads="1"/>
          </p:cNvSpPr>
          <p:nvPr/>
        </p:nvSpPr>
        <p:spPr bwMode="auto">
          <a:xfrm>
            <a:off x="0" y="1695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13320" name="Slide Number Placeholder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8F20F3D-D2BC-46F2-859F-D951C923AEE7}" type="slidenum">
              <a:rPr lang="en-US" smtClean="0"/>
              <a:pPr eaLnBrk="1" hangingPunct="1"/>
              <a:t>33</a:t>
            </a:fld>
            <a:endParaRPr lang="en-US" smtClean="0"/>
          </a:p>
        </p:txBody>
      </p:sp>
      <p:sp>
        <p:nvSpPr>
          <p:cNvPr id="10" name="Rectangle 9"/>
          <p:cNvSpPr/>
          <p:nvPr/>
        </p:nvSpPr>
        <p:spPr>
          <a:xfrm>
            <a:off x="4648200" y="1905000"/>
            <a:ext cx="4572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4495800" y="2971800"/>
            <a:ext cx="6096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6400800" y="4114800"/>
            <a:ext cx="4572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7467600" y="4114800"/>
            <a:ext cx="4572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Action Button: Custom 13">
            <a:hlinkClick r:id="" action="ppaction://noaction" highlightClick="1"/>
          </p:cNvPr>
          <p:cNvSpPr/>
          <p:nvPr/>
        </p:nvSpPr>
        <p:spPr>
          <a:xfrm>
            <a:off x="6781800" y="5334000"/>
            <a:ext cx="1143000" cy="457200"/>
          </a:xfrm>
          <a:prstGeom prst="actionButtonBlank">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solidFill>
                  <a:srgbClr val="FF0000"/>
                </a:solidFill>
              </a:rPr>
              <a:t>Đáp án</a:t>
            </a:r>
          </a:p>
        </p:txBody>
      </p:sp>
    </p:spTree>
    <p:extLst>
      <p:ext uri="{BB962C8B-B14F-4D97-AF65-F5344CB8AC3E}">
        <p14:creationId xmlns:p14="http://schemas.microsoft.com/office/powerpoint/2010/main" val="30761243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nodeType="after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diamond(in)">
                                      <p:cBhvr>
                                        <p:cTn id="7" dur="2000"/>
                                        <p:tgtEl>
                                          <p:spTgt spid="13314"/>
                                        </p:tgtEl>
                                      </p:cBhvr>
                                    </p:animEffect>
                                  </p:childTnLst>
                                </p:cTn>
                              </p:par>
                            </p:childTnLst>
                          </p:cTn>
                        </p:par>
                        <p:par>
                          <p:cTn id="8" fill="hold" nodeType="afterGroup">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15"/>
                                        </p:tgtEl>
                                        <p:attrNameLst>
                                          <p:attrName>style.visibility</p:attrName>
                                        </p:attrNameLst>
                                      </p:cBhvr>
                                      <p:to>
                                        <p:strVal val="visible"/>
                                      </p:to>
                                    </p:set>
                                  </p:childTnLst>
                                </p:cTn>
                              </p:par>
                            </p:childTnLst>
                          </p:cTn>
                        </p:par>
                        <p:par>
                          <p:cTn id="17" fill="hold" nodeType="afterGroup">
                            <p:stCondLst>
                              <p:cond delay="2000"/>
                            </p:stCondLst>
                            <p:childTnLst>
                              <p:par>
                                <p:cTn id="18" presetID="5" presetClass="entr" presetSubtype="10" fill="hold" grpId="0" nodeType="afterEffect">
                                  <p:stCondLst>
                                    <p:cond delay="0"/>
                                  </p:stCondLst>
                                  <p:childTnLst>
                                    <p:set>
                                      <p:cBhvr>
                                        <p:cTn id="19" dur="1" fill="hold">
                                          <p:stCondLst>
                                            <p:cond delay="0"/>
                                          </p:stCondLst>
                                        </p:cTn>
                                        <p:tgtEl>
                                          <p:spTgt spid="13318">
                                            <p:txEl>
                                              <p:pRg st="0" end="0"/>
                                            </p:txEl>
                                          </p:spTgt>
                                        </p:tgtEl>
                                        <p:attrNameLst>
                                          <p:attrName>style.visibility</p:attrName>
                                        </p:attrNameLst>
                                      </p:cBhvr>
                                      <p:to>
                                        <p:strVal val="visible"/>
                                      </p:to>
                                    </p:set>
                                    <p:animEffect transition="in" filter="checkerboard(across)">
                                      <p:cBhvr>
                                        <p:cTn id="20" dur="1000"/>
                                        <p:tgtEl>
                                          <p:spTgt spid="13318">
                                            <p:txEl>
                                              <p:pRg st="0" end="0"/>
                                            </p:txEl>
                                          </p:spTgt>
                                        </p:tgtEl>
                                      </p:cBhvr>
                                    </p:animEffect>
                                  </p:childTnLst>
                                </p:cTn>
                              </p:par>
                            </p:childTnLst>
                          </p:cTn>
                        </p:par>
                        <p:par>
                          <p:cTn id="21" fill="hold" nodeType="afterGroup">
                            <p:stCondLst>
                              <p:cond delay="3000"/>
                            </p:stCondLst>
                            <p:childTnLst>
                              <p:par>
                                <p:cTn id="22" presetID="5" presetClass="entr" presetSubtype="10" fill="hold" grpId="0" nodeType="afterEffect">
                                  <p:stCondLst>
                                    <p:cond delay="0"/>
                                  </p:stCondLst>
                                  <p:childTnLst>
                                    <p:set>
                                      <p:cBhvr>
                                        <p:cTn id="23" dur="1" fill="hold">
                                          <p:stCondLst>
                                            <p:cond delay="0"/>
                                          </p:stCondLst>
                                        </p:cTn>
                                        <p:tgtEl>
                                          <p:spTgt spid="13318">
                                            <p:txEl>
                                              <p:pRg st="1" end="1"/>
                                            </p:txEl>
                                          </p:spTgt>
                                        </p:tgtEl>
                                        <p:attrNameLst>
                                          <p:attrName>style.visibility</p:attrName>
                                        </p:attrNameLst>
                                      </p:cBhvr>
                                      <p:to>
                                        <p:strVal val="visible"/>
                                      </p:to>
                                    </p:set>
                                    <p:animEffect transition="in" filter="checkerboard(across)">
                                      <p:cBhvr>
                                        <p:cTn id="24" dur="1000"/>
                                        <p:tgtEl>
                                          <p:spTgt spid="13318">
                                            <p:txEl>
                                              <p:pRg st="1" end="1"/>
                                            </p:txEl>
                                          </p:spTgt>
                                        </p:tgtEl>
                                      </p:cBhvr>
                                    </p:animEffect>
                                  </p:childTnLst>
                                </p:cTn>
                              </p:par>
                            </p:childTnLst>
                          </p:cTn>
                        </p:par>
                        <p:par>
                          <p:cTn id="25" fill="hold" nodeType="afterGroup">
                            <p:stCondLst>
                              <p:cond delay="4000"/>
                            </p:stCondLst>
                            <p:childTnLst>
                              <p:par>
                                <p:cTn id="26" presetID="5" presetClass="entr" presetSubtype="10" fill="hold" grpId="0" nodeType="afterEffect">
                                  <p:stCondLst>
                                    <p:cond delay="0"/>
                                  </p:stCondLst>
                                  <p:childTnLst>
                                    <p:set>
                                      <p:cBhvr>
                                        <p:cTn id="27" dur="1" fill="hold">
                                          <p:stCondLst>
                                            <p:cond delay="0"/>
                                          </p:stCondLst>
                                        </p:cTn>
                                        <p:tgtEl>
                                          <p:spTgt spid="13318">
                                            <p:txEl>
                                              <p:pRg st="2" end="2"/>
                                            </p:txEl>
                                          </p:spTgt>
                                        </p:tgtEl>
                                        <p:attrNameLst>
                                          <p:attrName>style.visibility</p:attrName>
                                        </p:attrNameLst>
                                      </p:cBhvr>
                                      <p:to>
                                        <p:strVal val="visible"/>
                                      </p:to>
                                    </p:set>
                                    <p:animEffect transition="in" filter="checkerboard(across)">
                                      <p:cBhvr>
                                        <p:cTn id="28" dur="1000"/>
                                        <p:tgtEl>
                                          <p:spTgt spid="13318">
                                            <p:txEl>
                                              <p:pRg st="2" end="2"/>
                                            </p:txEl>
                                          </p:spTgt>
                                        </p:tgtEl>
                                      </p:cBhvr>
                                    </p:animEffect>
                                  </p:childTnLst>
                                </p:cTn>
                              </p:par>
                            </p:childTnLst>
                          </p:cTn>
                        </p:par>
                        <p:par>
                          <p:cTn id="29" fill="hold" nodeType="afterGroup">
                            <p:stCondLst>
                              <p:cond delay="5000"/>
                            </p:stCondLst>
                            <p:childTnLst>
                              <p:par>
                                <p:cTn id="30" presetID="1" presetClass="entr" presetSubtype="0"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2" restart="whenNotActive" fill="hold" evtFilter="cancelBubble" nodeType="interactiveSeq">
                <p:stCondLst>
                  <p:cond evt="onClick" delay="0">
                    <p:tgtEl>
                      <p:spTgt spid="14"/>
                    </p:tgtEl>
                  </p:cond>
                </p:stCondLst>
                <p:endSync evt="end" delay="0">
                  <p:rtn val="all"/>
                </p:endSync>
                <p:childTnLst>
                  <p:par>
                    <p:cTn id="33" fill="hold" nodeType="clickPar">
                      <p:stCondLst>
                        <p:cond delay="0"/>
                      </p:stCondLst>
                      <p:childTnLst>
                        <p:par>
                          <p:cTn id="34" fill="hold" nodeType="withGroup">
                            <p:stCondLst>
                              <p:cond delay="0"/>
                            </p:stCondLst>
                            <p:childTnLst>
                              <p:par>
                                <p:cTn id="35" presetID="2" presetClass="exit" presetSubtype="4" fill="hold" grpId="0" nodeType="clickEffect">
                                  <p:stCondLst>
                                    <p:cond delay="0"/>
                                  </p:stCondLst>
                                  <p:childTnLst>
                                    <p:anim calcmode="lin" valueType="num">
                                      <p:cBhvr additive="base">
                                        <p:cTn id="36" dur="1000"/>
                                        <p:tgtEl>
                                          <p:spTgt spid="10"/>
                                        </p:tgtEl>
                                        <p:attrNameLst>
                                          <p:attrName>ppt_x</p:attrName>
                                        </p:attrNameLst>
                                      </p:cBhvr>
                                      <p:tavLst>
                                        <p:tav tm="0">
                                          <p:val>
                                            <p:strVal val="ppt_x"/>
                                          </p:val>
                                        </p:tav>
                                        <p:tav tm="100000">
                                          <p:val>
                                            <p:strVal val="ppt_x"/>
                                          </p:val>
                                        </p:tav>
                                      </p:tavLst>
                                    </p:anim>
                                    <p:anim calcmode="lin" valueType="num">
                                      <p:cBhvr additive="base">
                                        <p:cTn id="37" dur="1000"/>
                                        <p:tgtEl>
                                          <p:spTgt spid="10"/>
                                        </p:tgtEl>
                                        <p:attrNameLst>
                                          <p:attrName>ppt_y</p:attrName>
                                        </p:attrNameLst>
                                      </p:cBhvr>
                                      <p:tavLst>
                                        <p:tav tm="0">
                                          <p:val>
                                            <p:strVal val="ppt_y"/>
                                          </p:val>
                                        </p:tav>
                                        <p:tav tm="100000">
                                          <p:val>
                                            <p:strVal val="1+ppt_h/2"/>
                                          </p:val>
                                        </p:tav>
                                      </p:tavLst>
                                    </p:anim>
                                    <p:set>
                                      <p:cBhvr>
                                        <p:cTn id="38" dur="1" fill="hold">
                                          <p:stCondLst>
                                            <p:cond delay="999"/>
                                          </p:stCondLst>
                                        </p:cTn>
                                        <p:tgtEl>
                                          <p:spTgt spid="10"/>
                                        </p:tgtEl>
                                        <p:attrNameLst>
                                          <p:attrName>style.visibility</p:attrName>
                                        </p:attrNameLst>
                                      </p:cBhvr>
                                      <p:to>
                                        <p:strVal val="hidden"/>
                                      </p:to>
                                    </p:set>
                                  </p:childTnLst>
                                </p:cTn>
                              </p:par>
                            </p:childTnLst>
                          </p:cTn>
                        </p:par>
                        <p:par>
                          <p:cTn id="39" fill="hold" nodeType="afterGroup">
                            <p:stCondLst>
                              <p:cond delay="1000"/>
                            </p:stCondLst>
                            <p:childTnLst>
                              <p:par>
                                <p:cTn id="40" presetID="2" presetClass="exit" presetSubtype="4" fill="hold" grpId="1" nodeType="afterEffect">
                                  <p:stCondLst>
                                    <p:cond delay="0"/>
                                  </p:stCondLst>
                                  <p:childTnLst>
                                    <p:anim calcmode="lin" valueType="num">
                                      <p:cBhvr additive="base">
                                        <p:cTn id="41" dur="1000"/>
                                        <p:tgtEl>
                                          <p:spTgt spid="11"/>
                                        </p:tgtEl>
                                        <p:attrNameLst>
                                          <p:attrName>ppt_x</p:attrName>
                                        </p:attrNameLst>
                                      </p:cBhvr>
                                      <p:tavLst>
                                        <p:tav tm="0">
                                          <p:val>
                                            <p:strVal val="ppt_x"/>
                                          </p:val>
                                        </p:tav>
                                        <p:tav tm="100000">
                                          <p:val>
                                            <p:strVal val="ppt_x"/>
                                          </p:val>
                                        </p:tav>
                                      </p:tavLst>
                                    </p:anim>
                                    <p:anim calcmode="lin" valueType="num">
                                      <p:cBhvr additive="base">
                                        <p:cTn id="42" dur="1000"/>
                                        <p:tgtEl>
                                          <p:spTgt spid="11"/>
                                        </p:tgtEl>
                                        <p:attrNameLst>
                                          <p:attrName>ppt_y</p:attrName>
                                        </p:attrNameLst>
                                      </p:cBhvr>
                                      <p:tavLst>
                                        <p:tav tm="0">
                                          <p:val>
                                            <p:strVal val="ppt_y"/>
                                          </p:val>
                                        </p:tav>
                                        <p:tav tm="100000">
                                          <p:val>
                                            <p:strVal val="1+ppt_h/2"/>
                                          </p:val>
                                        </p:tav>
                                      </p:tavLst>
                                    </p:anim>
                                    <p:set>
                                      <p:cBhvr>
                                        <p:cTn id="43" dur="1" fill="hold">
                                          <p:stCondLst>
                                            <p:cond delay="999"/>
                                          </p:stCondLst>
                                        </p:cTn>
                                        <p:tgtEl>
                                          <p:spTgt spid="11"/>
                                        </p:tgtEl>
                                        <p:attrNameLst>
                                          <p:attrName>style.visibility</p:attrName>
                                        </p:attrNameLst>
                                      </p:cBhvr>
                                      <p:to>
                                        <p:strVal val="hidden"/>
                                      </p:to>
                                    </p:set>
                                  </p:childTnLst>
                                </p:cTn>
                              </p:par>
                            </p:childTnLst>
                          </p:cTn>
                        </p:par>
                        <p:par>
                          <p:cTn id="44" fill="hold" nodeType="afterGroup">
                            <p:stCondLst>
                              <p:cond delay="2000"/>
                            </p:stCondLst>
                            <p:childTnLst>
                              <p:par>
                                <p:cTn id="45" presetID="2" presetClass="exit" presetSubtype="4" fill="hold" grpId="1" nodeType="afterEffect">
                                  <p:stCondLst>
                                    <p:cond delay="0"/>
                                  </p:stCondLst>
                                  <p:childTnLst>
                                    <p:anim calcmode="lin" valueType="num">
                                      <p:cBhvr additive="base">
                                        <p:cTn id="46" dur="1000"/>
                                        <p:tgtEl>
                                          <p:spTgt spid="12"/>
                                        </p:tgtEl>
                                        <p:attrNameLst>
                                          <p:attrName>ppt_x</p:attrName>
                                        </p:attrNameLst>
                                      </p:cBhvr>
                                      <p:tavLst>
                                        <p:tav tm="0">
                                          <p:val>
                                            <p:strVal val="ppt_x"/>
                                          </p:val>
                                        </p:tav>
                                        <p:tav tm="100000">
                                          <p:val>
                                            <p:strVal val="ppt_x"/>
                                          </p:val>
                                        </p:tav>
                                      </p:tavLst>
                                    </p:anim>
                                    <p:anim calcmode="lin" valueType="num">
                                      <p:cBhvr additive="base">
                                        <p:cTn id="47" dur="1000"/>
                                        <p:tgtEl>
                                          <p:spTgt spid="12"/>
                                        </p:tgtEl>
                                        <p:attrNameLst>
                                          <p:attrName>ppt_y</p:attrName>
                                        </p:attrNameLst>
                                      </p:cBhvr>
                                      <p:tavLst>
                                        <p:tav tm="0">
                                          <p:val>
                                            <p:strVal val="ppt_y"/>
                                          </p:val>
                                        </p:tav>
                                        <p:tav tm="100000">
                                          <p:val>
                                            <p:strVal val="1+ppt_h/2"/>
                                          </p:val>
                                        </p:tav>
                                      </p:tavLst>
                                    </p:anim>
                                    <p:set>
                                      <p:cBhvr>
                                        <p:cTn id="48" dur="1" fill="hold">
                                          <p:stCondLst>
                                            <p:cond delay="999"/>
                                          </p:stCondLst>
                                        </p:cTn>
                                        <p:tgtEl>
                                          <p:spTgt spid="12"/>
                                        </p:tgtEl>
                                        <p:attrNameLst>
                                          <p:attrName>style.visibility</p:attrName>
                                        </p:attrNameLst>
                                      </p:cBhvr>
                                      <p:to>
                                        <p:strVal val="hidden"/>
                                      </p:to>
                                    </p:set>
                                  </p:childTnLst>
                                </p:cTn>
                              </p:par>
                            </p:childTnLst>
                          </p:cTn>
                        </p:par>
                        <p:par>
                          <p:cTn id="49" fill="hold" nodeType="afterGroup">
                            <p:stCondLst>
                              <p:cond delay="3000"/>
                            </p:stCondLst>
                            <p:childTnLst>
                              <p:par>
                                <p:cTn id="50" presetID="2" presetClass="exit" presetSubtype="4" fill="hold" grpId="1" nodeType="afterEffect">
                                  <p:stCondLst>
                                    <p:cond delay="0"/>
                                  </p:stCondLst>
                                  <p:childTnLst>
                                    <p:anim calcmode="lin" valueType="num">
                                      <p:cBhvr additive="base">
                                        <p:cTn id="51" dur="1000"/>
                                        <p:tgtEl>
                                          <p:spTgt spid="13"/>
                                        </p:tgtEl>
                                        <p:attrNameLst>
                                          <p:attrName>ppt_x</p:attrName>
                                        </p:attrNameLst>
                                      </p:cBhvr>
                                      <p:tavLst>
                                        <p:tav tm="0">
                                          <p:val>
                                            <p:strVal val="ppt_x"/>
                                          </p:val>
                                        </p:tav>
                                        <p:tav tm="100000">
                                          <p:val>
                                            <p:strVal val="ppt_x"/>
                                          </p:val>
                                        </p:tav>
                                      </p:tavLst>
                                    </p:anim>
                                    <p:anim calcmode="lin" valueType="num">
                                      <p:cBhvr additive="base">
                                        <p:cTn id="52" dur="1000"/>
                                        <p:tgtEl>
                                          <p:spTgt spid="13"/>
                                        </p:tgtEl>
                                        <p:attrNameLst>
                                          <p:attrName>ppt_y</p:attrName>
                                        </p:attrNameLst>
                                      </p:cBhvr>
                                      <p:tavLst>
                                        <p:tav tm="0">
                                          <p:val>
                                            <p:strVal val="ppt_y"/>
                                          </p:val>
                                        </p:tav>
                                        <p:tav tm="100000">
                                          <p:val>
                                            <p:strVal val="1+ppt_h/2"/>
                                          </p:val>
                                        </p:tav>
                                      </p:tavLst>
                                    </p:anim>
                                    <p:set>
                                      <p:cBhvr>
                                        <p:cTn id="53" dur="1" fill="hold">
                                          <p:stCondLst>
                                            <p:cond delay="9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3318" grpId="0" build="p"/>
      <p:bldP spid="10" grpId="0" animBg="1"/>
      <p:bldP spid="11" grpId="0" animBg="1"/>
      <p:bldP spid="11" grpId="1" animBg="1"/>
      <p:bldP spid="12" grpId="0" animBg="1"/>
      <p:bldP spid="12" grpId="1" animBg="1"/>
      <p:bldP spid="13" grpId="0" animBg="1"/>
      <p:bldP spid="13" grpId="1" animBg="1"/>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457200" y="304800"/>
            <a:ext cx="8229600" cy="715963"/>
          </a:xfrm>
        </p:spPr>
        <p:txBody>
          <a:bodyPr>
            <a:noAutofit/>
          </a:bodyPr>
          <a:lstStyle/>
          <a:p>
            <a:r>
              <a:rPr lang="vi-VN" i="1" smtClean="0"/>
              <a:t>Sơ đồ hồi tiếp âm điện áp</a:t>
            </a:r>
            <a:r>
              <a:rPr lang="en-US" i="1" smtClean="0"/>
              <a:t> (1)</a:t>
            </a:r>
            <a:endParaRPr lang="en-US" i="1" smtClean="0">
              <a:latin typeface=".VnTime" pitchFamily="34" charset="0"/>
            </a:endParaRPr>
          </a:p>
        </p:txBody>
      </p:sp>
      <p:sp>
        <p:nvSpPr>
          <p:cNvPr id="14341" name="Rectangle 4"/>
          <p:cNvSpPr>
            <a:spLocks noGrp="1" noChangeArrowheads="1"/>
          </p:cNvSpPr>
          <p:nvPr>
            <p:ph type="body" sz="half" idx="4294967295"/>
          </p:nvPr>
        </p:nvSpPr>
        <p:spPr>
          <a:xfrm>
            <a:off x="533400" y="838200"/>
            <a:ext cx="4038600" cy="4525963"/>
          </a:xfrm>
          <a:prstGeom prst="rect">
            <a:avLst/>
          </a:prstGeom>
        </p:spPr>
        <p:txBody>
          <a:bodyPr/>
          <a:lstStyle/>
          <a:p>
            <a:r>
              <a:rPr lang="vi-VN" sz="2400" smtClean="0"/>
              <a:t>Sơ đồ mạch</a:t>
            </a:r>
          </a:p>
          <a:p>
            <a:endParaRPr lang="vi-VN" sz="2400" smtClean="0"/>
          </a:p>
        </p:txBody>
      </p:sp>
      <p:sp>
        <p:nvSpPr>
          <p:cNvPr id="14342" name="Rectangle 5"/>
          <p:cNvSpPr>
            <a:spLocks noGrp="1" noChangeArrowheads="1"/>
          </p:cNvSpPr>
          <p:nvPr>
            <p:ph type="body" sz="half" idx="4294967295"/>
          </p:nvPr>
        </p:nvSpPr>
        <p:spPr>
          <a:xfrm>
            <a:off x="381000" y="4267200"/>
            <a:ext cx="8458200" cy="4525963"/>
          </a:xfrm>
          <a:prstGeom prst="rect">
            <a:avLst/>
          </a:prstGeom>
        </p:spPr>
        <p:txBody>
          <a:bodyPr>
            <a:normAutofit/>
          </a:bodyPr>
          <a:lstStyle/>
          <a:p>
            <a:r>
              <a:rPr lang="vi-VN" sz="2000" smtClean="0"/>
              <a:t>Hồi tiếp âm điện áp là một phần điện áp ra được đưa ngược trở lại đầu vào sao cho tác dụng cuả nó ngược pha với điện áp vào.</a:t>
            </a:r>
          </a:p>
          <a:p>
            <a:r>
              <a:rPr lang="en-US" sz="2000" smtClean="0"/>
              <a:t>V</a:t>
            </a:r>
            <a:r>
              <a:rPr lang="en-US" sz="2000" baseline="-25000" smtClean="0"/>
              <a:t>CC</a:t>
            </a:r>
            <a:r>
              <a:rPr lang="en-US" sz="2000" smtClean="0"/>
              <a:t> là nguồn cung cấp một chiều</a:t>
            </a:r>
          </a:p>
          <a:p>
            <a:r>
              <a:rPr lang="vi-VN" sz="2000" smtClean="0"/>
              <a:t>R</a:t>
            </a:r>
            <a:r>
              <a:rPr lang="vi-VN" sz="2000" baseline="-25000" smtClean="0"/>
              <a:t>C</a:t>
            </a:r>
            <a:r>
              <a:rPr lang="vi-VN" sz="2000" smtClean="0"/>
              <a:t> dẫn điện áp từ dương nguồn V</a:t>
            </a:r>
            <a:r>
              <a:rPr lang="vi-VN" sz="2000" baseline="-25000" smtClean="0"/>
              <a:t>CC</a:t>
            </a:r>
            <a:r>
              <a:rPr lang="vi-VN" sz="2000" smtClean="0"/>
              <a:t> về cực góp.</a:t>
            </a:r>
          </a:p>
          <a:p>
            <a:r>
              <a:rPr lang="vi-VN" sz="2000" smtClean="0"/>
              <a:t>Điện trở R</a:t>
            </a:r>
            <a:r>
              <a:rPr lang="vi-VN" sz="2000" baseline="-25000" smtClean="0"/>
              <a:t>B</a:t>
            </a:r>
            <a:r>
              <a:rPr lang="vi-VN" sz="2000" smtClean="0"/>
              <a:t> không nối trực tiếp với nguồn V</a:t>
            </a:r>
            <a:r>
              <a:rPr lang="vi-VN" sz="2000" baseline="-25000" smtClean="0"/>
              <a:t>CC</a:t>
            </a:r>
            <a:r>
              <a:rPr lang="vi-VN" sz="2000" smtClean="0"/>
              <a:t> mà nối giữa cực C và cực B. Nghĩa là cực B được cấp nguồn từ V</a:t>
            </a:r>
            <a:r>
              <a:rPr lang="vi-VN" sz="2000" baseline="-25000" smtClean="0"/>
              <a:t>C</a:t>
            </a:r>
            <a:r>
              <a:rPr lang="vi-VN" sz="2000" smtClean="0"/>
              <a:t>, qua R</a:t>
            </a:r>
            <a:r>
              <a:rPr lang="vi-VN" sz="2000" baseline="-25000" smtClean="0"/>
              <a:t>B</a:t>
            </a:r>
            <a:r>
              <a:rPr lang="vi-VN" sz="2000" smtClean="0"/>
              <a:t>. </a:t>
            </a:r>
          </a:p>
          <a:p>
            <a:r>
              <a:rPr lang="vi-VN" sz="2000" smtClean="0"/>
              <a:t>Cách xác định điểm công tác tĩnh Q cũng tương tự như phần trên </a:t>
            </a:r>
          </a:p>
        </p:txBody>
      </p:sp>
      <p:sp>
        <p:nvSpPr>
          <p:cNvPr id="1434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graphicFrame>
        <p:nvGraphicFramePr>
          <p:cNvPr id="14338" name="Object 6"/>
          <p:cNvGraphicFramePr>
            <a:graphicFrameLocks noChangeAspect="1"/>
          </p:cNvGraphicFramePr>
          <p:nvPr/>
        </p:nvGraphicFramePr>
        <p:xfrm>
          <a:off x="0" y="1371600"/>
          <a:ext cx="5108575" cy="2824163"/>
        </p:xfrm>
        <a:graphic>
          <a:graphicData uri="http://schemas.openxmlformats.org/presentationml/2006/ole">
            <mc:AlternateContent xmlns:mc="http://schemas.openxmlformats.org/markup-compatibility/2006">
              <mc:Choice xmlns:v="urn:schemas-microsoft-com:vml" Requires="v">
                <p:oleObj spid="_x0000_s29786" name="Visio" r:id="rId3" imgW="2886646" imgH="1598868" progId="Visio.Drawing.11">
                  <p:embed/>
                </p:oleObj>
              </mc:Choice>
              <mc:Fallback>
                <p:oleObj name="Visio" r:id="rId3" imgW="2886646" imgH="1598868"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371600"/>
                        <a:ext cx="5108575" cy="2824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4" name="Rectangle 9"/>
          <p:cNvSpPr>
            <a:spLocks noChangeArrowheads="1"/>
          </p:cNvSpPr>
          <p:nvPr/>
        </p:nvSpPr>
        <p:spPr bwMode="auto">
          <a:xfrm>
            <a:off x="0" y="2524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graphicFrame>
        <p:nvGraphicFramePr>
          <p:cNvPr id="14339" name="Object 8"/>
          <p:cNvGraphicFramePr>
            <a:graphicFrameLocks noChangeAspect="1"/>
          </p:cNvGraphicFramePr>
          <p:nvPr/>
        </p:nvGraphicFramePr>
        <p:xfrm>
          <a:off x="5257800" y="1219200"/>
          <a:ext cx="3897313" cy="2870200"/>
        </p:xfrm>
        <a:graphic>
          <a:graphicData uri="http://schemas.openxmlformats.org/presentationml/2006/ole">
            <mc:AlternateContent xmlns:mc="http://schemas.openxmlformats.org/markup-compatibility/2006">
              <mc:Choice xmlns:v="urn:schemas-microsoft-com:vml" Requires="v">
                <p:oleObj spid="_x0000_s29787" name="Visio" r:id="rId5" imgW="2915588" imgH="2115447" progId="Visio.Drawing.11">
                  <p:embed/>
                </p:oleObj>
              </mc:Choice>
              <mc:Fallback>
                <p:oleObj name="Visio" r:id="rId5" imgW="2915588" imgH="2115447"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1219200"/>
                        <a:ext cx="3897313" cy="287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5"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F381D7C-9AFF-4C94-A373-DDDBD0882064}" type="slidenum">
              <a:rPr lang="en-US" smtClean="0"/>
              <a:pPr eaLnBrk="1" hangingPunct="1"/>
              <a:t>34</a:t>
            </a:fld>
            <a:endParaRPr lang="en-US" smtClean="0"/>
          </a:p>
        </p:txBody>
      </p:sp>
    </p:spTree>
    <p:extLst>
      <p:ext uri="{BB962C8B-B14F-4D97-AF65-F5344CB8AC3E}">
        <p14:creationId xmlns:p14="http://schemas.microsoft.com/office/powerpoint/2010/main" val="33863595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checkerboard(across)">
                                      <p:cBhvr>
                                        <p:cTn id="7" dur="500"/>
                                        <p:tgtEl>
                                          <p:spTgt spid="14338"/>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4342">
                                            <p:txEl>
                                              <p:pRg st="0" end="0"/>
                                            </p:txEl>
                                          </p:spTgt>
                                        </p:tgtEl>
                                        <p:attrNameLst>
                                          <p:attrName>style.visibility</p:attrName>
                                        </p:attrNameLst>
                                      </p:cBhvr>
                                      <p:to>
                                        <p:strVal val="visible"/>
                                      </p:to>
                                    </p:set>
                                    <p:animEffect transition="in" filter="blinds(horizontal)">
                                      <p:cBhvr>
                                        <p:cTn id="11" dur="500"/>
                                        <p:tgtEl>
                                          <p:spTgt spid="14342">
                                            <p:txEl>
                                              <p:pRg st="0" end="0"/>
                                            </p:txEl>
                                          </p:spTgt>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14342">
                                            <p:txEl>
                                              <p:pRg st="1" end="1"/>
                                            </p:txEl>
                                          </p:spTgt>
                                        </p:tgtEl>
                                        <p:attrNameLst>
                                          <p:attrName>style.visibility</p:attrName>
                                        </p:attrNameLst>
                                      </p:cBhvr>
                                      <p:to>
                                        <p:strVal val="visible"/>
                                      </p:to>
                                    </p:set>
                                    <p:animEffect transition="in" filter="blinds(horizontal)">
                                      <p:cBhvr>
                                        <p:cTn id="15" dur="500"/>
                                        <p:tgtEl>
                                          <p:spTgt spid="14342">
                                            <p:txEl>
                                              <p:pRg st="1" end="1"/>
                                            </p:txEl>
                                          </p:spTgt>
                                        </p:tgtEl>
                                      </p:cBhvr>
                                    </p:animEffect>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14342">
                                            <p:txEl>
                                              <p:pRg st="2" end="2"/>
                                            </p:txEl>
                                          </p:spTgt>
                                        </p:tgtEl>
                                        <p:attrNameLst>
                                          <p:attrName>style.visibility</p:attrName>
                                        </p:attrNameLst>
                                      </p:cBhvr>
                                      <p:to>
                                        <p:strVal val="visible"/>
                                      </p:to>
                                    </p:set>
                                    <p:animEffect transition="in" filter="blinds(horizontal)">
                                      <p:cBhvr>
                                        <p:cTn id="19" dur="500"/>
                                        <p:tgtEl>
                                          <p:spTgt spid="14342">
                                            <p:txEl>
                                              <p:pRg st="2" end="2"/>
                                            </p:txEl>
                                          </p:spTgt>
                                        </p:tgtEl>
                                      </p:cBhvr>
                                    </p:animEffect>
                                  </p:childTnLst>
                                </p:cTn>
                              </p:par>
                            </p:childTnLst>
                          </p:cTn>
                        </p:par>
                        <p:par>
                          <p:cTn id="20" fill="hold" nodeType="afterGroup">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14342">
                                            <p:txEl>
                                              <p:pRg st="3" end="3"/>
                                            </p:txEl>
                                          </p:spTgt>
                                        </p:tgtEl>
                                        <p:attrNameLst>
                                          <p:attrName>style.visibility</p:attrName>
                                        </p:attrNameLst>
                                      </p:cBhvr>
                                      <p:to>
                                        <p:strVal val="visible"/>
                                      </p:to>
                                    </p:set>
                                    <p:animEffect transition="in" filter="blinds(horizontal)">
                                      <p:cBhvr>
                                        <p:cTn id="23" dur="500"/>
                                        <p:tgtEl>
                                          <p:spTgt spid="14342">
                                            <p:txEl>
                                              <p:pRg st="3" end="3"/>
                                            </p:txEl>
                                          </p:spTgt>
                                        </p:tgtEl>
                                      </p:cBhvr>
                                    </p:animEffect>
                                  </p:childTnLst>
                                </p:cTn>
                              </p:par>
                            </p:childTnLst>
                          </p:cTn>
                        </p:par>
                        <p:par>
                          <p:cTn id="24" fill="hold" nodeType="afterGroup">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14342">
                                            <p:txEl>
                                              <p:pRg st="4" end="4"/>
                                            </p:txEl>
                                          </p:spTgt>
                                        </p:tgtEl>
                                        <p:attrNameLst>
                                          <p:attrName>style.visibility</p:attrName>
                                        </p:attrNameLst>
                                      </p:cBhvr>
                                      <p:to>
                                        <p:strVal val="visible"/>
                                      </p:to>
                                    </p:set>
                                    <p:animEffect transition="in" filter="blinds(horizontal)">
                                      <p:cBhvr>
                                        <p:cTn id="27" dur="500"/>
                                        <p:tgtEl>
                                          <p:spTgt spid="1434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1" presetClass="entr" presetSubtype="0" fill="hold" nodeType="clickEffect">
                                  <p:stCondLst>
                                    <p:cond delay="0"/>
                                  </p:stCondLst>
                                  <p:childTnLst>
                                    <p:set>
                                      <p:cBhvr>
                                        <p:cTn id="31" dur="1" fill="hold">
                                          <p:stCondLst>
                                            <p:cond delay="0"/>
                                          </p:stCondLst>
                                        </p:cTn>
                                        <p:tgtEl>
                                          <p:spTgt spid="14339"/>
                                        </p:tgtEl>
                                        <p:attrNameLst>
                                          <p:attrName>style.visibility</p:attrName>
                                        </p:attrNameLst>
                                      </p:cBhvr>
                                      <p:to>
                                        <p:strVal val="visible"/>
                                      </p:to>
                                    </p:set>
                                    <p:animEffect transition="in" filter="fade">
                                      <p:cBhvr>
                                        <p:cTn id="32" dur="770" decel="100000"/>
                                        <p:tgtEl>
                                          <p:spTgt spid="14339"/>
                                        </p:tgtEl>
                                      </p:cBhvr>
                                    </p:animEffect>
                                    <p:animScale>
                                      <p:cBhvr>
                                        <p:cTn id="33" dur="770" decel="100000"/>
                                        <p:tgtEl>
                                          <p:spTgt spid="14339"/>
                                        </p:tgtEl>
                                      </p:cBhvr>
                                      <p:from x="10000" y="10000"/>
                                      <p:to x="200000" y="450000"/>
                                    </p:animScale>
                                    <p:animScale>
                                      <p:cBhvr>
                                        <p:cTn id="34" dur="1230" accel="100000" fill="hold">
                                          <p:stCondLst>
                                            <p:cond delay="770"/>
                                          </p:stCondLst>
                                        </p:cTn>
                                        <p:tgtEl>
                                          <p:spTgt spid="14339"/>
                                        </p:tgtEl>
                                      </p:cBhvr>
                                      <p:from x="200000" y="450000"/>
                                      <p:to x="100000" y="100000"/>
                                    </p:animScale>
                                    <p:set>
                                      <p:cBhvr>
                                        <p:cTn id="35" dur="770" fill="hold"/>
                                        <p:tgtEl>
                                          <p:spTgt spid="14339"/>
                                        </p:tgtEl>
                                        <p:attrNameLst>
                                          <p:attrName>ppt_x</p:attrName>
                                        </p:attrNameLst>
                                      </p:cBhvr>
                                      <p:to>
                                        <p:strVal val="(0.5)"/>
                                      </p:to>
                                    </p:set>
                                    <p:anim from="(0.5)" to="(#ppt_x)" calcmode="lin" valueType="num">
                                      <p:cBhvr>
                                        <p:cTn id="36" dur="1230" accel="100000" fill="hold">
                                          <p:stCondLst>
                                            <p:cond delay="770"/>
                                          </p:stCondLst>
                                        </p:cTn>
                                        <p:tgtEl>
                                          <p:spTgt spid="14339"/>
                                        </p:tgtEl>
                                        <p:attrNameLst>
                                          <p:attrName>ppt_x</p:attrName>
                                        </p:attrNameLst>
                                      </p:cBhvr>
                                    </p:anim>
                                    <p:set>
                                      <p:cBhvr>
                                        <p:cTn id="37" dur="770" fill="hold"/>
                                        <p:tgtEl>
                                          <p:spTgt spid="14339"/>
                                        </p:tgtEl>
                                        <p:attrNameLst>
                                          <p:attrName>ppt_y</p:attrName>
                                        </p:attrNameLst>
                                      </p:cBhvr>
                                      <p:to>
                                        <p:strVal val="(#ppt_y+0.4)"/>
                                      </p:to>
                                    </p:set>
                                    <p:anim from="(#ppt_y+0.4)" to="(#ppt_y)" calcmode="lin" valueType="num">
                                      <p:cBhvr>
                                        <p:cTn id="38" dur="1230" accel="100000" fill="hold">
                                          <p:stCondLst>
                                            <p:cond delay="770"/>
                                          </p:stCondLst>
                                        </p:cTn>
                                        <p:tgtEl>
                                          <p:spTgt spid="14339"/>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500062" y="304800"/>
            <a:ext cx="8229600" cy="609600"/>
          </a:xfrm>
        </p:spPr>
        <p:txBody>
          <a:bodyPr>
            <a:noAutofit/>
          </a:bodyPr>
          <a:lstStyle/>
          <a:p>
            <a:r>
              <a:rPr lang="vi-VN" smtClean="0"/>
              <a:t>Sơ đồ hồi tiếp âm điện áp</a:t>
            </a:r>
            <a:r>
              <a:rPr lang="en-US" smtClean="0"/>
              <a:t> (2)</a:t>
            </a:r>
            <a:endParaRPr lang="en-US" smtClean="0">
              <a:latin typeface=".VnTime" pitchFamily="34" charset="0"/>
            </a:endParaRPr>
          </a:p>
        </p:txBody>
      </p:sp>
      <p:sp>
        <p:nvSpPr>
          <p:cNvPr id="66563" name="Rectangle 3"/>
          <p:cNvSpPr>
            <a:spLocks noGrp="1" noChangeArrowheads="1"/>
          </p:cNvSpPr>
          <p:nvPr>
            <p:ph type="body" idx="1"/>
          </p:nvPr>
        </p:nvSpPr>
        <p:spPr>
          <a:xfrm>
            <a:off x="457200" y="838200"/>
            <a:ext cx="8686800" cy="5287963"/>
          </a:xfrm>
        </p:spPr>
        <p:txBody>
          <a:bodyPr/>
          <a:lstStyle/>
          <a:p>
            <a:r>
              <a:rPr lang="vi-VN" sz="2000" smtClean="0"/>
              <a:t>Sơ đồ này có độ ổn định </a:t>
            </a:r>
            <a:r>
              <a:rPr lang="en-US" sz="2000" smtClean="0"/>
              <a:t>nhiệt t</a:t>
            </a:r>
            <a:r>
              <a:rPr lang="vi-VN" sz="2000" smtClean="0"/>
              <a:t>ốt hơn</a:t>
            </a:r>
            <a:r>
              <a:rPr lang="en-US" sz="2000" smtClean="0"/>
              <a:t> sơ đồ phân dòng cố định</a:t>
            </a:r>
            <a:r>
              <a:rPr lang="vi-VN" sz="2000" smtClean="0"/>
              <a:t> </a:t>
            </a:r>
          </a:p>
          <a:p>
            <a:r>
              <a:rPr lang="vi-VN" sz="2000" smtClean="0"/>
              <a:t>Khi nhiệt độ tăng </a:t>
            </a:r>
            <a:r>
              <a:rPr lang="vi-VN" sz="2000" smtClean="0">
                <a:sym typeface="Wingdings" pitchFamily="2" charset="2"/>
              </a:rPr>
              <a:t> dòng I</a:t>
            </a:r>
            <a:r>
              <a:rPr lang="vi-VN" sz="2000" baseline="-25000" smtClean="0">
                <a:sym typeface="Wingdings" pitchFamily="2" charset="2"/>
              </a:rPr>
              <a:t>C</a:t>
            </a:r>
            <a:r>
              <a:rPr lang="vi-VN" sz="2000" smtClean="0">
                <a:sym typeface="Wingdings" pitchFamily="2" charset="2"/>
              </a:rPr>
              <a:t> tăng lên  sụt áp trên R</a:t>
            </a:r>
            <a:r>
              <a:rPr lang="vi-VN" sz="2000" baseline="-25000" smtClean="0">
                <a:sym typeface="Wingdings" pitchFamily="2" charset="2"/>
              </a:rPr>
              <a:t>C</a:t>
            </a:r>
            <a:r>
              <a:rPr lang="vi-VN" sz="2000" smtClean="0">
                <a:sym typeface="Wingdings" pitchFamily="2" charset="2"/>
              </a:rPr>
              <a:t> tăng điện áp tại cực C là V</a:t>
            </a:r>
            <a:r>
              <a:rPr lang="vi-VN" sz="2000" baseline="-25000" smtClean="0">
                <a:sym typeface="Wingdings" pitchFamily="2" charset="2"/>
              </a:rPr>
              <a:t>C</a:t>
            </a:r>
            <a:r>
              <a:rPr lang="vi-VN" sz="2000" smtClean="0">
                <a:sym typeface="Wingdings" pitchFamily="2" charset="2"/>
              </a:rPr>
              <a:t> giảm xuống mà  V</a:t>
            </a:r>
            <a:r>
              <a:rPr lang="vi-VN" sz="2000" baseline="-25000" smtClean="0">
                <a:sym typeface="Wingdings" pitchFamily="2" charset="2"/>
              </a:rPr>
              <a:t>B</a:t>
            </a:r>
            <a:r>
              <a:rPr lang="vi-VN" sz="2000" smtClean="0">
                <a:sym typeface="Wingdings" pitchFamily="2" charset="2"/>
              </a:rPr>
              <a:t> = V</a:t>
            </a:r>
            <a:r>
              <a:rPr lang="vi-VN" sz="2000" baseline="-25000" smtClean="0">
                <a:sym typeface="Wingdings" pitchFamily="2" charset="2"/>
              </a:rPr>
              <a:t>C</a:t>
            </a:r>
            <a:r>
              <a:rPr lang="vi-VN" sz="2000" smtClean="0">
                <a:sym typeface="Wingdings" pitchFamily="2" charset="2"/>
              </a:rPr>
              <a:t> – I</a:t>
            </a:r>
            <a:r>
              <a:rPr lang="vi-VN" sz="2000" baseline="-25000" smtClean="0">
                <a:sym typeface="Wingdings" pitchFamily="2" charset="2"/>
              </a:rPr>
              <a:t>B</a:t>
            </a:r>
            <a:r>
              <a:rPr lang="vi-VN" sz="2000" smtClean="0">
                <a:sym typeface="Wingdings" pitchFamily="2" charset="2"/>
              </a:rPr>
              <a:t>.R</a:t>
            </a:r>
            <a:r>
              <a:rPr lang="vi-VN" sz="2000" baseline="-25000" smtClean="0">
                <a:sym typeface="Wingdings" pitchFamily="2" charset="2"/>
              </a:rPr>
              <a:t>B</a:t>
            </a:r>
            <a:r>
              <a:rPr lang="vi-VN" sz="2000" smtClean="0">
                <a:sym typeface="Wingdings" pitchFamily="2" charset="2"/>
              </a:rPr>
              <a:t> do đó V</a:t>
            </a:r>
            <a:r>
              <a:rPr lang="vi-VN" sz="2000" baseline="-25000" smtClean="0">
                <a:sym typeface="Wingdings" pitchFamily="2" charset="2"/>
              </a:rPr>
              <a:t>B</a:t>
            </a:r>
            <a:r>
              <a:rPr lang="vi-VN" sz="2000" smtClean="0">
                <a:sym typeface="Wingdings" pitchFamily="2" charset="2"/>
              </a:rPr>
              <a:t> cũng giảm xuống, làm cho góc mở U</a:t>
            </a:r>
            <a:r>
              <a:rPr lang="vi-VN" sz="2000" baseline="-25000" smtClean="0">
                <a:sym typeface="Wingdings" pitchFamily="2" charset="2"/>
              </a:rPr>
              <a:t>BE</a:t>
            </a:r>
            <a:r>
              <a:rPr lang="vi-VN" sz="2000" smtClean="0">
                <a:sym typeface="Wingdings" pitchFamily="2" charset="2"/>
              </a:rPr>
              <a:t> nhỏ lại, BJT dẫn yếu đi, tức là các dòng qua BJT giảm (I</a:t>
            </a:r>
            <a:r>
              <a:rPr lang="vi-VN" sz="2000" baseline="-25000" smtClean="0">
                <a:sym typeface="Wingdings" pitchFamily="2" charset="2"/>
              </a:rPr>
              <a:t>C</a:t>
            </a:r>
            <a:r>
              <a:rPr lang="vi-VN" sz="2000" smtClean="0">
                <a:sym typeface="Wingdings" pitchFamily="2" charset="2"/>
              </a:rPr>
              <a:t> giảm chống lại sự thay đổi ban đầu). </a:t>
            </a:r>
          </a:p>
          <a:p>
            <a:r>
              <a:rPr lang="vi-VN" sz="2000" smtClean="0"/>
              <a:t>Quá trình hoàn toàn ngược lại khi nhiệt độ giảm</a:t>
            </a:r>
            <a:r>
              <a:rPr lang="vi-VN" sz="2000" smtClean="0">
                <a:sym typeface="Wingdings" pitchFamily="2" charset="2"/>
              </a:rPr>
              <a:t> điểm công tác tĩnh sẽ ổn định khi nhiệt độ thay đổi</a:t>
            </a:r>
          </a:p>
          <a:p>
            <a:r>
              <a:rPr lang="vi-VN" sz="2000" smtClean="0"/>
              <a:t>Như vậy, nhờ </a:t>
            </a:r>
            <a:r>
              <a:rPr lang="vi-VN" sz="2000" i="1" smtClean="0"/>
              <a:t>điện trở hồi tiếp âm R</a:t>
            </a:r>
            <a:r>
              <a:rPr lang="vi-VN" sz="2000" i="1" baseline="-25000" smtClean="0"/>
              <a:t>B </a:t>
            </a:r>
            <a:r>
              <a:rPr lang="vi-VN" sz="2000" i="1" smtClean="0"/>
              <a:t>mà điểm làm việc tĩnh của mạch sẽ ổn định hơn.</a:t>
            </a:r>
          </a:p>
        </p:txBody>
      </p:sp>
      <p:sp>
        <p:nvSpPr>
          <p:cNvPr id="6656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3CA1E88-ECFA-4AAF-912F-7E91A48C9AE3}" type="slidenum">
              <a:rPr lang="en-US" smtClean="0"/>
              <a:pPr eaLnBrk="1" hangingPunct="1"/>
              <a:t>35</a:t>
            </a:fld>
            <a:endParaRPr lang="en-US" smtClean="0"/>
          </a:p>
        </p:txBody>
      </p:sp>
      <p:pic>
        <p:nvPicPr>
          <p:cNvPr id="66565" name="Picture 7" descr="http://www.opamp-electronics.com/tutorials/images/semiconductor/033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733800"/>
            <a:ext cx="5267325"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43933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nodeType="afterEffect">
                                  <p:stCondLst>
                                    <p:cond delay="0"/>
                                  </p:stCondLst>
                                  <p:childTnLst>
                                    <p:set>
                                      <p:cBhvr>
                                        <p:cTn id="6" dur="1" fill="hold">
                                          <p:stCondLst>
                                            <p:cond delay="0"/>
                                          </p:stCondLst>
                                        </p:cTn>
                                        <p:tgtEl>
                                          <p:spTgt spid="66565"/>
                                        </p:tgtEl>
                                        <p:attrNameLst>
                                          <p:attrName>style.visibility</p:attrName>
                                        </p:attrNameLst>
                                      </p:cBhvr>
                                      <p:to>
                                        <p:strVal val="visible"/>
                                      </p:to>
                                    </p:set>
                                    <p:animEffect transition="in" filter="strips(downLeft)">
                                      <p:cBhvr>
                                        <p:cTn id="7" dur="500"/>
                                        <p:tgtEl>
                                          <p:spTgt spid="66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468086" y="304800"/>
            <a:ext cx="8229600" cy="685800"/>
          </a:xfrm>
        </p:spPr>
        <p:txBody>
          <a:bodyPr>
            <a:noAutofit/>
          </a:bodyPr>
          <a:lstStyle/>
          <a:p>
            <a:r>
              <a:rPr lang="en-US" smtClean="0"/>
              <a:t>Phân cực bằng phân áp (1)</a:t>
            </a:r>
            <a:endParaRPr lang="en-US" smtClean="0">
              <a:latin typeface=".VnTime" pitchFamily="34" charset="0"/>
            </a:endParaRPr>
          </a:p>
        </p:txBody>
      </p:sp>
      <p:sp>
        <p:nvSpPr>
          <p:cNvPr id="15365" name="Rectangle 3"/>
          <p:cNvSpPr>
            <a:spLocks noGrp="1" noChangeArrowheads="1"/>
          </p:cNvSpPr>
          <p:nvPr>
            <p:ph type="body" sz="half" idx="4294967295"/>
          </p:nvPr>
        </p:nvSpPr>
        <p:spPr>
          <a:xfrm>
            <a:off x="228600" y="990600"/>
            <a:ext cx="4267200" cy="457200"/>
          </a:xfrm>
          <a:prstGeom prst="rect">
            <a:avLst/>
          </a:prstGeom>
        </p:spPr>
        <p:txBody>
          <a:bodyPr/>
          <a:lstStyle/>
          <a:p>
            <a:r>
              <a:rPr lang="vi-VN" sz="2000" i="1" smtClean="0"/>
              <a:t> Sơ đồ phân cực bằng phân áp</a:t>
            </a:r>
          </a:p>
        </p:txBody>
      </p:sp>
      <p:sp>
        <p:nvSpPr>
          <p:cNvPr id="15366" name="Rectangle 4"/>
          <p:cNvSpPr>
            <a:spLocks noGrp="1" noChangeArrowheads="1"/>
          </p:cNvSpPr>
          <p:nvPr>
            <p:ph type="body" sz="half" idx="4294967295"/>
          </p:nvPr>
        </p:nvSpPr>
        <p:spPr>
          <a:xfrm>
            <a:off x="5105400" y="990600"/>
            <a:ext cx="4038600" cy="533400"/>
          </a:xfrm>
          <a:prstGeom prst="rect">
            <a:avLst/>
          </a:prstGeom>
        </p:spPr>
        <p:txBody>
          <a:bodyPr/>
          <a:lstStyle/>
          <a:p>
            <a:r>
              <a:rPr lang="vi-VN" sz="2000" i="1" smtClean="0"/>
              <a:t>Sơ đồ tương đương Thevenin</a:t>
            </a:r>
          </a:p>
          <a:p>
            <a:endParaRPr lang="en-US" sz="2000" smtClean="0"/>
          </a:p>
        </p:txBody>
      </p:sp>
      <p:graphicFrame>
        <p:nvGraphicFramePr>
          <p:cNvPr id="15362" name="Object 5"/>
          <p:cNvGraphicFramePr>
            <a:graphicFrameLocks noChangeAspect="1"/>
          </p:cNvGraphicFramePr>
          <p:nvPr/>
        </p:nvGraphicFramePr>
        <p:xfrm>
          <a:off x="68263" y="1295400"/>
          <a:ext cx="4144962" cy="2903538"/>
        </p:xfrm>
        <a:graphic>
          <a:graphicData uri="http://schemas.openxmlformats.org/presentationml/2006/ole">
            <mc:AlternateContent xmlns:mc="http://schemas.openxmlformats.org/markup-compatibility/2006">
              <mc:Choice xmlns:v="urn:schemas-microsoft-com:vml" Requires="v">
                <p:oleObj spid="_x0000_s30812" name="Visio" r:id="rId3" imgW="2765146" imgH="1783690" progId="Visio.Drawing.11">
                  <p:embed/>
                </p:oleObj>
              </mc:Choice>
              <mc:Fallback>
                <p:oleObj name="Visio" r:id="rId3" imgW="2765146" imgH="178369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63" y="1295400"/>
                        <a:ext cx="4144962" cy="290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3" name="Object 7"/>
          <p:cNvGraphicFramePr>
            <a:graphicFrameLocks noChangeAspect="1"/>
          </p:cNvGraphicFramePr>
          <p:nvPr>
            <p:extLst>
              <p:ext uri="{D42A27DB-BD31-4B8C-83A1-F6EECF244321}">
                <p14:modId xmlns:p14="http://schemas.microsoft.com/office/powerpoint/2010/main" val="556514467"/>
              </p:ext>
            </p:extLst>
          </p:nvPr>
        </p:nvGraphicFramePr>
        <p:xfrm>
          <a:off x="5410200" y="1295400"/>
          <a:ext cx="3352800" cy="3211513"/>
        </p:xfrm>
        <a:graphic>
          <a:graphicData uri="http://schemas.openxmlformats.org/presentationml/2006/ole">
            <mc:AlternateContent xmlns:mc="http://schemas.openxmlformats.org/markup-compatibility/2006">
              <mc:Choice xmlns:v="urn:schemas-microsoft-com:vml" Requires="v">
                <p:oleObj spid="_x0000_s30813" name="Visio" r:id="rId5" imgW="1862938" imgH="1783690" progId="Visio.Drawing.11">
                  <p:embed/>
                </p:oleObj>
              </mc:Choice>
              <mc:Fallback>
                <p:oleObj name="Visio" r:id="rId5" imgW="1862938" imgH="1783690"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1295400"/>
                        <a:ext cx="3352800" cy="321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7" name="AutoShape 8"/>
          <p:cNvSpPr>
            <a:spLocks noChangeArrowheads="1"/>
          </p:cNvSpPr>
          <p:nvPr/>
        </p:nvSpPr>
        <p:spPr bwMode="auto">
          <a:xfrm>
            <a:off x="4343400" y="2514600"/>
            <a:ext cx="762000" cy="457200"/>
          </a:xfrm>
          <a:prstGeom prst="leftRightArrow">
            <a:avLst>
              <a:gd name="adj1" fmla="val 50000"/>
              <a:gd name="adj2" fmla="val 33333"/>
            </a:avLst>
          </a:prstGeom>
          <a:solidFill>
            <a:schemeClr val="accent1"/>
          </a:solidFill>
          <a:ln w="9525">
            <a:solidFill>
              <a:schemeClr val="tx1"/>
            </a:solidFill>
            <a:miter lim="800000"/>
            <a:headEnd/>
            <a:tailEnd/>
          </a:ln>
        </p:spPr>
        <p:txBody>
          <a:bodyPr wrap="none" anchor="ctr"/>
          <a:lstStyle/>
          <a:p>
            <a:endParaRPr lang="vi-VN"/>
          </a:p>
        </p:txBody>
      </p:sp>
      <p:sp>
        <p:nvSpPr>
          <p:cNvPr id="15368" name="Text Box 9"/>
          <p:cNvSpPr txBox="1">
            <a:spLocks noChangeArrowheads="1"/>
          </p:cNvSpPr>
          <p:nvPr/>
        </p:nvSpPr>
        <p:spPr bwMode="auto">
          <a:xfrm>
            <a:off x="457200" y="4343400"/>
            <a:ext cx="86868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vi-VN" sz="2000">
                <a:latin typeface="Constantia" pitchFamily="18" charset="0"/>
              </a:rPr>
              <a:t>R</a:t>
            </a:r>
            <a:r>
              <a:rPr lang="vi-VN" sz="2000" baseline="-25000">
                <a:latin typeface="Constantia" pitchFamily="18" charset="0"/>
              </a:rPr>
              <a:t>1</a:t>
            </a:r>
            <a:r>
              <a:rPr lang="vi-VN" sz="2000">
                <a:latin typeface="Constantia" pitchFamily="18" charset="0"/>
              </a:rPr>
              <a:t>, R</a:t>
            </a:r>
            <a:r>
              <a:rPr lang="vi-VN" sz="2000" baseline="-25000">
                <a:latin typeface="Constantia" pitchFamily="18" charset="0"/>
              </a:rPr>
              <a:t>2</a:t>
            </a:r>
            <a:r>
              <a:rPr lang="vi-VN" sz="2000">
                <a:latin typeface="Constantia" pitchFamily="18" charset="0"/>
              </a:rPr>
              <a:t> tạo thành mạch phân áp để cấp điện áp cho cực B</a:t>
            </a:r>
          </a:p>
          <a:p>
            <a:pPr eaLnBrk="1" hangingPunct="1"/>
            <a:r>
              <a:rPr lang="vi-VN" sz="2000">
                <a:latin typeface="Constantia" pitchFamily="18" charset="0"/>
              </a:rPr>
              <a:t>R</a:t>
            </a:r>
            <a:r>
              <a:rPr lang="vi-VN" sz="2000" baseline="-25000">
                <a:latin typeface="Constantia" pitchFamily="18" charset="0"/>
              </a:rPr>
              <a:t>C</a:t>
            </a:r>
            <a:r>
              <a:rPr lang="vi-VN" sz="2000">
                <a:latin typeface="Constantia" pitchFamily="18" charset="0"/>
              </a:rPr>
              <a:t> dẫn điện áp dương nguồn về cực C.</a:t>
            </a:r>
          </a:p>
          <a:p>
            <a:pPr eaLnBrk="1" hangingPunct="1"/>
            <a:r>
              <a:rPr lang="vi-VN" sz="2000">
                <a:latin typeface="Constantia" pitchFamily="18" charset="0"/>
              </a:rPr>
              <a:t>R</a:t>
            </a:r>
            <a:r>
              <a:rPr lang="vi-VN" sz="2000" baseline="-25000">
                <a:latin typeface="Constantia" pitchFamily="18" charset="0"/>
              </a:rPr>
              <a:t>E</a:t>
            </a:r>
            <a:r>
              <a:rPr lang="vi-VN" sz="2000">
                <a:latin typeface="Constantia" pitchFamily="18" charset="0"/>
              </a:rPr>
              <a:t> là điện trở hồi tiếp âm dòng điện, tạo điện áp trên cực E tuỳ vào giá trị dòng I</a:t>
            </a:r>
            <a:r>
              <a:rPr lang="vi-VN" sz="2000" baseline="-25000">
                <a:latin typeface="Constantia" pitchFamily="18" charset="0"/>
              </a:rPr>
              <a:t>E</a:t>
            </a:r>
            <a:r>
              <a:rPr lang="vi-VN" sz="2000">
                <a:latin typeface="Constantia" pitchFamily="18" charset="0"/>
              </a:rPr>
              <a:t> đi qua BJT (do vậy gọi là tự phân cực).</a:t>
            </a:r>
          </a:p>
          <a:p>
            <a:pPr eaLnBrk="1" hangingPunct="1"/>
            <a:r>
              <a:rPr lang="vi-VN" sz="2000">
                <a:latin typeface="Constantia" pitchFamily="18" charset="0"/>
              </a:rPr>
              <a:t>Dòng điện trên R</a:t>
            </a:r>
            <a:r>
              <a:rPr lang="vi-VN" sz="2000" baseline="-25000">
                <a:latin typeface="Constantia" pitchFamily="18" charset="0"/>
              </a:rPr>
              <a:t>E</a:t>
            </a:r>
            <a:r>
              <a:rPr lang="vi-VN" sz="2000">
                <a:latin typeface="Constantia" pitchFamily="18" charset="0"/>
              </a:rPr>
              <a:t> sẽ tạo một sụt áp trên nó có xu hướng chống lại sự phân cực thuận của lớp tiếp xúc phát </a:t>
            </a:r>
            <a:r>
              <a:rPr lang="vi-VN" sz="2000">
                <a:latin typeface="Constantia" pitchFamily="18" charset="0"/>
                <a:sym typeface="Wingdings" pitchFamily="2" charset="2"/>
              </a:rPr>
              <a:t> </a:t>
            </a:r>
            <a:r>
              <a:rPr lang="vi-VN" sz="2000" b="1" i="1">
                <a:latin typeface="Constantia" pitchFamily="18" charset="0"/>
                <a:sym typeface="Wingdings" pitchFamily="2" charset="2"/>
              </a:rPr>
              <a:t>ổn định nhiệt cho mạch</a:t>
            </a:r>
          </a:p>
        </p:txBody>
      </p:sp>
      <p:sp>
        <p:nvSpPr>
          <p:cNvPr id="15369"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1BD0313-5B0E-460C-BF1A-4519BBA94D14}" type="slidenum">
              <a:rPr lang="en-US" smtClean="0"/>
              <a:pPr eaLnBrk="1" hangingPunct="1"/>
              <a:t>36</a:t>
            </a:fld>
            <a:endParaRPr lang="en-US" smtClean="0"/>
          </a:p>
        </p:txBody>
      </p:sp>
    </p:spTree>
    <p:extLst>
      <p:ext uri="{BB962C8B-B14F-4D97-AF65-F5344CB8AC3E}">
        <p14:creationId xmlns:p14="http://schemas.microsoft.com/office/powerpoint/2010/main" val="13719213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after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checkerboard(across)">
                                      <p:cBhvr>
                                        <p:cTn id="7" dur="1000"/>
                                        <p:tgtEl>
                                          <p:spTgt spid="15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5366">
                                            <p:txEl>
                                              <p:pRg st="0" end="0"/>
                                            </p:txEl>
                                          </p:spTgt>
                                        </p:tgtEl>
                                        <p:attrNameLst>
                                          <p:attrName>style.visibility</p:attrName>
                                        </p:attrNameLst>
                                      </p:cBhvr>
                                      <p:to>
                                        <p:strVal val="visible"/>
                                      </p:to>
                                    </p:set>
                                    <p:anim calcmode="lin" valueType="num">
                                      <p:cBhvr additive="base">
                                        <p:cTn id="12" dur="1000" fill="hold"/>
                                        <p:tgtEl>
                                          <p:spTgt spid="15366">
                                            <p:txEl>
                                              <p:pRg st="0" end="0"/>
                                            </p:txEl>
                                          </p:spTgt>
                                        </p:tgtEl>
                                        <p:attrNameLst>
                                          <p:attrName>ppt_x</p:attrName>
                                        </p:attrNameLst>
                                      </p:cBhvr>
                                      <p:tavLst>
                                        <p:tav tm="0">
                                          <p:val>
                                            <p:strVal val="1+#ppt_w/2"/>
                                          </p:val>
                                        </p:tav>
                                        <p:tav tm="100000">
                                          <p:val>
                                            <p:strVal val="#ppt_x"/>
                                          </p:val>
                                        </p:tav>
                                      </p:tavLst>
                                    </p:anim>
                                    <p:anim calcmode="lin" valueType="num">
                                      <p:cBhvr additive="base">
                                        <p:cTn id="13" dur="1000" fill="hold"/>
                                        <p:tgtEl>
                                          <p:spTgt spid="15366">
                                            <p:txEl>
                                              <p:pRg st="0" end="0"/>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31" presetClass="entr" presetSubtype="0" fill="hold" grpId="0" nodeType="afterEffect">
                                  <p:stCondLst>
                                    <p:cond delay="0"/>
                                  </p:stCondLst>
                                  <p:iterate type="lt">
                                    <p:tmPct val="5000"/>
                                  </p:iterate>
                                  <p:childTnLst>
                                    <p:set>
                                      <p:cBhvr>
                                        <p:cTn id="16" dur="1" fill="hold">
                                          <p:stCondLst>
                                            <p:cond delay="0"/>
                                          </p:stCondLst>
                                        </p:cTn>
                                        <p:tgtEl>
                                          <p:spTgt spid="15367"/>
                                        </p:tgtEl>
                                        <p:attrNameLst>
                                          <p:attrName>style.visibility</p:attrName>
                                        </p:attrNameLst>
                                      </p:cBhvr>
                                      <p:to>
                                        <p:strVal val="visible"/>
                                      </p:to>
                                    </p:set>
                                    <p:anim calcmode="lin" valueType="num">
                                      <p:cBhvr>
                                        <p:cTn id="17" dur="1000" fill="hold"/>
                                        <p:tgtEl>
                                          <p:spTgt spid="15367"/>
                                        </p:tgtEl>
                                        <p:attrNameLst>
                                          <p:attrName>ppt_w</p:attrName>
                                        </p:attrNameLst>
                                      </p:cBhvr>
                                      <p:tavLst>
                                        <p:tav tm="0">
                                          <p:val>
                                            <p:fltVal val="0"/>
                                          </p:val>
                                        </p:tav>
                                        <p:tav tm="100000">
                                          <p:val>
                                            <p:strVal val="#ppt_w"/>
                                          </p:val>
                                        </p:tav>
                                      </p:tavLst>
                                    </p:anim>
                                    <p:anim calcmode="lin" valueType="num">
                                      <p:cBhvr>
                                        <p:cTn id="18" dur="1000" fill="hold"/>
                                        <p:tgtEl>
                                          <p:spTgt spid="15367"/>
                                        </p:tgtEl>
                                        <p:attrNameLst>
                                          <p:attrName>ppt_h</p:attrName>
                                        </p:attrNameLst>
                                      </p:cBhvr>
                                      <p:tavLst>
                                        <p:tav tm="0">
                                          <p:val>
                                            <p:fltVal val="0"/>
                                          </p:val>
                                        </p:tav>
                                        <p:tav tm="100000">
                                          <p:val>
                                            <p:strVal val="#ppt_h"/>
                                          </p:val>
                                        </p:tav>
                                      </p:tavLst>
                                    </p:anim>
                                    <p:anim calcmode="lin" valueType="num">
                                      <p:cBhvr>
                                        <p:cTn id="19" dur="1000" fill="hold"/>
                                        <p:tgtEl>
                                          <p:spTgt spid="15367"/>
                                        </p:tgtEl>
                                        <p:attrNameLst>
                                          <p:attrName>style.rotation</p:attrName>
                                        </p:attrNameLst>
                                      </p:cBhvr>
                                      <p:tavLst>
                                        <p:tav tm="0">
                                          <p:val>
                                            <p:fltVal val="90"/>
                                          </p:val>
                                        </p:tav>
                                        <p:tav tm="100000">
                                          <p:val>
                                            <p:fltVal val="0"/>
                                          </p:val>
                                        </p:tav>
                                      </p:tavLst>
                                    </p:anim>
                                    <p:animEffect transition="in" filter="fade">
                                      <p:cBhvr>
                                        <p:cTn id="20" dur="1000"/>
                                        <p:tgtEl>
                                          <p:spTgt spid="15367"/>
                                        </p:tgtEl>
                                      </p:cBhvr>
                                    </p:animEffect>
                                  </p:childTnLst>
                                </p:cTn>
                              </p:par>
                            </p:childTnLst>
                          </p:cTn>
                        </p:par>
                        <p:par>
                          <p:cTn id="21" fill="hold" nodeType="afterGroup">
                            <p:stCondLst>
                              <p:cond delay="2000"/>
                            </p:stCondLst>
                            <p:childTnLst>
                              <p:par>
                                <p:cTn id="22" presetID="18" presetClass="entr" presetSubtype="6" fill="hold" nodeType="afterEffect">
                                  <p:stCondLst>
                                    <p:cond delay="0"/>
                                  </p:stCondLst>
                                  <p:childTnLst>
                                    <p:set>
                                      <p:cBhvr>
                                        <p:cTn id="23" dur="1" fill="hold">
                                          <p:stCondLst>
                                            <p:cond delay="0"/>
                                          </p:stCondLst>
                                        </p:cTn>
                                        <p:tgtEl>
                                          <p:spTgt spid="15363"/>
                                        </p:tgtEl>
                                        <p:attrNameLst>
                                          <p:attrName>style.visibility</p:attrName>
                                        </p:attrNameLst>
                                      </p:cBhvr>
                                      <p:to>
                                        <p:strVal val="visible"/>
                                      </p:to>
                                    </p:set>
                                    <p:animEffect transition="in" filter="strips(downRight)">
                                      <p:cBhvr>
                                        <p:cTn id="24" dur="1000"/>
                                        <p:tgtEl>
                                          <p:spTgt spid="1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build="p"/>
      <p:bldP spid="1536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Rectangle 2"/>
          <p:cNvSpPr>
            <a:spLocks noGrp="1" noChangeArrowheads="1"/>
          </p:cNvSpPr>
          <p:nvPr>
            <p:ph type="title"/>
          </p:nvPr>
        </p:nvSpPr>
        <p:spPr/>
        <p:txBody>
          <a:bodyPr>
            <a:noAutofit/>
          </a:bodyPr>
          <a:lstStyle/>
          <a:p>
            <a:r>
              <a:rPr lang="vi-VN" sz="4800" smtClean="0"/>
              <a:t>Phân cực bằng phân áp</a:t>
            </a:r>
            <a:r>
              <a:rPr lang="en-US" sz="4800" smtClean="0"/>
              <a:t> (2)</a:t>
            </a:r>
            <a:r>
              <a:rPr lang="vi-VN" sz="4800" smtClean="0"/>
              <a:t/>
            </a:r>
            <a:br>
              <a:rPr lang="vi-VN" sz="4800" smtClean="0"/>
            </a:br>
            <a:r>
              <a:rPr lang="vi-VN" sz="3600" i="1" smtClean="0"/>
              <a:t>(xác định điểm công tác tĩnh)</a:t>
            </a:r>
            <a:endParaRPr lang="en-US" sz="1600" i="1" smtClean="0">
              <a:latin typeface=".VnTime" pitchFamily="34" charset="0"/>
            </a:endParaRPr>
          </a:p>
        </p:txBody>
      </p:sp>
      <p:sp>
        <p:nvSpPr>
          <p:cNvPr id="16391" name="Rectangle 3"/>
          <p:cNvSpPr>
            <a:spLocks noGrp="1" noChangeArrowheads="1"/>
          </p:cNvSpPr>
          <p:nvPr>
            <p:ph type="body" idx="1"/>
          </p:nvPr>
        </p:nvSpPr>
        <p:spPr>
          <a:xfrm>
            <a:off x="380999" y="1600200"/>
            <a:ext cx="8610601" cy="4525963"/>
          </a:xfrm>
        </p:spPr>
        <p:txBody>
          <a:bodyPr>
            <a:normAutofit lnSpcReduction="10000"/>
          </a:bodyPr>
          <a:lstStyle/>
          <a:p>
            <a:r>
              <a:rPr lang="vi-VN" altLang="ja-JP" sz="2400" smtClean="0"/>
              <a:t>Thay sơ</a:t>
            </a:r>
            <a:r>
              <a:rPr lang="ja-JP" altLang="en-US" sz="2400" smtClean="0">
                <a:ea typeface="MS PGothic" pitchFamily="34" charset="-128"/>
              </a:rPr>
              <a:t> </a:t>
            </a:r>
            <a:r>
              <a:rPr lang="vi-VN" altLang="ja-JP" sz="2400" smtClean="0"/>
              <a:t>đồ</a:t>
            </a:r>
            <a:r>
              <a:rPr lang="ja-JP" altLang="en-US" sz="2400" smtClean="0">
                <a:ea typeface="MS PGothic" pitchFamily="34" charset="-128"/>
              </a:rPr>
              <a:t> </a:t>
            </a:r>
            <a:r>
              <a:rPr lang="vi-VN" altLang="ja-JP" sz="2400" smtClean="0"/>
              <a:t>mạch trên bằng sơ</a:t>
            </a:r>
            <a:r>
              <a:rPr lang="ja-JP" altLang="en-US" sz="2400" smtClean="0">
                <a:ea typeface="MS PGothic" pitchFamily="34" charset="-128"/>
              </a:rPr>
              <a:t> </a:t>
            </a:r>
            <a:r>
              <a:rPr lang="vi-VN" altLang="ja-JP" sz="2400" smtClean="0"/>
              <a:t>đồ</a:t>
            </a:r>
            <a:r>
              <a:rPr lang="ja-JP" altLang="en-US" sz="2400" smtClean="0">
                <a:ea typeface="MS PGothic" pitchFamily="34" charset="-128"/>
              </a:rPr>
              <a:t> </a:t>
            </a:r>
            <a:r>
              <a:rPr lang="vi-VN" altLang="ja-JP" sz="2400" smtClean="0"/>
              <a:t>tương đương Thevenin với các giá trị</a:t>
            </a:r>
            <a:r>
              <a:rPr lang="ja-JP" altLang="en-US" sz="2400" smtClean="0">
                <a:ea typeface="MS PGothic" pitchFamily="34" charset="-128"/>
              </a:rPr>
              <a:t> </a:t>
            </a:r>
            <a:r>
              <a:rPr lang="vi-VN" altLang="ja-JP" sz="2400" smtClean="0"/>
              <a:t>tương đương như</a:t>
            </a:r>
            <a:r>
              <a:rPr lang="ja-JP" altLang="en-US" sz="2400" smtClean="0">
                <a:ea typeface="MS PGothic" pitchFamily="34" charset="-128"/>
              </a:rPr>
              <a:t> </a:t>
            </a:r>
            <a:r>
              <a:rPr lang="en-US" altLang="ja-JP" sz="2400" smtClean="0">
                <a:ea typeface="MS PGothic" pitchFamily="34" charset="-128"/>
              </a:rPr>
              <a:t>sau:</a:t>
            </a:r>
          </a:p>
          <a:p>
            <a:endParaRPr lang="ja-JP" altLang="en-US" sz="2400" smtClean="0">
              <a:ea typeface="MS PGothic" pitchFamily="34" charset="-128"/>
            </a:endParaRPr>
          </a:p>
          <a:p>
            <a:endParaRPr lang="ja-JP" altLang="en-US" sz="2400" smtClean="0">
              <a:ea typeface="MS PGothic" pitchFamily="34" charset="-128"/>
            </a:endParaRPr>
          </a:p>
          <a:p>
            <a:r>
              <a:rPr lang="vi-VN" altLang="ja-JP" sz="2400" smtClean="0"/>
              <a:t>phương trình Kirchhoff  điện áp vào như</a:t>
            </a:r>
            <a:r>
              <a:rPr lang="ja-JP" altLang="en-US" sz="2400" smtClean="0">
                <a:ea typeface="MS PGothic" pitchFamily="34" charset="-128"/>
              </a:rPr>
              <a:t> </a:t>
            </a:r>
            <a:r>
              <a:rPr lang="en-US" altLang="ja-JP" sz="2400" smtClean="0">
                <a:ea typeface="MS PGothic" pitchFamily="34" charset="-128"/>
              </a:rPr>
              <a:t>sau:</a:t>
            </a:r>
            <a:endParaRPr lang="ja-JP" altLang="en-US" sz="2400" smtClean="0">
              <a:ea typeface="MS PGothic" pitchFamily="34" charset="-128"/>
            </a:endParaRPr>
          </a:p>
          <a:p>
            <a:endParaRPr lang="ja-JP" altLang="en-US" sz="2400" smtClean="0">
              <a:ea typeface="MS PGothic" pitchFamily="34" charset="-128"/>
            </a:endParaRPr>
          </a:p>
          <a:p>
            <a:r>
              <a:rPr lang="vi-VN" altLang="ja-JP" sz="2400" smtClean="0"/>
              <a:t>Phương trình đường tải tĩnh như</a:t>
            </a:r>
            <a:r>
              <a:rPr lang="ja-JP" altLang="en-US" sz="2400" smtClean="0">
                <a:ea typeface="MS PGothic" pitchFamily="34" charset="-128"/>
              </a:rPr>
              <a:t> </a:t>
            </a:r>
            <a:r>
              <a:rPr lang="en-US" altLang="ja-JP" sz="2400" smtClean="0">
                <a:ea typeface="MS PGothic" pitchFamily="34" charset="-128"/>
              </a:rPr>
              <a:t>sau:</a:t>
            </a:r>
          </a:p>
          <a:p>
            <a:pPr marL="0" indent="0">
              <a:buNone/>
            </a:pPr>
            <a:endParaRPr lang="ja-JP" altLang="en-US" sz="2400" smtClean="0">
              <a:ea typeface="MS PGothic" pitchFamily="34" charset="-128"/>
            </a:endParaRPr>
          </a:p>
          <a:p>
            <a:endParaRPr lang="ja-JP" altLang="en-US" sz="2400" smtClean="0">
              <a:ea typeface="MS PGothic" pitchFamily="34" charset="-128"/>
            </a:endParaRPr>
          </a:p>
          <a:p>
            <a:r>
              <a:rPr lang="en-US" altLang="ja-JP" sz="2400" smtClean="0">
                <a:ea typeface="MS PGothic" pitchFamily="34" charset="-128"/>
              </a:rPr>
              <a:t>Từ</a:t>
            </a:r>
            <a:r>
              <a:rPr lang="ja-JP" altLang="en-US" sz="2400" smtClean="0">
                <a:ea typeface="MS PGothic" pitchFamily="34" charset="-128"/>
              </a:rPr>
              <a:t> </a:t>
            </a:r>
            <a:r>
              <a:rPr lang="vi-VN" altLang="ja-JP" sz="2400" smtClean="0"/>
              <a:t>2 phương trình này xác định được Q tương tự</a:t>
            </a:r>
            <a:r>
              <a:rPr lang="ja-JP" altLang="en-US" sz="2400" smtClean="0">
                <a:ea typeface="MS PGothic" pitchFamily="34" charset="-128"/>
              </a:rPr>
              <a:t> </a:t>
            </a:r>
            <a:r>
              <a:rPr lang="vi-VN" altLang="ja-JP" sz="2400" smtClean="0"/>
              <a:t>như</a:t>
            </a:r>
            <a:r>
              <a:rPr lang="ja-JP" altLang="en-US" sz="2400" smtClean="0">
                <a:ea typeface="MS PGothic" pitchFamily="34" charset="-128"/>
              </a:rPr>
              <a:t> </a:t>
            </a:r>
            <a:r>
              <a:rPr lang="vi-VN" altLang="ja-JP" sz="2400" smtClean="0"/>
              <a:t>2 </a:t>
            </a:r>
            <a:r>
              <a:rPr lang="en-US" altLang="ja-JP" sz="2400" smtClean="0">
                <a:ea typeface="MS PGothic" pitchFamily="34" charset="-128"/>
              </a:rPr>
              <a:t>sơ đồ </a:t>
            </a:r>
            <a:r>
              <a:rPr lang="vi-VN" altLang="ja-JP" sz="2400" smtClean="0"/>
              <a:t>trên</a:t>
            </a:r>
          </a:p>
        </p:txBody>
      </p:sp>
      <p:sp>
        <p:nvSpPr>
          <p:cNvPr id="1639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graphicFrame>
        <p:nvGraphicFramePr>
          <p:cNvPr id="16386" name="Object 4"/>
          <p:cNvGraphicFramePr>
            <a:graphicFrameLocks noChangeAspect="1"/>
          </p:cNvGraphicFramePr>
          <p:nvPr/>
        </p:nvGraphicFramePr>
        <p:xfrm>
          <a:off x="381000" y="2438400"/>
          <a:ext cx="3948113" cy="762000"/>
        </p:xfrm>
        <a:graphic>
          <a:graphicData uri="http://schemas.openxmlformats.org/presentationml/2006/ole">
            <mc:AlternateContent xmlns:mc="http://schemas.openxmlformats.org/markup-compatibility/2006">
              <mc:Choice xmlns:v="urn:schemas-microsoft-com:vml" Requires="v">
                <p:oleObj spid="_x0000_s31922" name="Equation" r:id="rId3" imgW="2273300" imgH="431800" progId="Equation.DSMT4">
                  <p:embed/>
                </p:oleObj>
              </mc:Choice>
              <mc:Fallback>
                <p:oleObj name="Equation" r:id="rId3" imgW="22733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438400"/>
                        <a:ext cx="3948113"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3" name="Rectangle 7"/>
          <p:cNvSpPr>
            <a:spLocks noChangeArrowheads="1"/>
          </p:cNvSpPr>
          <p:nvPr/>
        </p:nvSpPr>
        <p:spPr bwMode="auto">
          <a:xfrm>
            <a:off x="0" y="3209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graphicFrame>
        <p:nvGraphicFramePr>
          <p:cNvPr id="16387" name="Object 6"/>
          <p:cNvGraphicFramePr>
            <a:graphicFrameLocks noChangeAspect="1"/>
          </p:cNvGraphicFramePr>
          <p:nvPr/>
        </p:nvGraphicFramePr>
        <p:xfrm>
          <a:off x="4876800" y="2438400"/>
          <a:ext cx="4146550" cy="685800"/>
        </p:xfrm>
        <a:graphic>
          <a:graphicData uri="http://schemas.openxmlformats.org/presentationml/2006/ole">
            <mc:AlternateContent xmlns:mc="http://schemas.openxmlformats.org/markup-compatibility/2006">
              <mc:Choice xmlns:v="urn:schemas-microsoft-com:vml" Requires="v">
                <p:oleObj spid="_x0000_s31923" name="Equation" r:id="rId5" imgW="2654300" imgH="431800" progId="Equation.DSMT4">
                  <p:embed/>
                </p:oleObj>
              </mc:Choice>
              <mc:Fallback>
                <p:oleObj name="Equation" r:id="rId5" imgW="2654300" imgH="431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2438400"/>
                        <a:ext cx="414655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4"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graphicFrame>
        <p:nvGraphicFramePr>
          <p:cNvPr id="16388" name="Object 8"/>
          <p:cNvGraphicFramePr>
            <a:graphicFrameLocks noChangeAspect="1"/>
          </p:cNvGraphicFramePr>
          <p:nvPr>
            <p:extLst>
              <p:ext uri="{D42A27DB-BD31-4B8C-83A1-F6EECF244321}">
                <p14:modId xmlns:p14="http://schemas.microsoft.com/office/powerpoint/2010/main" val="3166335507"/>
              </p:ext>
            </p:extLst>
          </p:nvPr>
        </p:nvGraphicFramePr>
        <p:xfrm>
          <a:off x="2743200" y="3505200"/>
          <a:ext cx="4191000" cy="484188"/>
        </p:xfrm>
        <a:graphic>
          <a:graphicData uri="http://schemas.openxmlformats.org/presentationml/2006/ole">
            <mc:AlternateContent xmlns:mc="http://schemas.openxmlformats.org/markup-compatibility/2006">
              <mc:Choice xmlns:v="urn:schemas-microsoft-com:vml" Requires="v">
                <p:oleObj spid="_x0000_s31924" name="Equation" r:id="rId7" imgW="1993900" imgH="228600" progId="Equation.DSMT4">
                  <p:embed/>
                </p:oleObj>
              </mc:Choice>
              <mc:Fallback>
                <p:oleObj name="Equation" r:id="rId7" imgW="199390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3505200"/>
                        <a:ext cx="4191000"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5"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graphicFrame>
        <p:nvGraphicFramePr>
          <p:cNvPr id="16389" name="Object 10"/>
          <p:cNvGraphicFramePr>
            <a:graphicFrameLocks noChangeAspect="1"/>
          </p:cNvGraphicFramePr>
          <p:nvPr>
            <p:extLst>
              <p:ext uri="{D42A27DB-BD31-4B8C-83A1-F6EECF244321}">
                <p14:modId xmlns:p14="http://schemas.microsoft.com/office/powerpoint/2010/main" val="2636016799"/>
              </p:ext>
            </p:extLst>
          </p:nvPr>
        </p:nvGraphicFramePr>
        <p:xfrm>
          <a:off x="2691606" y="4419600"/>
          <a:ext cx="3760788" cy="523875"/>
        </p:xfrm>
        <a:graphic>
          <a:graphicData uri="http://schemas.openxmlformats.org/presentationml/2006/ole">
            <mc:AlternateContent xmlns:mc="http://schemas.openxmlformats.org/markup-compatibility/2006">
              <mc:Choice xmlns:v="urn:schemas-microsoft-com:vml" Requires="v">
                <p:oleObj spid="_x0000_s31925" name="Equation" r:id="rId9" imgW="1625600" imgH="228600" progId="Equation.DSMT4">
                  <p:embed/>
                </p:oleObj>
              </mc:Choice>
              <mc:Fallback>
                <p:oleObj name="Equation" r:id="rId9" imgW="1625600" imgH="228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91606" y="4419600"/>
                        <a:ext cx="3760788"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6" name="Slide Number Placeholder 1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9DB617C-2DA0-48F9-B043-302673BE2E97}" type="slidenum">
              <a:rPr lang="en-US" smtClean="0"/>
              <a:pPr eaLnBrk="1" hangingPunct="1"/>
              <a:t>37</a:t>
            </a:fld>
            <a:endParaRPr lang="en-US" smtClean="0"/>
          </a:p>
        </p:txBody>
      </p:sp>
    </p:spTree>
    <p:extLst>
      <p:ext uri="{BB962C8B-B14F-4D97-AF65-F5344CB8AC3E}">
        <p14:creationId xmlns:p14="http://schemas.microsoft.com/office/powerpoint/2010/main" val="16921431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a:xfrm>
            <a:off x="457200" y="274638"/>
            <a:ext cx="8229600" cy="715962"/>
          </a:xfrm>
        </p:spPr>
        <p:txBody>
          <a:bodyPr>
            <a:noAutofit/>
          </a:bodyPr>
          <a:lstStyle/>
          <a:p>
            <a:pPr>
              <a:defRPr/>
            </a:pPr>
            <a:r>
              <a:rPr lang="en-US" smtClean="0">
                <a:solidFill>
                  <a:srgbClr val="FF0000"/>
                </a:solidFill>
              </a:rPr>
              <a:t>Bài tập</a:t>
            </a:r>
          </a:p>
        </p:txBody>
      </p:sp>
      <p:sp>
        <p:nvSpPr>
          <p:cNvPr id="67587" name="Rectangle 7"/>
          <p:cNvSpPr>
            <a:spLocks noGrp="1" noChangeArrowheads="1"/>
          </p:cNvSpPr>
          <p:nvPr>
            <p:ph type="body" sz="half" idx="4294967295"/>
          </p:nvPr>
        </p:nvSpPr>
        <p:spPr>
          <a:xfrm>
            <a:off x="457200" y="1143000"/>
            <a:ext cx="8534400" cy="4525963"/>
          </a:xfrm>
          <a:prstGeom prst="rect">
            <a:avLst/>
          </a:prstGeom>
        </p:spPr>
        <p:txBody>
          <a:bodyPr>
            <a:normAutofit/>
          </a:bodyPr>
          <a:lstStyle/>
          <a:p>
            <a:r>
              <a:rPr lang="vi-VN" smtClean="0"/>
              <a:t>Cho sơ đồ mạch sau</a:t>
            </a:r>
            <a:r>
              <a:rPr lang="en-US" smtClean="0"/>
              <a:t> và họ đặc tuyến ra như hình dưới đây</a:t>
            </a:r>
            <a:endParaRPr lang="vi-VN" smtClean="0"/>
          </a:p>
        </p:txBody>
      </p:sp>
      <p:sp>
        <p:nvSpPr>
          <p:cNvPr id="13318" name="Rectangle 8"/>
          <p:cNvSpPr>
            <a:spLocks noGrp="1" noChangeArrowheads="1"/>
          </p:cNvSpPr>
          <p:nvPr>
            <p:ph type="body" sz="half" idx="4294967295"/>
          </p:nvPr>
        </p:nvSpPr>
        <p:spPr>
          <a:xfrm>
            <a:off x="5257800" y="2057400"/>
            <a:ext cx="3657600" cy="3124200"/>
          </a:xfrm>
          <a:prstGeom prst="rect">
            <a:avLst/>
          </a:prstGeom>
        </p:spPr>
        <p:txBody>
          <a:bodyPr/>
          <a:lstStyle/>
          <a:p>
            <a:r>
              <a:rPr lang="vi-VN" sz="2400" smtClean="0"/>
              <a:t>X</a:t>
            </a:r>
            <a:r>
              <a:rPr lang="en-US" sz="2400" smtClean="0"/>
              <a:t>á</a:t>
            </a:r>
            <a:r>
              <a:rPr lang="vi-VN" sz="2400" smtClean="0"/>
              <a:t>c định c</a:t>
            </a:r>
            <a:r>
              <a:rPr lang="en-US" sz="2400" smtClean="0"/>
              <a:t>á</a:t>
            </a:r>
            <a:r>
              <a:rPr lang="vi-VN" sz="2400" smtClean="0"/>
              <a:t>c thành phần d</a:t>
            </a:r>
            <a:r>
              <a:rPr lang="en-US" sz="2400" smtClean="0"/>
              <a:t>ò</a:t>
            </a:r>
            <a:r>
              <a:rPr lang="vi-VN" sz="2400" smtClean="0"/>
              <a:t>ng và </a:t>
            </a:r>
            <a:r>
              <a:rPr lang="en-US" sz="2400" smtClean="0"/>
              <a:t>á</a:t>
            </a:r>
            <a:r>
              <a:rPr lang="vi-VN" sz="2400" smtClean="0"/>
              <a:t>p tr</a:t>
            </a:r>
            <a:r>
              <a:rPr lang="en-US" sz="2400" smtClean="0"/>
              <a:t>ê</a:t>
            </a:r>
            <a:r>
              <a:rPr lang="vi-VN" sz="2400" smtClean="0"/>
              <a:t>n </a:t>
            </a:r>
            <a:r>
              <a:rPr lang="en-US" sz="2400" smtClean="0"/>
              <a:t>các cực của transistor</a:t>
            </a:r>
            <a:endParaRPr lang="vi-VN" sz="2400" smtClean="0"/>
          </a:p>
          <a:p>
            <a:r>
              <a:rPr lang="vi-VN" sz="2400" smtClean="0"/>
              <a:t>Xác định điểm công tác tĩnh Q</a:t>
            </a:r>
          </a:p>
          <a:p>
            <a:r>
              <a:rPr lang="vi-VN" sz="2400" smtClean="0"/>
              <a:t>Nhận xét về hoạt động của mạch</a:t>
            </a:r>
          </a:p>
        </p:txBody>
      </p:sp>
      <p:sp>
        <p:nvSpPr>
          <p:cNvPr id="67589" name="Rectangle 6"/>
          <p:cNvSpPr>
            <a:spLocks noChangeArrowheads="1"/>
          </p:cNvSpPr>
          <p:nvPr/>
        </p:nvSpPr>
        <p:spPr bwMode="auto">
          <a:xfrm>
            <a:off x="0" y="1695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67590" name="Slide Number Placeholder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2C8FFAE-75CF-45EA-B74B-B0074977BF7C}" type="slidenum">
              <a:rPr lang="en-US" smtClean="0"/>
              <a:pPr eaLnBrk="1" hangingPunct="1"/>
              <a:t>38</a:t>
            </a:fld>
            <a:endParaRPr lang="en-US" smtClean="0"/>
          </a:p>
        </p:txBody>
      </p:sp>
      <p:pic>
        <p:nvPicPr>
          <p:cNvPr id="67591" name="Picture 14" descr="amp31.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752600"/>
            <a:ext cx="4510088"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83262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3318">
                                            <p:txEl>
                                              <p:pRg st="0" end="0"/>
                                            </p:txEl>
                                          </p:spTgt>
                                        </p:tgtEl>
                                        <p:attrNameLst>
                                          <p:attrName>style.visibility</p:attrName>
                                        </p:attrNameLst>
                                      </p:cBhvr>
                                      <p:to>
                                        <p:strVal val="visible"/>
                                      </p:to>
                                    </p:set>
                                    <p:animEffect transition="in" filter="checkerboard(across)">
                                      <p:cBhvr>
                                        <p:cTn id="7" dur="1000"/>
                                        <p:tgtEl>
                                          <p:spTgt spid="13318">
                                            <p:txEl>
                                              <p:pRg st="0" end="0"/>
                                            </p:txEl>
                                          </p:spTgt>
                                        </p:tgtEl>
                                      </p:cBhvr>
                                    </p:animEffect>
                                  </p:childTnLst>
                                </p:cTn>
                              </p:par>
                            </p:childTnLst>
                          </p:cTn>
                        </p:par>
                        <p:par>
                          <p:cTn id="8" fill="hold" nodeType="afterGroup">
                            <p:stCondLst>
                              <p:cond delay="1000"/>
                            </p:stCondLst>
                            <p:childTnLst>
                              <p:par>
                                <p:cTn id="9" presetID="5" presetClass="entr" presetSubtype="10" fill="hold" grpId="0" nodeType="afterEffect">
                                  <p:stCondLst>
                                    <p:cond delay="0"/>
                                  </p:stCondLst>
                                  <p:childTnLst>
                                    <p:set>
                                      <p:cBhvr>
                                        <p:cTn id="10" dur="1" fill="hold">
                                          <p:stCondLst>
                                            <p:cond delay="0"/>
                                          </p:stCondLst>
                                        </p:cTn>
                                        <p:tgtEl>
                                          <p:spTgt spid="13318">
                                            <p:txEl>
                                              <p:pRg st="1" end="1"/>
                                            </p:txEl>
                                          </p:spTgt>
                                        </p:tgtEl>
                                        <p:attrNameLst>
                                          <p:attrName>style.visibility</p:attrName>
                                        </p:attrNameLst>
                                      </p:cBhvr>
                                      <p:to>
                                        <p:strVal val="visible"/>
                                      </p:to>
                                    </p:set>
                                    <p:animEffect transition="in" filter="checkerboard(across)">
                                      <p:cBhvr>
                                        <p:cTn id="11" dur="1000"/>
                                        <p:tgtEl>
                                          <p:spTgt spid="13318">
                                            <p:txEl>
                                              <p:pRg st="1" end="1"/>
                                            </p:txEl>
                                          </p:spTgt>
                                        </p:tgtEl>
                                      </p:cBhvr>
                                    </p:animEffect>
                                  </p:childTnLst>
                                </p:cTn>
                              </p:par>
                            </p:childTnLst>
                          </p:cTn>
                        </p:par>
                        <p:par>
                          <p:cTn id="12" fill="hold" nodeType="afterGroup">
                            <p:stCondLst>
                              <p:cond delay="2000"/>
                            </p:stCondLst>
                            <p:childTnLst>
                              <p:par>
                                <p:cTn id="13" presetID="5" presetClass="entr" presetSubtype="10" fill="hold" grpId="0" nodeType="afterEffect">
                                  <p:stCondLst>
                                    <p:cond delay="0"/>
                                  </p:stCondLst>
                                  <p:childTnLst>
                                    <p:set>
                                      <p:cBhvr>
                                        <p:cTn id="14" dur="1" fill="hold">
                                          <p:stCondLst>
                                            <p:cond delay="0"/>
                                          </p:stCondLst>
                                        </p:cTn>
                                        <p:tgtEl>
                                          <p:spTgt spid="13318">
                                            <p:txEl>
                                              <p:pRg st="2" end="2"/>
                                            </p:txEl>
                                          </p:spTgt>
                                        </p:tgtEl>
                                        <p:attrNameLst>
                                          <p:attrName>style.visibility</p:attrName>
                                        </p:attrNameLst>
                                      </p:cBhvr>
                                      <p:to>
                                        <p:strVal val="visible"/>
                                      </p:to>
                                    </p:set>
                                    <p:animEffect transition="in" filter="checkerboard(across)">
                                      <p:cBhvr>
                                        <p:cTn id="15" dur="1000"/>
                                        <p:tgtEl>
                                          <p:spTgt spid="133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nk">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2_Blank">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3.xml><?xml version="1.0" encoding="utf-8"?>
<a:theme xmlns:a="http://schemas.openxmlformats.org/drawingml/2006/main" name="1_Blank">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312</TotalTime>
  <Words>2297</Words>
  <Application>Microsoft Office PowerPoint</Application>
  <PresentationFormat>On-screen Show (4:3)</PresentationFormat>
  <Paragraphs>346</Paragraphs>
  <Slides>38</Slides>
  <Notes>2</Notes>
  <HiddenSlides>0</HiddenSlides>
  <MMClips>0</MMClips>
  <ScaleCrop>false</ScaleCrop>
  <HeadingPairs>
    <vt:vector size="6" baseType="variant">
      <vt:variant>
        <vt:lpstr>Theme</vt:lpstr>
      </vt:variant>
      <vt:variant>
        <vt:i4>3</vt:i4>
      </vt:variant>
      <vt:variant>
        <vt:lpstr>Embedded OLE Servers</vt:lpstr>
      </vt:variant>
      <vt:variant>
        <vt:i4>4</vt:i4>
      </vt:variant>
      <vt:variant>
        <vt:lpstr>Slide Titles</vt:lpstr>
      </vt:variant>
      <vt:variant>
        <vt:i4>38</vt:i4>
      </vt:variant>
    </vt:vector>
  </HeadingPairs>
  <TitlesOfParts>
    <vt:vector size="45" baseType="lpstr">
      <vt:lpstr>Blank</vt:lpstr>
      <vt:lpstr>2_Blank</vt:lpstr>
      <vt:lpstr>1_Blank</vt:lpstr>
      <vt:lpstr>Image</vt:lpstr>
      <vt:lpstr>Visio</vt:lpstr>
      <vt:lpstr>MathType 6.0 Equation</vt:lpstr>
      <vt:lpstr>Equation</vt:lpstr>
      <vt:lpstr>PowerPoint Presentation</vt:lpstr>
      <vt:lpstr>Transistor lưỡng cực (BJT)</vt:lpstr>
      <vt:lpstr>PowerPoint Presentation</vt:lpstr>
      <vt:lpstr>PowerPoint Presentation</vt:lpstr>
      <vt:lpstr>PowerPoint Presentation</vt:lpstr>
      <vt:lpstr>PowerPoint Presentation</vt:lpstr>
      <vt:lpstr>PowerPoint Presentation</vt:lpstr>
      <vt:lpstr>PowerPoint Presentation</vt:lpstr>
      <vt:lpstr>Nguyên tắc làm việc của Transistor</vt:lpstr>
      <vt:lpstr>PowerPoint Presentation</vt:lpstr>
      <vt:lpstr>Phân cực cho Transistor (NPN)</vt:lpstr>
      <vt:lpstr>Phân cực cho Transistor (NPN)</vt:lpstr>
      <vt:lpstr>Phân cực cho Transistor (NPN)</vt:lpstr>
      <vt:lpstr>Mối quan hệ giữa các dòng điện</vt:lpstr>
      <vt:lpstr>Mối quan hệ giữa các dòng điện</vt:lpstr>
      <vt:lpstr>Các mạch cơ bản dùng BJT</vt:lpstr>
      <vt:lpstr>Các mạch cơ bản dùng BJT</vt:lpstr>
      <vt:lpstr>Mạch Emitter chung (CE)</vt:lpstr>
      <vt:lpstr>Họ đặc tuyến vào/ra mạch CE</vt:lpstr>
      <vt:lpstr>Mạch Base chung (CB)</vt:lpstr>
      <vt:lpstr>Họ đặc tuyến vào/ra mạch CB</vt:lpstr>
      <vt:lpstr>Mạch Collector chung (CC)</vt:lpstr>
      <vt:lpstr>PHÂN CỰC CHO BJT</vt:lpstr>
      <vt:lpstr>Nguyên tắc chung</vt:lpstr>
      <vt:lpstr>Nguyên tắc chung</vt:lpstr>
      <vt:lpstr>Đường tải tĩnh và điểm công tác tĩnh</vt:lpstr>
      <vt:lpstr>Chọn điểm công tác tĩnh</vt:lpstr>
      <vt:lpstr>Ổn định điểm công tác tĩnh</vt:lpstr>
      <vt:lpstr>Sơ đồ phân cực cố định (1) </vt:lpstr>
      <vt:lpstr>Sơ đồ phân cực cố định (2)  (xác định điểm công tác tĩnh Q)</vt:lpstr>
      <vt:lpstr>Sơ đồ phân cực cố định (3) Đường tải tĩnh và điểm công tác tĩnh </vt:lpstr>
      <vt:lpstr>Sơ đồ phân cực cố định (4) Độ ổn định nhiệt </vt:lpstr>
      <vt:lpstr>Bài tập</vt:lpstr>
      <vt:lpstr>Sơ đồ hồi tiếp âm điện áp (1)</vt:lpstr>
      <vt:lpstr>Sơ đồ hồi tiếp âm điện áp (2)</vt:lpstr>
      <vt:lpstr>Phân cực bằng phân áp (1)</vt:lpstr>
      <vt:lpstr>Phân cực bằng phân áp (2) (xác định điểm công tác tĩnh)</vt:lpstr>
      <vt:lpstr>Bài tập</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Linh kiện bán dẫn</dc:title>
  <dc:creator>AutoBVT</dc:creator>
  <cp:lastModifiedBy>Nguyen Thuy Binh</cp:lastModifiedBy>
  <cp:revision>16</cp:revision>
  <dcterms:created xsi:type="dcterms:W3CDTF">2014-12-17T19:23:14Z</dcterms:created>
  <dcterms:modified xsi:type="dcterms:W3CDTF">2019-01-02T08:09:39Z</dcterms:modified>
</cp:coreProperties>
</file>