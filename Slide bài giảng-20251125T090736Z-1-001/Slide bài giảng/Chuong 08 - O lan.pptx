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9.bin"/>
  <Override ContentType="application/vnd.openxmlformats-officedocument.oleObject" PartName="/ppt/embeddings/oleObject32.bin"/>
  <Override ContentType="application/vnd.openxmlformats-officedocument.oleObject" PartName="/ppt/embeddings/oleObject15.bin"/>
  <Override ContentType="application/vnd.openxmlformats-officedocument.oleObject" PartName="/ppt/embeddings/oleObject40.bin"/>
  <Override ContentType="application/vnd.openxmlformats-officedocument.oleObject" PartName="/ppt/embeddings/oleObject41.bin"/>
  <Override ContentType="application/vnd.openxmlformats-officedocument.oleObject" PartName="/ppt/embeddings/oleObject8.bin"/>
  <Override ContentType="application/vnd.openxmlformats-officedocument.oleObject" PartName="/ppt/embeddings/oleObject33.bin"/>
  <Override ContentType="application/vnd.openxmlformats-officedocument.oleObject" PartName="/ppt/embeddings/oleObject24.bin"/>
  <Override ContentType="application/vnd.openxmlformats-officedocument.oleObject" PartName="/ppt/embeddings/oleObject25.bin"/>
  <Override ContentType="application/vnd.openxmlformats-officedocument.oleObject" PartName="/ppt/embeddings/oleObject17.bin"/>
  <Override ContentType="application/vnd.openxmlformats-officedocument.oleObject" PartName="/ppt/embeddings/oleObject42.bin"/>
  <Override ContentType="application/vnd.openxmlformats-officedocument.oleObject" PartName="/ppt/embeddings/oleObject7.bin"/>
  <Override ContentType="application/vnd.openxmlformats-officedocument.oleObject" PartName="/ppt/embeddings/oleObject16.bin"/>
  <Override ContentType="application/vnd.openxmlformats-officedocument.oleObject" PartName="/ppt/embeddings/oleObject34.bin"/>
  <Override ContentType="application/vnd.openxmlformats-officedocument.oleObject" PartName="/ppt/embeddings/oleObject18.bin"/>
  <Override ContentType="application/vnd.openxmlformats-officedocument.oleObject" PartName="/ppt/embeddings/oleObject1.bin"/>
  <Override ContentType="application/vnd.openxmlformats-officedocument.oleObject" PartName="/ppt/embeddings/oleObject48.bin"/>
  <Override ContentType="application/vnd.openxmlformats-officedocument.oleObject" PartName="/ppt/embeddings/oleObject35.bin"/>
  <Override ContentType="application/vnd.openxmlformats-officedocument.oleObject" PartName="/ppt/embeddings/oleObject22.bin"/>
  <Override ContentType="application/vnd.openxmlformats-officedocument.oleObject" PartName="/ppt/embeddings/oleObject19.bin"/>
  <Override ContentType="application/vnd.openxmlformats-officedocument.oleObject" PartName="/ppt/embeddings/oleObject49.bin"/>
  <Override ContentType="application/vnd.openxmlformats-officedocument.oleObject" PartName="/ppt/embeddings/oleObject10.bin"/>
  <Override ContentType="application/vnd.openxmlformats-officedocument.oleObject" PartName="/ppt/embeddings/oleObject23.bin"/>
  <Override ContentType="application/vnd.openxmlformats-officedocument.oleObject" PartName="/ppt/embeddings/oleObject36.bin"/>
  <Override ContentType="application/vnd.openxmlformats-officedocument.oleObject" PartName="/ppt/embeddings/oleObject37.bin"/>
  <Override ContentType="application/vnd.openxmlformats-officedocument.oleObject" PartName="/ppt/embeddings/oleObject45.bin"/>
  <Override ContentType="application/vnd.openxmlformats-officedocument.oleObject" PartName="/ppt/embeddings/oleObject29.bin"/>
  <Override ContentType="application/vnd.openxmlformats-officedocument.oleObject" PartName="/ppt/embeddings/oleObject4.bin"/>
  <Override ContentType="application/vnd.openxmlformats-officedocument.oleObject" PartName="/ppt/embeddings/oleObject28.bin"/>
  <Override ContentType="application/vnd.openxmlformats-officedocument.oleObject" PartName="/ppt/embeddings/oleObject11.bin"/>
  <Override ContentType="application/vnd.openxmlformats-officedocument.oleObject" PartName="/ppt/embeddings/oleObject46.bin"/>
  <Override ContentType="application/vnd.openxmlformats-officedocument.oleObject" PartName="/ppt/embeddings/oleObject20.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47.bin"/>
  <Override ContentType="application/vnd.openxmlformats-officedocument.oleObject" PartName="/ppt/embeddings/oleObject21.bin"/>
  <Override ContentType="application/vnd.openxmlformats-officedocument.oleObject" PartName="/ppt/embeddings/oleObject38.bin"/>
  <Override ContentType="application/vnd.openxmlformats-officedocument.oleObject" PartName="/ppt/embeddings/oleObject13.bin"/>
  <Override ContentType="application/vnd.openxmlformats-officedocument.oleObject" PartName="/ppt/embeddings/oleObject26.bin"/>
  <Override ContentType="application/vnd.openxmlformats-officedocument.oleObject" PartName="/ppt/embeddings/oleObject6.bin"/>
  <Override ContentType="application/vnd.openxmlformats-officedocument.oleObject" PartName="/ppt/embeddings/oleObject30.bin"/>
  <Override ContentType="application/vnd.openxmlformats-officedocument.oleObject" PartName="/ppt/embeddings/oleObject43.bin"/>
  <Override ContentType="application/vnd.openxmlformats-officedocument.oleObject" PartName="/ppt/embeddings/oleObject39.bin"/>
  <Override ContentType="application/vnd.openxmlformats-officedocument.oleObject" PartName="/ppt/embeddings/oleObject44.bin"/>
  <Override ContentType="application/vnd.openxmlformats-officedocument.oleObject" PartName="/ppt/embeddings/oleObject50.bin"/>
  <Override ContentType="application/vnd.openxmlformats-officedocument.oleObject" PartName="/ppt/embeddings/oleObject14.bin"/>
  <Override ContentType="application/vnd.openxmlformats-officedocument.oleObject" PartName="/ppt/embeddings/oleObject31.bin"/>
  <Override ContentType="application/vnd.openxmlformats-officedocument.oleObject" PartName="/ppt/embeddings/oleObject5.bin"/>
  <Override ContentType="application/vnd.openxmlformats-officedocument.oleObject" PartName="/ppt/embeddings/oleObject27.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6858000" cx="9144000"/>
  <p:notesSz cx="6858000" cy="9144000"/>
  <p:embeddedFontLst>
    <p:embeddedFont>
      <p:font typeface="Quattrocento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9" roundtripDataSignature="AMtx7mioZB+ze7SKOws3+YFEc+F7eis1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QuattrocentoSans-bold.fntdata"/><Relationship Id="rId45"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QuattrocentoSans-boldItalic.fntdata"/><Relationship Id="rId47" Type="http://schemas.openxmlformats.org/officeDocument/2006/relationships/font" Target="fonts/QuattrocentoSans-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7.png"/><Relationship Id="rId3" Type="http://schemas.openxmlformats.org/officeDocument/2006/relationships/image" Target="../media/image3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9.png"/><Relationship Id="rId3" Type="http://schemas.openxmlformats.org/officeDocument/2006/relationships/image" Target="../media/image31.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2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21.png"/><Relationship Id="rId3" Type="http://schemas.openxmlformats.org/officeDocument/2006/relationships/image" Target="../media/image10.png"/><Relationship Id="rId4" Type="http://schemas.openxmlformats.org/officeDocument/2006/relationships/image" Target="../media/image41.png"/><Relationship Id="rId5" Type="http://schemas.openxmlformats.org/officeDocument/2006/relationships/image" Target="../media/image1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0.png"/><Relationship Id="rId3" Type="http://schemas.openxmlformats.org/officeDocument/2006/relationships/image" Target="../media/image63.png"/><Relationship Id="rId4" Type="http://schemas.openxmlformats.org/officeDocument/2006/relationships/image" Target="../media/image6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image" Target="../media/image32.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7.png"/><Relationship Id="rId3" Type="http://schemas.openxmlformats.org/officeDocument/2006/relationships/image" Target="../media/image46.png"/><Relationship Id="rId4" Type="http://schemas.openxmlformats.org/officeDocument/2006/relationships/image" Target="../media/image38.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40.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44.png"/><Relationship Id="rId3" Type="http://schemas.openxmlformats.org/officeDocument/2006/relationships/image" Target="../media/image47.png"/><Relationship Id="rId4" Type="http://schemas.openxmlformats.org/officeDocument/2006/relationships/image" Target="../media/image42.png"/><Relationship Id="rId5" Type="http://schemas.openxmlformats.org/officeDocument/2006/relationships/image" Target="../media/image4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9.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52.png"/><Relationship Id="rId3" Type="http://schemas.openxmlformats.org/officeDocument/2006/relationships/image" Target="../media/image57.png"/><Relationship Id="rId4" Type="http://schemas.openxmlformats.org/officeDocument/2006/relationships/image" Target="../media/image48.png"/><Relationship Id="rId5" Type="http://schemas.openxmlformats.org/officeDocument/2006/relationships/image" Target="../media/image55.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68.png"/><Relationship Id="rId3" Type="http://schemas.openxmlformats.org/officeDocument/2006/relationships/image" Target="../media/image54.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0.png"/><Relationship Id="rId2" Type="http://schemas.openxmlformats.org/officeDocument/2006/relationships/image" Target="../media/image6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 name="Google Shape;104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23" name="Shape 2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showMasterSp="0">
  <p:cSld name="Table of Contents">
    <p:bg>
      <p:bgPr>
        <a:solidFill>
          <a:srgbClr val="16A085"/>
        </a:solidFill>
      </p:bgPr>
    </p:bg>
    <p:spTree>
      <p:nvGrpSpPr>
        <p:cNvPr id="24" name="Shape 24"/>
        <p:cNvGrpSpPr/>
        <p:nvPr/>
      </p:nvGrpSpPr>
      <p:grpSpPr>
        <a:xfrm>
          <a:off x="0" y="0"/>
          <a:ext cx="0" cy="0"/>
          <a:chOff x="0" y="0"/>
          <a:chExt cx="0" cy="0"/>
        </a:xfrm>
      </p:grpSpPr>
      <p:cxnSp>
        <p:nvCxnSpPr>
          <p:cNvPr id="25" name="Google Shape;25;p42"/>
          <p:cNvCxnSpPr/>
          <p:nvPr/>
        </p:nvCxnSpPr>
        <p:spPr>
          <a:xfrm>
            <a:off x="1066797" y="685800"/>
            <a:ext cx="7696203" cy="0"/>
          </a:xfrm>
          <a:prstGeom prst="straightConnector1">
            <a:avLst/>
          </a:prstGeom>
          <a:noFill/>
          <a:ln cap="flat" cmpd="sng" w="9525">
            <a:solidFill>
              <a:srgbClr val="D8D8D8"/>
            </a:solidFill>
            <a:prstDash val="solid"/>
            <a:round/>
            <a:headEnd len="sm" w="sm" type="none"/>
            <a:tailEnd len="sm" w="sm" type="none"/>
          </a:ln>
        </p:spPr>
      </p:cxnSp>
      <p:sp>
        <p:nvSpPr>
          <p:cNvPr id="26" name="Google Shape;26;p42"/>
          <p:cNvSpPr txBox="1"/>
          <p:nvPr>
            <p:ph type="title"/>
          </p:nvPr>
        </p:nvSpPr>
        <p:spPr>
          <a:xfrm>
            <a:off x="990600" y="76200"/>
            <a:ext cx="8153400" cy="533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3200"/>
              <a:buFont typeface="Quattrocento Sans"/>
              <a:buNone/>
              <a:defRPr sz="32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0" name="Shape 30"/>
        <p:cNvGrpSpPr/>
        <p:nvPr/>
      </p:nvGrpSpPr>
      <p:grpSpPr>
        <a:xfrm>
          <a:off x="0" y="0"/>
          <a:ext cx="0" cy="0"/>
          <a:chOff x="0" y="0"/>
          <a:chExt cx="0" cy="0"/>
        </a:xfrm>
      </p:grpSpPr>
      <p:sp>
        <p:nvSpPr>
          <p:cNvPr id="31" name="Google Shape;3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4" name="Google Shape;34;p43"/>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sp>
        <p:nvSpPr>
          <p:cNvPr id="35" name="Google Shape;35;p43"/>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lvl1pPr indent="-393700" lvl="0" marL="457200" algn="l">
              <a:lnSpc>
                <a:spcPct val="120000"/>
              </a:lnSpc>
              <a:spcBef>
                <a:spcPts val="600"/>
              </a:spcBef>
              <a:spcAft>
                <a:spcPts val="0"/>
              </a:spcAft>
              <a:buSzPts val="2600"/>
              <a:buChar char="⮚"/>
              <a:defRPr>
                <a:solidFill>
                  <a:srgbClr val="34495E"/>
                </a:solidFill>
                <a:latin typeface="Quattrocento Sans"/>
                <a:ea typeface="Quattrocento Sans"/>
                <a:cs typeface="Quattrocento Sans"/>
                <a:sym typeface="Quattrocento Sans"/>
              </a:defRPr>
            </a:lvl1pPr>
            <a:lvl2pPr indent="-381000" lvl="1" marL="914400" algn="l">
              <a:lnSpc>
                <a:spcPct val="120000"/>
              </a:lnSpc>
              <a:spcBef>
                <a:spcPts val="600"/>
              </a:spcBef>
              <a:spcAft>
                <a:spcPts val="0"/>
              </a:spcAft>
              <a:buClr>
                <a:srgbClr val="009999"/>
              </a:buClr>
              <a:buSzPts val="2400"/>
              <a:buChar char="▪"/>
              <a:defRPr>
                <a:solidFill>
                  <a:srgbClr val="34495E"/>
                </a:solidFill>
                <a:latin typeface="Quattrocento Sans"/>
                <a:ea typeface="Quattrocento Sans"/>
                <a:cs typeface="Quattrocento Sans"/>
                <a:sym typeface="Quattrocento Sans"/>
              </a:defRPr>
            </a:lvl2pPr>
            <a:lvl3pPr indent="-368300" lvl="2" marL="1371600" algn="l">
              <a:lnSpc>
                <a:spcPct val="120000"/>
              </a:lnSpc>
              <a:spcBef>
                <a:spcPts val="600"/>
              </a:spcBef>
              <a:spcAft>
                <a:spcPts val="0"/>
              </a:spcAft>
              <a:buClr>
                <a:srgbClr val="34495E"/>
              </a:buClr>
              <a:buSzPts val="2200"/>
              <a:buChar char="•"/>
              <a:defRPr>
                <a:solidFill>
                  <a:srgbClr val="34495E"/>
                </a:solidFill>
                <a:latin typeface="Quattrocento Sans"/>
                <a:ea typeface="Quattrocento Sans"/>
                <a:cs typeface="Quattrocento Sans"/>
                <a:sym typeface="Quattrocento Sans"/>
              </a:defRPr>
            </a:lvl3pPr>
            <a:lvl4pPr indent="-368300" lvl="3" marL="1828800" algn="l">
              <a:lnSpc>
                <a:spcPct val="120000"/>
              </a:lnSpc>
              <a:spcBef>
                <a:spcPts val="600"/>
              </a:spcBef>
              <a:spcAft>
                <a:spcPts val="0"/>
              </a:spcAft>
              <a:buClr>
                <a:srgbClr val="34495E"/>
              </a:buClr>
              <a:buSzPts val="2200"/>
              <a:buChar char="–"/>
              <a:defRPr>
                <a:solidFill>
                  <a:srgbClr val="34495E"/>
                </a:solidFill>
                <a:latin typeface="Quattrocento Sans"/>
                <a:ea typeface="Quattrocento Sans"/>
                <a:cs typeface="Quattrocento Sans"/>
                <a:sym typeface="Quattrocento Sans"/>
              </a:defRPr>
            </a:lvl4pPr>
            <a:lvl5pPr indent="-368300" lvl="4" marL="2286000" algn="l">
              <a:lnSpc>
                <a:spcPct val="120000"/>
              </a:lnSpc>
              <a:spcBef>
                <a:spcPts val="600"/>
              </a:spcBef>
              <a:spcAft>
                <a:spcPts val="0"/>
              </a:spcAft>
              <a:buClr>
                <a:srgbClr val="34495E"/>
              </a:buClr>
              <a:buSzPts val="2200"/>
              <a:buChar char="»"/>
              <a:defRPr>
                <a:solidFill>
                  <a:srgbClr val="34495E"/>
                </a:solidFill>
                <a:latin typeface="Quattrocento Sans"/>
                <a:ea typeface="Quattrocento Sans"/>
                <a:cs typeface="Quattrocento Sans"/>
                <a:sym typeface="Quattrocento Sans"/>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36" name="Google Shape;36;p43"/>
          <p:cNvCxnSpPr/>
          <p:nvPr/>
        </p:nvCxnSpPr>
        <p:spPr>
          <a:xfrm>
            <a:off x="1066797" y="533400"/>
            <a:ext cx="7620006" cy="0"/>
          </a:xfrm>
          <a:prstGeom prst="straightConnector1">
            <a:avLst/>
          </a:prstGeom>
          <a:noFill/>
          <a:ln cap="flat" cmpd="sng" w="9525">
            <a:solidFill>
              <a:srgbClr val="D8D8D8"/>
            </a:solidFill>
            <a:prstDash val="solid"/>
            <a:round/>
            <a:headEnd len="sm" w="sm" type="none"/>
            <a:tailEnd len="sm" w="sm" type="none"/>
          </a:ln>
        </p:spPr>
      </p:cxnSp>
      <p:sp>
        <p:nvSpPr>
          <p:cNvPr id="37" name="Google Shape;37;p43"/>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8" name="Google Shape;38;p43"/>
          <p:cNvCxnSpPr/>
          <p:nvPr/>
        </p:nvCxnSpPr>
        <p:spPr>
          <a:xfrm>
            <a:off x="0" y="1024128"/>
            <a:ext cx="9144000" cy="0"/>
          </a:xfrm>
          <a:prstGeom prst="straightConnector1">
            <a:avLst/>
          </a:prstGeom>
          <a:noFill/>
          <a:ln cap="flat" cmpd="sng" w="9525">
            <a:solidFill>
              <a:srgbClr val="D8D8D8"/>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9" name="Shape 39"/>
        <p:cNvGrpSpPr/>
        <p:nvPr/>
      </p:nvGrpSpPr>
      <p:grpSpPr>
        <a:xfrm>
          <a:off x="0" y="0"/>
          <a:ext cx="0" cy="0"/>
          <a:chOff x="0" y="0"/>
          <a:chExt cx="0" cy="0"/>
        </a:xfrm>
      </p:grpSpPr>
      <p:sp>
        <p:nvSpPr>
          <p:cNvPr id="40" name="Google Shape;40;p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520"/>
              </a:spcBef>
              <a:spcAft>
                <a:spcPts val="0"/>
              </a:spcAft>
              <a:buSzPts val="2600"/>
              <a:buNone/>
              <a:defRPr>
                <a:solidFill>
                  <a:srgbClr val="888888"/>
                </a:solidFill>
              </a:defRPr>
            </a:lvl1pPr>
            <a:lvl2pPr lvl="1" algn="ctr">
              <a:spcBef>
                <a:spcPts val="480"/>
              </a:spcBef>
              <a:spcAft>
                <a:spcPts val="0"/>
              </a:spcAft>
              <a:buSzPts val="2400"/>
              <a:buNone/>
              <a:defRPr>
                <a:solidFill>
                  <a:srgbClr val="888888"/>
                </a:solidFill>
              </a:defRPr>
            </a:lvl2pPr>
            <a:lvl3pPr lvl="2" algn="ctr">
              <a:spcBef>
                <a:spcPts val="440"/>
              </a:spcBef>
              <a:spcAft>
                <a:spcPts val="0"/>
              </a:spcAft>
              <a:buClr>
                <a:srgbClr val="888888"/>
              </a:buClr>
              <a:buSzPts val="2200"/>
              <a:buNone/>
              <a:defRPr>
                <a:solidFill>
                  <a:srgbClr val="888888"/>
                </a:solidFill>
              </a:defRPr>
            </a:lvl3pPr>
            <a:lvl4pPr lvl="3" algn="ctr">
              <a:spcBef>
                <a:spcPts val="440"/>
              </a:spcBef>
              <a:spcAft>
                <a:spcPts val="0"/>
              </a:spcAft>
              <a:buClr>
                <a:srgbClr val="888888"/>
              </a:buClr>
              <a:buSzPts val="2200"/>
              <a:buNone/>
              <a:defRPr>
                <a:solidFill>
                  <a:srgbClr val="888888"/>
                </a:solidFill>
              </a:defRPr>
            </a:lvl4pPr>
            <a:lvl5pPr lvl="4" algn="ctr">
              <a:spcBef>
                <a:spcPts val="440"/>
              </a:spcBef>
              <a:spcAft>
                <a:spcPts val="0"/>
              </a:spcAft>
              <a:buClr>
                <a:srgbClr val="888888"/>
              </a:buClr>
              <a:buSzPts val="2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1" name="Google Shape;4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44"/>
          <p:cNvSpPr txBox="1"/>
          <p:nvPr>
            <p:ph type="title"/>
          </p:nvPr>
        </p:nvSpPr>
        <p:spPr>
          <a:xfrm>
            <a:off x="990600" y="0"/>
            <a:ext cx="8027594"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34495E"/>
              </a:buClr>
              <a:buSzPts val="4000"/>
              <a:buFont typeface="Quattrocento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8" name="Google Shape;48;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46"/>
          <p:cNvSpPr txBox="1"/>
          <p:nvPr>
            <p:ph type="title"/>
          </p:nvPr>
        </p:nvSpPr>
        <p:spPr>
          <a:xfrm>
            <a:off x="990600" y="0"/>
            <a:ext cx="8027594"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Clr>
                <a:srgbClr val="34495E"/>
              </a:buClr>
              <a:buSzPts val="2000"/>
              <a:buChar char="•"/>
              <a:defRPr sz="2000"/>
            </a:lvl3pPr>
            <a:lvl4pPr indent="-342900" lvl="3" marL="1828800" algn="l">
              <a:spcBef>
                <a:spcPts val="360"/>
              </a:spcBef>
              <a:spcAft>
                <a:spcPts val="0"/>
              </a:spcAft>
              <a:buClr>
                <a:srgbClr val="34495E"/>
              </a:buClr>
              <a:buSzPts val="1800"/>
              <a:buChar char="–"/>
              <a:defRPr sz="1800"/>
            </a:lvl4pPr>
            <a:lvl5pPr indent="-342900" lvl="4" marL="2286000" algn="l">
              <a:spcBef>
                <a:spcPts val="360"/>
              </a:spcBef>
              <a:spcAft>
                <a:spcPts val="0"/>
              </a:spcAft>
              <a:buClr>
                <a:srgbClr val="34495E"/>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4" name="Google Shape;54;p4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Clr>
                <a:srgbClr val="34495E"/>
              </a:buClr>
              <a:buSzPts val="2000"/>
              <a:buChar char="•"/>
              <a:defRPr sz="2000"/>
            </a:lvl3pPr>
            <a:lvl4pPr indent="-342900" lvl="3" marL="1828800" algn="l">
              <a:spcBef>
                <a:spcPts val="360"/>
              </a:spcBef>
              <a:spcAft>
                <a:spcPts val="0"/>
              </a:spcAft>
              <a:buClr>
                <a:srgbClr val="34495E"/>
              </a:buClr>
              <a:buSzPts val="1800"/>
              <a:buChar char="–"/>
              <a:defRPr sz="1800"/>
            </a:lvl4pPr>
            <a:lvl5pPr indent="-342900" lvl="4" marL="2286000" algn="l">
              <a:spcBef>
                <a:spcPts val="360"/>
              </a:spcBef>
              <a:spcAft>
                <a:spcPts val="0"/>
              </a:spcAft>
              <a:buClr>
                <a:srgbClr val="34495E"/>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5" name="Google Shape;5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47"/>
          <p:cNvSpPr txBox="1"/>
          <p:nvPr>
            <p:ph type="title"/>
          </p:nvPr>
        </p:nvSpPr>
        <p:spPr>
          <a:xfrm>
            <a:off x="990600" y="0"/>
            <a:ext cx="8027594"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30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Clr>
                <a:srgbClr val="34495E"/>
              </a:buClr>
              <a:buSzPts val="1800"/>
              <a:buNone/>
              <a:defRPr b="1" sz="1800"/>
            </a:lvl3pPr>
            <a:lvl4pPr indent="-228600" lvl="3" marL="1828800" algn="l">
              <a:spcBef>
                <a:spcPts val="320"/>
              </a:spcBef>
              <a:spcAft>
                <a:spcPts val="0"/>
              </a:spcAft>
              <a:buClr>
                <a:srgbClr val="34495E"/>
              </a:buClr>
              <a:buSzPts val="1600"/>
              <a:buNone/>
              <a:defRPr b="1" sz="1600"/>
            </a:lvl4pPr>
            <a:lvl5pPr indent="-228600" lvl="4" marL="2286000" algn="l">
              <a:spcBef>
                <a:spcPts val="320"/>
              </a:spcBef>
              <a:spcAft>
                <a:spcPts val="0"/>
              </a:spcAft>
              <a:buClr>
                <a:srgbClr val="34495E"/>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4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Clr>
                <a:srgbClr val="34495E"/>
              </a:buClr>
              <a:buSzPts val="1800"/>
              <a:buChar char="•"/>
              <a:defRPr sz="1800"/>
            </a:lvl3pPr>
            <a:lvl4pPr indent="-330200" lvl="3" marL="1828800" algn="l">
              <a:spcBef>
                <a:spcPts val="320"/>
              </a:spcBef>
              <a:spcAft>
                <a:spcPts val="0"/>
              </a:spcAft>
              <a:buClr>
                <a:srgbClr val="34495E"/>
              </a:buClr>
              <a:buSzPts val="1600"/>
              <a:buChar char="–"/>
              <a:defRPr sz="1600"/>
            </a:lvl4pPr>
            <a:lvl5pPr indent="-330200" lvl="4" marL="2286000" algn="l">
              <a:spcBef>
                <a:spcPts val="320"/>
              </a:spcBef>
              <a:spcAft>
                <a:spcPts val="0"/>
              </a:spcAft>
              <a:buClr>
                <a:srgbClr val="34495E"/>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4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Clr>
                <a:srgbClr val="34495E"/>
              </a:buClr>
              <a:buSzPts val="1800"/>
              <a:buNone/>
              <a:defRPr b="1" sz="1800"/>
            </a:lvl3pPr>
            <a:lvl4pPr indent="-228600" lvl="3" marL="1828800" algn="l">
              <a:spcBef>
                <a:spcPts val="320"/>
              </a:spcBef>
              <a:spcAft>
                <a:spcPts val="0"/>
              </a:spcAft>
              <a:buClr>
                <a:srgbClr val="34495E"/>
              </a:buClr>
              <a:buSzPts val="1600"/>
              <a:buNone/>
              <a:defRPr b="1" sz="1600"/>
            </a:lvl4pPr>
            <a:lvl5pPr indent="-228600" lvl="4" marL="2286000" algn="l">
              <a:spcBef>
                <a:spcPts val="320"/>
              </a:spcBef>
              <a:spcAft>
                <a:spcPts val="0"/>
              </a:spcAft>
              <a:buClr>
                <a:srgbClr val="34495E"/>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4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Clr>
                <a:srgbClr val="34495E"/>
              </a:buClr>
              <a:buSzPts val="1800"/>
              <a:buChar char="•"/>
              <a:defRPr sz="1800"/>
            </a:lvl3pPr>
            <a:lvl4pPr indent="-330200" lvl="3" marL="1828800" algn="l">
              <a:spcBef>
                <a:spcPts val="320"/>
              </a:spcBef>
              <a:spcAft>
                <a:spcPts val="0"/>
              </a:spcAft>
              <a:buClr>
                <a:srgbClr val="34495E"/>
              </a:buClr>
              <a:buSzPts val="1600"/>
              <a:buChar char="–"/>
              <a:defRPr sz="1600"/>
            </a:lvl4pPr>
            <a:lvl5pPr indent="-330200" lvl="4" marL="2286000" algn="l">
              <a:spcBef>
                <a:spcPts val="320"/>
              </a:spcBef>
              <a:spcAft>
                <a:spcPts val="0"/>
              </a:spcAft>
              <a:buClr>
                <a:srgbClr val="34495E"/>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48"/>
          <p:cNvSpPr txBox="1"/>
          <p:nvPr>
            <p:ph type="title"/>
          </p:nvPr>
        </p:nvSpPr>
        <p:spPr>
          <a:xfrm>
            <a:off x="990600" y="0"/>
            <a:ext cx="8027594"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34495E"/>
              </a:buClr>
              <a:buSzPts val="2000"/>
              <a:buFont typeface="Quattrocento Sans"/>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Clr>
                <a:srgbClr val="34495E"/>
              </a:buClr>
              <a:buSzPts val="2400"/>
              <a:buChar char="•"/>
              <a:defRPr sz="2400"/>
            </a:lvl3pPr>
            <a:lvl4pPr indent="-355600" lvl="3" marL="1828800" algn="l">
              <a:spcBef>
                <a:spcPts val="400"/>
              </a:spcBef>
              <a:spcAft>
                <a:spcPts val="0"/>
              </a:spcAft>
              <a:buClr>
                <a:srgbClr val="34495E"/>
              </a:buClr>
              <a:buSzPts val="2000"/>
              <a:buChar char="–"/>
              <a:defRPr sz="2000"/>
            </a:lvl4pPr>
            <a:lvl5pPr indent="-355600" lvl="4" marL="2286000" algn="l">
              <a:spcBef>
                <a:spcPts val="400"/>
              </a:spcBef>
              <a:spcAft>
                <a:spcPts val="0"/>
              </a:spcAft>
              <a:buClr>
                <a:srgbClr val="34495E"/>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9" name="Google Shape;79;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Clr>
                <a:srgbClr val="34495E"/>
              </a:buClr>
              <a:buSzPts val="1000"/>
              <a:buNone/>
              <a:defRPr sz="1000"/>
            </a:lvl3pPr>
            <a:lvl4pPr indent="-228600" lvl="3" marL="1828800" algn="l">
              <a:spcBef>
                <a:spcPts val="180"/>
              </a:spcBef>
              <a:spcAft>
                <a:spcPts val="0"/>
              </a:spcAft>
              <a:buClr>
                <a:srgbClr val="34495E"/>
              </a:buClr>
              <a:buSzPts val="900"/>
              <a:buNone/>
              <a:defRPr sz="900"/>
            </a:lvl4pPr>
            <a:lvl5pPr indent="-228600" lvl="4" marL="2286000" algn="l">
              <a:spcBef>
                <a:spcPts val="180"/>
              </a:spcBef>
              <a:spcAft>
                <a:spcPts val="0"/>
              </a:spcAft>
              <a:buClr>
                <a:srgbClr val="34495E"/>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0" name="Google Shape;8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34495E"/>
              </a:buClr>
              <a:buSzPts val="2000"/>
              <a:buFont typeface="Quattrocento Sans"/>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1"/>
          <p:cNvSpPr/>
          <p:nvPr>
            <p:ph idx="2" type="pic"/>
          </p:nvPr>
        </p:nvSpPr>
        <p:spPr>
          <a:xfrm>
            <a:off x="1792288" y="612775"/>
            <a:ext cx="5486400" cy="4114800"/>
          </a:xfrm>
          <a:prstGeom prst="rect">
            <a:avLst/>
          </a:prstGeom>
          <a:noFill/>
          <a:ln>
            <a:noFill/>
          </a:ln>
        </p:spPr>
      </p:sp>
      <p:sp>
        <p:nvSpPr>
          <p:cNvPr id="86" name="Google Shape;86;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Clr>
                <a:srgbClr val="34495E"/>
              </a:buClr>
              <a:buSzPts val="1000"/>
              <a:buNone/>
              <a:defRPr sz="1000"/>
            </a:lvl3pPr>
            <a:lvl4pPr indent="-228600" lvl="3" marL="1828800" algn="l">
              <a:spcBef>
                <a:spcPts val="180"/>
              </a:spcBef>
              <a:spcAft>
                <a:spcPts val="0"/>
              </a:spcAft>
              <a:buClr>
                <a:srgbClr val="34495E"/>
              </a:buClr>
              <a:buSzPts val="900"/>
              <a:buNone/>
              <a:defRPr sz="900"/>
            </a:lvl4pPr>
            <a:lvl5pPr indent="-228600" lvl="4" marL="2286000" algn="l">
              <a:spcBef>
                <a:spcPts val="180"/>
              </a:spcBef>
              <a:spcAft>
                <a:spcPts val="0"/>
              </a:spcAft>
              <a:buClr>
                <a:srgbClr val="34495E"/>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7" name="Google Shape;8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52"/>
          <p:cNvSpPr txBox="1"/>
          <p:nvPr>
            <p:ph type="title"/>
          </p:nvPr>
        </p:nvSpPr>
        <p:spPr>
          <a:xfrm>
            <a:off x="990600" y="0"/>
            <a:ext cx="8027594" cy="533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2"/>
          <p:cNvSpPr txBox="1"/>
          <p:nvPr>
            <p:ph idx="1" type="body"/>
          </p:nvPr>
        </p:nvSpPr>
        <p:spPr>
          <a:xfrm rot="5400000">
            <a:off x="2019300" y="-419100"/>
            <a:ext cx="51054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Clr>
                <a:srgbClr val="34495E"/>
              </a:buClr>
              <a:buSzPts val="1800"/>
              <a:buChar char="•"/>
              <a:defRPr/>
            </a:lvl3pPr>
            <a:lvl4pPr indent="-342900" lvl="3" marL="1828800" algn="l">
              <a:spcBef>
                <a:spcPts val="360"/>
              </a:spcBef>
              <a:spcAft>
                <a:spcPts val="0"/>
              </a:spcAft>
              <a:buClr>
                <a:srgbClr val="34495E"/>
              </a:buClr>
              <a:buSzPts val="1800"/>
              <a:buChar char="–"/>
              <a:defRPr/>
            </a:lvl4pPr>
            <a:lvl5pPr indent="-342900" lvl="4" marL="2286000" algn="l">
              <a:spcBef>
                <a:spcPts val="360"/>
              </a:spcBef>
              <a:spcAft>
                <a:spcPts val="0"/>
              </a:spcAft>
              <a:buClr>
                <a:srgbClr val="34495E"/>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5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4495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Clr>
                <a:srgbClr val="34495E"/>
              </a:buClr>
              <a:buSzPts val="1800"/>
              <a:buChar char="•"/>
              <a:defRPr/>
            </a:lvl3pPr>
            <a:lvl4pPr indent="-342900" lvl="3" marL="1828800" algn="l">
              <a:spcBef>
                <a:spcPts val="360"/>
              </a:spcBef>
              <a:spcAft>
                <a:spcPts val="0"/>
              </a:spcAft>
              <a:buClr>
                <a:srgbClr val="34495E"/>
              </a:buClr>
              <a:buSzPts val="1800"/>
              <a:buChar char="–"/>
              <a:defRPr/>
            </a:lvl4pPr>
            <a:lvl5pPr indent="-342900" lvl="4" marL="2286000" algn="l">
              <a:spcBef>
                <a:spcPts val="360"/>
              </a:spcBef>
              <a:spcAft>
                <a:spcPts val="0"/>
              </a:spcAft>
              <a:buClr>
                <a:srgbClr val="34495E"/>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0"/>
          <p:cNvSpPr txBox="1"/>
          <p:nvPr>
            <p:ph type="title"/>
          </p:nvPr>
        </p:nvSpPr>
        <p:spPr>
          <a:xfrm>
            <a:off x="990600" y="0"/>
            <a:ext cx="8027594" cy="5334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34495E"/>
              </a:buClr>
              <a:buSzPts val="3000"/>
              <a:buFont typeface="Quattrocento Sans"/>
              <a:buNone/>
              <a:defRPr b="1" i="0" sz="3000" u="none" cap="none" strike="noStrike">
                <a:solidFill>
                  <a:srgbClr val="34495E"/>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0"/>
          <p:cNvSpPr txBox="1"/>
          <p:nvPr>
            <p:ph idx="1" type="body"/>
          </p:nvPr>
        </p:nvSpPr>
        <p:spPr>
          <a:xfrm>
            <a:off x="457200" y="1143000"/>
            <a:ext cx="8229600" cy="5105400"/>
          </a:xfrm>
          <a:prstGeom prst="rect">
            <a:avLst/>
          </a:prstGeom>
          <a:noFill/>
          <a:ln>
            <a:noFill/>
          </a:ln>
        </p:spPr>
        <p:txBody>
          <a:bodyPr anchorCtr="0" anchor="t" bIns="45700" lIns="91425" spcFirstLastPara="1" rIns="91425" wrap="square" tIns="45700">
            <a:normAutofit/>
          </a:bodyPr>
          <a:lstStyle>
            <a:lvl1pPr indent="-393700" lvl="0" marL="457200" marR="0" rtl="0" algn="l">
              <a:spcBef>
                <a:spcPts val="520"/>
              </a:spcBef>
              <a:spcAft>
                <a:spcPts val="0"/>
              </a:spcAft>
              <a:buClr>
                <a:srgbClr val="009999"/>
              </a:buClr>
              <a:buSzPts val="2600"/>
              <a:buFont typeface="Noto Sans Symbols"/>
              <a:buChar char="⮚"/>
              <a:defRPr b="0" i="0" sz="2600" u="none" cap="none" strike="noStrike">
                <a:solidFill>
                  <a:srgbClr val="34495E"/>
                </a:solidFill>
                <a:latin typeface="Quattrocento Sans"/>
                <a:ea typeface="Quattrocento Sans"/>
                <a:cs typeface="Quattrocento Sans"/>
                <a:sym typeface="Quattrocento Sans"/>
              </a:defRPr>
            </a:lvl1pPr>
            <a:lvl2pPr indent="-381000" lvl="1" marL="914400" marR="0" rtl="0" algn="l">
              <a:spcBef>
                <a:spcPts val="480"/>
              </a:spcBef>
              <a:spcAft>
                <a:spcPts val="0"/>
              </a:spcAft>
              <a:buClr>
                <a:srgbClr val="009999"/>
              </a:buClr>
              <a:buSzPts val="2400"/>
              <a:buFont typeface="Noto Sans Symbols"/>
              <a:buChar char="▪"/>
              <a:defRPr b="0" i="0" sz="2400" u="none" cap="none" strike="noStrike">
                <a:solidFill>
                  <a:srgbClr val="34495E"/>
                </a:solidFill>
                <a:latin typeface="Quattrocento Sans"/>
                <a:ea typeface="Quattrocento Sans"/>
                <a:cs typeface="Quattrocento Sans"/>
                <a:sym typeface="Quattrocento Sans"/>
              </a:defRPr>
            </a:lvl2pPr>
            <a:lvl3pPr indent="-368300" lvl="2" marL="1371600" marR="0" rtl="0" algn="l">
              <a:spcBef>
                <a:spcPts val="440"/>
              </a:spcBef>
              <a:spcAft>
                <a:spcPts val="0"/>
              </a:spcAft>
              <a:buClr>
                <a:srgbClr val="34495E"/>
              </a:buClr>
              <a:buSzPts val="2200"/>
              <a:buFont typeface="Arial"/>
              <a:buChar char="•"/>
              <a:defRPr b="0" i="0" sz="2200" u="none" cap="none" strike="noStrike">
                <a:solidFill>
                  <a:srgbClr val="34495E"/>
                </a:solidFill>
                <a:latin typeface="Quattrocento Sans"/>
                <a:ea typeface="Quattrocento Sans"/>
                <a:cs typeface="Quattrocento Sans"/>
                <a:sym typeface="Quattrocento Sans"/>
              </a:defRPr>
            </a:lvl3pPr>
            <a:lvl4pPr indent="-368300" lvl="3" marL="1828800" marR="0" rtl="0" algn="l">
              <a:spcBef>
                <a:spcPts val="440"/>
              </a:spcBef>
              <a:spcAft>
                <a:spcPts val="0"/>
              </a:spcAft>
              <a:buClr>
                <a:srgbClr val="34495E"/>
              </a:buClr>
              <a:buSzPts val="2200"/>
              <a:buFont typeface="Arial"/>
              <a:buChar char="–"/>
              <a:defRPr b="0" i="0" sz="2200" u="none" cap="none" strike="noStrike">
                <a:solidFill>
                  <a:srgbClr val="34495E"/>
                </a:solidFill>
                <a:latin typeface="Quattrocento Sans"/>
                <a:ea typeface="Quattrocento Sans"/>
                <a:cs typeface="Quattrocento Sans"/>
                <a:sym typeface="Quattrocento Sans"/>
              </a:defRPr>
            </a:lvl4pPr>
            <a:lvl5pPr indent="-368300" lvl="4" marL="2286000" marR="0" rtl="0" algn="l">
              <a:spcBef>
                <a:spcPts val="440"/>
              </a:spcBef>
              <a:spcAft>
                <a:spcPts val="0"/>
              </a:spcAft>
              <a:buClr>
                <a:srgbClr val="34495E"/>
              </a:buClr>
              <a:buSzPts val="2200"/>
              <a:buFont typeface="Arial"/>
              <a:buChar char="»"/>
              <a:defRPr b="0" i="0" sz="2200" u="none" cap="none" strike="noStrike">
                <a:solidFill>
                  <a:srgbClr val="34495E"/>
                </a:solidFill>
                <a:latin typeface="Quattrocento Sans"/>
                <a:ea typeface="Quattrocento Sans"/>
                <a:cs typeface="Quattrocento Sans"/>
                <a:sym typeface="Quattrocento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40"/>
          <p:cNvSpPr/>
          <p:nvPr/>
        </p:nvSpPr>
        <p:spPr>
          <a:xfrm>
            <a:off x="1" y="6383543"/>
            <a:ext cx="9143999" cy="474457"/>
          </a:xfrm>
          <a:prstGeom prst="rect">
            <a:avLst/>
          </a:prstGeom>
          <a:solidFill>
            <a:srgbClr val="16A08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6" name="Google Shape;16;p40"/>
          <p:cNvGrpSpPr/>
          <p:nvPr/>
        </p:nvGrpSpPr>
        <p:grpSpPr>
          <a:xfrm>
            <a:off x="135374" y="6463280"/>
            <a:ext cx="3071705" cy="318520"/>
            <a:chOff x="135374" y="6414527"/>
            <a:chExt cx="3071705" cy="318520"/>
          </a:xfrm>
        </p:grpSpPr>
        <p:sp>
          <p:nvSpPr>
            <p:cNvPr id="17" name="Google Shape;17;p40"/>
            <p:cNvSpPr/>
            <p:nvPr/>
          </p:nvSpPr>
          <p:spPr>
            <a:xfrm>
              <a:off x="135374" y="6414527"/>
              <a:ext cx="991893" cy="31852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rgbClr val="16A085"/>
                  </a:solidFill>
                  <a:latin typeface="Quattrocento Sans"/>
                  <a:ea typeface="Quattrocento Sans"/>
                  <a:cs typeface="Quattrocento Sans"/>
                  <a:sym typeface="Quattrocento Sans"/>
                </a:rPr>
                <a:t>ĐHGTVT</a:t>
              </a:r>
              <a:endParaRPr b="0" i="0" sz="1400" u="none" cap="none" strike="noStrike">
                <a:solidFill>
                  <a:srgbClr val="16A085"/>
                </a:solidFill>
                <a:latin typeface="Quattrocento Sans"/>
                <a:ea typeface="Quattrocento Sans"/>
                <a:cs typeface="Quattrocento Sans"/>
                <a:sym typeface="Quattrocento Sans"/>
              </a:endParaRPr>
            </a:p>
          </p:txBody>
        </p:sp>
        <p:sp>
          <p:nvSpPr>
            <p:cNvPr id="18" name="Google Shape;18;p40"/>
            <p:cNvSpPr txBox="1"/>
            <p:nvPr/>
          </p:nvSpPr>
          <p:spPr>
            <a:xfrm>
              <a:off x="1149679" y="6425270"/>
              <a:ext cx="20574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lt1"/>
                  </a:solidFill>
                  <a:latin typeface="Quattrocento Sans"/>
                  <a:ea typeface="Quattrocento Sans"/>
                  <a:cs typeface="Quattrocento Sans"/>
                  <a:sym typeface="Quattrocento Sans"/>
                </a:rPr>
                <a:t>BỘ MÔN THIẾT KẾ MÁY</a:t>
              </a:r>
              <a:endParaRPr sz="1400">
                <a:solidFill>
                  <a:schemeClr val="lt1"/>
                </a:solidFill>
                <a:latin typeface="Quattrocento Sans"/>
                <a:ea typeface="Quattrocento Sans"/>
                <a:cs typeface="Quattrocento Sans"/>
                <a:sym typeface="Quattrocento Sans"/>
              </a:endParaRPr>
            </a:p>
          </p:txBody>
        </p:sp>
      </p:grpSp>
      <p:grpSp>
        <p:nvGrpSpPr>
          <p:cNvPr id="19" name="Google Shape;19;p40"/>
          <p:cNvGrpSpPr/>
          <p:nvPr/>
        </p:nvGrpSpPr>
        <p:grpSpPr>
          <a:xfrm>
            <a:off x="8458200" y="6505258"/>
            <a:ext cx="559995" cy="276542"/>
            <a:chOff x="4120662" y="6400780"/>
            <a:chExt cx="740661" cy="365760"/>
          </a:xfrm>
        </p:grpSpPr>
        <p:pic>
          <p:nvPicPr>
            <p:cNvPr descr="C:\Users\IT Department\Desktop\next button.png" id="20" name="Google Shape;20;p40">
              <a:hlinkClick action="ppaction://hlinkshowjump?jump=nextslide"/>
            </p:cNvPr>
            <p:cNvPicPr preferRelativeResize="0"/>
            <p:nvPr/>
          </p:nvPicPr>
          <p:blipFill rotWithShape="1">
            <a:blip r:embed="rId1">
              <a:alphaModFix/>
            </a:blip>
            <a:srcRect b="0" l="0" r="0" t="0"/>
            <a:stretch/>
          </p:blipFill>
          <p:spPr>
            <a:xfrm>
              <a:off x="4499992" y="6402995"/>
              <a:ext cx="361331" cy="361331"/>
            </a:xfrm>
            <a:prstGeom prst="rect">
              <a:avLst/>
            </a:prstGeom>
            <a:noFill/>
            <a:ln>
              <a:noFill/>
            </a:ln>
          </p:spPr>
        </p:pic>
        <p:pic>
          <p:nvPicPr>
            <p:cNvPr descr="C:\Users\IT Department\Desktop\next button.png" id="21" name="Google Shape;21;p40">
              <a:hlinkClick action="ppaction://hlinkshowjump?jump=previousslide"/>
            </p:cNvPr>
            <p:cNvPicPr preferRelativeResize="0"/>
            <p:nvPr/>
          </p:nvPicPr>
          <p:blipFill rotWithShape="1">
            <a:blip r:embed="rId2">
              <a:alphaModFix/>
            </a:blip>
            <a:srcRect b="0" l="0" r="0" t="0"/>
            <a:stretch/>
          </p:blipFill>
          <p:spPr>
            <a:xfrm flipH="1">
              <a:off x="4120662" y="6400780"/>
              <a:ext cx="349127" cy="365760"/>
            </a:xfrm>
            <a:prstGeom prst="rect">
              <a:avLst/>
            </a:prstGeom>
            <a:noFill/>
            <a:ln>
              <a:noFill/>
            </a:ln>
          </p:spPr>
        </p:pic>
      </p:grpSp>
      <p:sp>
        <p:nvSpPr>
          <p:cNvPr id="22" name="Google Shape;22;p40"/>
          <p:cNvSpPr txBox="1"/>
          <p:nvPr/>
        </p:nvSpPr>
        <p:spPr>
          <a:xfrm>
            <a:off x="7801126" y="6477000"/>
            <a:ext cx="733274" cy="3231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1" lang="en-US" sz="1500">
                <a:solidFill>
                  <a:schemeClr val="lt1"/>
                </a:solidFill>
                <a:latin typeface="Quattrocento Sans"/>
                <a:ea typeface="Quattrocento Sans"/>
                <a:cs typeface="Quattrocento Sans"/>
                <a:sym typeface="Quattrocento Sans"/>
              </a:rPr>
              <a:t>‹#›</a:t>
            </a:fld>
            <a:r>
              <a:rPr b="1" lang="en-US" sz="1500">
                <a:solidFill>
                  <a:schemeClr val="lt1"/>
                </a:solidFill>
                <a:latin typeface="Quattrocento Sans"/>
                <a:ea typeface="Quattrocento Sans"/>
                <a:cs typeface="Quattrocento Sans"/>
                <a:sym typeface="Quattrocento Sans"/>
              </a:rPr>
              <a:t>/</a:t>
            </a:r>
            <a:r>
              <a:rPr b="1" lang="en-US" sz="1500">
                <a:solidFill>
                  <a:srgbClr val="BFBFBF"/>
                </a:solidFill>
                <a:latin typeface="Quattrocento Sans"/>
                <a:ea typeface="Quattrocento Sans"/>
                <a:cs typeface="Quattrocento Sans"/>
                <a:sym typeface="Quattrocento Sans"/>
              </a:rPr>
              <a:t>38</a:t>
            </a:r>
            <a:endParaRPr b="1" sz="1500">
              <a:solidFill>
                <a:srgbClr val="BFBFBF"/>
              </a:solidFill>
              <a:latin typeface="Quattrocento Sans"/>
              <a:ea typeface="Quattrocento Sans"/>
              <a:cs typeface="Quattrocento Sans"/>
              <a:sym typeface="Quattrocento Sans"/>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6.jpg"/><Relationship Id="rId5" Type="http://schemas.openxmlformats.org/officeDocument/2006/relationships/image" Target="../media/image2.jp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2.jpg"/><Relationship Id="rId5"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vmlDrawing" Target="../drawings/vmlDrawing1.vml"/><Relationship Id="rId4" Type="http://schemas.openxmlformats.org/officeDocument/2006/relationships/image" Target="../media/image7.jp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51.png"/><Relationship Id="rId8"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2.vml"/><Relationship Id="rId4" Type="http://schemas.openxmlformats.org/officeDocument/2006/relationships/image" Target="../media/image7.jpg"/><Relationship Id="rId5" Type="http://schemas.openxmlformats.org/officeDocument/2006/relationships/oleObject" Target="../embeddings/oleObject2.bin"/><Relationship Id="rId6" Type="http://schemas.openxmlformats.org/officeDocument/2006/relationships/oleObject" Target="../embeddings/oleObject2.bin"/><Relationship Id="rId7" Type="http://schemas.openxmlformats.org/officeDocument/2006/relationships/image" Target="../media/image14.png"/><Relationship Id="rId8" Type="http://schemas.openxmlformats.org/officeDocument/2006/relationships/image" Target="../media/image20.jpg"/></Relationships>
</file>

<file path=ppt/slides/_rels/slide17.xml.rels><?xml version="1.0" encoding="UTF-8" standalone="yes"?><Relationships xmlns="http://schemas.openxmlformats.org/package/2006/relationships"><Relationship Id="rId11" Type="http://schemas.openxmlformats.org/officeDocument/2006/relationships/oleObject" Target="../embeddings/oleObject5.bin"/><Relationship Id="rId10" Type="http://schemas.openxmlformats.org/officeDocument/2006/relationships/image" Target="../media/image17.png"/><Relationship Id="rId13" Type="http://schemas.openxmlformats.org/officeDocument/2006/relationships/image" Target="../media/image39.png"/><Relationship Id="rId12" Type="http://schemas.openxmlformats.org/officeDocument/2006/relationships/oleObject" Target="../embeddings/oleObject5.bin"/><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vmlDrawing" Target="../drawings/vmlDrawing3.vml"/><Relationship Id="rId4" Type="http://schemas.openxmlformats.org/officeDocument/2006/relationships/image" Target="../media/image7.jpg"/><Relationship Id="rId9" Type="http://schemas.openxmlformats.org/officeDocument/2006/relationships/oleObject" Target="../embeddings/oleObject4.bin"/><Relationship Id="rId14" Type="http://schemas.openxmlformats.org/officeDocument/2006/relationships/image" Target="../media/image20.jpg"/><Relationship Id="rId5" Type="http://schemas.openxmlformats.org/officeDocument/2006/relationships/oleObject" Target="../embeddings/oleObject3.bin"/><Relationship Id="rId6" Type="http://schemas.openxmlformats.org/officeDocument/2006/relationships/oleObject" Target="../embeddings/oleObject3.bin"/><Relationship Id="rId7" Type="http://schemas.openxmlformats.org/officeDocument/2006/relationships/image" Target="../media/image15.png"/><Relationship Id="rId8"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20" Type="http://schemas.openxmlformats.org/officeDocument/2006/relationships/oleObject" Target="../embeddings/oleObject11.bin"/><Relationship Id="rId11" Type="http://schemas.openxmlformats.org/officeDocument/2006/relationships/oleObject" Target="../embeddings/oleObject8.bin"/><Relationship Id="rId22" Type="http://schemas.openxmlformats.org/officeDocument/2006/relationships/image" Target="../media/image21.png"/><Relationship Id="rId10" Type="http://schemas.openxmlformats.org/officeDocument/2006/relationships/image" Target="../media/image39.png"/><Relationship Id="rId21" Type="http://schemas.openxmlformats.org/officeDocument/2006/relationships/oleObject" Target="../embeddings/oleObject11.bin"/><Relationship Id="rId13" Type="http://schemas.openxmlformats.org/officeDocument/2006/relationships/image" Target="../media/image31.png"/><Relationship Id="rId12" Type="http://schemas.openxmlformats.org/officeDocument/2006/relationships/oleObject" Target="../embeddings/oleObject8.bin"/><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vmlDrawing" Target="../drawings/vmlDrawing4.vml"/><Relationship Id="rId4" Type="http://schemas.openxmlformats.org/officeDocument/2006/relationships/image" Target="../media/image7.jpg"/><Relationship Id="rId9" Type="http://schemas.openxmlformats.org/officeDocument/2006/relationships/oleObject" Target="../embeddings/oleObject7.bin"/><Relationship Id="rId15" Type="http://schemas.openxmlformats.org/officeDocument/2006/relationships/oleObject" Target="../embeddings/oleObject9.bin"/><Relationship Id="rId14" Type="http://schemas.openxmlformats.org/officeDocument/2006/relationships/oleObject" Target="../embeddings/oleObject9.bin"/><Relationship Id="rId17" Type="http://schemas.openxmlformats.org/officeDocument/2006/relationships/oleObject" Target="../embeddings/oleObject10.bin"/><Relationship Id="rId16" Type="http://schemas.openxmlformats.org/officeDocument/2006/relationships/image" Target="../media/image23.png"/><Relationship Id="rId5" Type="http://schemas.openxmlformats.org/officeDocument/2006/relationships/oleObject" Target="../embeddings/oleObject6.bin"/><Relationship Id="rId19" Type="http://schemas.openxmlformats.org/officeDocument/2006/relationships/image" Target="../media/image16.png"/><Relationship Id="rId6" Type="http://schemas.openxmlformats.org/officeDocument/2006/relationships/oleObject" Target="../embeddings/oleObject6.bin"/><Relationship Id="rId18" Type="http://schemas.openxmlformats.org/officeDocument/2006/relationships/oleObject" Target="../embeddings/oleObject10.bin"/><Relationship Id="rId7" Type="http://schemas.openxmlformats.org/officeDocument/2006/relationships/image" Target="../media/image17.png"/><Relationship Id="rId8"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11" Type="http://schemas.openxmlformats.org/officeDocument/2006/relationships/oleObject" Target="../embeddings/oleObject14.bin"/><Relationship Id="rId10" Type="http://schemas.openxmlformats.org/officeDocument/2006/relationships/image" Target="../media/image21.png"/><Relationship Id="rId13" Type="http://schemas.openxmlformats.org/officeDocument/2006/relationships/image" Target="../media/image10.png"/><Relationship Id="rId12" Type="http://schemas.openxmlformats.org/officeDocument/2006/relationships/oleObject" Target="../embeddings/oleObject14.bin"/><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vmlDrawing" Target="../drawings/vmlDrawing5.vml"/><Relationship Id="rId4" Type="http://schemas.openxmlformats.org/officeDocument/2006/relationships/image" Target="../media/image7.jpg"/><Relationship Id="rId9" Type="http://schemas.openxmlformats.org/officeDocument/2006/relationships/oleObject" Target="../embeddings/oleObject13.bin"/><Relationship Id="rId15" Type="http://schemas.openxmlformats.org/officeDocument/2006/relationships/oleObject" Target="../embeddings/oleObject15.bin"/><Relationship Id="rId14" Type="http://schemas.openxmlformats.org/officeDocument/2006/relationships/oleObject" Target="../embeddings/oleObject15.bin"/><Relationship Id="rId17" Type="http://schemas.openxmlformats.org/officeDocument/2006/relationships/oleObject" Target="../embeddings/oleObject16.bin"/><Relationship Id="rId16" Type="http://schemas.openxmlformats.org/officeDocument/2006/relationships/image" Target="../media/image41.png"/><Relationship Id="rId5" Type="http://schemas.openxmlformats.org/officeDocument/2006/relationships/oleObject" Target="../embeddings/oleObject12.bin"/><Relationship Id="rId19" Type="http://schemas.openxmlformats.org/officeDocument/2006/relationships/image" Target="../media/image18.png"/><Relationship Id="rId6" Type="http://schemas.openxmlformats.org/officeDocument/2006/relationships/oleObject" Target="../embeddings/oleObject12.bin"/><Relationship Id="rId18" Type="http://schemas.openxmlformats.org/officeDocument/2006/relationships/oleObject" Target="../embeddings/oleObject16.bin"/><Relationship Id="rId7" Type="http://schemas.openxmlformats.org/officeDocument/2006/relationships/image" Target="../media/image16.png"/><Relationship Id="rId8"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vmlDrawing" Target="../drawings/vmlDrawing6.vml"/><Relationship Id="rId4" Type="http://schemas.openxmlformats.org/officeDocument/2006/relationships/image" Target="../media/image7.jpg"/><Relationship Id="rId5" Type="http://schemas.openxmlformats.org/officeDocument/2006/relationships/oleObject" Target="../embeddings/oleObject17.bin"/><Relationship Id="rId6" Type="http://schemas.openxmlformats.org/officeDocument/2006/relationships/oleObject" Target="../embeddings/oleObject17.bin"/><Relationship Id="rId7" Type="http://schemas.openxmlformats.org/officeDocument/2006/relationships/image" Target="../media/image24.png"/></Relationships>
</file>

<file path=ppt/slides/_rels/slide21.xml.rels><?xml version="1.0" encoding="UTF-8" standalone="yes"?><Relationships xmlns="http://schemas.openxmlformats.org/package/2006/relationships"><Relationship Id="rId10" Type="http://schemas.openxmlformats.org/officeDocument/2006/relationships/image" Target="../media/image29.png"/><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vmlDrawing" Target="../drawings/vmlDrawing7.vml"/><Relationship Id="rId4" Type="http://schemas.openxmlformats.org/officeDocument/2006/relationships/image" Target="../media/image7.jpg"/><Relationship Id="rId9" Type="http://schemas.openxmlformats.org/officeDocument/2006/relationships/oleObject" Target="../embeddings/oleObject19.bin"/><Relationship Id="rId5" Type="http://schemas.openxmlformats.org/officeDocument/2006/relationships/oleObject" Target="../embeddings/oleObject18.bin"/><Relationship Id="rId6" Type="http://schemas.openxmlformats.org/officeDocument/2006/relationships/oleObject" Target="../embeddings/oleObject18.bin"/><Relationship Id="rId7" Type="http://schemas.openxmlformats.org/officeDocument/2006/relationships/image" Target="../media/image22.png"/><Relationship Id="rId8"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1" Type="http://schemas.openxmlformats.org/officeDocument/2006/relationships/oleObject" Target="../embeddings/oleObject22.bin"/><Relationship Id="rId10" Type="http://schemas.openxmlformats.org/officeDocument/2006/relationships/image" Target="../media/image30.png"/><Relationship Id="rId13" Type="http://schemas.openxmlformats.org/officeDocument/2006/relationships/image" Target="../media/image63.png"/><Relationship Id="rId12" Type="http://schemas.openxmlformats.org/officeDocument/2006/relationships/oleObject" Target="../embeddings/oleObject22.bin"/><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vmlDrawing" Target="../drawings/vmlDrawing8.vml"/><Relationship Id="rId4" Type="http://schemas.openxmlformats.org/officeDocument/2006/relationships/image" Target="../media/image7.jpg"/><Relationship Id="rId9" Type="http://schemas.openxmlformats.org/officeDocument/2006/relationships/oleObject" Target="../embeddings/oleObject21.bin"/><Relationship Id="rId15" Type="http://schemas.openxmlformats.org/officeDocument/2006/relationships/oleObject" Target="../embeddings/oleObject23.bin"/><Relationship Id="rId14" Type="http://schemas.openxmlformats.org/officeDocument/2006/relationships/oleObject" Target="../embeddings/oleObject23.bin"/><Relationship Id="rId17" Type="http://schemas.openxmlformats.org/officeDocument/2006/relationships/image" Target="../media/image26.jpg"/><Relationship Id="rId16" Type="http://schemas.openxmlformats.org/officeDocument/2006/relationships/image" Target="../media/image62.png"/><Relationship Id="rId5" Type="http://schemas.openxmlformats.org/officeDocument/2006/relationships/oleObject" Target="../embeddings/oleObject20.bin"/><Relationship Id="rId6" Type="http://schemas.openxmlformats.org/officeDocument/2006/relationships/oleObject" Target="../embeddings/oleObject20.bin"/><Relationship Id="rId7" Type="http://schemas.openxmlformats.org/officeDocument/2006/relationships/image" Target="../media/image33.png"/><Relationship Id="rId8"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vmlDrawing" Target="../drawings/vmlDrawing9.vml"/><Relationship Id="rId4" Type="http://schemas.openxmlformats.org/officeDocument/2006/relationships/image" Target="../media/image7.jpg"/><Relationship Id="rId5" Type="http://schemas.openxmlformats.org/officeDocument/2006/relationships/oleObject" Target="../embeddings/oleObject24.bin"/><Relationship Id="rId6" Type="http://schemas.openxmlformats.org/officeDocument/2006/relationships/oleObject" Target="../embeddings/oleObject24.bin"/><Relationship Id="rId7" Type="http://schemas.openxmlformats.org/officeDocument/2006/relationships/image" Target="../media/image6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jpg"/><Relationship Id="rId4" Type="http://schemas.openxmlformats.org/officeDocument/2006/relationships/image" Target="../media/image26.jpg"/></Relationships>
</file>

<file path=ppt/slides/_rels/slide26.xml.rels><?xml version="1.0" encoding="UTF-8" standalone="yes"?><Relationships xmlns="http://schemas.openxmlformats.org/package/2006/relationships"><Relationship Id="rId11" Type="http://schemas.openxmlformats.org/officeDocument/2006/relationships/oleObject" Target="../embeddings/oleObject27.bin"/><Relationship Id="rId10" Type="http://schemas.openxmlformats.org/officeDocument/2006/relationships/image" Target="../media/image25.png"/><Relationship Id="rId13" Type="http://schemas.openxmlformats.org/officeDocument/2006/relationships/image" Target="../media/image28.png"/><Relationship Id="rId12" Type="http://schemas.openxmlformats.org/officeDocument/2006/relationships/oleObject" Target="../embeddings/oleObject27.bin"/><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vmlDrawing" Target="../drawings/vmlDrawing10.vml"/><Relationship Id="rId4" Type="http://schemas.openxmlformats.org/officeDocument/2006/relationships/image" Target="../media/image7.jpg"/><Relationship Id="rId9" Type="http://schemas.openxmlformats.org/officeDocument/2006/relationships/oleObject" Target="../embeddings/oleObject26.bin"/><Relationship Id="rId15" Type="http://schemas.openxmlformats.org/officeDocument/2006/relationships/oleObject" Target="../embeddings/oleObject28.bin"/><Relationship Id="rId14" Type="http://schemas.openxmlformats.org/officeDocument/2006/relationships/oleObject" Target="../embeddings/oleObject28.bin"/><Relationship Id="rId16" Type="http://schemas.openxmlformats.org/officeDocument/2006/relationships/image" Target="../media/image32.png"/><Relationship Id="rId5" Type="http://schemas.openxmlformats.org/officeDocument/2006/relationships/oleObject" Target="../embeddings/oleObject25.bin"/><Relationship Id="rId6" Type="http://schemas.openxmlformats.org/officeDocument/2006/relationships/oleObject" Target="../embeddings/oleObject25.bin"/><Relationship Id="rId7" Type="http://schemas.openxmlformats.org/officeDocument/2006/relationships/image" Target="../media/image36.png"/><Relationship Id="rId8"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oleObject" Target="../embeddings/oleObject30.bin"/><Relationship Id="rId13" Type="http://schemas.openxmlformats.org/officeDocument/2006/relationships/oleObject" Target="../embeddings/oleObject31.bin"/><Relationship Id="rId12" Type="http://schemas.openxmlformats.org/officeDocument/2006/relationships/oleObject" Target="../embeddings/oleObject31.bin"/><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vmlDrawing" Target="../drawings/vmlDrawing11.vml"/><Relationship Id="rId4" Type="http://schemas.openxmlformats.org/officeDocument/2006/relationships/image" Target="../media/image7.jpg"/><Relationship Id="rId9" Type="http://schemas.openxmlformats.org/officeDocument/2006/relationships/oleObject" Target="../embeddings/oleObject30.bin"/><Relationship Id="rId15" Type="http://schemas.openxmlformats.org/officeDocument/2006/relationships/oleObject" Target="../embeddings/oleObject32.bin"/><Relationship Id="rId14" Type="http://schemas.openxmlformats.org/officeDocument/2006/relationships/image" Target="../media/image46.png"/><Relationship Id="rId17" Type="http://schemas.openxmlformats.org/officeDocument/2006/relationships/image" Target="../media/image38.png"/><Relationship Id="rId16" Type="http://schemas.openxmlformats.org/officeDocument/2006/relationships/oleObject" Target="../embeddings/oleObject32.bin"/><Relationship Id="rId5" Type="http://schemas.openxmlformats.org/officeDocument/2006/relationships/oleObject" Target="../embeddings/oleObject29.bin"/><Relationship Id="rId6" Type="http://schemas.openxmlformats.org/officeDocument/2006/relationships/oleObject" Target="../embeddings/oleObject29.bin"/><Relationship Id="rId7" Type="http://schemas.openxmlformats.org/officeDocument/2006/relationships/image" Target="../media/image35.png"/><Relationship Id="rId8" Type="http://schemas.openxmlformats.org/officeDocument/2006/relationships/image" Target="../media/image34.jpg"/></Relationships>
</file>

<file path=ppt/slides/_rels/slide29.xml.rels><?xml version="1.0" encoding="UTF-8" standalone="yes"?><Relationships xmlns="http://schemas.openxmlformats.org/package/2006/relationships"><Relationship Id="rId10" Type="http://schemas.openxmlformats.org/officeDocument/2006/relationships/image" Target="../media/image40.png"/><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vmlDrawing" Target="../drawings/vmlDrawing12.vml"/><Relationship Id="rId4" Type="http://schemas.openxmlformats.org/officeDocument/2006/relationships/image" Target="../media/image7.jpg"/><Relationship Id="rId9" Type="http://schemas.openxmlformats.org/officeDocument/2006/relationships/oleObject" Target="../embeddings/oleObject34.bin"/><Relationship Id="rId5" Type="http://schemas.openxmlformats.org/officeDocument/2006/relationships/oleObject" Target="../embeddings/oleObject33.bin"/><Relationship Id="rId6" Type="http://schemas.openxmlformats.org/officeDocument/2006/relationships/oleObject" Target="../embeddings/oleObject33.bin"/><Relationship Id="rId7" Type="http://schemas.openxmlformats.org/officeDocument/2006/relationships/image" Target="../media/image38.png"/><Relationship Id="rId8" Type="http://schemas.openxmlformats.org/officeDocument/2006/relationships/oleObject" Target="../embeddings/oleObject34.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jpg"/></Relationships>
</file>

<file path=ppt/slides/_rels/slide31.xml.rels><?xml version="1.0" encoding="UTF-8" standalone="yes"?><Relationships xmlns="http://schemas.openxmlformats.org/package/2006/relationships"><Relationship Id="rId11" Type="http://schemas.openxmlformats.org/officeDocument/2006/relationships/oleObject" Target="../embeddings/oleObject37.bin"/><Relationship Id="rId10" Type="http://schemas.openxmlformats.org/officeDocument/2006/relationships/image" Target="../media/image44.png"/><Relationship Id="rId13" Type="http://schemas.openxmlformats.org/officeDocument/2006/relationships/image" Target="../media/image47.png"/><Relationship Id="rId12" Type="http://schemas.openxmlformats.org/officeDocument/2006/relationships/oleObject" Target="../embeddings/oleObject37.bin"/><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vmlDrawing" Target="../drawings/vmlDrawing13.vml"/><Relationship Id="rId4" Type="http://schemas.openxmlformats.org/officeDocument/2006/relationships/image" Target="../media/image7.jpg"/><Relationship Id="rId9" Type="http://schemas.openxmlformats.org/officeDocument/2006/relationships/oleObject" Target="../embeddings/oleObject36.bin"/><Relationship Id="rId15" Type="http://schemas.openxmlformats.org/officeDocument/2006/relationships/oleObject" Target="../embeddings/oleObject38.bin"/><Relationship Id="rId14" Type="http://schemas.openxmlformats.org/officeDocument/2006/relationships/oleObject" Target="../embeddings/oleObject38.bin"/><Relationship Id="rId17" Type="http://schemas.openxmlformats.org/officeDocument/2006/relationships/oleObject" Target="../embeddings/oleObject39.bin"/><Relationship Id="rId16" Type="http://schemas.openxmlformats.org/officeDocument/2006/relationships/image" Target="../media/image42.png"/><Relationship Id="rId5" Type="http://schemas.openxmlformats.org/officeDocument/2006/relationships/oleObject" Target="../embeddings/oleObject35.bin"/><Relationship Id="rId19" Type="http://schemas.openxmlformats.org/officeDocument/2006/relationships/image" Target="../media/image43.png"/><Relationship Id="rId6" Type="http://schemas.openxmlformats.org/officeDocument/2006/relationships/oleObject" Target="../embeddings/oleObject35.bin"/><Relationship Id="rId18" Type="http://schemas.openxmlformats.org/officeDocument/2006/relationships/oleObject" Target="../embeddings/oleObject39.bin"/><Relationship Id="rId7" Type="http://schemas.openxmlformats.org/officeDocument/2006/relationships/image" Target="../media/image50.png"/><Relationship Id="rId8" Type="http://schemas.openxmlformats.org/officeDocument/2006/relationships/oleObject" Target="../embeddings/oleObject36.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vmlDrawing" Target="../drawings/vmlDrawing14.vml"/><Relationship Id="rId4" Type="http://schemas.openxmlformats.org/officeDocument/2006/relationships/image" Target="../media/image7.jpg"/><Relationship Id="rId5" Type="http://schemas.openxmlformats.org/officeDocument/2006/relationships/oleObject" Target="../embeddings/oleObject40.bin"/><Relationship Id="rId6" Type="http://schemas.openxmlformats.org/officeDocument/2006/relationships/oleObject" Target="../embeddings/oleObject40.bin"/><Relationship Id="rId7" Type="http://schemas.openxmlformats.org/officeDocument/2006/relationships/image" Target="../media/image49.png"/></Relationships>
</file>

<file path=ppt/slides/_rels/slide33.xml.rels><?xml version="1.0" encoding="UTF-8" standalone="yes"?><Relationships xmlns="http://schemas.openxmlformats.org/package/2006/relationships"><Relationship Id="rId11" Type="http://schemas.openxmlformats.org/officeDocument/2006/relationships/oleObject" Target="../embeddings/oleObject43.bin"/><Relationship Id="rId10" Type="http://schemas.openxmlformats.org/officeDocument/2006/relationships/image" Target="../media/image52.png"/><Relationship Id="rId13" Type="http://schemas.openxmlformats.org/officeDocument/2006/relationships/image" Target="../media/image57.png"/><Relationship Id="rId12" Type="http://schemas.openxmlformats.org/officeDocument/2006/relationships/oleObject" Target="../embeddings/oleObject43.bin"/><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vmlDrawing" Target="../drawings/vmlDrawing15.vml"/><Relationship Id="rId4" Type="http://schemas.openxmlformats.org/officeDocument/2006/relationships/image" Target="../media/image7.jpg"/><Relationship Id="rId9" Type="http://schemas.openxmlformats.org/officeDocument/2006/relationships/oleObject" Target="../embeddings/oleObject42.bin"/><Relationship Id="rId15" Type="http://schemas.openxmlformats.org/officeDocument/2006/relationships/oleObject" Target="../embeddings/oleObject44.bin"/><Relationship Id="rId14" Type="http://schemas.openxmlformats.org/officeDocument/2006/relationships/oleObject" Target="../embeddings/oleObject44.bin"/><Relationship Id="rId17" Type="http://schemas.openxmlformats.org/officeDocument/2006/relationships/oleObject" Target="../embeddings/oleObject45.bin"/><Relationship Id="rId16" Type="http://schemas.openxmlformats.org/officeDocument/2006/relationships/image" Target="../media/image48.png"/><Relationship Id="rId5" Type="http://schemas.openxmlformats.org/officeDocument/2006/relationships/oleObject" Target="../embeddings/oleObject41.bin"/><Relationship Id="rId19" Type="http://schemas.openxmlformats.org/officeDocument/2006/relationships/image" Target="../media/image55.png"/><Relationship Id="rId6" Type="http://schemas.openxmlformats.org/officeDocument/2006/relationships/oleObject" Target="../embeddings/oleObject41.bin"/><Relationship Id="rId18" Type="http://schemas.openxmlformats.org/officeDocument/2006/relationships/oleObject" Target="../embeddings/oleObject45.bin"/><Relationship Id="rId7" Type="http://schemas.openxmlformats.org/officeDocument/2006/relationships/image" Target="../media/image59.png"/><Relationship Id="rId8" Type="http://schemas.openxmlformats.org/officeDocument/2006/relationships/oleObject" Target="../embeddings/oleObject42.bin"/></Relationships>
</file>

<file path=ppt/slides/_rels/slide34.xml.rels><?xml version="1.0" encoding="UTF-8" standalone="yes"?><Relationships xmlns="http://schemas.openxmlformats.org/package/2006/relationships"><Relationship Id="rId11" Type="http://schemas.openxmlformats.org/officeDocument/2006/relationships/oleObject" Target="../embeddings/oleObject48.bin"/><Relationship Id="rId10" Type="http://schemas.openxmlformats.org/officeDocument/2006/relationships/image" Target="../media/image68.png"/><Relationship Id="rId13" Type="http://schemas.openxmlformats.org/officeDocument/2006/relationships/image" Target="../media/image54.png"/><Relationship Id="rId12" Type="http://schemas.openxmlformats.org/officeDocument/2006/relationships/oleObject" Target="../embeddings/oleObject48.bin"/><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vmlDrawing" Target="../drawings/vmlDrawing16.vml"/><Relationship Id="rId4" Type="http://schemas.openxmlformats.org/officeDocument/2006/relationships/image" Target="../media/image7.jpg"/><Relationship Id="rId9" Type="http://schemas.openxmlformats.org/officeDocument/2006/relationships/oleObject" Target="../embeddings/oleObject47.bin"/><Relationship Id="rId14" Type="http://schemas.openxmlformats.org/officeDocument/2006/relationships/image" Target="../media/image65.png"/><Relationship Id="rId5" Type="http://schemas.openxmlformats.org/officeDocument/2006/relationships/oleObject" Target="../embeddings/oleObject46.bin"/><Relationship Id="rId6" Type="http://schemas.openxmlformats.org/officeDocument/2006/relationships/oleObject" Target="../embeddings/oleObject46.bin"/><Relationship Id="rId7" Type="http://schemas.openxmlformats.org/officeDocument/2006/relationships/image" Target="../media/image45.png"/><Relationship Id="rId8" Type="http://schemas.openxmlformats.org/officeDocument/2006/relationships/oleObject" Target="../embeddings/oleObject47.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jpg"/><Relationship Id="rId4" Type="http://schemas.openxmlformats.org/officeDocument/2006/relationships/image" Target="../media/image5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7.jpg"/><Relationship Id="rId4" Type="http://schemas.openxmlformats.org/officeDocument/2006/relationships/image" Target="../media/image66.png"/><Relationship Id="rId5" Type="http://schemas.openxmlformats.org/officeDocument/2006/relationships/image" Target="../media/image56.jpg"/></Relationships>
</file>

<file path=ppt/slides/_rels/slide37.xml.rels><?xml version="1.0" encoding="UTF-8" standalone="yes"?><Relationships xmlns="http://schemas.openxmlformats.org/package/2006/relationships"><Relationship Id="rId10" Type="http://schemas.openxmlformats.org/officeDocument/2006/relationships/image" Target="../media/image67.png"/><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vmlDrawing" Target="../drawings/vmlDrawing17.vml"/><Relationship Id="rId4" Type="http://schemas.openxmlformats.org/officeDocument/2006/relationships/image" Target="../media/image7.jpg"/><Relationship Id="rId9" Type="http://schemas.openxmlformats.org/officeDocument/2006/relationships/oleObject" Target="../embeddings/oleObject50.bin"/><Relationship Id="rId5" Type="http://schemas.openxmlformats.org/officeDocument/2006/relationships/oleObject" Target="../embeddings/oleObject49.bin"/><Relationship Id="rId6" Type="http://schemas.openxmlformats.org/officeDocument/2006/relationships/oleObject" Target="../embeddings/oleObject49.bin"/><Relationship Id="rId7" Type="http://schemas.openxmlformats.org/officeDocument/2006/relationships/image" Target="../media/image60.png"/><Relationship Id="rId8" Type="http://schemas.openxmlformats.org/officeDocument/2006/relationships/oleObject" Target="../embeddings/oleObject50.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4.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nvSpPr>
        <p:spPr>
          <a:xfrm>
            <a:off x="2236233" y="3278853"/>
            <a:ext cx="46120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6000">
                <a:solidFill>
                  <a:srgbClr val="34495E"/>
                </a:solidFill>
                <a:latin typeface="Quattrocento Sans"/>
                <a:ea typeface="Quattrocento Sans"/>
                <a:cs typeface="Quattrocento Sans"/>
                <a:sym typeface="Quattrocento Sans"/>
              </a:rPr>
              <a:t>CHƯƠNG 8</a:t>
            </a:r>
            <a:endParaRPr b="1" sz="6000">
              <a:solidFill>
                <a:srgbClr val="16A085"/>
              </a:solidFill>
              <a:latin typeface="Quattrocento Sans"/>
              <a:ea typeface="Quattrocento Sans"/>
              <a:cs typeface="Quattrocento Sans"/>
              <a:sym typeface="Quattrocento Sans"/>
            </a:endParaRPr>
          </a:p>
        </p:txBody>
      </p:sp>
      <p:cxnSp>
        <p:nvCxnSpPr>
          <p:cNvPr id="107" name="Google Shape;107;p1"/>
          <p:cNvCxnSpPr/>
          <p:nvPr/>
        </p:nvCxnSpPr>
        <p:spPr>
          <a:xfrm>
            <a:off x="2123728" y="4256322"/>
            <a:ext cx="4824536" cy="0"/>
          </a:xfrm>
          <a:prstGeom prst="straightConnector1">
            <a:avLst/>
          </a:prstGeom>
          <a:noFill/>
          <a:ln cap="flat" cmpd="sng" w="9525">
            <a:solidFill>
              <a:srgbClr val="BFBFBF"/>
            </a:solidFill>
            <a:prstDash val="solid"/>
            <a:round/>
            <a:headEnd len="sm" w="sm" type="none"/>
            <a:tailEnd len="sm" w="sm" type="none"/>
          </a:ln>
        </p:spPr>
      </p:cxnSp>
      <p:sp>
        <p:nvSpPr>
          <p:cNvPr id="108" name="Google Shape;108;p1"/>
          <p:cNvSpPr txBox="1"/>
          <p:nvPr/>
        </p:nvSpPr>
        <p:spPr>
          <a:xfrm>
            <a:off x="381000" y="4325799"/>
            <a:ext cx="83820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34495E"/>
                </a:solidFill>
                <a:latin typeface="Quattrocento Sans"/>
                <a:ea typeface="Quattrocento Sans"/>
                <a:cs typeface="Quattrocento Sans"/>
                <a:sym typeface="Quattrocento Sans"/>
              </a:rPr>
              <a:t>Ổ LĂN</a:t>
            </a:r>
            <a:endParaRPr sz="3000">
              <a:solidFill>
                <a:srgbClr val="34495E"/>
              </a:solidFill>
              <a:latin typeface="Quattrocento Sans"/>
              <a:ea typeface="Quattrocento Sans"/>
              <a:cs typeface="Quattrocento Sans"/>
              <a:sym typeface="Quattrocento Sans"/>
            </a:endParaRPr>
          </a:p>
        </p:txBody>
      </p:sp>
      <p:pic>
        <p:nvPicPr>
          <p:cNvPr id="109" name="Google Shape;109;p1"/>
          <p:cNvPicPr preferRelativeResize="0"/>
          <p:nvPr/>
        </p:nvPicPr>
        <p:blipFill rotWithShape="1">
          <a:blip r:embed="rId3">
            <a:alphaModFix/>
          </a:blip>
          <a:srcRect b="0" l="0" r="0" t="0"/>
          <a:stretch/>
        </p:blipFill>
        <p:spPr>
          <a:xfrm>
            <a:off x="3717947" y="1371600"/>
            <a:ext cx="1648572" cy="16447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990600" y="76200"/>
            <a:ext cx="77724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200"/>
              <a:buFont typeface="Quattrocento Sans"/>
              <a:buNone/>
            </a:pPr>
            <a:r>
              <a:rPr lang="en-US"/>
              <a:t>NỘI DUNG</a:t>
            </a:r>
            <a:endParaRPr/>
          </a:p>
        </p:txBody>
      </p:sp>
      <p:grpSp>
        <p:nvGrpSpPr>
          <p:cNvPr id="115" name="Google Shape;115;p2"/>
          <p:cNvGrpSpPr/>
          <p:nvPr/>
        </p:nvGrpSpPr>
        <p:grpSpPr>
          <a:xfrm>
            <a:off x="1063785" y="1076997"/>
            <a:ext cx="7699215" cy="527370"/>
            <a:chOff x="1063785" y="1076997"/>
            <a:chExt cx="7699215" cy="527370"/>
          </a:xfrm>
        </p:grpSpPr>
        <p:grpSp>
          <p:nvGrpSpPr>
            <p:cNvPr id="116" name="Google Shape;116;p2"/>
            <p:cNvGrpSpPr/>
            <p:nvPr/>
          </p:nvGrpSpPr>
          <p:grpSpPr>
            <a:xfrm>
              <a:off x="1063785" y="1076997"/>
              <a:ext cx="539562" cy="527370"/>
              <a:chOff x="762000" y="1453830"/>
              <a:chExt cx="539562" cy="527370"/>
            </a:xfrm>
          </p:grpSpPr>
          <p:sp>
            <p:nvSpPr>
              <p:cNvPr id="117" name="Google Shape;117;p2"/>
              <p:cNvSpPr/>
              <p:nvPr/>
            </p:nvSpPr>
            <p:spPr>
              <a:xfrm>
                <a:off x="762000" y="1453830"/>
                <a:ext cx="527370" cy="527370"/>
              </a:xfrm>
              <a:custGeom>
                <a:rect b="b" l="l" r="r" t="t"/>
                <a:pathLst>
                  <a:path extrusionOk="0" h="1326" w="1327">
                    <a:moveTo>
                      <a:pt x="663" y="0"/>
                    </a:moveTo>
                    <a:cubicBezTo>
                      <a:pt x="1030" y="0"/>
                      <a:pt x="1327" y="297"/>
                      <a:pt x="1327" y="663"/>
                    </a:cubicBezTo>
                    <a:cubicBezTo>
                      <a:pt x="1327" y="1029"/>
                      <a:pt x="1030" y="1326"/>
                      <a:pt x="663" y="1326"/>
                    </a:cubicBezTo>
                    <a:cubicBezTo>
                      <a:pt x="297" y="1326"/>
                      <a:pt x="0" y="1029"/>
                      <a:pt x="0" y="663"/>
                    </a:cubicBezTo>
                    <a:cubicBezTo>
                      <a:pt x="0" y="297"/>
                      <a:pt x="297" y="0"/>
                      <a:pt x="663" y="0"/>
                    </a:cubicBezTo>
                    <a:close/>
                    <a:moveTo>
                      <a:pt x="663" y="85"/>
                    </a:moveTo>
                    <a:cubicBezTo>
                      <a:pt x="344" y="85"/>
                      <a:pt x="85" y="344"/>
                      <a:pt x="85" y="663"/>
                    </a:cubicBezTo>
                    <a:cubicBezTo>
                      <a:pt x="85" y="983"/>
                      <a:pt x="344" y="1242"/>
                      <a:pt x="663" y="1242"/>
                    </a:cubicBezTo>
                    <a:cubicBezTo>
                      <a:pt x="983" y="1242"/>
                      <a:pt x="1242" y="983"/>
                      <a:pt x="1242" y="663"/>
                    </a:cubicBezTo>
                    <a:cubicBezTo>
                      <a:pt x="1242" y="344"/>
                      <a:pt x="983" y="85"/>
                      <a:pt x="663" y="85"/>
                    </a:cubicBezTo>
                    <a:close/>
                  </a:path>
                </a:pathLst>
              </a:custGeom>
              <a:solidFill>
                <a:srgbClr val="ECF0F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900">
                  <a:solidFill>
                    <a:schemeClr val="dk1"/>
                  </a:solidFill>
                  <a:latin typeface="Calibri"/>
                  <a:ea typeface="Calibri"/>
                  <a:cs typeface="Calibri"/>
                  <a:sym typeface="Calibri"/>
                </a:endParaRPr>
              </a:p>
            </p:txBody>
          </p:sp>
          <p:sp>
            <p:nvSpPr>
              <p:cNvPr id="118" name="Google Shape;118;p2"/>
              <p:cNvSpPr txBox="1"/>
              <p:nvPr/>
            </p:nvSpPr>
            <p:spPr>
              <a:xfrm>
                <a:off x="850392" y="1508760"/>
                <a:ext cx="451170"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lt1"/>
                    </a:solidFill>
                    <a:latin typeface="Quattrocento Sans"/>
                    <a:ea typeface="Quattrocento Sans"/>
                    <a:cs typeface="Quattrocento Sans"/>
                    <a:sym typeface="Quattrocento Sans"/>
                  </a:rPr>
                  <a:t>1</a:t>
                </a:r>
                <a:endParaRPr b="1" sz="2200">
                  <a:solidFill>
                    <a:schemeClr val="lt1"/>
                  </a:solidFill>
                  <a:latin typeface="Quattrocento Sans"/>
                  <a:ea typeface="Quattrocento Sans"/>
                  <a:cs typeface="Quattrocento Sans"/>
                  <a:sym typeface="Quattrocento Sans"/>
                </a:endParaRPr>
              </a:p>
            </p:txBody>
          </p:sp>
        </p:grpSp>
        <p:sp>
          <p:nvSpPr>
            <p:cNvPr id="119" name="Google Shape;119;p2"/>
            <p:cNvSpPr txBox="1"/>
            <p:nvPr/>
          </p:nvSpPr>
          <p:spPr>
            <a:xfrm>
              <a:off x="1676400" y="1078992"/>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lt1"/>
                  </a:solidFill>
                  <a:latin typeface="Quattrocento Sans"/>
                  <a:ea typeface="Quattrocento Sans"/>
                  <a:cs typeface="Quattrocento Sans"/>
                  <a:sym typeface="Quattrocento Sans"/>
                </a:rPr>
                <a:t>Khái niệm chung</a:t>
              </a:r>
              <a:endParaRPr sz="2600">
                <a:solidFill>
                  <a:schemeClr val="lt1"/>
                </a:solidFill>
                <a:latin typeface="Quattrocento Sans"/>
                <a:ea typeface="Quattrocento Sans"/>
                <a:cs typeface="Quattrocento Sans"/>
                <a:sym typeface="Quattrocento Sans"/>
              </a:endParaRPr>
            </a:p>
          </p:txBody>
        </p:sp>
      </p:grpSp>
      <p:grpSp>
        <p:nvGrpSpPr>
          <p:cNvPr id="120" name="Google Shape;120;p2"/>
          <p:cNvGrpSpPr/>
          <p:nvPr/>
        </p:nvGrpSpPr>
        <p:grpSpPr>
          <a:xfrm>
            <a:off x="1066800" y="1752600"/>
            <a:ext cx="7699215" cy="527370"/>
            <a:chOff x="1063785" y="1076997"/>
            <a:chExt cx="7699215" cy="527370"/>
          </a:xfrm>
        </p:grpSpPr>
        <p:grpSp>
          <p:nvGrpSpPr>
            <p:cNvPr id="121" name="Google Shape;121;p2"/>
            <p:cNvGrpSpPr/>
            <p:nvPr/>
          </p:nvGrpSpPr>
          <p:grpSpPr>
            <a:xfrm>
              <a:off x="1063785" y="1076997"/>
              <a:ext cx="539562" cy="527370"/>
              <a:chOff x="762000" y="1453830"/>
              <a:chExt cx="539562" cy="527370"/>
            </a:xfrm>
          </p:grpSpPr>
          <p:sp>
            <p:nvSpPr>
              <p:cNvPr id="122" name="Google Shape;122;p2"/>
              <p:cNvSpPr/>
              <p:nvPr/>
            </p:nvSpPr>
            <p:spPr>
              <a:xfrm>
                <a:off x="762000" y="1453830"/>
                <a:ext cx="527370" cy="527370"/>
              </a:xfrm>
              <a:custGeom>
                <a:rect b="b" l="l" r="r" t="t"/>
                <a:pathLst>
                  <a:path extrusionOk="0" h="1326" w="1327">
                    <a:moveTo>
                      <a:pt x="663" y="0"/>
                    </a:moveTo>
                    <a:cubicBezTo>
                      <a:pt x="1030" y="0"/>
                      <a:pt x="1327" y="297"/>
                      <a:pt x="1327" y="663"/>
                    </a:cubicBezTo>
                    <a:cubicBezTo>
                      <a:pt x="1327" y="1029"/>
                      <a:pt x="1030" y="1326"/>
                      <a:pt x="663" y="1326"/>
                    </a:cubicBezTo>
                    <a:cubicBezTo>
                      <a:pt x="297" y="1326"/>
                      <a:pt x="0" y="1029"/>
                      <a:pt x="0" y="663"/>
                    </a:cubicBezTo>
                    <a:cubicBezTo>
                      <a:pt x="0" y="297"/>
                      <a:pt x="297" y="0"/>
                      <a:pt x="663" y="0"/>
                    </a:cubicBezTo>
                    <a:close/>
                    <a:moveTo>
                      <a:pt x="663" y="85"/>
                    </a:moveTo>
                    <a:cubicBezTo>
                      <a:pt x="344" y="85"/>
                      <a:pt x="85" y="344"/>
                      <a:pt x="85" y="663"/>
                    </a:cubicBezTo>
                    <a:cubicBezTo>
                      <a:pt x="85" y="983"/>
                      <a:pt x="344" y="1242"/>
                      <a:pt x="663" y="1242"/>
                    </a:cubicBezTo>
                    <a:cubicBezTo>
                      <a:pt x="983" y="1242"/>
                      <a:pt x="1242" y="983"/>
                      <a:pt x="1242" y="663"/>
                    </a:cubicBezTo>
                    <a:cubicBezTo>
                      <a:pt x="1242" y="344"/>
                      <a:pt x="983" y="85"/>
                      <a:pt x="663" y="85"/>
                    </a:cubicBezTo>
                    <a:close/>
                  </a:path>
                </a:pathLst>
              </a:custGeom>
              <a:solidFill>
                <a:srgbClr val="ECF0F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900">
                  <a:solidFill>
                    <a:schemeClr val="dk1"/>
                  </a:solidFill>
                  <a:latin typeface="Calibri"/>
                  <a:ea typeface="Calibri"/>
                  <a:cs typeface="Calibri"/>
                  <a:sym typeface="Calibri"/>
                </a:endParaRPr>
              </a:p>
            </p:txBody>
          </p:sp>
          <p:sp>
            <p:nvSpPr>
              <p:cNvPr id="123" name="Google Shape;123;p2"/>
              <p:cNvSpPr txBox="1"/>
              <p:nvPr/>
            </p:nvSpPr>
            <p:spPr>
              <a:xfrm>
                <a:off x="850392" y="1508760"/>
                <a:ext cx="451170"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lt1"/>
                    </a:solidFill>
                    <a:latin typeface="Quattrocento Sans"/>
                    <a:ea typeface="Quattrocento Sans"/>
                    <a:cs typeface="Quattrocento Sans"/>
                    <a:sym typeface="Quattrocento Sans"/>
                  </a:rPr>
                  <a:t>2</a:t>
                </a:r>
                <a:endParaRPr b="1" sz="2200">
                  <a:solidFill>
                    <a:schemeClr val="lt1"/>
                  </a:solidFill>
                  <a:latin typeface="Quattrocento Sans"/>
                  <a:ea typeface="Quattrocento Sans"/>
                  <a:cs typeface="Quattrocento Sans"/>
                  <a:sym typeface="Quattrocento Sans"/>
                </a:endParaRPr>
              </a:p>
            </p:txBody>
          </p:sp>
        </p:grpSp>
        <p:sp>
          <p:nvSpPr>
            <p:cNvPr id="124" name="Google Shape;124;p2"/>
            <p:cNvSpPr txBox="1"/>
            <p:nvPr/>
          </p:nvSpPr>
          <p:spPr>
            <a:xfrm>
              <a:off x="1676400" y="1078992"/>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lt1"/>
                  </a:solidFill>
                  <a:latin typeface="Quattrocento Sans"/>
                  <a:ea typeface="Quattrocento Sans"/>
                  <a:cs typeface="Quattrocento Sans"/>
                  <a:sym typeface="Quattrocento Sans"/>
                </a:rPr>
                <a:t>Ưu nhược điểm và phạm vi sử dụng</a:t>
              </a:r>
              <a:endParaRPr sz="2600">
                <a:solidFill>
                  <a:schemeClr val="lt1"/>
                </a:solidFill>
                <a:latin typeface="Quattrocento Sans"/>
                <a:ea typeface="Quattrocento Sans"/>
                <a:cs typeface="Quattrocento Sans"/>
                <a:sym typeface="Quattrocento Sans"/>
              </a:endParaRPr>
            </a:p>
          </p:txBody>
        </p:sp>
      </p:grpSp>
      <p:pic>
        <p:nvPicPr>
          <p:cNvPr id="125" name="Google Shape;125;p2"/>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grpSp>
        <p:nvGrpSpPr>
          <p:cNvPr id="126" name="Google Shape;126;p2"/>
          <p:cNvGrpSpPr/>
          <p:nvPr/>
        </p:nvGrpSpPr>
        <p:grpSpPr>
          <a:xfrm>
            <a:off x="1063785" y="2438400"/>
            <a:ext cx="7699215" cy="527370"/>
            <a:chOff x="1063785" y="1076997"/>
            <a:chExt cx="7699215" cy="527370"/>
          </a:xfrm>
        </p:grpSpPr>
        <p:grpSp>
          <p:nvGrpSpPr>
            <p:cNvPr id="127" name="Google Shape;127;p2"/>
            <p:cNvGrpSpPr/>
            <p:nvPr/>
          </p:nvGrpSpPr>
          <p:grpSpPr>
            <a:xfrm>
              <a:off x="1063785" y="1076997"/>
              <a:ext cx="539562" cy="527370"/>
              <a:chOff x="762000" y="1453830"/>
              <a:chExt cx="539562" cy="527370"/>
            </a:xfrm>
          </p:grpSpPr>
          <p:sp>
            <p:nvSpPr>
              <p:cNvPr id="128" name="Google Shape;128;p2"/>
              <p:cNvSpPr/>
              <p:nvPr/>
            </p:nvSpPr>
            <p:spPr>
              <a:xfrm>
                <a:off x="762000" y="1453830"/>
                <a:ext cx="527370" cy="527370"/>
              </a:xfrm>
              <a:custGeom>
                <a:rect b="b" l="l" r="r" t="t"/>
                <a:pathLst>
                  <a:path extrusionOk="0" h="1326" w="1327">
                    <a:moveTo>
                      <a:pt x="663" y="0"/>
                    </a:moveTo>
                    <a:cubicBezTo>
                      <a:pt x="1030" y="0"/>
                      <a:pt x="1327" y="297"/>
                      <a:pt x="1327" y="663"/>
                    </a:cubicBezTo>
                    <a:cubicBezTo>
                      <a:pt x="1327" y="1029"/>
                      <a:pt x="1030" y="1326"/>
                      <a:pt x="663" y="1326"/>
                    </a:cubicBezTo>
                    <a:cubicBezTo>
                      <a:pt x="297" y="1326"/>
                      <a:pt x="0" y="1029"/>
                      <a:pt x="0" y="663"/>
                    </a:cubicBezTo>
                    <a:cubicBezTo>
                      <a:pt x="0" y="297"/>
                      <a:pt x="297" y="0"/>
                      <a:pt x="663" y="0"/>
                    </a:cubicBezTo>
                    <a:close/>
                    <a:moveTo>
                      <a:pt x="663" y="85"/>
                    </a:moveTo>
                    <a:cubicBezTo>
                      <a:pt x="344" y="85"/>
                      <a:pt x="85" y="344"/>
                      <a:pt x="85" y="663"/>
                    </a:cubicBezTo>
                    <a:cubicBezTo>
                      <a:pt x="85" y="983"/>
                      <a:pt x="344" y="1242"/>
                      <a:pt x="663" y="1242"/>
                    </a:cubicBezTo>
                    <a:cubicBezTo>
                      <a:pt x="983" y="1242"/>
                      <a:pt x="1242" y="983"/>
                      <a:pt x="1242" y="663"/>
                    </a:cubicBezTo>
                    <a:cubicBezTo>
                      <a:pt x="1242" y="344"/>
                      <a:pt x="983" y="85"/>
                      <a:pt x="663" y="85"/>
                    </a:cubicBezTo>
                    <a:close/>
                  </a:path>
                </a:pathLst>
              </a:custGeom>
              <a:solidFill>
                <a:srgbClr val="ECF0F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900">
                  <a:solidFill>
                    <a:schemeClr val="dk1"/>
                  </a:solidFill>
                  <a:latin typeface="Calibri"/>
                  <a:ea typeface="Calibri"/>
                  <a:cs typeface="Calibri"/>
                  <a:sym typeface="Calibri"/>
                </a:endParaRPr>
              </a:p>
            </p:txBody>
          </p:sp>
          <p:sp>
            <p:nvSpPr>
              <p:cNvPr id="129" name="Google Shape;129;p2"/>
              <p:cNvSpPr txBox="1"/>
              <p:nvPr/>
            </p:nvSpPr>
            <p:spPr>
              <a:xfrm>
                <a:off x="850392" y="1508760"/>
                <a:ext cx="451170"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lt1"/>
                    </a:solidFill>
                    <a:latin typeface="Quattrocento Sans"/>
                    <a:ea typeface="Quattrocento Sans"/>
                    <a:cs typeface="Quattrocento Sans"/>
                    <a:sym typeface="Quattrocento Sans"/>
                  </a:rPr>
                  <a:t>3</a:t>
                </a:r>
                <a:endParaRPr/>
              </a:p>
            </p:txBody>
          </p:sp>
        </p:grpSp>
        <p:sp>
          <p:nvSpPr>
            <p:cNvPr id="130" name="Google Shape;130;p2"/>
            <p:cNvSpPr txBox="1"/>
            <p:nvPr/>
          </p:nvSpPr>
          <p:spPr>
            <a:xfrm>
              <a:off x="1676400" y="1078992"/>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lt1"/>
                  </a:solidFill>
                  <a:latin typeface="Quattrocento Sans"/>
                  <a:ea typeface="Quattrocento Sans"/>
                  <a:cs typeface="Quattrocento Sans"/>
                  <a:sym typeface="Quattrocento Sans"/>
                </a:rPr>
                <a:t>Điều kiện làm việc của ổ</a:t>
              </a:r>
              <a:endParaRPr sz="2600">
                <a:solidFill>
                  <a:schemeClr val="lt1"/>
                </a:solidFill>
                <a:latin typeface="Quattrocento Sans"/>
                <a:ea typeface="Quattrocento Sans"/>
                <a:cs typeface="Quattrocento Sans"/>
                <a:sym typeface="Quattrocento Sans"/>
              </a:endParaRPr>
            </a:p>
          </p:txBody>
        </p:sp>
      </p:grpSp>
      <p:grpSp>
        <p:nvGrpSpPr>
          <p:cNvPr id="131" name="Google Shape;131;p2"/>
          <p:cNvGrpSpPr/>
          <p:nvPr/>
        </p:nvGrpSpPr>
        <p:grpSpPr>
          <a:xfrm>
            <a:off x="1063785" y="3124200"/>
            <a:ext cx="7699215" cy="527370"/>
            <a:chOff x="1063785" y="1076997"/>
            <a:chExt cx="7699215" cy="527370"/>
          </a:xfrm>
        </p:grpSpPr>
        <p:grpSp>
          <p:nvGrpSpPr>
            <p:cNvPr id="132" name="Google Shape;132;p2"/>
            <p:cNvGrpSpPr/>
            <p:nvPr/>
          </p:nvGrpSpPr>
          <p:grpSpPr>
            <a:xfrm>
              <a:off x="1063785" y="1076997"/>
              <a:ext cx="539562" cy="527370"/>
              <a:chOff x="762000" y="1453830"/>
              <a:chExt cx="539562" cy="527370"/>
            </a:xfrm>
          </p:grpSpPr>
          <p:sp>
            <p:nvSpPr>
              <p:cNvPr id="133" name="Google Shape;133;p2"/>
              <p:cNvSpPr/>
              <p:nvPr/>
            </p:nvSpPr>
            <p:spPr>
              <a:xfrm>
                <a:off x="762000" y="1453830"/>
                <a:ext cx="527370" cy="527370"/>
              </a:xfrm>
              <a:custGeom>
                <a:rect b="b" l="l" r="r" t="t"/>
                <a:pathLst>
                  <a:path extrusionOk="0" h="1326" w="1327">
                    <a:moveTo>
                      <a:pt x="663" y="0"/>
                    </a:moveTo>
                    <a:cubicBezTo>
                      <a:pt x="1030" y="0"/>
                      <a:pt x="1327" y="297"/>
                      <a:pt x="1327" y="663"/>
                    </a:cubicBezTo>
                    <a:cubicBezTo>
                      <a:pt x="1327" y="1029"/>
                      <a:pt x="1030" y="1326"/>
                      <a:pt x="663" y="1326"/>
                    </a:cubicBezTo>
                    <a:cubicBezTo>
                      <a:pt x="297" y="1326"/>
                      <a:pt x="0" y="1029"/>
                      <a:pt x="0" y="663"/>
                    </a:cubicBezTo>
                    <a:cubicBezTo>
                      <a:pt x="0" y="297"/>
                      <a:pt x="297" y="0"/>
                      <a:pt x="663" y="0"/>
                    </a:cubicBezTo>
                    <a:close/>
                    <a:moveTo>
                      <a:pt x="663" y="85"/>
                    </a:moveTo>
                    <a:cubicBezTo>
                      <a:pt x="344" y="85"/>
                      <a:pt x="85" y="344"/>
                      <a:pt x="85" y="663"/>
                    </a:cubicBezTo>
                    <a:cubicBezTo>
                      <a:pt x="85" y="983"/>
                      <a:pt x="344" y="1242"/>
                      <a:pt x="663" y="1242"/>
                    </a:cubicBezTo>
                    <a:cubicBezTo>
                      <a:pt x="983" y="1242"/>
                      <a:pt x="1242" y="983"/>
                      <a:pt x="1242" y="663"/>
                    </a:cubicBezTo>
                    <a:cubicBezTo>
                      <a:pt x="1242" y="344"/>
                      <a:pt x="983" y="85"/>
                      <a:pt x="663" y="85"/>
                    </a:cubicBezTo>
                    <a:close/>
                  </a:path>
                </a:pathLst>
              </a:custGeom>
              <a:solidFill>
                <a:srgbClr val="ECF0F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900">
                  <a:solidFill>
                    <a:schemeClr val="dk1"/>
                  </a:solidFill>
                  <a:latin typeface="Calibri"/>
                  <a:ea typeface="Calibri"/>
                  <a:cs typeface="Calibri"/>
                  <a:sym typeface="Calibri"/>
                </a:endParaRPr>
              </a:p>
            </p:txBody>
          </p:sp>
          <p:sp>
            <p:nvSpPr>
              <p:cNvPr id="134" name="Google Shape;134;p2"/>
              <p:cNvSpPr txBox="1"/>
              <p:nvPr/>
            </p:nvSpPr>
            <p:spPr>
              <a:xfrm>
                <a:off x="850392" y="1508760"/>
                <a:ext cx="451170"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lt1"/>
                    </a:solidFill>
                    <a:latin typeface="Quattrocento Sans"/>
                    <a:ea typeface="Quattrocento Sans"/>
                    <a:cs typeface="Quattrocento Sans"/>
                    <a:sym typeface="Quattrocento Sans"/>
                  </a:rPr>
                  <a:t>4</a:t>
                </a:r>
                <a:endParaRPr b="1" sz="2200">
                  <a:solidFill>
                    <a:schemeClr val="lt1"/>
                  </a:solidFill>
                  <a:latin typeface="Quattrocento Sans"/>
                  <a:ea typeface="Quattrocento Sans"/>
                  <a:cs typeface="Quattrocento Sans"/>
                  <a:sym typeface="Quattrocento Sans"/>
                </a:endParaRPr>
              </a:p>
            </p:txBody>
          </p:sp>
        </p:grpSp>
        <p:sp>
          <p:nvSpPr>
            <p:cNvPr id="135" name="Google Shape;135;p2"/>
            <p:cNvSpPr txBox="1"/>
            <p:nvPr/>
          </p:nvSpPr>
          <p:spPr>
            <a:xfrm>
              <a:off x="1676400" y="1078992"/>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lt1"/>
                  </a:solidFill>
                  <a:latin typeface="Quattrocento Sans"/>
                  <a:ea typeface="Quattrocento Sans"/>
                  <a:cs typeface="Quattrocento Sans"/>
                  <a:sym typeface="Quattrocento Sans"/>
                </a:rPr>
                <a:t>Động học và động lực học ổ lăn</a:t>
              </a:r>
              <a:endParaRPr sz="2600">
                <a:solidFill>
                  <a:schemeClr val="lt1"/>
                </a:solidFill>
                <a:latin typeface="Quattrocento Sans"/>
                <a:ea typeface="Quattrocento Sans"/>
                <a:cs typeface="Quattrocento Sans"/>
                <a:sym typeface="Quattrocento Sans"/>
              </a:endParaRPr>
            </a:p>
          </p:txBody>
        </p:sp>
      </p:grpSp>
      <p:grpSp>
        <p:nvGrpSpPr>
          <p:cNvPr id="136" name="Google Shape;136;p2"/>
          <p:cNvGrpSpPr/>
          <p:nvPr/>
        </p:nvGrpSpPr>
        <p:grpSpPr>
          <a:xfrm>
            <a:off x="1063785" y="3789040"/>
            <a:ext cx="7699215" cy="527370"/>
            <a:chOff x="1063785" y="1076997"/>
            <a:chExt cx="7699215" cy="527370"/>
          </a:xfrm>
        </p:grpSpPr>
        <p:grpSp>
          <p:nvGrpSpPr>
            <p:cNvPr id="137" name="Google Shape;137;p2"/>
            <p:cNvGrpSpPr/>
            <p:nvPr/>
          </p:nvGrpSpPr>
          <p:grpSpPr>
            <a:xfrm>
              <a:off x="1063785" y="1076997"/>
              <a:ext cx="539562" cy="527370"/>
              <a:chOff x="762000" y="1453830"/>
              <a:chExt cx="539562" cy="527370"/>
            </a:xfrm>
          </p:grpSpPr>
          <p:sp>
            <p:nvSpPr>
              <p:cNvPr id="138" name="Google Shape;138;p2"/>
              <p:cNvSpPr/>
              <p:nvPr/>
            </p:nvSpPr>
            <p:spPr>
              <a:xfrm>
                <a:off x="762000" y="1453830"/>
                <a:ext cx="527370" cy="527370"/>
              </a:xfrm>
              <a:custGeom>
                <a:rect b="b" l="l" r="r" t="t"/>
                <a:pathLst>
                  <a:path extrusionOk="0" h="1326" w="1327">
                    <a:moveTo>
                      <a:pt x="663" y="0"/>
                    </a:moveTo>
                    <a:cubicBezTo>
                      <a:pt x="1030" y="0"/>
                      <a:pt x="1327" y="297"/>
                      <a:pt x="1327" y="663"/>
                    </a:cubicBezTo>
                    <a:cubicBezTo>
                      <a:pt x="1327" y="1029"/>
                      <a:pt x="1030" y="1326"/>
                      <a:pt x="663" y="1326"/>
                    </a:cubicBezTo>
                    <a:cubicBezTo>
                      <a:pt x="297" y="1326"/>
                      <a:pt x="0" y="1029"/>
                      <a:pt x="0" y="663"/>
                    </a:cubicBezTo>
                    <a:cubicBezTo>
                      <a:pt x="0" y="297"/>
                      <a:pt x="297" y="0"/>
                      <a:pt x="663" y="0"/>
                    </a:cubicBezTo>
                    <a:close/>
                    <a:moveTo>
                      <a:pt x="663" y="85"/>
                    </a:moveTo>
                    <a:cubicBezTo>
                      <a:pt x="344" y="85"/>
                      <a:pt x="85" y="344"/>
                      <a:pt x="85" y="663"/>
                    </a:cubicBezTo>
                    <a:cubicBezTo>
                      <a:pt x="85" y="983"/>
                      <a:pt x="344" y="1242"/>
                      <a:pt x="663" y="1242"/>
                    </a:cubicBezTo>
                    <a:cubicBezTo>
                      <a:pt x="983" y="1242"/>
                      <a:pt x="1242" y="983"/>
                      <a:pt x="1242" y="663"/>
                    </a:cubicBezTo>
                    <a:cubicBezTo>
                      <a:pt x="1242" y="344"/>
                      <a:pt x="983" y="85"/>
                      <a:pt x="663" y="85"/>
                    </a:cubicBezTo>
                    <a:close/>
                  </a:path>
                </a:pathLst>
              </a:custGeom>
              <a:solidFill>
                <a:srgbClr val="ECF0F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900">
                  <a:solidFill>
                    <a:schemeClr val="dk1"/>
                  </a:solidFill>
                  <a:latin typeface="Calibri"/>
                  <a:ea typeface="Calibri"/>
                  <a:cs typeface="Calibri"/>
                  <a:sym typeface="Calibri"/>
                </a:endParaRPr>
              </a:p>
            </p:txBody>
          </p:sp>
          <p:sp>
            <p:nvSpPr>
              <p:cNvPr id="139" name="Google Shape;139;p2"/>
              <p:cNvSpPr txBox="1"/>
              <p:nvPr/>
            </p:nvSpPr>
            <p:spPr>
              <a:xfrm>
                <a:off x="850392" y="1508760"/>
                <a:ext cx="451170"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lt1"/>
                    </a:solidFill>
                    <a:latin typeface="Quattrocento Sans"/>
                    <a:ea typeface="Quattrocento Sans"/>
                    <a:cs typeface="Quattrocento Sans"/>
                    <a:sym typeface="Quattrocento Sans"/>
                  </a:rPr>
                  <a:t>5</a:t>
                </a:r>
                <a:endParaRPr/>
              </a:p>
            </p:txBody>
          </p:sp>
        </p:grpSp>
        <p:sp>
          <p:nvSpPr>
            <p:cNvPr id="140" name="Google Shape;140;p2"/>
            <p:cNvSpPr txBox="1"/>
            <p:nvPr/>
          </p:nvSpPr>
          <p:spPr>
            <a:xfrm>
              <a:off x="1676400" y="1078992"/>
              <a:ext cx="7086600"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chemeClr val="lt1"/>
                  </a:solidFill>
                  <a:latin typeface="Quattrocento Sans"/>
                  <a:ea typeface="Quattrocento Sans"/>
                  <a:cs typeface="Quattrocento Sans"/>
                  <a:sym typeface="Quattrocento Sans"/>
                </a:rPr>
                <a:t>Tính toán ổ lăn</a:t>
              </a:r>
              <a:endParaRPr sz="2600">
                <a:solidFill>
                  <a:schemeClr val="lt1"/>
                </a:solidFill>
                <a:latin typeface="Quattrocento Sans"/>
                <a:ea typeface="Quattrocento Sans"/>
                <a:cs typeface="Quattrocento Sans"/>
                <a:sym typeface="Quattrocento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147" name="Google Shape;147;p3"/>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8.1.1. Cấu tạo</a:t>
            </a:r>
            <a:endParaRPr sz="2400">
              <a:solidFill>
                <a:srgbClr val="16A085"/>
              </a:solidFill>
              <a:latin typeface="Quattrocento Sans"/>
              <a:ea typeface="Quattrocento Sans"/>
              <a:cs typeface="Quattrocento Sans"/>
              <a:sym typeface="Quattrocento Sans"/>
            </a:endParaRPr>
          </a:p>
        </p:txBody>
      </p:sp>
      <p:cxnSp>
        <p:nvCxnSpPr>
          <p:cNvPr id="148" name="Google Shape;148;p3"/>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149" name="Google Shape;149;p3"/>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150" name="Google Shape;150;p3"/>
          <p:cNvSpPr txBox="1"/>
          <p:nvPr>
            <p:ph idx="1" type="body"/>
          </p:nvPr>
        </p:nvSpPr>
        <p:spPr>
          <a:xfrm>
            <a:off x="457199" y="1143000"/>
            <a:ext cx="3720995"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400"/>
              <a:buChar char="⮚"/>
            </a:pPr>
            <a:r>
              <a:rPr lang="en-US" sz="2400"/>
              <a:t>Ổ lăn có cấu tạo gồm:</a:t>
            </a:r>
            <a:endParaRPr/>
          </a:p>
          <a:p>
            <a:pPr indent="-285750" lvl="1" marL="742950" rtl="0" algn="l">
              <a:lnSpc>
                <a:spcPct val="120000"/>
              </a:lnSpc>
              <a:spcBef>
                <a:spcPts val="600"/>
              </a:spcBef>
              <a:spcAft>
                <a:spcPts val="0"/>
              </a:spcAft>
              <a:buSzPts val="2000"/>
              <a:buChar char="▪"/>
            </a:pPr>
            <a:r>
              <a:rPr lang="en-US" sz="2000"/>
              <a:t>Vòng ngoài </a:t>
            </a:r>
            <a:endParaRPr/>
          </a:p>
          <a:p>
            <a:pPr indent="-285750" lvl="1" marL="742950" rtl="0" algn="l">
              <a:lnSpc>
                <a:spcPct val="120000"/>
              </a:lnSpc>
              <a:spcBef>
                <a:spcPts val="600"/>
              </a:spcBef>
              <a:spcAft>
                <a:spcPts val="0"/>
              </a:spcAft>
              <a:buSzPts val="2000"/>
              <a:buChar char="▪"/>
            </a:pPr>
            <a:r>
              <a:rPr lang="en-US" sz="2000"/>
              <a:t>Vòng trong </a:t>
            </a:r>
            <a:endParaRPr/>
          </a:p>
          <a:p>
            <a:pPr indent="-285750" lvl="1" marL="742950" rtl="0" algn="l">
              <a:lnSpc>
                <a:spcPct val="120000"/>
              </a:lnSpc>
              <a:spcBef>
                <a:spcPts val="600"/>
              </a:spcBef>
              <a:spcAft>
                <a:spcPts val="0"/>
              </a:spcAft>
              <a:buSzPts val="2000"/>
              <a:buChar char="▪"/>
            </a:pPr>
            <a:r>
              <a:rPr lang="en-US" sz="2000"/>
              <a:t>Con lăn </a:t>
            </a:r>
            <a:endParaRPr/>
          </a:p>
          <a:p>
            <a:pPr indent="-285750" lvl="1" marL="742950" rtl="0" algn="l">
              <a:lnSpc>
                <a:spcPct val="120000"/>
              </a:lnSpc>
              <a:spcBef>
                <a:spcPts val="600"/>
              </a:spcBef>
              <a:spcAft>
                <a:spcPts val="0"/>
              </a:spcAft>
              <a:buSzPts val="2000"/>
              <a:buChar char="▪"/>
            </a:pPr>
            <a:r>
              <a:rPr lang="en-US" sz="2000"/>
              <a:t>Vòng cách </a:t>
            </a:r>
            <a:endParaRPr/>
          </a:p>
          <a:p>
            <a:pPr indent="-342900" lvl="0" marL="342900" rtl="0" algn="l">
              <a:lnSpc>
                <a:spcPct val="120000"/>
              </a:lnSpc>
              <a:spcBef>
                <a:spcPts val="600"/>
              </a:spcBef>
              <a:spcAft>
                <a:spcPts val="0"/>
              </a:spcAft>
              <a:buSzPts val="2400"/>
              <a:buChar char="⮚"/>
            </a:pPr>
            <a:r>
              <a:rPr lang="en-US" sz="2400"/>
              <a:t>Con lăn có thể là bi, đũa, hoặc trống</a:t>
            </a:r>
            <a:endParaRPr/>
          </a:p>
          <a:p>
            <a:pPr indent="-342900" lvl="0" marL="342900" rtl="0" algn="l">
              <a:lnSpc>
                <a:spcPct val="120000"/>
              </a:lnSpc>
              <a:spcBef>
                <a:spcPts val="600"/>
              </a:spcBef>
              <a:spcAft>
                <a:spcPts val="0"/>
              </a:spcAft>
              <a:buSzPts val="2400"/>
              <a:buChar char="⮚"/>
            </a:pPr>
            <a:r>
              <a:rPr lang="en-US" sz="2400"/>
              <a:t>Vòng cách giữ cho hai con lăn liền kề không tiếp xúc nhau</a:t>
            </a:r>
            <a:endParaRPr sz="2400"/>
          </a:p>
        </p:txBody>
      </p:sp>
      <p:pic>
        <p:nvPicPr>
          <p:cNvPr id="151" name="Google Shape;151;p3"/>
          <p:cNvPicPr preferRelativeResize="0"/>
          <p:nvPr/>
        </p:nvPicPr>
        <p:blipFill rotWithShape="1">
          <a:blip r:embed="rId4">
            <a:alphaModFix/>
          </a:blip>
          <a:srcRect b="0" l="0" r="0" t="0"/>
          <a:stretch/>
        </p:blipFill>
        <p:spPr>
          <a:xfrm>
            <a:off x="4178194" y="2079376"/>
            <a:ext cx="4858302" cy="3291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158" name="Google Shape;158;p4"/>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8.1.2. Phân loại</a:t>
            </a:r>
            <a:endParaRPr sz="2400">
              <a:solidFill>
                <a:srgbClr val="16A085"/>
              </a:solidFill>
              <a:latin typeface="Quattrocento Sans"/>
              <a:ea typeface="Quattrocento Sans"/>
              <a:cs typeface="Quattrocento Sans"/>
              <a:sym typeface="Quattrocento Sans"/>
            </a:endParaRPr>
          </a:p>
        </p:txBody>
      </p:sp>
      <p:cxnSp>
        <p:nvCxnSpPr>
          <p:cNvPr id="159" name="Google Shape;159;p4"/>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160" name="Google Shape;160;p4"/>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161" name="Google Shape;161;p4"/>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Theo khả năng chịu tải trọng:</a:t>
            </a:r>
            <a:endParaRPr/>
          </a:p>
          <a:p>
            <a:pPr indent="-285750" lvl="1" marL="742950" rtl="0" algn="l">
              <a:lnSpc>
                <a:spcPct val="120000"/>
              </a:lnSpc>
              <a:spcBef>
                <a:spcPts val="600"/>
              </a:spcBef>
              <a:spcAft>
                <a:spcPts val="0"/>
              </a:spcAft>
              <a:buSzPts val="2400"/>
              <a:buChar char="▪"/>
            </a:pPr>
            <a:r>
              <a:rPr lang="en-US"/>
              <a:t>Ổ đỡ: chịu lực hướng tâm;</a:t>
            </a:r>
            <a:endParaRPr/>
          </a:p>
          <a:p>
            <a:pPr indent="-285750" lvl="1" marL="742950" rtl="0" algn="l">
              <a:lnSpc>
                <a:spcPct val="120000"/>
              </a:lnSpc>
              <a:spcBef>
                <a:spcPts val="600"/>
              </a:spcBef>
              <a:spcAft>
                <a:spcPts val="0"/>
              </a:spcAft>
              <a:buSzPts val="2400"/>
              <a:buChar char="▪"/>
            </a:pPr>
            <a:r>
              <a:rPr lang="en-US"/>
              <a:t>Ổ đỡ - chặn: chịu lực hướng tâm và lực dọc trục;</a:t>
            </a:r>
            <a:endParaRPr/>
          </a:p>
          <a:p>
            <a:pPr indent="-285750" lvl="1" marL="742950" rtl="0" algn="l">
              <a:lnSpc>
                <a:spcPct val="120000"/>
              </a:lnSpc>
              <a:spcBef>
                <a:spcPts val="600"/>
              </a:spcBef>
              <a:spcAft>
                <a:spcPts val="0"/>
              </a:spcAft>
              <a:buSzPts val="2400"/>
              <a:buChar char="▪"/>
            </a:pPr>
            <a:r>
              <a:rPr lang="en-US"/>
              <a:t>Ổ chặn - đỡ: chịu lực dọc trục và một phần lực hướng tâm;</a:t>
            </a:r>
            <a:endParaRPr/>
          </a:p>
          <a:p>
            <a:pPr indent="-285750" lvl="1" marL="742950" rtl="0" algn="l">
              <a:lnSpc>
                <a:spcPct val="120000"/>
              </a:lnSpc>
              <a:spcBef>
                <a:spcPts val="600"/>
              </a:spcBef>
              <a:spcAft>
                <a:spcPts val="0"/>
              </a:spcAft>
              <a:buSzPts val="2400"/>
              <a:buChar char="▪"/>
            </a:pPr>
            <a:r>
              <a:rPr lang="en-US"/>
              <a:t>Ổ chặn: chỉ chịu lực dọc trục.</a:t>
            </a:r>
            <a:endParaRPr/>
          </a:p>
          <a:p>
            <a:pPr indent="-342900" lvl="0" marL="342900" rtl="0" algn="l">
              <a:lnSpc>
                <a:spcPct val="120000"/>
              </a:lnSpc>
              <a:spcBef>
                <a:spcPts val="600"/>
              </a:spcBef>
              <a:spcAft>
                <a:spcPts val="0"/>
              </a:spcAft>
              <a:buSzPts val="2600"/>
              <a:buChar char="⮚"/>
            </a:pPr>
            <a:r>
              <a:rPr lang="en-US"/>
              <a:t>Theo hình dạng con lăn: ổ bi, ổ đũa.</a:t>
            </a:r>
            <a:endParaRPr/>
          </a:p>
          <a:p>
            <a:pPr indent="-342900" lvl="0" marL="342900" rtl="0" algn="l">
              <a:lnSpc>
                <a:spcPct val="120000"/>
              </a:lnSpc>
              <a:spcBef>
                <a:spcPts val="600"/>
              </a:spcBef>
              <a:spcAft>
                <a:spcPts val="0"/>
              </a:spcAft>
              <a:buSzPts val="2600"/>
              <a:buChar char="⮚"/>
            </a:pPr>
            <a:r>
              <a:rPr lang="en-US"/>
              <a:t>Theo số dãy con lăn: một dãy, hai dãy, bốn dãy…</a:t>
            </a:r>
            <a:endParaRPr/>
          </a:p>
          <a:p>
            <a:pPr indent="-342900" lvl="0" marL="342900" rtl="0" algn="l">
              <a:lnSpc>
                <a:spcPct val="120000"/>
              </a:lnSpc>
              <a:spcBef>
                <a:spcPts val="600"/>
              </a:spcBef>
              <a:spcAft>
                <a:spcPts val="0"/>
              </a:spcAft>
              <a:buSzPts val="2600"/>
              <a:buChar char="⮚"/>
            </a:pPr>
            <a:r>
              <a:rPr lang="en-US"/>
              <a:t>Theo khả năng tự lựa: ổ tự lựa và ổ không tự lựa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168" name="Google Shape;168;p5"/>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8.1.2. Phân loại</a:t>
            </a:r>
            <a:endParaRPr sz="2400">
              <a:solidFill>
                <a:srgbClr val="16A085"/>
              </a:solidFill>
              <a:latin typeface="Quattrocento Sans"/>
              <a:ea typeface="Quattrocento Sans"/>
              <a:cs typeface="Quattrocento Sans"/>
              <a:sym typeface="Quattrocento Sans"/>
            </a:endParaRPr>
          </a:p>
        </p:txBody>
      </p:sp>
      <p:cxnSp>
        <p:nvCxnSpPr>
          <p:cNvPr id="169" name="Google Shape;169;p5"/>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170" name="Google Shape;170;p5"/>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pic>
        <p:nvPicPr>
          <p:cNvPr id="171" name="Google Shape;171;p5"/>
          <p:cNvPicPr preferRelativeResize="0"/>
          <p:nvPr>
            <p:ph idx="1" type="body"/>
          </p:nvPr>
        </p:nvPicPr>
        <p:blipFill rotWithShape="1">
          <a:blip r:embed="rId4">
            <a:alphaModFix/>
          </a:blip>
          <a:srcRect b="0" l="0" r="0" t="0"/>
          <a:stretch/>
        </p:blipFill>
        <p:spPr>
          <a:xfrm>
            <a:off x="1691680" y="2996952"/>
            <a:ext cx="5773430" cy="1428924"/>
          </a:xfrm>
          <a:prstGeom prst="rect">
            <a:avLst/>
          </a:prstGeom>
          <a:noFill/>
          <a:ln>
            <a:noFill/>
          </a:ln>
        </p:spPr>
      </p:pic>
      <p:pic>
        <p:nvPicPr>
          <p:cNvPr descr="Cấu tạo, phân loại và ưu nhược &amp;dstrok;iểm của ổ l&amp;abreve;n (vòng bi, bạc &amp;dstrok;ạn)" id="172" name="Google Shape;172;p5"/>
          <p:cNvPicPr preferRelativeResize="0"/>
          <p:nvPr/>
        </p:nvPicPr>
        <p:blipFill rotWithShape="1">
          <a:blip r:embed="rId5">
            <a:alphaModFix/>
          </a:blip>
          <a:srcRect b="0" l="0" r="0" t="0"/>
          <a:stretch/>
        </p:blipFill>
        <p:spPr>
          <a:xfrm>
            <a:off x="1920492" y="1142327"/>
            <a:ext cx="5400600" cy="1444662"/>
          </a:xfrm>
          <a:prstGeom prst="rect">
            <a:avLst/>
          </a:prstGeom>
          <a:noFill/>
          <a:ln>
            <a:noFill/>
          </a:ln>
        </p:spPr>
      </p:pic>
      <p:pic>
        <p:nvPicPr>
          <p:cNvPr id="173" name="Google Shape;173;p5"/>
          <p:cNvPicPr preferRelativeResize="0"/>
          <p:nvPr/>
        </p:nvPicPr>
        <p:blipFill rotWithShape="1">
          <a:blip r:embed="rId6">
            <a:alphaModFix/>
          </a:blip>
          <a:srcRect b="0" l="0" r="0" t="0"/>
          <a:stretch/>
        </p:blipFill>
        <p:spPr>
          <a:xfrm>
            <a:off x="2475873" y="4725144"/>
            <a:ext cx="4289838" cy="15121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180" name="Google Shape;180;p6"/>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8.1.2. Phân loại</a:t>
            </a:r>
            <a:endParaRPr sz="2400">
              <a:solidFill>
                <a:srgbClr val="16A085"/>
              </a:solidFill>
              <a:latin typeface="Quattrocento Sans"/>
              <a:ea typeface="Quattrocento Sans"/>
              <a:cs typeface="Quattrocento Sans"/>
              <a:sym typeface="Quattrocento Sans"/>
            </a:endParaRPr>
          </a:p>
        </p:txBody>
      </p:sp>
      <p:cxnSp>
        <p:nvCxnSpPr>
          <p:cNvPr id="181" name="Google Shape;181;p6"/>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182" name="Google Shape;182;p6"/>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pic>
        <p:nvPicPr>
          <p:cNvPr id="183" name="Google Shape;183;p6"/>
          <p:cNvPicPr preferRelativeResize="0"/>
          <p:nvPr>
            <p:ph idx="1" type="body"/>
          </p:nvPr>
        </p:nvPicPr>
        <p:blipFill rotWithShape="1">
          <a:blip r:embed="rId4">
            <a:alphaModFix/>
          </a:blip>
          <a:srcRect b="0" l="0" r="0" t="0"/>
          <a:stretch/>
        </p:blipFill>
        <p:spPr>
          <a:xfrm>
            <a:off x="1835696" y="1268760"/>
            <a:ext cx="5592814" cy="47958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190" name="Google Shape;190;p7"/>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8.1.3. Ưu nhược điểm và phạm vi sử dụng</a:t>
            </a:r>
            <a:endParaRPr sz="2400">
              <a:solidFill>
                <a:srgbClr val="16A085"/>
              </a:solidFill>
              <a:latin typeface="Quattrocento Sans"/>
              <a:ea typeface="Quattrocento Sans"/>
              <a:cs typeface="Quattrocento Sans"/>
              <a:sym typeface="Quattrocento Sans"/>
            </a:endParaRPr>
          </a:p>
        </p:txBody>
      </p:sp>
      <p:cxnSp>
        <p:nvCxnSpPr>
          <p:cNvPr id="191" name="Google Shape;191;p7"/>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192" name="Google Shape;192;p7"/>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193" name="Google Shape;193;p7"/>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Ưu điểm:</a:t>
            </a:r>
            <a:endParaRPr/>
          </a:p>
          <a:p>
            <a:pPr indent="-285750" lvl="1" marL="742950" rtl="0" algn="l">
              <a:lnSpc>
                <a:spcPct val="120000"/>
              </a:lnSpc>
              <a:spcBef>
                <a:spcPts val="600"/>
              </a:spcBef>
              <a:spcAft>
                <a:spcPts val="0"/>
              </a:spcAft>
              <a:buSzPts val="2200"/>
              <a:buChar char="▪"/>
            </a:pPr>
            <a:r>
              <a:rPr lang="en-US" sz="2200"/>
              <a:t>Giá thành hạ nhờ sản xuất loạt lớn.</a:t>
            </a:r>
            <a:endParaRPr/>
          </a:p>
          <a:p>
            <a:pPr indent="-285750" lvl="1" marL="742950" rtl="0" algn="l">
              <a:lnSpc>
                <a:spcPct val="120000"/>
              </a:lnSpc>
              <a:spcBef>
                <a:spcPts val="600"/>
              </a:spcBef>
              <a:spcAft>
                <a:spcPts val="0"/>
              </a:spcAft>
              <a:buSzPts val="2200"/>
              <a:buChar char="▪"/>
            </a:pPr>
            <a:r>
              <a:rPr lang="en-US" sz="2200"/>
              <a:t>Tổn thất về ma sát nhỏ.</a:t>
            </a:r>
            <a:endParaRPr sz="2200"/>
          </a:p>
          <a:p>
            <a:pPr indent="-285750" lvl="1" marL="742950" rtl="0" algn="l">
              <a:lnSpc>
                <a:spcPct val="120000"/>
              </a:lnSpc>
              <a:spcBef>
                <a:spcPts val="600"/>
              </a:spcBef>
              <a:spcAft>
                <a:spcPts val="0"/>
              </a:spcAft>
              <a:buSzPts val="2200"/>
              <a:buChar char="▪"/>
            </a:pPr>
            <a:r>
              <a:rPr lang="en-US" sz="2200"/>
              <a:t>Tính lắp lẫn cao, thuận tiện sửa chữa, bảo dưỡng máy.</a:t>
            </a:r>
            <a:endParaRPr/>
          </a:p>
          <a:p>
            <a:pPr indent="-285750" lvl="1" marL="742950" rtl="0" algn="l">
              <a:lnSpc>
                <a:spcPct val="120000"/>
              </a:lnSpc>
              <a:spcBef>
                <a:spcPts val="600"/>
              </a:spcBef>
              <a:spcAft>
                <a:spcPts val="0"/>
              </a:spcAft>
              <a:buSzPts val="2200"/>
              <a:buChar char="▪"/>
            </a:pPr>
            <a:r>
              <a:rPr lang="en-US" sz="2200"/>
              <a:t>Chăm sóc và bôi trơn đơn giản.</a:t>
            </a:r>
            <a:endParaRPr/>
          </a:p>
          <a:p>
            <a:pPr indent="-285750" lvl="1" marL="742950" rtl="0" algn="l">
              <a:lnSpc>
                <a:spcPct val="120000"/>
              </a:lnSpc>
              <a:spcBef>
                <a:spcPts val="600"/>
              </a:spcBef>
              <a:spcAft>
                <a:spcPts val="0"/>
              </a:spcAft>
              <a:buSzPts val="2200"/>
              <a:buChar char="▪"/>
            </a:pPr>
            <a:r>
              <a:rPr lang="en-US" sz="2200"/>
              <a:t>Kích thước dọc trục gọn so với ổ trượt có cùng đường kính.</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00" name="Google Shape;200;p8"/>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8.1.3. Ưu nhược điểm và phạm vi sử dụng</a:t>
            </a:r>
            <a:endParaRPr sz="2400">
              <a:solidFill>
                <a:srgbClr val="16A085"/>
              </a:solidFill>
              <a:latin typeface="Quattrocento Sans"/>
              <a:ea typeface="Quattrocento Sans"/>
              <a:cs typeface="Quattrocento Sans"/>
              <a:sym typeface="Quattrocento Sans"/>
            </a:endParaRPr>
          </a:p>
        </p:txBody>
      </p:sp>
      <p:cxnSp>
        <p:nvCxnSpPr>
          <p:cNvPr id="201" name="Google Shape;201;p8"/>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02" name="Google Shape;202;p8"/>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03" name="Google Shape;203;p8"/>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Nhược điểm:</a:t>
            </a:r>
            <a:endParaRPr/>
          </a:p>
          <a:p>
            <a:pPr indent="-285750" lvl="1" marL="742950" rtl="0" algn="l">
              <a:lnSpc>
                <a:spcPct val="120000"/>
              </a:lnSpc>
              <a:spcBef>
                <a:spcPts val="600"/>
              </a:spcBef>
              <a:spcAft>
                <a:spcPts val="0"/>
              </a:spcAft>
              <a:buSzPts val="2400"/>
              <a:buChar char="▪"/>
            </a:pPr>
            <a:r>
              <a:rPr lang="en-US"/>
              <a:t>Khả năng quay nhanh, chịu va đập và chấn động kém </a:t>
            </a:r>
            <a:endParaRPr/>
          </a:p>
          <a:p>
            <a:pPr indent="-285750" lvl="1" marL="742950" rtl="0" algn="l">
              <a:lnSpc>
                <a:spcPct val="120000"/>
              </a:lnSpc>
              <a:spcBef>
                <a:spcPts val="600"/>
              </a:spcBef>
              <a:spcAft>
                <a:spcPts val="0"/>
              </a:spcAft>
              <a:buSzPts val="2400"/>
              <a:buChar char="▪"/>
            </a:pPr>
            <a:r>
              <a:rPr lang="en-US"/>
              <a:t>Độ tin cậy thấp khi làm việc với vận tốc cao</a:t>
            </a:r>
            <a:endParaRPr/>
          </a:p>
          <a:p>
            <a:pPr indent="-285750" lvl="1" marL="742950" rtl="0" algn="l">
              <a:lnSpc>
                <a:spcPct val="120000"/>
              </a:lnSpc>
              <a:spcBef>
                <a:spcPts val="600"/>
              </a:spcBef>
              <a:spcAft>
                <a:spcPts val="0"/>
              </a:spcAft>
              <a:buSzPts val="2400"/>
              <a:buChar char="▪"/>
            </a:pPr>
            <a:r>
              <a:rPr lang="en-US"/>
              <a:t>Kích thước hướng kính tương đối lớn.</a:t>
            </a:r>
            <a:endParaRPr/>
          </a:p>
          <a:p>
            <a:pPr indent="-285750" lvl="1" marL="742950" rtl="0" algn="l">
              <a:lnSpc>
                <a:spcPct val="120000"/>
              </a:lnSpc>
              <a:spcBef>
                <a:spcPts val="600"/>
              </a:spcBef>
              <a:spcAft>
                <a:spcPts val="0"/>
              </a:spcAft>
              <a:buSzPts val="2400"/>
              <a:buChar char="▪"/>
            </a:pPr>
            <a:r>
              <a:rPr lang="en-US"/>
              <a:t>Ồn khi làm việc với vận tốc cao.</a:t>
            </a:r>
            <a:endParaRPr/>
          </a:p>
          <a:p>
            <a:pPr indent="-342900" lvl="0" marL="342900" rtl="0" algn="l">
              <a:lnSpc>
                <a:spcPct val="120000"/>
              </a:lnSpc>
              <a:spcBef>
                <a:spcPts val="600"/>
              </a:spcBef>
              <a:spcAft>
                <a:spcPts val="0"/>
              </a:spcAft>
              <a:buSzPts val="2600"/>
              <a:buChar char="⮚"/>
            </a:pPr>
            <a:r>
              <a:rPr lang="en-US"/>
              <a:t>Phạm vi sử dụng: </a:t>
            </a:r>
            <a:endParaRPr/>
          </a:p>
          <a:p>
            <a:pPr indent="0" lvl="1" marL="457200" rtl="0" algn="l">
              <a:lnSpc>
                <a:spcPct val="120000"/>
              </a:lnSpc>
              <a:spcBef>
                <a:spcPts val="600"/>
              </a:spcBef>
              <a:spcAft>
                <a:spcPts val="0"/>
              </a:spcAft>
              <a:buSzPts val="2400"/>
              <a:buNone/>
            </a:pPr>
            <a:r>
              <a:rPr lang="en-US"/>
              <a:t>Sử dụng rộng rãi trong nhiều loại máy: máy cắt kim loại, máy điện, ô tô, máy bay, máy xây dựng, cần trục, máy nông nghiệp…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10" name="Google Shape;210;p9"/>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8.1.4. Kí hiệu ổ lăn</a:t>
            </a:r>
            <a:endParaRPr sz="2400">
              <a:solidFill>
                <a:srgbClr val="16A085"/>
              </a:solidFill>
              <a:latin typeface="Quattrocento Sans"/>
              <a:ea typeface="Quattrocento Sans"/>
              <a:cs typeface="Quattrocento Sans"/>
              <a:sym typeface="Quattrocento Sans"/>
            </a:endParaRPr>
          </a:p>
        </p:txBody>
      </p:sp>
      <p:cxnSp>
        <p:nvCxnSpPr>
          <p:cNvPr id="211" name="Google Shape;211;p9"/>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12" name="Google Shape;212;p9"/>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13" name="Google Shape;213;p9"/>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Ổ lăn được kí hiệu bằng dãy số (tính từ phải qua):</a:t>
            </a:r>
            <a:endParaRPr/>
          </a:p>
          <a:p>
            <a:pPr indent="-285750" lvl="1" marL="742950" rtl="0" algn="l">
              <a:lnSpc>
                <a:spcPct val="120000"/>
              </a:lnSpc>
              <a:spcBef>
                <a:spcPts val="600"/>
              </a:spcBef>
              <a:spcAft>
                <a:spcPts val="0"/>
              </a:spcAft>
              <a:buSzPts val="2400"/>
              <a:buChar char="▪"/>
            </a:pPr>
            <a:r>
              <a:rPr lang="en-US"/>
              <a:t>Hai chữ số đầu: đường kính trong của ổ</a:t>
            </a:r>
            <a:endParaRPr/>
          </a:p>
          <a:p>
            <a:pPr indent="-228600" lvl="2" marL="1143000" rtl="0" algn="l">
              <a:lnSpc>
                <a:spcPct val="120000"/>
              </a:lnSpc>
              <a:spcBef>
                <a:spcPts val="600"/>
              </a:spcBef>
              <a:spcAft>
                <a:spcPts val="0"/>
              </a:spcAft>
              <a:buClr>
                <a:srgbClr val="34495E"/>
              </a:buClr>
              <a:buSzPts val="2400"/>
              <a:buChar char="•"/>
            </a:pPr>
            <a:r>
              <a:rPr lang="en-US" sz="2400"/>
              <a:t>d ≥ 20mm, lấy d/5 để biểu thị đường kính</a:t>
            </a:r>
            <a:endParaRPr/>
          </a:p>
          <a:p>
            <a:pPr indent="-228600" lvl="2" marL="1143000" rtl="0" algn="l">
              <a:lnSpc>
                <a:spcPct val="120000"/>
              </a:lnSpc>
              <a:spcBef>
                <a:spcPts val="600"/>
              </a:spcBef>
              <a:spcAft>
                <a:spcPts val="0"/>
              </a:spcAft>
              <a:buClr>
                <a:srgbClr val="34495E"/>
              </a:buClr>
              <a:buSzPts val="2400"/>
              <a:buChar char="•"/>
            </a:pPr>
            <a:r>
              <a:rPr lang="en-US" sz="2400"/>
              <a:t>d &lt; 20mm:</a:t>
            </a:r>
            <a:endParaRPr/>
          </a:p>
          <a:p>
            <a:pPr indent="0" lvl="2" marL="914400" rtl="0" algn="l">
              <a:lnSpc>
                <a:spcPct val="120000"/>
              </a:lnSpc>
              <a:spcBef>
                <a:spcPts val="600"/>
              </a:spcBef>
              <a:spcAft>
                <a:spcPts val="0"/>
              </a:spcAft>
              <a:buClr>
                <a:srgbClr val="34495E"/>
              </a:buClr>
              <a:buSzPts val="2400"/>
              <a:buNone/>
            </a:pPr>
            <a:r>
              <a:rPr lang="en-US" sz="2400"/>
              <a:t>      Đường kính trong, mm	10	12	15	17</a:t>
            </a:r>
            <a:endParaRPr sz="2400"/>
          </a:p>
          <a:p>
            <a:pPr indent="0" lvl="2" marL="914400" rtl="0" algn="l">
              <a:lnSpc>
                <a:spcPct val="120000"/>
              </a:lnSpc>
              <a:spcBef>
                <a:spcPts val="600"/>
              </a:spcBef>
              <a:spcAft>
                <a:spcPts val="0"/>
              </a:spcAft>
              <a:buClr>
                <a:srgbClr val="34495E"/>
              </a:buClr>
              <a:buSzPts val="2400"/>
              <a:buNone/>
            </a:pPr>
            <a:r>
              <a:rPr lang="en-US" sz="2400"/>
              <a:t>      Kí hiệu			00	01	02	03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0"/>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20" name="Google Shape;220;p10"/>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8.1.4. Kí hiệu ổ lăn</a:t>
            </a:r>
            <a:endParaRPr sz="2400">
              <a:solidFill>
                <a:srgbClr val="16A085"/>
              </a:solidFill>
              <a:latin typeface="Quattrocento Sans"/>
              <a:ea typeface="Quattrocento Sans"/>
              <a:cs typeface="Quattrocento Sans"/>
              <a:sym typeface="Quattrocento Sans"/>
            </a:endParaRPr>
          </a:p>
        </p:txBody>
      </p:sp>
      <p:cxnSp>
        <p:nvCxnSpPr>
          <p:cNvPr id="221" name="Google Shape;221;p10"/>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22" name="Google Shape;222;p10"/>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23" name="Google Shape;223;p10"/>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Ổ lăn được kí hiệu bằng dãy số (tính từ phải qua):</a:t>
            </a:r>
            <a:endParaRPr/>
          </a:p>
        </p:txBody>
      </p:sp>
      <p:sp>
        <p:nvSpPr>
          <p:cNvPr id="224" name="Google Shape;224;p10"/>
          <p:cNvSpPr txBox="1"/>
          <p:nvPr/>
        </p:nvSpPr>
        <p:spPr>
          <a:xfrm>
            <a:off x="467544" y="1752600"/>
            <a:ext cx="8305800" cy="4484712"/>
          </a:xfrm>
          <a:prstGeom prst="rect">
            <a:avLst/>
          </a:prstGeom>
          <a:noFill/>
          <a:ln>
            <a:noFill/>
          </a:ln>
        </p:spPr>
        <p:txBody>
          <a:bodyPr anchorCtr="0" anchor="t" bIns="45700" lIns="91425" spcFirstLastPara="1" rIns="91425" wrap="square" tIns="45700">
            <a:normAutofit/>
          </a:bodyPr>
          <a:lstStyle/>
          <a:p>
            <a:pPr indent="-285750" lvl="1" marL="742950" marR="0" rtl="0" algn="l">
              <a:lnSpc>
                <a:spcPct val="120000"/>
              </a:lnSpc>
              <a:spcBef>
                <a:spcPts val="0"/>
              </a:spcBef>
              <a:spcAft>
                <a:spcPts val="0"/>
              </a:spcAft>
              <a:buClr>
                <a:srgbClr val="009999"/>
              </a:buClr>
              <a:buSzPts val="2400"/>
              <a:buFont typeface="Noto Sans Symbols"/>
              <a:buChar char="▪"/>
            </a:pPr>
            <a:r>
              <a:rPr b="0" i="0" lang="en-US" sz="2400" u="none" cap="none" strike="noStrike">
                <a:solidFill>
                  <a:srgbClr val="34495E"/>
                </a:solidFill>
                <a:latin typeface="Quattrocento Sans"/>
                <a:ea typeface="Quattrocento Sans"/>
                <a:cs typeface="Quattrocento Sans"/>
                <a:sym typeface="Quattrocento Sans"/>
              </a:rPr>
              <a:t>Chữ số thứ 3: cỡ ổ</a:t>
            </a:r>
            <a:endParaRPr/>
          </a:p>
          <a:p>
            <a:pPr indent="-228600" lvl="2" marL="1143000" marR="0" rtl="0" algn="l">
              <a:lnSpc>
                <a:spcPct val="120000"/>
              </a:lnSpc>
              <a:spcBef>
                <a:spcPts val="600"/>
              </a:spcBef>
              <a:spcAft>
                <a:spcPts val="0"/>
              </a:spcAft>
              <a:buClr>
                <a:srgbClr val="34495E"/>
              </a:buClr>
              <a:buSzPts val="2200"/>
              <a:buFont typeface="Arial"/>
              <a:buChar char="•"/>
            </a:pPr>
            <a:r>
              <a:rPr b="0" i="0" lang="en-US" sz="2200" u="none" cap="none" strike="noStrike">
                <a:solidFill>
                  <a:srgbClr val="34495E"/>
                </a:solidFill>
                <a:latin typeface="Quattrocento Sans"/>
                <a:ea typeface="Quattrocento Sans"/>
                <a:cs typeface="Quattrocento Sans"/>
                <a:sym typeface="Quattrocento Sans"/>
              </a:rPr>
              <a:t>8, 9 – siêu nhẹ; </a:t>
            </a:r>
            <a:endParaRPr/>
          </a:p>
          <a:p>
            <a:pPr indent="-228600" lvl="2" marL="1143000" marR="0" rtl="0" algn="l">
              <a:lnSpc>
                <a:spcPct val="120000"/>
              </a:lnSpc>
              <a:spcBef>
                <a:spcPts val="600"/>
              </a:spcBef>
              <a:spcAft>
                <a:spcPts val="0"/>
              </a:spcAft>
              <a:buClr>
                <a:srgbClr val="34495E"/>
              </a:buClr>
              <a:buSzPts val="2200"/>
              <a:buFont typeface="Arial"/>
              <a:buChar char="•"/>
            </a:pPr>
            <a:r>
              <a:rPr b="0" i="0" lang="en-US" sz="2200" u="none" cap="none" strike="noStrike">
                <a:solidFill>
                  <a:srgbClr val="34495E"/>
                </a:solidFill>
                <a:latin typeface="Quattrocento Sans"/>
                <a:ea typeface="Quattrocento Sans"/>
                <a:cs typeface="Quattrocento Sans"/>
                <a:sym typeface="Quattrocento Sans"/>
              </a:rPr>
              <a:t>1,7 – đặc biệt nhẹ; </a:t>
            </a:r>
            <a:endParaRPr/>
          </a:p>
          <a:p>
            <a:pPr indent="-228600" lvl="2" marL="1143000" marR="0" rtl="0" algn="l">
              <a:lnSpc>
                <a:spcPct val="120000"/>
              </a:lnSpc>
              <a:spcBef>
                <a:spcPts val="600"/>
              </a:spcBef>
              <a:spcAft>
                <a:spcPts val="0"/>
              </a:spcAft>
              <a:buClr>
                <a:srgbClr val="34495E"/>
              </a:buClr>
              <a:buSzPts val="2200"/>
              <a:buFont typeface="Arial"/>
              <a:buChar char="•"/>
            </a:pPr>
            <a:r>
              <a:rPr b="0" i="0" lang="en-US" sz="2200" u="none" cap="none" strike="noStrike">
                <a:solidFill>
                  <a:srgbClr val="34495E"/>
                </a:solidFill>
                <a:latin typeface="Quattrocento Sans"/>
                <a:ea typeface="Quattrocento Sans"/>
                <a:cs typeface="Quattrocento Sans"/>
                <a:sym typeface="Quattrocento Sans"/>
              </a:rPr>
              <a:t>2, 5 – nhẹ; </a:t>
            </a:r>
            <a:endParaRPr/>
          </a:p>
          <a:p>
            <a:pPr indent="-228600" lvl="2" marL="1143000" marR="0" rtl="0" algn="l">
              <a:lnSpc>
                <a:spcPct val="120000"/>
              </a:lnSpc>
              <a:spcBef>
                <a:spcPts val="600"/>
              </a:spcBef>
              <a:spcAft>
                <a:spcPts val="0"/>
              </a:spcAft>
              <a:buClr>
                <a:srgbClr val="34495E"/>
              </a:buClr>
              <a:buSzPts val="2200"/>
              <a:buFont typeface="Arial"/>
              <a:buChar char="•"/>
            </a:pPr>
            <a:r>
              <a:rPr b="0" i="0" lang="en-US" sz="2200" u="none" cap="none" strike="noStrike">
                <a:solidFill>
                  <a:srgbClr val="34495E"/>
                </a:solidFill>
                <a:latin typeface="Quattrocento Sans"/>
                <a:ea typeface="Quattrocento Sans"/>
                <a:cs typeface="Quattrocento Sans"/>
                <a:sym typeface="Quattrocento Sans"/>
              </a:rPr>
              <a:t>3, 6 – trung bình; </a:t>
            </a:r>
            <a:endParaRPr/>
          </a:p>
          <a:p>
            <a:pPr indent="-228600" lvl="2" marL="1143000" marR="0" rtl="0" algn="l">
              <a:lnSpc>
                <a:spcPct val="120000"/>
              </a:lnSpc>
              <a:spcBef>
                <a:spcPts val="600"/>
              </a:spcBef>
              <a:spcAft>
                <a:spcPts val="0"/>
              </a:spcAft>
              <a:buClr>
                <a:srgbClr val="34495E"/>
              </a:buClr>
              <a:buSzPts val="2200"/>
              <a:buFont typeface="Arial"/>
              <a:buChar char="•"/>
            </a:pPr>
            <a:r>
              <a:rPr b="0" i="0" lang="en-US" sz="2200" u="none" cap="none" strike="noStrike">
                <a:solidFill>
                  <a:srgbClr val="34495E"/>
                </a:solidFill>
                <a:latin typeface="Quattrocento Sans"/>
                <a:ea typeface="Quattrocento Sans"/>
                <a:cs typeface="Quattrocento Sans"/>
                <a:sym typeface="Quattrocento Sans"/>
              </a:rPr>
              <a:t>4 – nặng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1"/>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31" name="Google Shape;231;p11"/>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8.1.4. Kí hiệu ổ lăn</a:t>
            </a:r>
            <a:endParaRPr sz="2400">
              <a:solidFill>
                <a:srgbClr val="16A085"/>
              </a:solidFill>
              <a:latin typeface="Quattrocento Sans"/>
              <a:ea typeface="Quattrocento Sans"/>
              <a:cs typeface="Quattrocento Sans"/>
              <a:sym typeface="Quattrocento Sans"/>
            </a:endParaRPr>
          </a:p>
        </p:txBody>
      </p:sp>
      <p:cxnSp>
        <p:nvCxnSpPr>
          <p:cNvPr id="232" name="Google Shape;232;p11"/>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33" name="Google Shape;233;p11"/>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34" name="Google Shape;234;p11"/>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Ổ lăn được kí hiệu bằng dãy số (tính từ phải qua):</a:t>
            </a:r>
            <a:endParaRPr/>
          </a:p>
        </p:txBody>
      </p:sp>
      <p:sp>
        <p:nvSpPr>
          <p:cNvPr id="235" name="Google Shape;235;p11"/>
          <p:cNvSpPr txBox="1"/>
          <p:nvPr/>
        </p:nvSpPr>
        <p:spPr>
          <a:xfrm>
            <a:off x="467544" y="1752600"/>
            <a:ext cx="8305800" cy="4484712"/>
          </a:xfrm>
          <a:prstGeom prst="rect">
            <a:avLst/>
          </a:prstGeom>
          <a:noFill/>
          <a:ln>
            <a:noFill/>
          </a:ln>
        </p:spPr>
        <p:txBody>
          <a:bodyPr anchorCtr="0" anchor="t" bIns="45700" lIns="91425" spcFirstLastPara="1" rIns="91425" wrap="square" tIns="45700">
            <a:normAutofit fontScale="92500" lnSpcReduction="20000"/>
          </a:bodyPr>
          <a:lstStyle/>
          <a:p>
            <a:pPr indent="-285750" lvl="1" marL="742950" marR="0" rtl="0" algn="l">
              <a:lnSpc>
                <a:spcPct val="120000"/>
              </a:lnSpc>
              <a:spcBef>
                <a:spcPts val="0"/>
              </a:spcBef>
              <a:spcAft>
                <a:spcPts val="0"/>
              </a:spcAft>
              <a:buClr>
                <a:srgbClr val="009999"/>
              </a:buClr>
              <a:buSzPct val="100000"/>
              <a:buFont typeface="Noto Sans Symbols"/>
              <a:buChar char="▪"/>
            </a:pPr>
            <a:r>
              <a:rPr b="0" i="0" lang="en-US" sz="2400" u="none" cap="none" strike="noStrike">
                <a:solidFill>
                  <a:srgbClr val="34495E"/>
                </a:solidFill>
                <a:latin typeface="Quattrocento Sans"/>
                <a:ea typeface="Quattrocento Sans"/>
                <a:cs typeface="Quattrocento Sans"/>
                <a:sym typeface="Quattrocento Sans"/>
              </a:rPr>
              <a:t>Chữ số thứ 4: loại ổ</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0 - ổ bi đỡ một dãy;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1 - ổ bi đỡ lòng cầu hai dãy;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2 - ổ đũa trụ ngắn đỡ;</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3 - ổ đũa đỡ lòng cầu hai dãy;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4 - ổ kim;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5 - ổ đũa trụ xoắn;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6 - ổ bi đỡ - chặn;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7 - ổ đũa côn;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8 - ổ bi chặn, ổ bi chặn – đỡ; </a:t>
            </a:r>
            <a:endParaRPr/>
          </a:p>
          <a:p>
            <a:pPr indent="-228600" lvl="2" marL="1143000" marR="0" rtl="0" algn="l">
              <a:lnSpc>
                <a:spcPct val="120000"/>
              </a:lnSpc>
              <a:spcBef>
                <a:spcPts val="600"/>
              </a:spcBef>
              <a:spcAft>
                <a:spcPts val="0"/>
              </a:spcAft>
              <a:buClr>
                <a:srgbClr val="34495E"/>
              </a:buClr>
              <a:buSzPct val="100000"/>
              <a:buFont typeface="Arial"/>
              <a:buChar char="•"/>
            </a:pPr>
            <a:r>
              <a:rPr b="0" i="0" lang="en-US" sz="2200" u="none" cap="none" strike="noStrike">
                <a:solidFill>
                  <a:srgbClr val="34495E"/>
                </a:solidFill>
                <a:latin typeface="Quattrocento Sans"/>
                <a:ea typeface="Quattrocento Sans"/>
                <a:cs typeface="Quattrocento Sans"/>
                <a:sym typeface="Quattrocento Sans"/>
              </a:rPr>
              <a:t>9 - ổ đũa chặn, ổ đũa chặn – đỡ</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42" name="Google Shape;242;p12"/>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8.1.4. Kí hiệu ổ lăn</a:t>
            </a:r>
            <a:endParaRPr sz="2400">
              <a:solidFill>
                <a:srgbClr val="16A085"/>
              </a:solidFill>
              <a:latin typeface="Quattrocento Sans"/>
              <a:ea typeface="Quattrocento Sans"/>
              <a:cs typeface="Quattrocento Sans"/>
              <a:sym typeface="Quattrocento Sans"/>
            </a:endParaRPr>
          </a:p>
        </p:txBody>
      </p:sp>
      <p:cxnSp>
        <p:nvCxnSpPr>
          <p:cNvPr id="243" name="Google Shape;243;p12"/>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44" name="Google Shape;244;p12"/>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45" name="Google Shape;245;p12"/>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Ổ lăn được kí hiệu bằng dãy số (tính từ phải qua):</a:t>
            </a:r>
            <a:endParaRPr/>
          </a:p>
          <a:p>
            <a:pPr indent="-285750" lvl="1" marL="742950" rtl="0" algn="l">
              <a:lnSpc>
                <a:spcPct val="120000"/>
              </a:lnSpc>
              <a:spcBef>
                <a:spcPts val="600"/>
              </a:spcBef>
              <a:spcAft>
                <a:spcPts val="0"/>
              </a:spcAft>
              <a:buSzPts val="2400"/>
              <a:buChar char="▪"/>
            </a:pPr>
            <a:r>
              <a:rPr lang="en-US"/>
              <a:t>Số thứ 5 và 6: đặc điểm kết cấu </a:t>
            </a:r>
            <a:endParaRPr/>
          </a:p>
          <a:p>
            <a:pPr indent="0" lvl="1" marL="742950" rtl="0" algn="l">
              <a:lnSpc>
                <a:spcPct val="120000"/>
              </a:lnSpc>
              <a:spcBef>
                <a:spcPts val="600"/>
              </a:spcBef>
              <a:spcAft>
                <a:spcPts val="0"/>
              </a:spcAft>
              <a:buSzPts val="2400"/>
              <a:buNone/>
            </a:pPr>
            <a:r>
              <a:rPr lang="en-US"/>
              <a:t>Ví dụ góc tiếp xúc của bi trong ổ đỡ chặn, có rãnh tựa vòng ngoài…</a:t>
            </a:r>
            <a:endParaRPr/>
          </a:p>
          <a:p>
            <a:pPr indent="-285750" lvl="1" marL="742950" rtl="0" algn="l">
              <a:lnSpc>
                <a:spcPct val="120000"/>
              </a:lnSpc>
              <a:spcBef>
                <a:spcPts val="600"/>
              </a:spcBef>
              <a:spcAft>
                <a:spcPts val="0"/>
              </a:spcAft>
              <a:buSzPts val="2400"/>
              <a:buChar char="▪"/>
            </a:pPr>
            <a:r>
              <a:rPr lang="en-US"/>
              <a:t>Số thứ 7:loại chiều rộng ổ</a:t>
            </a:r>
            <a:endParaRPr/>
          </a:p>
          <a:p>
            <a:pPr indent="0" lvl="1" marL="685800" rtl="0" algn="l">
              <a:lnSpc>
                <a:spcPct val="120000"/>
              </a:lnSpc>
              <a:spcBef>
                <a:spcPts val="600"/>
              </a:spcBef>
              <a:spcAft>
                <a:spcPts val="0"/>
              </a:spcAft>
              <a:buSzPts val="2400"/>
              <a:buNone/>
            </a:pPr>
            <a:r>
              <a:rPr lang="en-US"/>
              <a:t>8 – đặc biệt hẹp; 7 – hẹp; 1 – bình thường; 2 – rộng; </a:t>
            </a:r>
            <a:endParaRPr/>
          </a:p>
          <a:p>
            <a:pPr indent="0" lvl="1" marL="685800" rtl="0" algn="l">
              <a:lnSpc>
                <a:spcPct val="120000"/>
              </a:lnSpc>
              <a:spcBef>
                <a:spcPts val="600"/>
              </a:spcBef>
              <a:spcAft>
                <a:spcPts val="0"/>
              </a:spcAft>
              <a:buSzPts val="2400"/>
              <a:buNone/>
            </a:pPr>
            <a:r>
              <a:rPr lang="en-US"/>
              <a:t>3, 4, 5, 6 – đặc biệt rộng.</a:t>
            </a:r>
            <a:endParaRPr/>
          </a:p>
          <a:p>
            <a:pPr indent="-285750" lvl="1" marL="742950" rtl="0" algn="l">
              <a:lnSpc>
                <a:spcPct val="120000"/>
              </a:lnSpc>
              <a:spcBef>
                <a:spcPts val="600"/>
              </a:spcBef>
              <a:spcAft>
                <a:spcPts val="0"/>
              </a:spcAft>
              <a:buSzPts val="2400"/>
              <a:buChar char="▪"/>
            </a:pPr>
            <a:r>
              <a:rPr lang="en-US"/>
              <a:t>Với d &lt; 10mm, số thứ 1 là đường kính trong của ổ, </a:t>
            </a:r>
            <a:endParaRPr/>
          </a:p>
          <a:p>
            <a:pPr indent="0" lvl="1" marL="742950" rtl="0" algn="l">
              <a:lnSpc>
                <a:spcPct val="120000"/>
              </a:lnSpc>
              <a:spcBef>
                <a:spcPts val="600"/>
              </a:spcBef>
              <a:spcAft>
                <a:spcPts val="0"/>
              </a:spcAft>
              <a:buSzPts val="2400"/>
              <a:buNone/>
            </a:pPr>
            <a:r>
              <a:rPr lang="en-US"/>
              <a:t>số thứ 3 là số 0, số thứ 2 biểu thị cỡ ổ.</a:t>
            </a:r>
            <a:endParaRPr/>
          </a:p>
          <a:p>
            <a:pPr indent="-133350" lvl="1" marL="742950" rtl="0" algn="l">
              <a:lnSpc>
                <a:spcPct val="120000"/>
              </a:lnSpc>
              <a:spcBef>
                <a:spcPts val="600"/>
              </a:spcBef>
              <a:spcAft>
                <a:spcPts val="0"/>
              </a:spcAft>
              <a:buSzPts val="24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3"/>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52" name="Google Shape;252;p13"/>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8.1.4. Kí hiệu ổ lăn</a:t>
            </a:r>
            <a:endParaRPr sz="2400">
              <a:solidFill>
                <a:srgbClr val="16A085"/>
              </a:solidFill>
              <a:latin typeface="Quattrocento Sans"/>
              <a:ea typeface="Quattrocento Sans"/>
              <a:cs typeface="Quattrocento Sans"/>
              <a:sym typeface="Quattrocento Sans"/>
            </a:endParaRPr>
          </a:p>
        </p:txBody>
      </p:sp>
      <p:cxnSp>
        <p:nvCxnSpPr>
          <p:cNvPr id="253" name="Google Shape;253;p13"/>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54" name="Google Shape;254;p13"/>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55" name="Google Shape;255;p13"/>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Cấp chính xác của ổ lăn được quyết định bởi:</a:t>
            </a:r>
            <a:endParaRPr/>
          </a:p>
          <a:p>
            <a:pPr indent="-285750" lvl="1" marL="742950" rtl="0" algn="l">
              <a:lnSpc>
                <a:spcPct val="120000"/>
              </a:lnSpc>
              <a:spcBef>
                <a:spcPts val="600"/>
              </a:spcBef>
              <a:spcAft>
                <a:spcPts val="0"/>
              </a:spcAft>
              <a:buSzPts val="2400"/>
              <a:buChar char="▪"/>
            </a:pPr>
            <a:r>
              <a:rPr lang="en-US"/>
              <a:t>Kích thước lắp ghép các vòng</a:t>
            </a:r>
            <a:endParaRPr/>
          </a:p>
          <a:p>
            <a:pPr indent="-285750" lvl="1" marL="742950" rtl="0" algn="l">
              <a:lnSpc>
                <a:spcPct val="120000"/>
              </a:lnSpc>
              <a:spcBef>
                <a:spcPts val="600"/>
              </a:spcBef>
              <a:spcAft>
                <a:spcPts val="0"/>
              </a:spcAft>
              <a:buSzPts val="2400"/>
              <a:buChar char="▪"/>
            </a:pPr>
            <a:r>
              <a:rPr lang="en-US"/>
              <a:t>Độ chính xác khi quay (độ đảo hướng tâm, độ đảo dọc trục)</a:t>
            </a:r>
            <a:endParaRPr/>
          </a:p>
          <a:p>
            <a:pPr indent="-342900" lvl="0" marL="342900" rtl="0" algn="l">
              <a:lnSpc>
                <a:spcPct val="120000"/>
              </a:lnSpc>
              <a:spcBef>
                <a:spcPts val="600"/>
              </a:spcBef>
              <a:spcAft>
                <a:spcPts val="0"/>
              </a:spcAft>
              <a:buSzPts val="2600"/>
              <a:buChar char="⮚"/>
            </a:pPr>
            <a:r>
              <a:rPr lang="en-US"/>
              <a:t>Có 5 cấp chính xác: 0, 6, 5, 4 và 2 theo thứ tự tăng dần</a:t>
            </a:r>
            <a:endParaRPr/>
          </a:p>
          <a:p>
            <a:pPr indent="-133350" lvl="1" marL="742950" rtl="0" algn="l">
              <a:lnSpc>
                <a:spcPct val="120000"/>
              </a:lnSpc>
              <a:spcBef>
                <a:spcPts val="600"/>
              </a:spcBef>
              <a:spcAft>
                <a:spcPts val="0"/>
              </a:spcAft>
              <a:buSzPts val="24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8.1. Khái niệm chung</a:t>
            </a:r>
            <a:endParaRPr/>
          </a:p>
        </p:txBody>
      </p:sp>
      <p:sp>
        <p:nvSpPr>
          <p:cNvPr id="262" name="Google Shape;262;p14"/>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8.1.4. Kí hiệu ổ lăn</a:t>
            </a:r>
            <a:endParaRPr sz="2400">
              <a:solidFill>
                <a:srgbClr val="16A085"/>
              </a:solidFill>
              <a:latin typeface="Quattrocento Sans"/>
              <a:ea typeface="Quattrocento Sans"/>
              <a:cs typeface="Quattrocento Sans"/>
              <a:sym typeface="Quattrocento Sans"/>
            </a:endParaRPr>
          </a:p>
        </p:txBody>
      </p:sp>
      <p:cxnSp>
        <p:nvCxnSpPr>
          <p:cNvPr id="263" name="Google Shape;263;p14"/>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64" name="Google Shape;264;p14"/>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265" name="Google Shape;265;p14"/>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0" lvl="1" marL="58738" rtl="0" algn="l">
              <a:lnSpc>
                <a:spcPct val="120000"/>
              </a:lnSpc>
              <a:spcBef>
                <a:spcPts val="0"/>
              </a:spcBef>
              <a:spcAft>
                <a:spcPts val="0"/>
              </a:spcAft>
              <a:buSzPts val="2400"/>
              <a:buNone/>
            </a:pPr>
            <a:r>
              <a:rPr b="1" lang="en-US"/>
              <a:t>Ví dụ:</a:t>
            </a:r>
            <a:endParaRPr/>
          </a:p>
          <a:p>
            <a:pPr indent="0" lvl="1" marL="236538" rtl="0" algn="l">
              <a:lnSpc>
                <a:spcPct val="120000"/>
              </a:lnSpc>
              <a:spcBef>
                <a:spcPts val="600"/>
              </a:spcBef>
              <a:spcAft>
                <a:spcPts val="0"/>
              </a:spcAft>
              <a:buSzPts val="2200"/>
              <a:buNone/>
            </a:pPr>
            <a:r>
              <a:rPr lang="en-US" sz="2200"/>
              <a:t>Ổ lăn có kí hiệu: </a:t>
            </a:r>
            <a:r>
              <a:rPr b="1" lang="en-US" sz="2200">
                <a:solidFill>
                  <a:srgbClr val="FF0000"/>
                </a:solidFill>
              </a:rPr>
              <a:t>6205</a:t>
            </a:r>
            <a:endParaRPr/>
          </a:p>
          <a:p>
            <a:pPr indent="-342900" lvl="2" marL="977900" rtl="0" algn="l">
              <a:lnSpc>
                <a:spcPct val="120000"/>
              </a:lnSpc>
              <a:spcBef>
                <a:spcPts val="600"/>
              </a:spcBef>
              <a:spcAft>
                <a:spcPts val="0"/>
              </a:spcAft>
              <a:buClr>
                <a:srgbClr val="34495E"/>
              </a:buClr>
              <a:buSzPts val="2000"/>
              <a:buFont typeface="Noto Sans Symbols"/>
              <a:buChar char="✔"/>
            </a:pPr>
            <a:r>
              <a:rPr lang="en-US" sz="2000"/>
              <a:t>Đường kính trong: 25mm</a:t>
            </a:r>
            <a:endParaRPr sz="2000"/>
          </a:p>
          <a:p>
            <a:pPr indent="-342900" lvl="2" marL="977900" rtl="0" algn="l">
              <a:lnSpc>
                <a:spcPct val="120000"/>
              </a:lnSpc>
              <a:spcBef>
                <a:spcPts val="600"/>
              </a:spcBef>
              <a:spcAft>
                <a:spcPts val="0"/>
              </a:spcAft>
              <a:buClr>
                <a:srgbClr val="34495E"/>
              </a:buClr>
              <a:buSzPts val="2000"/>
              <a:buFont typeface="Noto Sans Symbols"/>
              <a:buChar char="✔"/>
            </a:pPr>
            <a:r>
              <a:rPr lang="en-US" sz="2000"/>
              <a:t>Cỡ ổ: nhẹ</a:t>
            </a:r>
            <a:endParaRPr sz="2000"/>
          </a:p>
          <a:p>
            <a:pPr indent="-342900" lvl="2" marL="977900" rtl="0" algn="l">
              <a:lnSpc>
                <a:spcPct val="120000"/>
              </a:lnSpc>
              <a:spcBef>
                <a:spcPts val="600"/>
              </a:spcBef>
              <a:spcAft>
                <a:spcPts val="0"/>
              </a:spcAft>
              <a:buClr>
                <a:srgbClr val="34495E"/>
              </a:buClr>
              <a:buSzPts val="2000"/>
              <a:buFont typeface="Noto Sans Symbols"/>
              <a:buChar char="✔"/>
            </a:pPr>
            <a:r>
              <a:rPr lang="en-US" sz="2000"/>
              <a:t>Loại ổ: ổ bi đỡ - chặn</a:t>
            </a:r>
            <a:endParaRPr sz="2000"/>
          </a:p>
          <a:p>
            <a:pPr indent="-203200" lvl="2" marL="977900" rtl="0" algn="l">
              <a:lnSpc>
                <a:spcPct val="120000"/>
              </a:lnSpc>
              <a:spcBef>
                <a:spcPts val="600"/>
              </a:spcBef>
              <a:spcAft>
                <a:spcPts val="0"/>
              </a:spcAft>
              <a:buClr>
                <a:srgbClr val="34495E"/>
              </a:buClr>
              <a:buSzPts val="2200"/>
              <a:buFont typeface="Noto Sans Symbols"/>
              <a:buNone/>
            </a:pPr>
            <a:r>
              <a:t/>
            </a:r>
            <a:endParaRPr/>
          </a:p>
        </p:txBody>
      </p:sp>
      <p:pic>
        <p:nvPicPr>
          <p:cNvPr descr="http://i00.i.aliimg.com/img/pb/467/228/426/426228467_818.jpg" id="266" name="Google Shape;266;p14"/>
          <p:cNvPicPr preferRelativeResize="0"/>
          <p:nvPr/>
        </p:nvPicPr>
        <p:blipFill rotWithShape="1">
          <a:blip r:embed="rId4">
            <a:alphaModFix/>
          </a:blip>
          <a:srcRect b="0" l="0" r="17472" t="14556"/>
          <a:stretch/>
        </p:blipFill>
        <p:spPr>
          <a:xfrm>
            <a:off x="4427984" y="1260496"/>
            <a:ext cx="4529611" cy="3499645"/>
          </a:xfrm>
          <a:prstGeom prst="rect">
            <a:avLst/>
          </a:prstGeom>
          <a:noFill/>
          <a:ln>
            <a:noFill/>
          </a:ln>
        </p:spPr>
      </p:pic>
      <p:pic>
        <p:nvPicPr>
          <p:cNvPr descr="http://ecx.images-amazon.com/images/I/51j5tmc1Q1L._SY300_.jpg" id="267" name="Google Shape;267;p14"/>
          <p:cNvPicPr preferRelativeResize="0"/>
          <p:nvPr/>
        </p:nvPicPr>
        <p:blipFill rotWithShape="1">
          <a:blip r:embed="rId5">
            <a:alphaModFix/>
          </a:blip>
          <a:srcRect b="0" l="0" r="0" t="0"/>
          <a:stretch/>
        </p:blipFill>
        <p:spPr>
          <a:xfrm>
            <a:off x="1187623" y="3773761"/>
            <a:ext cx="2358777" cy="241513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5"/>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274" name="Google Shape;274;p15"/>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8.2.1. Sự phân bố lực trên con lăn</a:t>
            </a:r>
            <a:endParaRPr sz="2400">
              <a:solidFill>
                <a:srgbClr val="16A085"/>
              </a:solidFill>
              <a:latin typeface="Quattrocento Sans"/>
              <a:ea typeface="Quattrocento Sans"/>
              <a:cs typeface="Quattrocento Sans"/>
              <a:sym typeface="Quattrocento Sans"/>
            </a:endParaRPr>
          </a:p>
        </p:txBody>
      </p:sp>
      <p:cxnSp>
        <p:nvCxnSpPr>
          <p:cNvPr id="275" name="Google Shape;275;p15"/>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76" name="Google Shape;276;p15"/>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277" name="Google Shape;277;p15"/>
          <p:cNvSpPr txBox="1"/>
          <p:nvPr>
            <p:ph idx="1" type="body"/>
          </p:nvPr>
        </p:nvSpPr>
        <p:spPr>
          <a:xfrm>
            <a:off x="457200" y="1143000"/>
            <a:ext cx="5122912"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Trong ổ đỡ:</a:t>
            </a:r>
            <a:endParaRPr/>
          </a:p>
          <a:p>
            <a:pPr indent="-285750" lvl="1" marL="742950" rtl="0" algn="l">
              <a:lnSpc>
                <a:spcPct val="120000"/>
              </a:lnSpc>
              <a:spcBef>
                <a:spcPts val="600"/>
              </a:spcBef>
              <a:spcAft>
                <a:spcPts val="0"/>
              </a:spcAft>
              <a:buSzPts val="2400"/>
              <a:buChar char="▪"/>
            </a:pPr>
            <a:r>
              <a:rPr lang="en-US"/>
              <a:t>Lực phân bố không đều trên các con lăn, choán một cung không quá 180°.</a:t>
            </a:r>
            <a:endParaRPr/>
          </a:p>
          <a:p>
            <a:pPr indent="-285750" lvl="1" marL="742950" rtl="0" algn="l">
              <a:lnSpc>
                <a:spcPct val="120000"/>
              </a:lnSpc>
              <a:spcBef>
                <a:spcPts val="600"/>
              </a:spcBef>
              <a:spcAft>
                <a:spcPts val="0"/>
              </a:spcAft>
              <a:buSzPts val="2400"/>
              <a:buChar char="▪"/>
            </a:pPr>
            <a:r>
              <a:rPr lang="en-US"/>
              <a:t>Theo điều kiện cân bằng vòng trong:</a:t>
            </a:r>
            <a:endParaRPr/>
          </a:p>
          <a:p>
            <a:pPr indent="-234950" lvl="1" marL="742950" rtl="0" algn="l">
              <a:lnSpc>
                <a:spcPct val="120000"/>
              </a:lnSpc>
              <a:spcBef>
                <a:spcPts val="600"/>
              </a:spcBef>
              <a:spcAft>
                <a:spcPts val="0"/>
              </a:spcAft>
              <a:buSzPts val="800"/>
              <a:buNone/>
            </a:pPr>
            <a:r>
              <a:t/>
            </a:r>
            <a:endParaRPr sz="800"/>
          </a:p>
          <a:p>
            <a:pPr indent="0" lvl="1" marL="742950" rtl="0" algn="l">
              <a:lnSpc>
                <a:spcPct val="120000"/>
              </a:lnSpc>
              <a:spcBef>
                <a:spcPts val="600"/>
              </a:spcBef>
              <a:spcAft>
                <a:spcPts val="0"/>
              </a:spcAft>
              <a:buSzPts val="2400"/>
              <a:buNone/>
            </a:pPr>
            <a:r>
              <a:rPr lang="en-US"/>
              <a:t>Với </a:t>
            </a:r>
            <a:r>
              <a:rPr i="1" lang="en-US">
                <a:latin typeface="Times New Roman"/>
                <a:ea typeface="Times New Roman"/>
                <a:cs typeface="Times New Roman"/>
                <a:sym typeface="Times New Roman"/>
              </a:rPr>
              <a:t>n</a:t>
            </a:r>
            <a:r>
              <a:rPr lang="en-US">
                <a:latin typeface="Times New Roman"/>
                <a:ea typeface="Times New Roman"/>
                <a:cs typeface="Times New Roman"/>
                <a:sym typeface="Times New Roman"/>
              </a:rPr>
              <a:t> ≤ </a:t>
            </a:r>
            <a:r>
              <a:rPr i="1" lang="en-US">
                <a:latin typeface="Times New Roman"/>
                <a:ea typeface="Times New Roman"/>
                <a:cs typeface="Times New Roman"/>
                <a:sym typeface="Times New Roman"/>
              </a:rPr>
              <a:t>Z</a:t>
            </a:r>
            <a:r>
              <a:rPr lang="en-US">
                <a:latin typeface="Times New Roman"/>
                <a:ea typeface="Times New Roman"/>
                <a:cs typeface="Times New Roman"/>
                <a:sym typeface="Times New Roman"/>
              </a:rPr>
              <a:t>/4; </a:t>
            </a:r>
            <a:r>
              <a:rPr i="1" lang="en-US">
                <a:latin typeface="Times New Roman"/>
                <a:ea typeface="Times New Roman"/>
                <a:cs typeface="Times New Roman"/>
                <a:sym typeface="Times New Roman"/>
              </a:rPr>
              <a:t>γ</a:t>
            </a:r>
            <a:r>
              <a:rPr lang="en-US">
                <a:latin typeface="Times New Roman"/>
                <a:ea typeface="Times New Roman"/>
                <a:cs typeface="Times New Roman"/>
                <a:sym typeface="Times New Roman"/>
              </a:rPr>
              <a:t> = 360°/</a:t>
            </a:r>
            <a:r>
              <a:rPr i="1" lang="en-US">
                <a:latin typeface="Times New Roman"/>
                <a:ea typeface="Times New Roman"/>
                <a:cs typeface="Times New Roman"/>
                <a:sym typeface="Times New Roman"/>
              </a:rPr>
              <a:t>Z</a:t>
            </a:r>
            <a:r>
              <a:rPr lang="en-US"/>
              <a:t> </a:t>
            </a:r>
            <a:endParaRPr/>
          </a:p>
          <a:p>
            <a:pPr indent="0" lvl="1" marL="457200" rtl="0" algn="l">
              <a:lnSpc>
                <a:spcPct val="120000"/>
              </a:lnSpc>
              <a:spcBef>
                <a:spcPts val="600"/>
              </a:spcBef>
              <a:spcAft>
                <a:spcPts val="0"/>
              </a:spcAft>
              <a:buSzPts val="2400"/>
              <a:buNone/>
            </a:pPr>
            <a:r>
              <a:rPr i="1" lang="en-US">
                <a:latin typeface="Times New Roman"/>
                <a:ea typeface="Times New Roman"/>
                <a:cs typeface="Times New Roman"/>
                <a:sym typeface="Times New Roman"/>
              </a:rPr>
              <a:t>          Z</a:t>
            </a:r>
            <a:r>
              <a:rPr lang="en-US"/>
              <a:t> – số con lăn</a:t>
            </a:r>
            <a:endParaRPr/>
          </a:p>
        </p:txBody>
      </p:sp>
      <p:sp>
        <p:nvSpPr>
          <p:cNvPr id="278" name="Google Shape;278;p1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79" name="Google Shape;279;p15"/>
          <p:cNvGraphicFramePr/>
          <p:nvPr/>
        </p:nvGraphicFramePr>
        <p:xfrm>
          <a:off x="1610671" y="5589240"/>
          <a:ext cx="5922658" cy="504056"/>
        </p:xfrm>
        <a:graphic>
          <a:graphicData uri="http://schemas.openxmlformats.org/presentationml/2006/ole">
            <mc:AlternateContent>
              <mc:Choice Requires="v">
                <p:oleObj r:id="rId5" imgH="504056" imgW="5922658" progId="" spid="_x0000_s1">
                  <p:embed/>
                </p:oleObj>
              </mc:Choice>
              <mc:Fallback>
                <p:oleObj r:id="rId6" imgH="504056" imgW="5922658" progId="">
                  <p:embed/>
                  <p:pic>
                    <p:nvPicPr>
                      <p:cNvPr id="279" name="Google Shape;279;p15"/>
                      <p:cNvPicPr preferRelativeResize="0"/>
                      <p:nvPr/>
                    </p:nvPicPr>
                    <p:blipFill rotWithShape="1">
                      <a:blip r:embed="rId7">
                        <a:alphaModFix/>
                      </a:blip>
                      <a:srcRect b="0" l="0" r="0" t="0"/>
                      <a:stretch/>
                    </p:blipFill>
                    <p:spPr>
                      <a:xfrm>
                        <a:off x="1610671" y="5589240"/>
                        <a:ext cx="5922658" cy="504056"/>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pic>
        <p:nvPicPr>
          <p:cNvPr id="280" name="Google Shape;280;p15"/>
          <p:cNvPicPr preferRelativeResize="0"/>
          <p:nvPr/>
        </p:nvPicPr>
        <p:blipFill rotWithShape="1">
          <a:blip r:embed="rId8">
            <a:alphaModFix/>
          </a:blip>
          <a:srcRect b="0" l="0" r="0" t="0"/>
          <a:stretch/>
        </p:blipFill>
        <p:spPr>
          <a:xfrm>
            <a:off x="5580112" y="1412776"/>
            <a:ext cx="3468828" cy="36724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6"/>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287" name="Google Shape;287;p16"/>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8.2.1. Sự phân bố lực trên con lăn</a:t>
            </a:r>
            <a:endParaRPr sz="2400">
              <a:solidFill>
                <a:srgbClr val="16A085"/>
              </a:solidFill>
              <a:latin typeface="Quattrocento Sans"/>
              <a:ea typeface="Quattrocento Sans"/>
              <a:cs typeface="Quattrocento Sans"/>
              <a:sym typeface="Quattrocento Sans"/>
            </a:endParaRPr>
          </a:p>
        </p:txBody>
      </p:sp>
      <p:cxnSp>
        <p:nvCxnSpPr>
          <p:cNvPr id="288" name="Google Shape;288;p16"/>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289" name="Google Shape;289;p16"/>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290" name="Google Shape;290;p16"/>
          <p:cNvSpPr txBox="1"/>
          <p:nvPr>
            <p:ph idx="1" type="body"/>
          </p:nvPr>
        </p:nvSpPr>
        <p:spPr>
          <a:xfrm>
            <a:off x="457200" y="1143000"/>
            <a:ext cx="5122912"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Trong ổ đỡ:</a:t>
            </a:r>
            <a:endParaRPr/>
          </a:p>
          <a:p>
            <a:pPr indent="-285750" lvl="1" marL="742950" rtl="0" algn="l">
              <a:lnSpc>
                <a:spcPct val="120000"/>
              </a:lnSpc>
              <a:spcBef>
                <a:spcPts val="600"/>
              </a:spcBef>
              <a:spcAft>
                <a:spcPts val="0"/>
              </a:spcAft>
              <a:buSzPts val="2400"/>
              <a:buChar char="▪"/>
            </a:pPr>
            <a:r>
              <a:rPr lang="en-US"/>
              <a:t>Giả thiết vòng trong không bị uốn và ổ không có khe hở hướng tâm. </a:t>
            </a:r>
            <a:endParaRPr/>
          </a:p>
          <a:p>
            <a:pPr indent="-285750" lvl="1" marL="742950" rtl="0" algn="l">
              <a:lnSpc>
                <a:spcPct val="120000"/>
              </a:lnSpc>
              <a:spcBef>
                <a:spcPts val="600"/>
              </a:spcBef>
              <a:spcAft>
                <a:spcPts val="0"/>
              </a:spcAft>
              <a:buSzPts val="2400"/>
              <a:buChar char="▪"/>
            </a:pPr>
            <a:r>
              <a:rPr lang="en-US"/>
              <a:t>Dưới tác dụng lực </a:t>
            </a:r>
            <a:r>
              <a:rPr i="1" lang="en-US" sz="2600">
                <a:latin typeface="Times New Roman"/>
                <a:ea typeface="Times New Roman"/>
                <a:cs typeface="Times New Roman"/>
                <a:sym typeface="Times New Roman"/>
              </a:rPr>
              <a:t>F</a:t>
            </a:r>
            <a:r>
              <a:rPr baseline="-25000" i="1" lang="en-US" sz="2600">
                <a:latin typeface="Times New Roman"/>
                <a:ea typeface="Times New Roman"/>
                <a:cs typeface="Times New Roman"/>
                <a:sym typeface="Times New Roman"/>
              </a:rPr>
              <a:t>r</a:t>
            </a:r>
            <a:r>
              <a:rPr lang="en-US"/>
              <a:t>, con lăn biến dạng </a:t>
            </a:r>
            <a:r>
              <a:rPr i="1" lang="en-US" sz="2600">
                <a:latin typeface="Times New Roman"/>
                <a:ea typeface="Times New Roman"/>
                <a:cs typeface="Times New Roman"/>
                <a:sym typeface="Times New Roman"/>
              </a:rPr>
              <a:t>δ</a:t>
            </a:r>
            <a:r>
              <a:rPr baseline="-25000" i="1" lang="en-US" sz="2600">
                <a:latin typeface="Times New Roman"/>
                <a:ea typeface="Times New Roman"/>
                <a:cs typeface="Times New Roman"/>
                <a:sym typeface="Times New Roman"/>
              </a:rPr>
              <a:t>o</a:t>
            </a:r>
            <a:endParaRPr baseline="-25000" i="1" sz="2600">
              <a:latin typeface="Times New Roman"/>
              <a:ea typeface="Times New Roman"/>
              <a:cs typeface="Times New Roman"/>
              <a:sym typeface="Times New Roman"/>
            </a:endParaRPr>
          </a:p>
          <a:p>
            <a:pPr indent="-285750" lvl="1" marL="742950" rtl="0" algn="l">
              <a:lnSpc>
                <a:spcPct val="120000"/>
              </a:lnSpc>
              <a:spcBef>
                <a:spcPts val="600"/>
              </a:spcBef>
              <a:spcAft>
                <a:spcPts val="0"/>
              </a:spcAft>
              <a:buSzPts val="2400"/>
              <a:buChar char="▪"/>
            </a:pPr>
            <a:r>
              <a:rPr lang="en-US"/>
              <a:t>Biến dạng con lăn theo phương của </a:t>
            </a:r>
            <a:r>
              <a:rPr i="1" lang="en-US" sz="2600">
                <a:latin typeface="Times New Roman"/>
                <a:ea typeface="Times New Roman"/>
                <a:cs typeface="Times New Roman"/>
                <a:sym typeface="Times New Roman"/>
              </a:rPr>
              <a:t>F</a:t>
            </a:r>
            <a:r>
              <a:rPr baseline="-25000" i="1" lang="en-US" sz="2600">
                <a:latin typeface="Times New Roman"/>
                <a:ea typeface="Times New Roman"/>
                <a:cs typeface="Times New Roman"/>
                <a:sym typeface="Times New Roman"/>
              </a:rPr>
              <a:t>i</a:t>
            </a:r>
            <a:endParaRPr/>
          </a:p>
          <a:p>
            <a:pPr indent="-133350" lvl="1" marL="742950" rtl="0" algn="l">
              <a:lnSpc>
                <a:spcPct val="120000"/>
              </a:lnSpc>
              <a:spcBef>
                <a:spcPts val="600"/>
              </a:spcBef>
              <a:spcAft>
                <a:spcPts val="0"/>
              </a:spcAft>
              <a:buSzPts val="2400"/>
              <a:buNone/>
            </a:pPr>
            <a:r>
              <a:t/>
            </a:r>
            <a:endParaRPr/>
          </a:p>
        </p:txBody>
      </p:sp>
      <p:sp>
        <p:nvSpPr>
          <p:cNvPr id="291" name="Google Shape;291;p1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93" name="Google Shape;293;p16"/>
          <p:cNvGraphicFramePr/>
          <p:nvPr/>
        </p:nvGraphicFramePr>
        <p:xfrm>
          <a:off x="2123729" y="5229200"/>
          <a:ext cx="1872208" cy="557679"/>
        </p:xfrm>
        <a:graphic>
          <a:graphicData uri="http://schemas.openxmlformats.org/presentationml/2006/ole">
            <mc:AlternateContent>
              <mc:Choice Requires="v">
                <p:oleObj r:id="rId5" imgH="557679" imgW="1872208" progId="" spid="_x0000_s1">
                  <p:embed/>
                </p:oleObj>
              </mc:Choice>
              <mc:Fallback>
                <p:oleObj r:id="rId6" imgH="557679" imgW="1872208" progId="">
                  <p:embed/>
                  <p:pic>
                    <p:nvPicPr>
                      <p:cNvPr id="293" name="Google Shape;293;p16"/>
                      <p:cNvPicPr preferRelativeResize="0"/>
                      <p:nvPr/>
                    </p:nvPicPr>
                    <p:blipFill rotWithShape="1">
                      <a:blip r:embed="rId7">
                        <a:alphaModFix/>
                      </a:blip>
                      <a:srcRect b="0" l="0" r="0" t="0"/>
                      <a:stretch/>
                    </p:blipFill>
                    <p:spPr>
                      <a:xfrm>
                        <a:off x="2123729" y="5229200"/>
                        <a:ext cx="1872208" cy="557679"/>
                      </a:xfrm>
                      <a:prstGeom prst="rect">
                        <a:avLst/>
                      </a:prstGeom>
                      <a:noFill/>
                      <a:ln>
                        <a:noFill/>
                      </a:ln>
                    </p:spPr>
                  </p:pic>
                </p:oleObj>
              </mc:Fallback>
            </mc:AlternateContent>
          </a:graphicData>
        </a:graphic>
      </p:graphicFrame>
      <p:pic>
        <p:nvPicPr>
          <p:cNvPr id="294" name="Google Shape;294;p16"/>
          <p:cNvPicPr preferRelativeResize="0"/>
          <p:nvPr/>
        </p:nvPicPr>
        <p:blipFill rotWithShape="1">
          <a:blip r:embed="rId8">
            <a:alphaModFix/>
          </a:blip>
          <a:srcRect b="0" l="0" r="0" t="0"/>
          <a:stretch/>
        </p:blipFill>
        <p:spPr>
          <a:xfrm>
            <a:off x="5580112" y="1412776"/>
            <a:ext cx="3468828" cy="36724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7"/>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301" name="Google Shape;301;p17"/>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8.2.1. Sự phân bố lực trên con lăn</a:t>
            </a:r>
            <a:endParaRPr sz="2400">
              <a:solidFill>
                <a:srgbClr val="16A085"/>
              </a:solidFill>
              <a:latin typeface="Quattrocento Sans"/>
              <a:ea typeface="Quattrocento Sans"/>
              <a:cs typeface="Quattrocento Sans"/>
              <a:sym typeface="Quattrocento Sans"/>
            </a:endParaRPr>
          </a:p>
        </p:txBody>
      </p:sp>
      <p:cxnSp>
        <p:nvCxnSpPr>
          <p:cNvPr id="302" name="Google Shape;302;p17"/>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303" name="Google Shape;303;p17"/>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304" name="Google Shape;304;p17"/>
          <p:cNvSpPr txBox="1"/>
          <p:nvPr>
            <p:ph idx="1" type="body"/>
          </p:nvPr>
        </p:nvSpPr>
        <p:spPr>
          <a:xfrm>
            <a:off x="457200" y="1143000"/>
            <a:ext cx="5122912"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Trong ổ đỡ:</a:t>
            </a:r>
            <a:endParaRPr/>
          </a:p>
          <a:p>
            <a:pPr indent="-285750" lvl="1" marL="742950" rtl="0" algn="l">
              <a:lnSpc>
                <a:spcPct val="120000"/>
              </a:lnSpc>
              <a:spcBef>
                <a:spcPts val="600"/>
              </a:spcBef>
              <a:spcAft>
                <a:spcPts val="0"/>
              </a:spcAft>
              <a:buSzPts val="2400"/>
              <a:buChar char="▪"/>
            </a:pPr>
            <a:r>
              <a:rPr lang="en-US"/>
              <a:t>Theo lý thuyết biến dạng:</a:t>
            </a:r>
            <a:endParaRPr/>
          </a:p>
          <a:p>
            <a:pPr indent="-82550" lvl="1" marL="742950" rtl="0" algn="l">
              <a:lnSpc>
                <a:spcPct val="120000"/>
              </a:lnSpc>
              <a:spcBef>
                <a:spcPts val="600"/>
              </a:spcBef>
              <a:spcAft>
                <a:spcPts val="0"/>
              </a:spcAft>
              <a:buSzPts val="3200"/>
              <a:buNone/>
            </a:pPr>
            <a:r>
              <a:t/>
            </a:r>
            <a:endParaRPr baseline="-25000" i="1" sz="3200">
              <a:latin typeface="Times New Roman"/>
              <a:ea typeface="Times New Roman"/>
              <a:cs typeface="Times New Roman"/>
              <a:sym typeface="Times New Roman"/>
            </a:endParaRPr>
          </a:p>
          <a:p>
            <a:pPr indent="0" lvl="1" marL="457200"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C</a:t>
            </a:r>
            <a:r>
              <a:rPr lang="en-US" sz="2000"/>
              <a:t> – hệ số phụ thuộc bán kính cong ở điểm tiếp xúc và môđun đàn hồi</a:t>
            </a:r>
            <a:endParaRPr/>
          </a:p>
          <a:p>
            <a:pPr indent="0" lvl="1" marL="457200"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j</a:t>
            </a:r>
            <a:r>
              <a:rPr lang="en-US" sz="2000">
                <a:latin typeface="Times New Roman"/>
                <a:ea typeface="Times New Roman"/>
                <a:cs typeface="Times New Roman"/>
                <a:sym typeface="Times New Roman"/>
              </a:rPr>
              <a:t> = 2/3</a:t>
            </a:r>
            <a:r>
              <a:rPr lang="en-US" sz="2000"/>
              <a:t> đối với ổ bi; </a:t>
            </a:r>
            <a:r>
              <a:rPr i="1" lang="en-US" sz="2000">
                <a:latin typeface="Times New Roman"/>
                <a:ea typeface="Times New Roman"/>
                <a:cs typeface="Times New Roman"/>
                <a:sym typeface="Times New Roman"/>
              </a:rPr>
              <a:t>j</a:t>
            </a:r>
            <a:r>
              <a:rPr lang="en-US" sz="2000">
                <a:latin typeface="Times New Roman"/>
                <a:ea typeface="Times New Roman"/>
                <a:cs typeface="Times New Roman"/>
                <a:sym typeface="Times New Roman"/>
              </a:rPr>
              <a:t> = 1 </a:t>
            </a:r>
            <a:r>
              <a:rPr lang="en-US" sz="2000"/>
              <a:t>đối với ổ đũa</a:t>
            </a:r>
            <a:endParaRPr i="1" sz="2000"/>
          </a:p>
          <a:p>
            <a:pPr indent="-285750" lvl="1" marL="742950" rtl="0" algn="l">
              <a:lnSpc>
                <a:spcPct val="120000"/>
              </a:lnSpc>
              <a:spcBef>
                <a:spcPts val="600"/>
              </a:spcBef>
              <a:spcAft>
                <a:spcPts val="0"/>
              </a:spcAft>
              <a:buSzPts val="2400"/>
              <a:buChar char="▪"/>
            </a:pPr>
            <a:r>
              <a:rPr lang="en-US"/>
              <a:t>Với ổ bi, ta có:</a:t>
            </a:r>
            <a:endParaRPr/>
          </a:p>
        </p:txBody>
      </p:sp>
      <p:sp>
        <p:nvSpPr>
          <p:cNvPr id="305" name="Google Shape;305;p1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08" name="Google Shape;308;p17"/>
          <p:cNvGraphicFramePr/>
          <p:nvPr/>
        </p:nvGraphicFramePr>
        <p:xfrm>
          <a:off x="2267745" y="2204864"/>
          <a:ext cx="1224135" cy="554687"/>
        </p:xfrm>
        <a:graphic>
          <a:graphicData uri="http://schemas.openxmlformats.org/presentationml/2006/ole">
            <mc:AlternateContent>
              <mc:Choice Requires="v">
                <p:oleObj r:id="rId5" imgH="554687" imgW="1224135" progId="" spid="_x0000_s1">
                  <p:embed/>
                </p:oleObj>
              </mc:Choice>
              <mc:Fallback>
                <p:oleObj r:id="rId6" imgH="554687" imgW="1224135" progId="">
                  <p:embed/>
                  <p:pic>
                    <p:nvPicPr>
                      <p:cNvPr id="308" name="Google Shape;308;p17"/>
                      <p:cNvPicPr preferRelativeResize="0"/>
                      <p:nvPr/>
                    </p:nvPicPr>
                    <p:blipFill rotWithShape="1">
                      <a:blip r:embed="rId7">
                        <a:alphaModFix/>
                      </a:blip>
                      <a:srcRect b="0" l="0" r="0" t="0"/>
                      <a:stretch/>
                    </p:blipFill>
                    <p:spPr>
                      <a:xfrm>
                        <a:off x="2267745" y="2204864"/>
                        <a:ext cx="1224135" cy="554687"/>
                      </a:xfrm>
                      <a:prstGeom prst="rect">
                        <a:avLst/>
                      </a:prstGeom>
                      <a:noFill/>
                      <a:ln>
                        <a:noFill/>
                      </a:ln>
                    </p:spPr>
                  </p:pic>
                </p:oleObj>
              </mc:Fallback>
            </mc:AlternateContent>
          </a:graphicData>
        </a:graphic>
      </p:graphicFrame>
      <p:sp>
        <p:nvSpPr>
          <p:cNvPr id="309" name="Google Shape;309;p1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10" name="Google Shape;310;p17"/>
          <p:cNvGraphicFramePr/>
          <p:nvPr/>
        </p:nvGraphicFramePr>
        <p:xfrm>
          <a:off x="1448641" y="4797152"/>
          <a:ext cx="1893888" cy="528638"/>
        </p:xfrm>
        <a:graphic>
          <a:graphicData uri="http://schemas.openxmlformats.org/presentationml/2006/ole">
            <mc:AlternateContent>
              <mc:Choice Requires="v">
                <p:oleObj r:id="rId8" imgH="528638" imgW="1893888" progId="" spid="_x0000_s2">
                  <p:embed/>
                </p:oleObj>
              </mc:Choice>
              <mc:Fallback>
                <p:oleObj r:id="rId9" imgH="528638" imgW="1893888" progId="">
                  <p:embed/>
                  <p:pic>
                    <p:nvPicPr>
                      <p:cNvPr id="310" name="Google Shape;310;p17"/>
                      <p:cNvPicPr preferRelativeResize="0"/>
                      <p:nvPr/>
                    </p:nvPicPr>
                    <p:blipFill rotWithShape="1">
                      <a:blip r:embed="rId10">
                        <a:alphaModFix/>
                      </a:blip>
                      <a:srcRect b="0" l="0" r="0" t="0"/>
                      <a:stretch/>
                    </p:blipFill>
                    <p:spPr>
                      <a:xfrm>
                        <a:off x="1448641" y="4797152"/>
                        <a:ext cx="1893888" cy="528638"/>
                      </a:xfrm>
                      <a:prstGeom prst="rect">
                        <a:avLst/>
                      </a:prstGeom>
                      <a:noFill/>
                      <a:ln>
                        <a:noFill/>
                      </a:ln>
                    </p:spPr>
                  </p:pic>
                </p:oleObj>
              </mc:Fallback>
            </mc:AlternateContent>
          </a:graphicData>
        </a:graphic>
      </p:graphicFrame>
      <p:graphicFrame>
        <p:nvGraphicFramePr>
          <p:cNvPr id="311" name="Google Shape;311;p17"/>
          <p:cNvGraphicFramePr/>
          <p:nvPr/>
        </p:nvGraphicFramePr>
        <p:xfrm>
          <a:off x="1403648" y="5469806"/>
          <a:ext cx="6096000" cy="528637"/>
        </p:xfrm>
        <a:graphic>
          <a:graphicData uri="http://schemas.openxmlformats.org/presentationml/2006/ole">
            <mc:AlternateContent>
              <mc:Choice Requires="v">
                <p:oleObj r:id="rId11" imgH="528637" imgW="6096000" progId="" spid="_x0000_s3">
                  <p:embed/>
                </p:oleObj>
              </mc:Choice>
              <mc:Fallback>
                <p:oleObj r:id="rId12" imgH="528637" imgW="6096000" progId="">
                  <p:embed/>
                  <p:pic>
                    <p:nvPicPr>
                      <p:cNvPr id="311" name="Google Shape;311;p17"/>
                      <p:cNvPicPr preferRelativeResize="0"/>
                      <p:nvPr/>
                    </p:nvPicPr>
                    <p:blipFill rotWithShape="1">
                      <a:blip r:embed="rId13">
                        <a:alphaModFix/>
                      </a:blip>
                      <a:srcRect b="0" l="0" r="0" t="0"/>
                      <a:stretch/>
                    </p:blipFill>
                    <p:spPr>
                      <a:xfrm>
                        <a:off x="1403648" y="5469806"/>
                        <a:ext cx="6096000" cy="528637"/>
                      </a:xfrm>
                      <a:prstGeom prst="rect">
                        <a:avLst/>
                      </a:prstGeom>
                      <a:noFill/>
                      <a:ln>
                        <a:noFill/>
                      </a:ln>
                    </p:spPr>
                  </p:pic>
                </p:oleObj>
              </mc:Fallback>
            </mc:AlternateContent>
          </a:graphicData>
        </a:graphic>
      </p:graphicFrame>
      <p:pic>
        <p:nvPicPr>
          <p:cNvPr id="312" name="Google Shape;312;p17"/>
          <p:cNvPicPr preferRelativeResize="0"/>
          <p:nvPr/>
        </p:nvPicPr>
        <p:blipFill rotWithShape="1">
          <a:blip r:embed="rId14">
            <a:alphaModFix/>
          </a:blip>
          <a:srcRect b="0" l="0" r="0" t="0"/>
          <a:stretch/>
        </p:blipFill>
        <p:spPr>
          <a:xfrm>
            <a:off x="5580112" y="1412776"/>
            <a:ext cx="3468828" cy="36724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8"/>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319" name="Google Shape;319;p18"/>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8.2.1. Sự phân bố lực trên con lăn</a:t>
            </a:r>
            <a:endParaRPr sz="2400">
              <a:solidFill>
                <a:srgbClr val="16A085"/>
              </a:solidFill>
              <a:latin typeface="Quattrocento Sans"/>
              <a:ea typeface="Quattrocento Sans"/>
              <a:cs typeface="Quattrocento Sans"/>
              <a:sym typeface="Quattrocento Sans"/>
            </a:endParaRPr>
          </a:p>
        </p:txBody>
      </p:sp>
      <p:cxnSp>
        <p:nvCxnSpPr>
          <p:cNvPr id="320" name="Google Shape;320;p18"/>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321" name="Google Shape;321;p18"/>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322" name="Google Shape;322;p18"/>
          <p:cNvSpPr txBox="1"/>
          <p:nvPr>
            <p:ph idx="1" type="body"/>
          </p:nvPr>
        </p:nvSpPr>
        <p:spPr>
          <a:xfrm>
            <a:off x="457200" y="1143000"/>
            <a:ext cx="7931224"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Trong ổ đỡ:</a:t>
            </a:r>
            <a:endParaRPr/>
          </a:p>
          <a:p>
            <a:pPr indent="-133350" lvl="1" marL="742950" rtl="0" algn="l">
              <a:lnSpc>
                <a:spcPct val="120000"/>
              </a:lnSpc>
              <a:spcBef>
                <a:spcPts val="600"/>
              </a:spcBef>
              <a:spcAft>
                <a:spcPts val="0"/>
              </a:spcAft>
              <a:buSzPts val="2400"/>
              <a:buNone/>
            </a:pPr>
            <a:r>
              <a:t/>
            </a:r>
            <a:endParaRPr/>
          </a:p>
          <a:p>
            <a:pPr indent="-133350" lvl="1" marL="742950" rtl="0" algn="l">
              <a:lnSpc>
                <a:spcPct val="120000"/>
              </a:lnSpc>
              <a:spcBef>
                <a:spcPts val="600"/>
              </a:spcBef>
              <a:spcAft>
                <a:spcPts val="0"/>
              </a:spcAft>
              <a:buSzPts val="2400"/>
              <a:buNone/>
            </a:pPr>
            <a:r>
              <a:t/>
            </a:r>
            <a:endParaRPr/>
          </a:p>
          <a:p>
            <a:pPr indent="-107950" lvl="1" marL="742950" rtl="0" algn="l">
              <a:lnSpc>
                <a:spcPct val="120000"/>
              </a:lnSpc>
              <a:spcBef>
                <a:spcPts val="600"/>
              </a:spcBef>
              <a:spcAft>
                <a:spcPts val="0"/>
              </a:spcAft>
              <a:buSzPts val="2800"/>
              <a:buNone/>
            </a:pPr>
            <a:r>
              <a:t/>
            </a:r>
            <a:endParaRPr sz="2800"/>
          </a:p>
          <a:p>
            <a:pPr indent="-107950" lvl="1" marL="742950" rtl="0" algn="l">
              <a:lnSpc>
                <a:spcPct val="120000"/>
              </a:lnSpc>
              <a:spcBef>
                <a:spcPts val="600"/>
              </a:spcBef>
              <a:spcAft>
                <a:spcPts val="0"/>
              </a:spcAft>
              <a:buSzPts val="2800"/>
              <a:buNone/>
            </a:pPr>
            <a:r>
              <a:t/>
            </a:r>
            <a:endParaRPr sz="2800"/>
          </a:p>
          <a:p>
            <a:pPr indent="-158750" lvl="1" marL="742950" rtl="0" algn="l">
              <a:lnSpc>
                <a:spcPct val="120000"/>
              </a:lnSpc>
              <a:spcBef>
                <a:spcPts val="600"/>
              </a:spcBef>
              <a:spcAft>
                <a:spcPts val="0"/>
              </a:spcAft>
              <a:buSzPts val="2000"/>
              <a:buNone/>
            </a:pPr>
            <a:r>
              <a:t/>
            </a:r>
            <a:endParaRPr sz="2000"/>
          </a:p>
          <a:p>
            <a:pPr indent="-285750" lvl="1" marL="742950" rtl="0" algn="l">
              <a:lnSpc>
                <a:spcPct val="120000"/>
              </a:lnSpc>
              <a:spcBef>
                <a:spcPts val="600"/>
              </a:spcBef>
              <a:spcAft>
                <a:spcPts val="0"/>
              </a:spcAft>
              <a:buSzPts val="2400"/>
              <a:buChar char="▪"/>
            </a:pPr>
            <a:r>
              <a:rPr lang="en-US"/>
              <a:t>Tải trọng tác dụng lên viên bi chịu lực lớn nhất:</a:t>
            </a:r>
            <a:endParaRPr/>
          </a:p>
        </p:txBody>
      </p:sp>
      <p:sp>
        <p:nvSpPr>
          <p:cNvPr id="323" name="Google Shape;323;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27" name="Google Shape;327;p18"/>
          <p:cNvGraphicFramePr/>
          <p:nvPr/>
        </p:nvGraphicFramePr>
        <p:xfrm>
          <a:off x="1088551" y="2252290"/>
          <a:ext cx="1893888" cy="528638"/>
        </p:xfrm>
        <a:graphic>
          <a:graphicData uri="http://schemas.openxmlformats.org/presentationml/2006/ole">
            <mc:AlternateContent>
              <mc:Choice Requires="v">
                <p:oleObj r:id="rId5" imgH="528638" imgW="1893888" progId="" spid="_x0000_s1">
                  <p:embed/>
                </p:oleObj>
              </mc:Choice>
              <mc:Fallback>
                <p:oleObj r:id="rId6" imgH="528638" imgW="1893888" progId="">
                  <p:embed/>
                  <p:pic>
                    <p:nvPicPr>
                      <p:cNvPr id="327" name="Google Shape;327;p18"/>
                      <p:cNvPicPr preferRelativeResize="0"/>
                      <p:nvPr/>
                    </p:nvPicPr>
                    <p:blipFill rotWithShape="1">
                      <a:blip r:embed="rId7">
                        <a:alphaModFix/>
                      </a:blip>
                      <a:srcRect b="0" l="0" r="0" t="0"/>
                      <a:stretch/>
                    </p:blipFill>
                    <p:spPr>
                      <a:xfrm>
                        <a:off x="1088551" y="2252290"/>
                        <a:ext cx="1893888" cy="528638"/>
                      </a:xfrm>
                      <a:prstGeom prst="rect">
                        <a:avLst/>
                      </a:prstGeom>
                      <a:noFill/>
                      <a:ln>
                        <a:noFill/>
                      </a:ln>
                    </p:spPr>
                  </p:pic>
                </p:oleObj>
              </mc:Fallback>
            </mc:AlternateContent>
          </a:graphicData>
        </a:graphic>
      </p:graphicFrame>
      <p:graphicFrame>
        <p:nvGraphicFramePr>
          <p:cNvPr id="328" name="Google Shape;328;p18"/>
          <p:cNvGraphicFramePr/>
          <p:nvPr/>
        </p:nvGraphicFramePr>
        <p:xfrm>
          <a:off x="1066797" y="2756347"/>
          <a:ext cx="6096000" cy="528637"/>
        </p:xfrm>
        <a:graphic>
          <a:graphicData uri="http://schemas.openxmlformats.org/presentationml/2006/ole">
            <mc:AlternateContent>
              <mc:Choice Requires="v">
                <p:oleObj r:id="rId8" imgH="528637" imgW="6096000" progId="" spid="_x0000_s2">
                  <p:embed/>
                </p:oleObj>
              </mc:Choice>
              <mc:Fallback>
                <p:oleObj r:id="rId9" imgH="528637" imgW="6096000" progId="">
                  <p:embed/>
                  <p:pic>
                    <p:nvPicPr>
                      <p:cNvPr id="328" name="Google Shape;328;p18"/>
                      <p:cNvPicPr preferRelativeResize="0"/>
                      <p:nvPr/>
                    </p:nvPicPr>
                    <p:blipFill rotWithShape="1">
                      <a:blip r:embed="rId10">
                        <a:alphaModFix/>
                      </a:blip>
                      <a:srcRect b="0" l="0" r="0" t="0"/>
                      <a:stretch/>
                    </p:blipFill>
                    <p:spPr>
                      <a:xfrm>
                        <a:off x="1066797" y="2756347"/>
                        <a:ext cx="6096000" cy="528637"/>
                      </a:xfrm>
                      <a:prstGeom prst="rect">
                        <a:avLst/>
                      </a:prstGeom>
                      <a:noFill/>
                      <a:ln>
                        <a:noFill/>
                      </a:ln>
                    </p:spPr>
                  </p:pic>
                </p:oleObj>
              </mc:Fallback>
            </mc:AlternateContent>
          </a:graphicData>
        </a:graphic>
      </p:graphicFrame>
      <p:graphicFrame>
        <p:nvGraphicFramePr>
          <p:cNvPr id="329" name="Google Shape;329;p18"/>
          <p:cNvGraphicFramePr/>
          <p:nvPr/>
        </p:nvGraphicFramePr>
        <p:xfrm>
          <a:off x="1098897" y="1772816"/>
          <a:ext cx="5921375" cy="503237"/>
        </p:xfrm>
        <a:graphic>
          <a:graphicData uri="http://schemas.openxmlformats.org/presentationml/2006/ole">
            <mc:AlternateContent>
              <mc:Choice Requires="v">
                <p:oleObj r:id="rId11" imgH="503237" imgW="5921375" progId="" spid="_x0000_s3">
                  <p:embed/>
                </p:oleObj>
              </mc:Choice>
              <mc:Fallback>
                <p:oleObj r:id="rId12" imgH="503237" imgW="5921375" progId="">
                  <p:embed/>
                  <p:pic>
                    <p:nvPicPr>
                      <p:cNvPr id="329" name="Google Shape;329;p18"/>
                      <p:cNvPicPr preferRelativeResize="0"/>
                      <p:nvPr/>
                    </p:nvPicPr>
                    <p:blipFill rotWithShape="1">
                      <a:blip r:embed="rId13">
                        <a:alphaModFix/>
                      </a:blip>
                      <a:srcRect b="0" l="0" r="0" t="0"/>
                      <a:stretch/>
                    </p:blipFill>
                    <p:spPr>
                      <a:xfrm>
                        <a:off x="1098897" y="1772816"/>
                        <a:ext cx="5921375" cy="503237"/>
                      </a:xfrm>
                      <a:prstGeom prst="rect">
                        <a:avLst/>
                      </a:prstGeom>
                      <a:noFill/>
                      <a:ln>
                        <a:noFill/>
                      </a:ln>
                    </p:spPr>
                  </p:pic>
                </p:oleObj>
              </mc:Fallback>
            </mc:AlternateContent>
          </a:graphicData>
        </a:graphic>
      </p:graphicFrame>
      <p:sp>
        <p:nvSpPr>
          <p:cNvPr id="330" name="Google Shape;330;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31" name="Google Shape;331;p18"/>
          <p:cNvGraphicFramePr/>
          <p:nvPr/>
        </p:nvGraphicFramePr>
        <p:xfrm>
          <a:off x="2738000" y="3356992"/>
          <a:ext cx="3667999" cy="936104"/>
        </p:xfrm>
        <a:graphic>
          <a:graphicData uri="http://schemas.openxmlformats.org/presentationml/2006/ole">
            <mc:AlternateContent>
              <mc:Choice Requires="v">
                <p:oleObj r:id="rId14" imgH="936104" imgW="3667999" progId="" spid="_x0000_s4">
                  <p:embed/>
                </p:oleObj>
              </mc:Choice>
              <mc:Fallback>
                <p:oleObj r:id="rId15" imgH="936104" imgW="3667999" progId="">
                  <p:embed/>
                  <p:pic>
                    <p:nvPicPr>
                      <p:cNvPr id="331" name="Google Shape;331;p18"/>
                      <p:cNvPicPr preferRelativeResize="0"/>
                      <p:nvPr/>
                    </p:nvPicPr>
                    <p:blipFill rotWithShape="1">
                      <a:blip r:embed="rId16">
                        <a:alphaModFix/>
                      </a:blip>
                      <a:srcRect b="0" l="0" r="0" t="0"/>
                      <a:stretch/>
                    </p:blipFill>
                    <p:spPr>
                      <a:xfrm>
                        <a:off x="2738000" y="3356992"/>
                        <a:ext cx="3667999" cy="936104"/>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
        <p:nvSpPr>
          <p:cNvPr id="332" name="Google Shape;332;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33" name="Google Shape;333;p18"/>
          <p:cNvGraphicFramePr/>
          <p:nvPr/>
        </p:nvGraphicFramePr>
        <p:xfrm>
          <a:off x="1475656" y="4869160"/>
          <a:ext cx="3713277" cy="1296144"/>
        </p:xfrm>
        <a:graphic>
          <a:graphicData uri="http://schemas.openxmlformats.org/presentationml/2006/ole">
            <mc:AlternateContent>
              <mc:Choice Requires="v">
                <p:oleObj r:id="rId17" imgH="1296144" imgW="3713277" progId="" spid="_x0000_s5">
                  <p:embed/>
                </p:oleObj>
              </mc:Choice>
              <mc:Fallback>
                <p:oleObj r:id="rId18" imgH="1296144" imgW="3713277" progId="">
                  <p:embed/>
                  <p:pic>
                    <p:nvPicPr>
                      <p:cNvPr id="333" name="Google Shape;333;p18"/>
                      <p:cNvPicPr preferRelativeResize="0"/>
                      <p:nvPr/>
                    </p:nvPicPr>
                    <p:blipFill rotWithShape="1">
                      <a:blip r:embed="rId19">
                        <a:alphaModFix/>
                      </a:blip>
                      <a:srcRect b="0" l="0" r="0" t="0"/>
                      <a:stretch/>
                    </p:blipFill>
                    <p:spPr>
                      <a:xfrm>
                        <a:off x="1475656" y="4869160"/>
                        <a:ext cx="3713277" cy="1296144"/>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
        <p:nvSpPr>
          <p:cNvPr id="334" name="Google Shape;334;p1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35" name="Google Shape;335;p18"/>
          <p:cNvGraphicFramePr/>
          <p:nvPr/>
        </p:nvGraphicFramePr>
        <p:xfrm>
          <a:off x="5664200" y="5084763"/>
          <a:ext cx="3305175" cy="936625"/>
        </p:xfrm>
        <a:graphic>
          <a:graphicData uri="http://schemas.openxmlformats.org/presentationml/2006/ole">
            <mc:AlternateContent>
              <mc:Choice Requires="v">
                <p:oleObj r:id="rId20" imgH="936625" imgW="3305175" progId="" spid="_x0000_s6">
                  <p:embed/>
                </p:oleObj>
              </mc:Choice>
              <mc:Fallback>
                <p:oleObj r:id="rId21" imgH="936625" imgW="3305175" progId="">
                  <p:embed/>
                  <p:pic>
                    <p:nvPicPr>
                      <p:cNvPr id="335" name="Google Shape;335;p18"/>
                      <p:cNvPicPr preferRelativeResize="0"/>
                      <p:nvPr/>
                    </p:nvPicPr>
                    <p:blipFill rotWithShape="1">
                      <a:blip r:embed="rId22">
                        <a:alphaModFix/>
                      </a:blip>
                      <a:srcRect b="0" l="0" r="0" t="0"/>
                      <a:stretch/>
                    </p:blipFill>
                    <p:spPr>
                      <a:xfrm>
                        <a:off x="5664200" y="5084763"/>
                        <a:ext cx="3305175" cy="936625"/>
                      </a:xfrm>
                      <a:prstGeom prst="rect">
                        <a:avLst/>
                      </a:prstGeom>
                      <a:noFill/>
                      <a:ln>
                        <a:noFill/>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9"/>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342" name="Google Shape;342;p19"/>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8.2.1. Sự phân bố lực trên con lăn</a:t>
            </a:r>
            <a:endParaRPr sz="2400">
              <a:solidFill>
                <a:srgbClr val="16A085"/>
              </a:solidFill>
              <a:latin typeface="Quattrocento Sans"/>
              <a:ea typeface="Quattrocento Sans"/>
              <a:cs typeface="Quattrocento Sans"/>
              <a:sym typeface="Quattrocento Sans"/>
            </a:endParaRPr>
          </a:p>
        </p:txBody>
      </p:sp>
      <p:cxnSp>
        <p:nvCxnSpPr>
          <p:cNvPr id="343" name="Google Shape;343;p19"/>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344" name="Google Shape;344;p19"/>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345" name="Google Shape;345;p19"/>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Trong ổ đỡ:</a:t>
            </a:r>
            <a:endParaRPr/>
          </a:p>
          <a:p>
            <a:pPr indent="-133350" lvl="1" marL="742950" rtl="0" algn="l">
              <a:lnSpc>
                <a:spcPct val="120000"/>
              </a:lnSpc>
              <a:spcBef>
                <a:spcPts val="600"/>
              </a:spcBef>
              <a:spcAft>
                <a:spcPts val="0"/>
              </a:spcAft>
              <a:buSzPts val="2400"/>
              <a:buNone/>
            </a:pPr>
            <a:r>
              <a:t/>
            </a:r>
            <a:endParaRPr/>
          </a:p>
          <a:p>
            <a:pPr indent="-133350" lvl="1" marL="742950" rtl="0" algn="l">
              <a:lnSpc>
                <a:spcPct val="120000"/>
              </a:lnSpc>
              <a:spcBef>
                <a:spcPts val="600"/>
              </a:spcBef>
              <a:spcAft>
                <a:spcPts val="0"/>
              </a:spcAft>
              <a:buSzPts val="2400"/>
              <a:buNone/>
            </a:pPr>
            <a:r>
              <a:t/>
            </a:r>
            <a:endParaRPr/>
          </a:p>
          <a:p>
            <a:pPr indent="-107950" lvl="1" marL="742950" rtl="0" algn="l">
              <a:lnSpc>
                <a:spcPct val="120000"/>
              </a:lnSpc>
              <a:spcBef>
                <a:spcPts val="600"/>
              </a:spcBef>
              <a:spcAft>
                <a:spcPts val="0"/>
              </a:spcAft>
              <a:buSzPts val="2800"/>
              <a:buNone/>
            </a:pPr>
            <a:r>
              <a:t/>
            </a:r>
            <a:endParaRPr sz="2800"/>
          </a:p>
          <a:p>
            <a:pPr indent="-285750" lvl="1" marL="742950" rtl="0" algn="l">
              <a:lnSpc>
                <a:spcPct val="120000"/>
              </a:lnSpc>
              <a:spcBef>
                <a:spcPts val="600"/>
              </a:spcBef>
              <a:spcAft>
                <a:spcPts val="0"/>
              </a:spcAft>
              <a:buSzPts val="2400"/>
              <a:buChar char="▪"/>
            </a:pPr>
            <a:r>
              <a:rPr lang="en-US"/>
              <a:t>Z = 10; 15; 20 tính được k = 4,38; 4,37; 4,36</a:t>
            </a:r>
            <a:endParaRPr/>
          </a:p>
          <a:p>
            <a:pPr indent="-285750" lvl="1" marL="742950" rtl="0" algn="l">
              <a:lnSpc>
                <a:spcPct val="120000"/>
              </a:lnSpc>
              <a:spcBef>
                <a:spcPts val="600"/>
              </a:spcBef>
              <a:spcAft>
                <a:spcPts val="0"/>
              </a:spcAft>
              <a:buSzPts val="2400"/>
              <a:buChar char="▪"/>
            </a:pPr>
            <a:r>
              <a:rPr lang="en-US"/>
              <a:t>Lấy trung bình k = 4,37; ta được:</a:t>
            </a:r>
            <a:endParaRPr/>
          </a:p>
          <a:p>
            <a:pPr indent="-285750" lvl="1" marL="742950" rtl="0" algn="l">
              <a:lnSpc>
                <a:spcPct val="120000"/>
              </a:lnSpc>
              <a:spcBef>
                <a:spcPts val="600"/>
              </a:spcBef>
              <a:spcAft>
                <a:spcPts val="0"/>
              </a:spcAft>
              <a:buSzPts val="2400"/>
              <a:buChar char="▪"/>
            </a:pPr>
            <a:r>
              <a:rPr lang="en-US"/>
              <a:t>Tuy nhiên, thực tế số con lăn chịu lực ít hơn, do đó lấy</a:t>
            </a:r>
            <a:endParaRPr/>
          </a:p>
          <a:p>
            <a:pPr indent="-133350" lvl="1" marL="742950" rtl="0" algn="l">
              <a:lnSpc>
                <a:spcPct val="120000"/>
              </a:lnSpc>
              <a:spcBef>
                <a:spcPts val="600"/>
              </a:spcBef>
              <a:spcAft>
                <a:spcPts val="0"/>
              </a:spcAft>
              <a:buSzPts val="2400"/>
              <a:buNone/>
            </a:pPr>
            <a:r>
              <a:t/>
            </a:r>
            <a:endParaRPr/>
          </a:p>
          <a:p>
            <a:pPr indent="-285750" lvl="1" marL="742950" rtl="0" algn="l">
              <a:lnSpc>
                <a:spcPct val="120000"/>
              </a:lnSpc>
              <a:spcBef>
                <a:spcPts val="600"/>
              </a:spcBef>
              <a:spcAft>
                <a:spcPts val="0"/>
              </a:spcAft>
              <a:buSzPts val="2400"/>
              <a:buChar char="▪"/>
            </a:pPr>
            <a:r>
              <a:rPr lang="en-US"/>
              <a:t>Tương tự với ổ đũa: </a:t>
            </a:r>
            <a:endParaRPr/>
          </a:p>
        </p:txBody>
      </p:sp>
      <p:sp>
        <p:nvSpPr>
          <p:cNvPr id="346" name="Google Shape;346;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52" name="Google Shape;352;p19"/>
          <p:cNvGraphicFramePr/>
          <p:nvPr/>
        </p:nvGraphicFramePr>
        <p:xfrm>
          <a:off x="1403648" y="1772816"/>
          <a:ext cx="3713277" cy="1296144"/>
        </p:xfrm>
        <a:graphic>
          <a:graphicData uri="http://schemas.openxmlformats.org/presentationml/2006/ole">
            <mc:AlternateContent>
              <mc:Choice Requires="v">
                <p:oleObj r:id="rId5" imgH="1296144" imgW="3713277" progId="" spid="_x0000_s1">
                  <p:embed/>
                </p:oleObj>
              </mc:Choice>
              <mc:Fallback>
                <p:oleObj r:id="rId6" imgH="1296144" imgW="3713277" progId="">
                  <p:embed/>
                  <p:pic>
                    <p:nvPicPr>
                      <p:cNvPr id="352" name="Google Shape;352;p19"/>
                      <p:cNvPicPr preferRelativeResize="0"/>
                      <p:nvPr/>
                    </p:nvPicPr>
                    <p:blipFill rotWithShape="1">
                      <a:blip r:embed="rId7">
                        <a:alphaModFix/>
                      </a:blip>
                      <a:srcRect b="0" l="0" r="0" t="0"/>
                      <a:stretch/>
                    </p:blipFill>
                    <p:spPr>
                      <a:xfrm>
                        <a:off x="1403648" y="1772816"/>
                        <a:ext cx="3713277" cy="1296144"/>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
        <p:nvSpPr>
          <p:cNvPr id="353" name="Google Shape;353;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54" name="Google Shape;354;p19"/>
          <p:cNvGraphicFramePr/>
          <p:nvPr/>
        </p:nvGraphicFramePr>
        <p:xfrm>
          <a:off x="5364088" y="1772816"/>
          <a:ext cx="3305175" cy="936625"/>
        </p:xfrm>
        <a:graphic>
          <a:graphicData uri="http://schemas.openxmlformats.org/presentationml/2006/ole">
            <mc:AlternateContent>
              <mc:Choice Requires="v">
                <p:oleObj r:id="rId8" imgH="936625" imgW="3305175" progId="" spid="_x0000_s2">
                  <p:embed/>
                </p:oleObj>
              </mc:Choice>
              <mc:Fallback>
                <p:oleObj r:id="rId9" imgH="936625" imgW="3305175" progId="">
                  <p:embed/>
                  <p:pic>
                    <p:nvPicPr>
                      <p:cNvPr id="354" name="Google Shape;354;p19"/>
                      <p:cNvPicPr preferRelativeResize="0"/>
                      <p:nvPr/>
                    </p:nvPicPr>
                    <p:blipFill rotWithShape="1">
                      <a:blip r:embed="rId10">
                        <a:alphaModFix/>
                      </a:blip>
                      <a:srcRect b="0" l="0" r="0" t="0"/>
                      <a:stretch/>
                    </p:blipFill>
                    <p:spPr>
                      <a:xfrm>
                        <a:off x="5364088" y="1772816"/>
                        <a:ext cx="3305175" cy="936625"/>
                      </a:xfrm>
                      <a:prstGeom prst="rect">
                        <a:avLst/>
                      </a:prstGeom>
                      <a:noFill/>
                      <a:ln>
                        <a:noFill/>
                      </a:ln>
                    </p:spPr>
                  </p:pic>
                </p:oleObj>
              </mc:Fallback>
            </mc:AlternateContent>
          </a:graphicData>
        </a:graphic>
      </p:graphicFrame>
      <p:sp>
        <p:nvSpPr>
          <p:cNvPr id="355" name="Google Shape;355;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56" name="Google Shape;356;p19"/>
          <p:cNvGraphicFramePr/>
          <p:nvPr/>
        </p:nvGraphicFramePr>
        <p:xfrm>
          <a:off x="5652120" y="3861048"/>
          <a:ext cx="2006766" cy="515500"/>
        </p:xfrm>
        <a:graphic>
          <a:graphicData uri="http://schemas.openxmlformats.org/presentationml/2006/ole">
            <mc:AlternateContent>
              <mc:Choice Requires="v">
                <p:oleObj r:id="rId11" imgH="515500" imgW="2006766" progId="" spid="_x0000_s3">
                  <p:embed/>
                </p:oleObj>
              </mc:Choice>
              <mc:Fallback>
                <p:oleObj r:id="rId12" imgH="515500" imgW="2006766" progId="">
                  <p:embed/>
                  <p:pic>
                    <p:nvPicPr>
                      <p:cNvPr id="356" name="Google Shape;356;p19"/>
                      <p:cNvPicPr preferRelativeResize="0"/>
                      <p:nvPr/>
                    </p:nvPicPr>
                    <p:blipFill rotWithShape="1">
                      <a:blip r:embed="rId13">
                        <a:alphaModFix/>
                      </a:blip>
                      <a:srcRect b="0" l="0" r="0" t="0"/>
                      <a:stretch/>
                    </p:blipFill>
                    <p:spPr>
                      <a:xfrm>
                        <a:off x="5652120" y="3861048"/>
                        <a:ext cx="2006766" cy="515500"/>
                      </a:xfrm>
                      <a:prstGeom prst="rect">
                        <a:avLst/>
                      </a:prstGeom>
                      <a:noFill/>
                      <a:ln>
                        <a:noFill/>
                      </a:ln>
                    </p:spPr>
                  </p:pic>
                </p:oleObj>
              </mc:Fallback>
            </mc:AlternateContent>
          </a:graphicData>
        </a:graphic>
      </p:graphicFrame>
      <p:sp>
        <p:nvSpPr>
          <p:cNvPr id="357" name="Google Shape;357;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58" name="Google Shape;358;p19"/>
          <p:cNvGraphicFramePr/>
          <p:nvPr/>
        </p:nvGraphicFramePr>
        <p:xfrm>
          <a:off x="2820458" y="4797152"/>
          <a:ext cx="4188879" cy="504056"/>
        </p:xfrm>
        <a:graphic>
          <a:graphicData uri="http://schemas.openxmlformats.org/presentationml/2006/ole">
            <mc:AlternateContent>
              <mc:Choice Requires="v">
                <p:oleObj r:id="rId14" imgH="504056" imgW="4188879" progId="" spid="_x0000_s4">
                  <p:embed/>
                </p:oleObj>
              </mc:Choice>
              <mc:Fallback>
                <p:oleObj r:id="rId15" imgH="504056" imgW="4188879" progId="">
                  <p:embed/>
                  <p:pic>
                    <p:nvPicPr>
                      <p:cNvPr id="358" name="Google Shape;358;p19"/>
                      <p:cNvPicPr preferRelativeResize="0"/>
                      <p:nvPr/>
                    </p:nvPicPr>
                    <p:blipFill rotWithShape="1">
                      <a:blip r:embed="rId16">
                        <a:alphaModFix/>
                      </a:blip>
                      <a:srcRect b="0" l="0" r="0" t="0"/>
                      <a:stretch/>
                    </p:blipFill>
                    <p:spPr>
                      <a:xfrm>
                        <a:off x="2820458" y="4797152"/>
                        <a:ext cx="4188879" cy="504056"/>
                      </a:xfrm>
                      <a:prstGeom prst="rect">
                        <a:avLst/>
                      </a:prstGeom>
                      <a:noFill/>
                      <a:ln>
                        <a:noFill/>
                      </a:ln>
                    </p:spPr>
                  </p:pic>
                </p:oleObj>
              </mc:Fallback>
            </mc:AlternateContent>
          </a:graphicData>
        </a:graphic>
      </p:graphicFrame>
      <p:sp>
        <p:nvSpPr>
          <p:cNvPr id="359" name="Google Shape;359;p1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60" name="Google Shape;360;p19"/>
          <p:cNvGraphicFramePr/>
          <p:nvPr/>
        </p:nvGraphicFramePr>
        <p:xfrm>
          <a:off x="4067189" y="5393167"/>
          <a:ext cx="1728948" cy="484105"/>
        </p:xfrm>
        <a:graphic>
          <a:graphicData uri="http://schemas.openxmlformats.org/presentationml/2006/ole">
            <mc:AlternateContent>
              <mc:Choice Requires="v">
                <p:oleObj r:id="rId17" imgH="484105" imgW="1728948" progId="" spid="_x0000_s5">
                  <p:embed/>
                </p:oleObj>
              </mc:Choice>
              <mc:Fallback>
                <p:oleObj r:id="rId18" imgH="484105" imgW="1728948" progId="">
                  <p:embed/>
                  <p:pic>
                    <p:nvPicPr>
                      <p:cNvPr id="360" name="Google Shape;360;p19"/>
                      <p:cNvPicPr preferRelativeResize="0"/>
                      <p:nvPr/>
                    </p:nvPicPr>
                    <p:blipFill rotWithShape="1">
                      <a:blip r:embed="rId19">
                        <a:alphaModFix/>
                      </a:blip>
                      <a:srcRect b="0" l="0" r="0" t="0"/>
                      <a:stretch/>
                    </p:blipFill>
                    <p:spPr>
                      <a:xfrm>
                        <a:off x="4067189" y="5393167"/>
                        <a:ext cx="1728948" cy="484105"/>
                      </a:xfrm>
                      <a:prstGeom prst="rect">
                        <a:avLst/>
                      </a:prstGeom>
                      <a:noFill/>
                      <a:ln>
                        <a:noFill/>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0"/>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367" name="Google Shape;367;p20"/>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8.2.1. Sự phân bố lực trên con lăn</a:t>
            </a:r>
            <a:endParaRPr sz="2400">
              <a:solidFill>
                <a:srgbClr val="16A085"/>
              </a:solidFill>
              <a:latin typeface="Quattrocento Sans"/>
              <a:ea typeface="Quattrocento Sans"/>
              <a:cs typeface="Quattrocento Sans"/>
              <a:sym typeface="Quattrocento Sans"/>
            </a:endParaRPr>
          </a:p>
        </p:txBody>
      </p:sp>
      <p:cxnSp>
        <p:nvCxnSpPr>
          <p:cNvPr id="368" name="Google Shape;368;p20"/>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369" name="Google Shape;369;p20"/>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370" name="Google Shape;370;p20"/>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20000"/>
              </a:lnSpc>
              <a:spcBef>
                <a:spcPts val="0"/>
              </a:spcBef>
              <a:spcAft>
                <a:spcPts val="0"/>
              </a:spcAft>
              <a:buSzPts val="2600"/>
              <a:buChar char="⮚"/>
            </a:pPr>
            <a:r>
              <a:rPr lang="en-US"/>
              <a:t>Trong ổ chặn:</a:t>
            </a:r>
            <a:endParaRPr/>
          </a:p>
          <a:p>
            <a:pPr indent="-285750" lvl="1" marL="742950" rtl="0" algn="l">
              <a:lnSpc>
                <a:spcPct val="120000"/>
              </a:lnSpc>
              <a:spcBef>
                <a:spcPts val="600"/>
              </a:spcBef>
              <a:spcAft>
                <a:spcPts val="0"/>
              </a:spcAft>
              <a:buSzPts val="2400"/>
              <a:buChar char="▪"/>
            </a:pPr>
            <a:r>
              <a:rPr lang="en-US"/>
              <a:t>Lực tác dụng lên mỗi viên bi:</a:t>
            </a:r>
            <a:endParaRPr/>
          </a:p>
          <a:p>
            <a:pPr indent="-133350" lvl="1" marL="742950" rtl="0" algn="l">
              <a:lnSpc>
                <a:spcPct val="120000"/>
              </a:lnSpc>
              <a:spcBef>
                <a:spcPts val="600"/>
              </a:spcBef>
              <a:spcAft>
                <a:spcPts val="0"/>
              </a:spcAft>
              <a:buSzPts val="2400"/>
              <a:buNone/>
            </a:pPr>
            <a:r>
              <a:t/>
            </a:r>
            <a:endParaRPr/>
          </a:p>
          <a:p>
            <a:pPr indent="-133350" lvl="1" marL="742950" rtl="0" algn="l">
              <a:lnSpc>
                <a:spcPct val="120000"/>
              </a:lnSpc>
              <a:spcBef>
                <a:spcPts val="600"/>
              </a:spcBef>
              <a:spcAft>
                <a:spcPts val="0"/>
              </a:spcAft>
              <a:buSzPts val="2400"/>
              <a:buNone/>
            </a:pPr>
            <a:r>
              <a:t/>
            </a:r>
            <a:endParaRPr/>
          </a:p>
          <a:p>
            <a:pPr indent="0" lvl="1" marL="914400"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F</a:t>
            </a:r>
            <a:r>
              <a:rPr baseline="-25000" i="1" lang="en-US" sz="2000">
                <a:latin typeface="Times New Roman"/>
                <a:ea typeface="Times New Roman"/>
                <a:cs typeface="Times New Roman"/>
                <a:sym typeface="Times New Roman"/>
              </a:rPr>
              <a:t>a</a:t>
            </a:r>
            <a:r>
              <a:rPr lang="en-US" sz="2000"/>
              <a:t> – lực dọc trục</a:t>
            </a:r>
            <a:endParaRPr/>
          </a:p>
          <a:p>
            <a:pPr indent="0" lvl="1" marL="914400"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Z</a:t>
            </a:r>
            <a:r>
              <a:rPr lang="en-US" sz="2000"/>
              <a:t> – số bi </a:t>
            </a:r>
            <a:endParaRPr/>
          </a:p>
          <a:p>
            <a:pPr indent="0" lvl="1" marL="914400" rtl="0" algn="l">
              <a:lnSpc>
                <a:spcPct val="120000"/>
              </a:lnSpc>
              <a:spcBef>
                <a:spcPts val="600"/>
              </a:spcBef>
              <a:spcAft>
                <a:spcPts val="0"/>
              </a:spcAft>
              <a:buSzPts val="2000"/>
              <a:buNone/>
            </a:pPr>
            <a:r>
              <a:rPr lang="en-US" sz="2000"/>
              <a:t>0,8 là hệ số xét đến sự phân bố lực giữa các bi do sai số chế tạo</a:t>
            </a:r>
            <a:endParaRPr/>
          </a:p>
          <a:p>
            <a:pPr indent="0" lvl="1" marL="914400" rtl="0" algn="l">
              <a:lnSpc>
                <a:spcPct val="120000"/>
              </a:lnSpc>
              <a:spcBef>
                <a:spcPts val="600"/>
              </a:spcBef>
              <a:spcAft>
                <a:spcPts val="0"/>
              </a:spcAft>
              <a:buSzPts val="300"/>
              <a:buNone/>
            </a:pPr>
            <a:r>
              <a:t/>
            </a:r>
            <a:endParaRPr sz="300"/>
          </a:p>
          <a:p>
            <a:pPr indent="0" lvl="2" marL="0" rtl="0" algn="l">
              <a:lnSpc>
                <a:spcPct val="120000"/>
              </a:lnSpc>
              <a:spcBef>
                <a:spcPts val="600"/>
              </a:spcBef>
              <a:spcAft>
                <a:spcPts val="0"/>
              </a:spcAft>
              <a:buClr>
                <a:srgbClr val="34495E"/>
              </a:buClr>
              <a:buSzPts val="2400"/>
              <a:buNone/>
            </a:pPr>
            <a:r>
              <a:rPr b="1" lang="en-US" sz="2400"/>
              <a:t>Nhận xét:</a:t>
            </a:r>
            <a:endParaRPr/>
          </a:p>
          <a:p>
            <a:pPr indent="-342900" lvl="3" marL="800100" rtl="0" algn="l">
              <a:lnSpc>
                <a:spcPct val="120000"/>
              </a:lnSpc>
              <a:spcBef>
                <a:spcPts val="600"/>
              </a:spcBef>
              <a:spcAft>
                <a:spcPts val="0"/>
              </a:spcAft>
              <a:buClr>
                <a:srgbClr val="34495E"/>
              </a:buClr>
              <a:buSzPts val="2200"/>
              <a:buChar char="–"/>
            </a:pPr>
            <a:r>
              <a:rPr lang="en-US"/>
              <a:t>Sự phân bố tải trọng phụ thuộc nhiều vào kích thước khe hở và độ chính xác chế tạo</a:t>
            </a:r>
            <a:endParaRPr/>
          </a:p>
          <a:p>
            <a:pPr indent="-342900" lvl="3" marL="800100" rtl="0" algn="l">
              <a:lnSpc>
                <a:spcPct val="120000"/>
              </a:lnSpc>
              <a:spcBef>
                <a:spcPts val="600"/>
              </a:spcBef>
              <a:spcAft>
                <a:spcPts val="0"/>
              </a:spcAft>
              <a:buClr>
                <a:srgbClr val="34495E"/>
              </a:buClr>
              <a:buSzPts val="2200"/>
              <a:buChar char="–"/>
            </a:pPr>
            <a:r>
              <a:rPr lang="en-US"/>
              <a:t>Trong quá trình sử dụng, khe hở tăng dần, ổ làm việc kém</a:t>
            </a:r>
            <a:endParaRPr/>
          </a:p>
          <a:p>
            <a:pPr indent="-133350" lvl="1" marL="742950" rtl="0" algn="l">
              <a:lnSpc>
                <a:spcPct val="120000"/>
              </a:lnSpc>
              <a:spcBef>
                <a:spcPts val="600"/>
              </a:spcBef>
              <a:spcAft>
                <a:spcPts val="0"/>
              </a:spcAft>
              <a:buSzPts val="2400"/>
              <a:buNone/>
            </a:pPr>
            <a:r>
              <a:t/>
            </a:r>
            <a:endParaRPr/>
          </a:p>
        </p:txBody>
      </p:sp>
      <p:sp>
        <p:nvSpPr>
          <p:cNvPr id="371" name="Google Shape;371;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82" name="Google Shape;382;p20"/>
          <p:cNvGraphicFramePr/>
          <p:nvPr/>
        </p:nvGraphicFramePr>
        <p:xfrm>
          <a:off x="3491880" y="2276872"/>
          <a:ext cx="1583683" cy="881824"/>
        </p:xfrm>
        <a:graphic>
          <a:graphicData uri="http://schemas.openxmlformats.org/presentationml/2006/ole">
            <mc:AlternateContent>
              <mc:Choice Requires="v">
                <p:oleObj r:id="rId5" imgH="881824" imgW="1583683" progId="" spid="_x0000_s1">
                  <p:embed/>
                </p:oleObj>
              </mc:Choice>
              <mc:Fallback>
                <p:oleObj r:id="rId6" imgH="881824" imgW="1583683" progId="">
                  <p:embed/>
                  <p:pic>
                    <p:nvPicPr>
                      <p:cNvPr id="382" name="Google Shape;382;p20"/>
                      <p:cNvPicPr preferRelativeResize="0"/>
                      <p:nvPr/>
                    </p:nvPicPr>
                    <p:blipFill rotWithShape="1">
                      <a:blip r:embed="rId7">
                        <a:alphaModFix/>
                      </a:blip>
                      <a:srcRect b="0" l="0" r="0" t="0"/>
                      <a:stretch/>
                    </p:blipFill>
                    <p:spPr>
                      <a:xfrm>
                        <a:off x="3491880" y="2276872"/>
                        <a:ext cx="1583683" cy="881824"/>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1"/>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389" name="Google Shape;389;p21"/>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8.2.2. Ứng suất tiếp xúc trong ổ lăn</a:t>
            </a:r>
            <a:endParaRPr sz="2400">
              <a:solidFill>
                <a:srgbClr val="16A085"/>
              </a:solidFill>
              <a:latin typeface="Quattrocento Sans"/>
              <a:ea typeface="Quattrocento Sans"/>
              <a:cs typeface="Quattrocento Sans"/>
              <a:sym typeface="Quattrocento Sans"/>
            </a:endParaRPr>
          </a:p>
        </p:txBody>
      </p:sp>
      <p:cxnSp>
        <p:nvCxnSpPr>
          <p:cNvPr id="390" name="Google Shape;390;p21"/>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391" name="Google Shape;391;p21"/>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392" name="Google Shape;392;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1"/>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800"/>
              <a:buChar char="⮚"/>
            </a:pPr>
            <a:r>
              <a:rPr lang="en-US" sz="2800"/>
              <a:t>Ứng suất tiếp xúc: bi với vòng trong &gt; bi với vòng ngoài</a:t>
            </a:r>
            <a:endParaRPr/>
          </a:p>
          <a:p>
            <a:pPr indent="-342900" lvl="0" marL="342900" rtl="0" algn="l">
              <a:lnSpc>
                <a:spcPct val="120000"/>
              </a:lnSpc>
              <a:spcBef>
                <a:spcPts val="600"/>
              </a:spcBef>
              <a:spcAft>
                <a:spcPts val="0"/>
              </a:spcAft>
              <a:buSzPts val="2800"/>
              <a:buChar char="⮚"/>
            </a:pPr>
            <a:r>
              <a:rPr lang="en-US" sz="2800"/>
              <a:t>Khi ổ chịu lực hướng tâm:</a:t>
            </a:r>
            <a:endParaRPr/>
          </a:p>
          <a:p>
            <a:pPr indent="-165100" lvl="0" marL="342900" rtl="0" algn="l">
              <a:lnSpc>
                <a:spcPct val="120000"/>
              </a:lnSpc>
              <a:spcBef>
                <a:spcPts val="600"/>
              </a:spcBef>
              <a:spcAft>
                <a:spcPts val="0"/>
              </a:spcAft>
              <a:buSzPts val="2800"/>
              <a:buNone/>
            </a:pPr>
            <a:r>
              <a:t/>
            </a:r>
            <a:endParaRPr sz="2800"/>
          </a:p>
          <a:p>
            <a:pPr indent="-285750" lvl="1" marL="742950" rtl="0" algn="l">
              <a:lnSpc>
                <a:spcPct val="120000"/>
              </a:lnSpc>
              <a:spcBef>
                <a:spcPts val="600"/>
              </a:spcBef>
              <a:spcAft>
                <a:spcPts val="0"/>
              </a:spcAft>
              <a:buSzPts val="2400"/>
              <a:buChar char="▪"/>
            </a:pPr>
            <a:r>
              <a:rPr lang="en-US"/>
              <a:t>Ổ bi (tiếp xúc điểm): 	  </a:t>
            </a:r>
            <a:endParaRPr/>
          </a:p>
          <a:p>
            <a:pPr indent="0" lvl="1" marL="742950" rtl="0" algn="l">
              <a:lnSpc>
                <a:spcPct val="120000"/>
              </a:lnSpc>
              <a:spcBef>
                <a:spcPts val="600"/>
              </a:spcBef>
              <a:spcAft>
                <a:spcPts val="0"/>
              </a:spcAft>
              <a:buSzPts val="4800"/>
              <a:buNone/>
            </a:pPr>
            <a:r>
              <a:t/>
            </a:r>
            <a:endParaRPr sz="4800"/>
          </a:p>
          <a:p>
            <a:pPr indent="-285750" lvl="1" marL="742950" rtl="0" algn="l">
              <a:lnSpc>
                <a:spcPct val="120000"/>
              </a:lnSpc>
              <a:spcBef>
                <a:spcPts val="600"/>
              </a:spcBef>
              <a:spcAft>
                <a:spcPts val="0"/>
              </a:spcAft>
              <a:buSzPts val="2400"/>
              <a:buChar char="▪"/>
            </a:pPr>
            <a:r>
              <a:rPr lang="en-US"/>
              <a:t>Ổ đũa (tiếp xúc đường):	  </a:t>
            </a:r>
            <a:endParaRPr/>
          </a:p>
        </p:txBody>
      </p:sp>
      <p:sp>
        <p:nvSpPr>
          <p:cNvPr id="404" name="Google Shape;404;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05" name="Google Shape;405;p21"/>
          <p:cNvGraphicFramePr/>
          <p:nvPr/>
        </p:nvGraphicFramePr>
        <p:xfrm>
          <a:off x="4606762" y="3212976"/>
          <a:ext cx="1981462" cy="1008112"/>
        </p:xfrm>
        <a:graphic>
          <a:graphicData uri="http://schemas.openxmlformats.org/presentationml/2006/ole">
            <mc:AlternateContent>
              <mc:Choice Requires="v">
                <p:oleObj r:id="rId5" imgH="1008112" imgW="1981462" progId="" spid="_x0000_s1">
                  <p:embed/>
                </p:oleObj>
              </mc:Choice>
              <mc:Fallback>
                <p:oleObj r:id="rId6" imgH="1008112" imgW="1981462" progId="">
                  <p:embed/>
                  <p:pic>
                    <p:nvPicPr>
                      <p:cNvPr id="405" name="Google Shape;405;p21"/>
                      <p:cNvPicPr preferRelativeResize="0"/>
                      <p:nvPr/>
                    </p:nvPicPr>
                    <p:blipFill rotWithShape="1">
                      <a:blip r:embed="rId7">
                        <a:alphaModFix/>
                      </a:blip>
                      <a:srcRect b="0" l="0" r="0" t="0"/>
                      <a:stretch/>
                    </p:blipFill>
                    <p:spPr>
                      <a:xfrm>
                        <a:off x="4606762" y="3212976"/>
                        <a:ext cx="1981462" cy="1008112"/>
                      </a:xfrm>
                      <a:prstGeom prst="rect">
                        <a:avLst/>
                      </a:prstGeom>
                      <a:noFill/>
                      <a:ln>
                        <a:noFill/>
                      </a:ln>
                    </p:spPr>
                  </p:pic>
                </p:oleObj>
              </mc:Fallback>
            </mc:AlternateContent>
          </a:graphicData>
        </a:graphic>
      </p:graphicFrame>
      <p:sp>
        <p:nvSpPr>
          <p:cNvPr id="406" name="Google Shape;406;p2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07" name="Google Shape;407;p21"/>
          <p:cNvGraphicFramePr/>
          <p:nvPr/>
        </p:nvGraphicFramePr>
        <p:xfrm>
          <a:off x="4606762" y="4653136"/>
          <a:ext cx="1981462" cy="1008112"/>
        </p:xfrm>
        <a:graphic>
          <a:graphicData uri="http://schemas.openxmlformats.org/presentationml/2006/ole">
            <mc:AlternateContent>
              <mc:Choice Requires="v">
                <p:oleObj r:id="rId8" imgH="1008112" imgW="1981462" progId="" spid="_x0000_s2">
                  <p:embed/>
                </p:oleObj>
              </mc:Choice>
              <mc:Fallback>
                <p:oleObj r:id="rId9" imgH="1008112" imgW="1981462" progId="">
                  <p:embed/>
                  <p:pic>
                    <p:nvPicPr>
                      <p:cNvPr id="407" name="Google Shape;407;p21"/>
                      <p:cNvPicPr preferRelativeResize="0"/>
                      <p:nvPr/>
                    </p:nvPicPr>
                    <p:blipFill rotWithShape="1">
                      <a:blip r:embed="rId10">
                        <a:alphaModFix/>
                      </a:blip>
                      <a:srcRect b="0" l="0" r="0" t="0"/>
                      <a:stretch/>
                    </p:blipFill>
                    <p:spPr>
                      <a:xfrm>
                        <a:off x="4606762" y="4653136"/>
                        <a:ext cx="1981462" cy="1008112"/>
                      </a:xfrm>
                      <a:prstGeom prst="rect">
                        <a:avLst/>
                      </a:prstGeom>
                      <a:noFill/>
                      <a:ln>
                        <a:noFill/>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2"/>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8.2. Điều kiện làm việc của ổ</a:t>
            </a:r>
            <a:endParaRPr/>
          </a:p>
        </p:txBody>
      </p:sp>
      <p:sp>
        <p:nvSpPr>
          <p:cNvPr id="414" name="Google Shape;414;p22"/>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8.2.2. Ứng suất tiếp xúc trong ổ lăn</a:t>
            </a:r>
            <a:endParaRPr sz="2400">
              <a:solidFill>
                <a:srgbClr val="16A085"/>
              </a:solidFill>
              <a:latin typeface="Quattrocento Sans"/>
              <a:ea typeface="Quattrocento Sans"/>
              <a:cs typeface="Quattrocento Sans"/>
              <a:sym typeface="Quattrocento Sans"/>
            </a:endParaRPr>
          </a:p>
        </p:txBody>
      </p:sp>
      <p:cxnSp>
        <p:nvCxnSpPr>
          <p:cNvPr id="415" name="Google Shape;415;p22"/>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416" name="Google Shape;416;p22"/>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417" name="Google Shape;417;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2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2"/>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400"/>
              <a:buChar char="⮚"/>
            </a:pPr>
            <a:r>
              <a:rPr lang="en-US" sz="2400"/>
              <a:t>Vòng trong quay: sau một vòng quay, điểm A chịu ứng suất lớn nhất 1 lần. </a:t>
            </a:r>
            <a:endParaRPr sz="2400"/>
          </a:p>
          <a:p>
            <a:pPr indent="0" lvl="0" marL="342900" rtl="0" algn="l">
              <a:lnSpc>
                <a:spcPct val="120000"/>
              </a:lnSpc>
              <a:spcBef>
                <a:spcPts val="600"/>
              </a:spcBef>
              <a:spcAft>
                <a:spcPts val="0"/>
              </a:spcAft>
              <a:buSzPts val="2400"/>
              <a:buNone/>
            </a:pPr>
            <a:r>
              <a:rPr lang="en-US" sz="2400"/>
              <a:t>Vòng ngoài quay: mỗi viên bi chạy qua, điểm A lại chịu ứng ứng lớn nhất 1 lần. </a:t>
            </a:r>
            <a:endParaRPr sz="2400"/>
          </a:p>
          <a:p>
            <a:pPr indent="0" lvl="0" marL="342900" rtl="0" algn="l">
              <a:lnSpc>
                <a:spcPct val="120000"/>
              </a:lnSpc>
              <a:spcBef>
                <a:spcPts val="600"/>
              </a:spcBef>
              <a:spcAft>
                <a:spcPts val="0"/>
              </a:spcAft>
              <a:buSzPts val="2400"/>
              <a:buNone/>
            </a:pPr>
            <a:r>
              <a:rPr lang="en-US" sz="2400"/>
              <a:t>Như vậy, vòng ngoài quay tuổi thọ ổ bi thấp hơn vòng trong quay.</a:t>
            </a:r>
            <a:endParaRPr/>
          </a:p>
          <a:p>
            <a:pPr indent="0" lvl="0" marL="342900" rtl="0" algn="l">
              <a:lnSpc>
                <a:spcPct val="120000"/>
              </a:lnSpc>
              <a:spcBef>
                <a:spcPts val="600"/>
              </a:spcBef>
              <a:spcAft>
                <a:spcPts val="0"/>
              </a:spcAft>
              <a:buSzPts val="1050"/>
              <a:buNone/>
            </a:pPr>
            <a:r>
              <a:t/>
            </a:r>
            <a:endParaRPr sz="1050"/>
          </a:p>
          <a:p>
            <a:pPr indent="-342900" lvl="0" marL="342900" rtl="0" algn="l">
              <a:lnSpc>
                <a:spcPct val="120000"/>
              </a:lnSpc>
              <a:spcBef>
                <a:spcPts val="600"/>
              </a:spcBef>
              <a:spcAft>
                <a:spcPts val="0"/>
              </a:spcAft>
              <a:buSzPts val="2400"/>
              <a:buChar char="⮚"/>
            </a:pPr>
            <a:r>
              <a:rPr lang="en-US" sz="2400"/>
              <a:t>Nếu vòng trong quay, để mòn đều ổ, vòng ngoài lắp lỏng để trong quá trình làm việc, vòng ngoài tự xê dịch, làm mòn đều ổ.</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3"/>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8.3. Động học và động lực học ổ lăn</a:t>
            </a:r>
            <a:endParaRPr/>
          </a:p>
        </p:txBody>
      </p:sp>
      <p:sp>
        <p:nvSpPr>
          <p:cNvPr id="435" name="Google Shape;435;p23"/>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8.3.1. Động học ổ lăn</a:t>
            </a:r>
            <a:endParaRPr sz="2400">
              <a:solidFill>
                <a:srgbClr val="16A085"/>
              </a:solidFill>
              <a:latin typeface="Quattrocento Sans"/>
              <a:ea typeface="Quattrocento Sans"/>
              <a:cs typeface="Quattrocento Sans"/>
              <a:sym typeface="Quattrocento Sans"/>
            </a:endParaRPr>
          </a:p>
        </p:txBody>
      </p:sp>
      <p:cxnSp>
        <p:nvCxnSpPr>
          <p:cNvPr id="436" name="Google Shape;436;p23"/>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437" name="Google Shape;437;p23"/>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438" name="Google Shape;438;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3"/>
          <p:cNvSpPr txBox="1"/>
          <p:nvPr>
            <p:ph idx="1" type="body"/>
          </p:nvPr>
        </p:nvSpPr>
        <p:spPr>
          <a:xfrm>
            <a:off x="457199" y="1143000"/>
            <a:ext cx="8229607"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Trường hợp vòng trong của ổ quay:</a:t>
            </a:r>
            <a:endParaRPr/>
          </a:p>
          <a:p>
            <a:pPr indent="-285750" lvl="1" marL="742950" rtl="0" algn="l">
              <a:lnSpc>
                <a:spcPct val="120000"/>
              </a:lnSpc>
              <a:spcBef>
                <a:spcPts val="600"/>
              </a:spcBef>
              <a:spcAft>
                <a:spcPts val="0"/>
              </a:spcAft>
              <a:buSzPts val="2400"/>
              <a:buChar char="▪"/>
            </a:pPr>
            <a:r>
              <a:rPr lang="en-US"/>
              <a:t>Vận tốc vòng trong v</a:t>
            </a:r>
            <a:r>
              <a:rPr baseline="-25000" lang="en-US"/>
              <a:t>1</a:t>
            </a:r>
            <a:r>
              <a:rPr lang="en-US"/>
              <a:t>:</a:t>
            </a:r>
            <a:endParaRPr/>
          </a:p>
          <a:p>
            <a:pPr indent="-133350" lvl="1" marL="742950" rtl="0" algn="l">
              <a:lnSpc>
                <a:spcPct val="120000"/>
              </a:lnSpc>
              <a:spcBef>
                <a:spcPts val="600"/>
              </a:spcBef>
              <a:spcAft>
                <a:spcPts val="0"/>
              </a:spcAft>
              <a:buSzPts val="2400"/>
              <a:buNone/>
            </a:pPr>
            <a:r>
              <a:t/>
            </a:r>
            <a:endParaRPr/>
          </a:p>
          <a:p>
            <a:pPr indent="-285750" lvl="1" marL="742950" rtl="0" algn="l">
              <a:lnSpc>
                <a:spcPct val="120000"/>
              </a:lnSpc>
              <a:spcBef>
                <a:spcPts val="600"/>
              </a:spcBef>
              <a:spcAft>
                <a:spcPts val="0"/>
              </a:spcAft>
              <a:buSzPts val="2400"/>
              <a:buChar char="▪"/>
            </a:pPr>
            <a:r>
              <a:rPr lang="en-US"/>
              <a:t>Vận tốc tâm viên bi v</a:t>
            </a:r>
            <a:r>
              <a:rPr baseline="-25000" lang="en-US"/>
              <a:t>0</a:t>
            </a:r>
            <a:r>
              <a:rPr lang="en-US"/>
              <a:t>: </a:t>
            </a:r>
            <a:endParaRPr/>
          </a:p>
          <a:p>
            <a:pPr indent="-133350" lvl="1" marL="742950" rtl="0" algn="l">
              <a:lnSpc>
                <a:spcPct val="120000"/>
              </a:lnSpc>
              <a:spcBef>
                <a:spcPts val="600"/>
              </a:spcBef>
              <a:spcAft>
                <a:spcPts val="0"/>
              </a:spcAft>
              <a:buSzPts val="2400"/>
              <a:buNone/>
            </a:pPr>
            <a:r>
              <a:t/>
            </a:r>
            <a:endParaRPr/>
          </a:p>
          <a:p>
            <a:pPr indent="-285750" lvl="1" marL="742950" rtl="0" algn="l">
              <a:lnSpc>
                <a:spcPct val="120000"/>
              </a:lnSpc>
              <a:spcBef>
                <a:spcPts val="600"/>
              </a:spcBef>
              <a:spcAft>
                <a:spcPts val="0"/>
              </a:spcAft>
              <a:buSzPts val="2400"/>
              <a:buChar char="▪"/>
            </a:pPr>
            <a:r>
              <a:rPr lang="en-US"/>
              <a:t>Vận tốc góc của bi với trục                                        quay của nó:</a:t>
            </a:r>
            <a:endParaRPr/>
          </a:p>
          <a:p>
            <a:pPr indent="-171450" lvl="1" marL="742950" rtl="0" algn="l">
              <a:lnSpc>
                <a:spcPct val="120000"/>
              </a:lnSpc>
              <a:spcBef>
                <a:spcPts val="600"/>
              </a:spcBef>
              <a:spcAft>
                <a:spcPts val="0"/>
              </a:spcAft>
              <a:buSzPts val="1800"/>
              <a:buNone/>
            </a:pPr>
            <a:r>
              <a:t/>
            </a:r>
            <a:endParaRPr sz="1800"/>
          </a:p>
          <a:p>
            <a:pPr indent="-285750" lvl="1" marL="742950" rtl="0" algn="l">
              <a:lnSpc>
                <a:spcPct val="120000"/>
              </a:lnSpc>
              <a:spcBef>
                <a:spcPts val="600"/>
              </a:spcBef>
              <a:spcAft>
                <a:spcPts val="0"/>
              </a:spcAft>
              <a:buSzPts val="2400"/>
              <a:buChar char="▪"/>
            </a:pPr>
            <a:r>
              <a:rPr lang="en-US"/>
              <a:t>Vận tốc viên bi đối với tâm trục (vận tốc góc vòng cách):</a:t>
            </a:r>
            <a:endParaRPr/>
          </a:p>
        </p:txBody>
      </p:sp>
      <p:sp>
        <p:nvSpPr>
          <p:cNvPr id="450" name="Google Shape;450;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53" name="Google Shape;453;p23"/>
          <p:cNvGraphicFramePr/>
          <p:nvPr/>
        </p:nvGraphicFramePr>
        <p:xfrm>
          <a:off x="2413198" y="2205038"/>
          <a:ext cx="1582738" cy="503237"/>
        </p:xfrm>
        <a:graphic>
          <a:graphicData uri="http://schemas.openxmlformats.org/presentationml/2006/ole">
            <mc:AlternateContent>
              <mc:Choice Requires="v">
                <p:oleObj r:id="rId5" imgH="503237" imgW="1582738" progId="" spid="_x0000_s1">
                  <p:embed/>
                </p:oleObj>
              </mc:Choice>
              <mc:Fallback>
                <p:oleObj r:id="rId6" imgH="503237" imgW="1582738" progId="">
                  <p:embed/>
                  <p:pic>
                    <p:nvPicPr>
                      <p:cNvPr id="453" name="Google Shape;453;p23"/>
                      <p:cNvPicPr preferRelativeResize="0"/>
                      <p:nvPr/>
                    </p:nvPicPr>
                    <p:blipFill rotWithShape="1">
                      <a:blip r:embed="rId7">
                        <a:alphaModFix/>
                      </a:blip>
                      <a:srcRect b="0" l="0" r="0" t="0"/>
                      <a:stretch/>
                    </p:blipFill>
                    <p:spPr>
                      <a:xfrm>
                        <a:off x="2413198" y="2205038"/>
                        <a:ext cx="1582738" cy="503237"/>
                      </a:xfrm>
                      <a:prstGeom prst="rect">
                        <a:avLst/>
                      </a:prstGeom>
                      <a:noFill/>
                      <a:ln>
                        <a:noFill/>
                      </a:ln>
                    </p:spPr>
                  </p:pic>
                </p:oleObj>
              </mc:Fallback>
            </mc:AlternateContent>
          </a:graphicData>
        </a:graphic>
      </p:graphicFrame>
      <p:graphicFrame>
        <p:nvGraphicFramePr>
          <p:cNvPr id="454" name="Google Shape;454;p23"/>
          <p:cNvGraphicFramePr/>
          <p:nvPr/>
        </p:nvGraphicFramePr>
        <p:xfrm>
          <a:off x="2411760" y="3141663"/>
          <a:ext cx="1271588" cy="503237"/>
        </p:xfrm>
        <a:graphic>
          <a:graphicData uri="http://schemas.openxmlformats.org/presentationml/2006/ole">
            <mc:AlternateContent>
              <mc:Choice Requires="v">
                <p:oleObj r:id="rId8" imgH="503237" imgW="1271588" progId="" spid="_x0000_s2">
                  <p:embed/>
                </p:oleObj>
              </mc:Choice>
              <mc:Fallback>
                <p:oleObj r:id="rId9" imgH="503237" imgW="1271588" progId="">
                  <p:embed/>
                  <p:pic>
                    <p:nvPicPr>
                      <p:cNvPr id="454" name="Google Shape;454;p23"/>
                      <p:cNvPicPr preferRelativeResize="0"/>
                      <p:nvPr/>
                    </p:nvPicPr>
                    <p:blipFill rotWithShape="1">
                      <a:blip r:embed="rId10">
                        <a:alphaModFix/>
                      </a:blip>
                      <a:srcRect b="0" l="0" r="0" t="0"/>
                      <a:stretch/>
                    </p:blipFill>
                    <p:spPr>
                      <a:xfrm>
                        <a:off x="2411760" y="3141663"/>
                        <a:ext cx="1271588" cy="503237"/>
                      </a:xfrm>
                      <a:prstGeom prst="rect">
                        <a:avLst/>
                      </a:prstGeom>
                      <a:noFill/>
                      <a:ln>
                        <a:noFill/>
                      </a:ln>
                    </p:spPr>
                  </p:pic>
                </p:oleObj>
              </mc:Fallback>
            </mc:AlternateContent>
          </a:graphicData>
        </a:graphic>
      </p:graphicFrame>
      <p:sp>
        <p:nvSpPr>
          <p:cNvPr id="455" name="Google Shape;455;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56" name="Google Shape;456;p23"/>
          <p:cNvGraphicFramePr/>
          <p:nvPr/>
        </p:nvGraphicFramePr>
        <p:xfrm>
          <a:off x="1313638" y="4653136"/>
          <a:ext cx="4122458" cy="504056"/>
        </p:xfrm>
        <a:graphic>
          <a:graphicData uri="http://schemas.openxmlformats.org/presentationml/2006/ole">
            <mc:AlternateContent>
              <mc:Choice Requires="v">
                <p:oleObj r:id="rId11" imgH="504056" imgW="4122458" progId="" spid="_x0000_s3">
                  <p:embed/>
                </p:oleObj>
              </mc:Choice>
              <mc:Fallback>
                <p:oleObj r:id="rId12" imgH="504056" imgW="4122458" progId="">
                  <p:embed/>
                  <p:pic>
                    <p:nvPicPr>
                      <p:cNvPr id="456" name="Google Shape;456;p23"/>
                      <p:cNvPicPr preferRelativeResize="0"/>
                      <p:nvPr/>
                    </p:nvPicPr>
                    <p:blipFill rotWithShape="1">
                      <a:blip r:embed="rId13">
                        <a:alphaModFix/>
                      </a:blip>
                      <a:srcRect b="0" l="0" r="0" t="0"/>
                      <a:stretch/>
                    </p:blipFill>
                    <p:spPr>
                      <a:xfrm>
                        <a:off x="1313638" y="4653136"/>
                        <a:ext cx="4122458" cy="504056"/>
                      </a:xfrm>
                      <a:prstGeom prst="rect">
                        <a:avLst/>
                      </a:prstGeom>
                      <a:noFill/>
                      <a:ln>
                        <a:noFill/>
                      </a:ln>
                    </p:spPr>
                  </p:pic>
                </p:oleObj>
              </mc:Fallback>
            </mc:AlternateContent>
          </a:graphicData>
        </a:graphic>
      </p:graphicFrame>
      <p:sp>
        <p:nvSpPr>
          <p:cNvPr id="457" name="Google Shape;457;p2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58" name="Google Shape;458;p23"/>
          <p:cNvGraphicFramePr/>
          <p:nvPr/>
        </p:nvGraphicFramePr>
        <p:xfrm>
          <a:off x="2123728" y="5661248"/>
          <a:ext cx="5145679" cy="495116"/>
        </p:xfrm>
        <a:graphic>
          <a:graphicData uri="http://schemas.openxmlformats.org/presentationml/2006/ole">
            <mc:AlternateContent>
              <mc:Choice Requires="v">
                <p:oleObj r:id="rId14" imgH="495116" imgW="5145679" progId="" spid="_x0000_s4">
                  <p:embed/>
                </p:oleObj>
              </mc:Choice>
              <mc:Fallback>
                <p:oleObj r:id="rId15" imgH="495116" imgW="5145679" progId="">
                  <p:embed/>
                  <p:pic>
                    <p:nvPicPr>
                      <p:cNvPr id="458" name="Google Shape;458;p23"/>
                      <p:cNvPicPr preferRelativeResize="0"/>
                      <p:nvPr/>
                    </p:nvPicPr>
                    <p:blipFill rotWithShape="1">
                      <a:blip r:embed="rId16">
                        <a:alphaModFix/>
                      </a:blip>
                      <a:srcRect b="0" l="0" r="0" t="0"/>
                      <a:stretch/>
                    </p:blipFill>
                    <p:spPr>
                      <a:xfrm>
                        <a:off x="2123728" y="5661248"/>
                        <a:ext cx="5145679" cy="495116"/>
                      </a:xfrm>
                      <a:prstGeom prst="rect">
                        <a:avLst/>
                      </a:prstGeom>
                      <a:noFill/>
                      <a:ln>
                        <a:noFill/>
                      </a:ln>
                    </p:spPr>
                  </p:pic>
                </p:oleObj>
              </mc:Fallback>
            </mc:AlternateContent>
          </a:graphicData>
        </a:graphic>
      </p:graphicFrame>
      <p:pic>
        <p:nvPicPr>
          <p:cNvPr id="459" name="Google Shape;459;p23"/>
          <p:cNvPicPr preferRelativeResize="0"/>
          <p:nvPr/>
        </p:nvPicPr>
        <p:blipFill rotWithShape="1">
          <a:blip r:embed="rId17">
            <a:alphaModFix/>
          </a:blip>
          <a:srcRect b="0" l="0" r="0" t="0"/>
          <a:stretch/>
        </p:blipFill>
        <p:spPr>
          <a:xfrm>
            <a:off x="4961854" y="1772816"/>
            <a:ext cx="3851920" cy="273554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4"/>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8.3. Động học và động lực học ổ lăn</a:t>
            </a:r>
            <a:endParaRPr/>
          </a:p>
        </p:txBody>
      </p:sp>
      <p:sp>
        <p:nvSpPr>
          <p:cNvPr id="466" name="Google Shape;466;p24"/>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8.3.1. Động học ổ lăn</a:t>
            </a:r>
            <a:endParaRPr sz="2400">
              <a:solidFill>
                <a:srgbClr val="16A085"/>
              </a:solidFill>
              <a:latin typeface="Quattrocento Sans"/>
              <a:ea typeface="Quattrocento Sans"/>
              <a:cs typeface="Quattrocento Sans"/>
              <a:sym typeface="Quattrocento Sans"/>
            </a:endParaRPr>
          </a:p>
        </p:txBody>
      </p:sp>
      <p:cxnSp>
        <p:nvCxnSpPr>
          <p:cNvPr id="467" name="Google Shape;467;p24"/>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468" name="Google Shape;468;p24"/>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469" name="Google Shape;469;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24"/>
          <p:cNvSpPr txBox="1"/>
          <p:nvPr>
            <p:ph idx="1" type="body"/>
          </p:nvPr>
        </p:nvSpPr>
        <p:spPr>
          <a:xfrm>
            <a:off x="457199" y="1143000"/>
            <a:ext cx="8229607" cy="5105400"/>
          </a:xfrm>
          <a:prstGeom prst="rect">
            <a:avLst/>
          </a:prstGeom>
          <a:noFill/>
          <a:ln>
            <a:noFill/>
          </a:ln>
        </p:spPr>
        <p:txBody>
          <a:bodyPr anchorCtr="0" anchor="t" bIns="45700" lIns="91425" spcFirstLastPara="1" rIns="91425" wrap="square" tIns="45700">
            <a:normAutofit fontScale="92500"/>
          </a:bodyPr>
          <a:lstStyle/>
          <a:p>
            <a:pPr indent="-213677" lvl="0" marL="342900" rtl="0" algn="l">
              <a:lnSpc>
                <a:spcPct val="120000"/>
              </a:lnSpc>
              <a:spcBef>
                <a:spcPts val="0"/>
              </a:spcBef>
              <a:spcAft>
                <a:spcPts val="0"/>
              </a:spcAft>
              <a:buSzPct val="100000"/>
              <a:buNone/>
            </a:pPr>
            <a:r>
              <a:t/>
            </a:r>
            <a:endParaRPr sz="2200"/>
          </a:p>
          <a:p>
            <a:pPr indent="0" lvl="0" marL="0" rtl="0" algn="l">
              <a:lnSpc>
                <a:spcPct val="120000"/>
              </a:lnSpc>
              <a:spcBef>
                <a:spcPts val="600"/>
              </a:spcBef>
              <a:spcAft>
                <a:spcPts val="0"/>
              </a:spcAft>
              <a:buSzPct val="100000"/>
              <a:buNone/>
            </a:pPr>
            <a:r>
              <a:rPr b="1" lang="en-US" sz="2400"/>
              <a:t>Nhận xét:</a:t>
            </a:r>
            <a:endParaRPr/>
          </a:p>
          <a:p>
            <a:pPr indent="-285750" lvl="1" marL="742950" rtl="0" algn="l">
              <a:lnSpc>
                <a:spcPct val="120000"/>
              </a:lnSpc>
              <a:spcBef>
                <a:spcPts val="600"/>
              </a:spcBef>
              <a:spcAft>
                <a:spcPts val="0"/>
              </a:spcAft>
              <a:buSzPct val="100000"/>
              <a:buChar char="▪"/>
            </a:pPr>
            <a:r>
              <a:rPr lang="en-US"/>
              <a:t>Vận tốc góc của vòng cách phụ thuộc vào kích thước viên bi.</a:t>
            </a:r>
            <a:endParaRPr/>
          </a:p>
          <a:p>
            <a:pPr indent="-285750" lvl="1" marL="742950" rtl="0" algn="l">
              <a:lnSpc>
                <a:spcPct val="120000"/>
              </a:lnSpc>
              <a:spcBef>
                <a:spcPts val="600"/>
              </a:spcBef>
              <a:spcAft>
                <a:spcPts val="0"/>
              </a:spcAft>
              <a:buSzPct val="100000"/>
              <a:buChar char="▪"/>
            </a:pPr>
            <a:r>
              <a:rPr lang="en-US"/>
              <a:t>Với cùng đường kính </a:t>
            </a:r>
            <a:r>
              <a:rPr i="1" lang="en-US"/>
              <a:t>D</a:t>
            </a:r>
            <a:r>
              <a:rPr baseline="-25000" i="1" lang="en-US"/>
              <a:t>1</a:t>
            </a:r>
            <a:r>
              <a:rPr lang="en-US"/>
              <a:t>, đường kính bi </a:t>
            </a:r>
            <a:r>
              <a:rPr i="1" lang="en-US"/>
              <a:t>d</a:t>
            </a:r>
            <a:r>
              <a:rPr baseline="-25000" i="1" lang="en-US"/>
              <a:t>b</a:t>
            </a:r>
            <a:r>
              <a:rPr lang="en-US"/>
              <a:t> càng lớn thì </a:t>
            </a:r>
            <a:r>
              <a:rPr i="1" lang="en-US"/>
              <a:t>ω</a:t>
            </a:r>
            <a:r>
              <a:rPr baseline="-25000" i="1" lang="en-US"/>
              <a:t>c</a:t>
            </a:r>
            <a:r>
              <a:rPr lang="en-US"/>
              <a:t> càng nhỏ.</a:t>
            </a:r>
            <a:endParaRPr/>
          </a:p>
          <a:p>
            <a:pPr indent="-285750" lvl="1" marL="742950" rtl="0" algn="l">
              <a:lnSpc>
                <a:spcPct val="120000"/>
              </a:lnSpc>
              <a:spcBef>
                <a:spcPts val="600"/>
              </a:spcBef>
              <a:spcAft>
                <a:spcPts val="0"/>
              </a:spcAft>
              <a:buSzPct val="100000"/>
              <a:buChar char="▪"/>
            </a:pPr>
            <a:r>
              <a:rPr lang="en-US"/>
              <a:t>Nếu chế tạo không chính xác, viên bi có đường kính lớn sẽ chuyển động chậm hơn bi có đường kính nhỏ, xuất hiện áp lực và lực ma sát giữa bi và vòng cách, tăng độ mòn của bi và vòng cách, làm gãy vòng cách…</a:t>
            </a:r>
            <a:endParaRPr/>
          </a:p>
          <a:p>
            <a:pPr indent="-285750" lvl="1" marL="742950" rtl="0" algn="l">
              <a:lnSpc>
                <a:spcPct val="120000"/>
              </a:lnSpc>
              <a:spcBef>
                <a:spcPts val="600"/>
              </a:spcBef>
              <a:spcAft>
                <a:spcPts val="0"/>
              </a:spcAft>
              <a:buSzPct val="100000"/>
              <a:buChar char="▪"/>
            </a:pPr>
            <a:r>
              <a:rPr lang="en-US"/>
              <a:t>Độ chính xác chế tạo đóng vai trò quan trọng, ổ chế tạo càng chính xác thì càng bền.</a:t>
            </a:r>
            <a:endParaRPr/>
          </a:p>
          <a:p>
            <a:pPr indent="-168275" lvl="1" marL="742950" rtl="0" algn="l">
              <a:lnSpc>
                <a:spcPct val="120000"/>
              </a:lnSpc>
              <a:spcBef>
                <a:spcPts val="600"/>
              </a:spcBef>
              <a:spcAft>
                <a:spcPts val="0"/>
              </a:spcAft>
              <a:buSzPct val="100000"/>
              <a:buNone/>
            </a:pPr>
            <a:r>
              <a:t/>
            </a:r>
            <a:endParaRPr sz="2000"/>
          </a:p>
        </p:txBody>
      </p:sp>
      <p:sp>
        <p:nvSpPr>
          <p:cNvPr id="481" name="Google Shape;481;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486" name="Google Shape;486;p24"/>
          <p:cNvGraphicFramePr/>
          <p:nvPr/>
        </p:nvGraphicFramePr>
        <p:xfrm>
          <a:off x="2123729" y="1124744"/>
          <a:ext cx="4896544" cy="471144"/>
        </p:xfrm>
        <a:graphic>
          <a:graphicData uri="http://schemas.openxmlformats.org/presentationml/2006/ole">
            <mc:AlternateContent>
              <mc:Choice Requires="v">
                <p:oleObj r:id="rId5" imgH="471144" imgW="4896544" progId="" spid="_x0000_s1">
                  <p:embed/>
                </p:oleObj>
              </mc:Choice>
              <mc:Fallback>
                <p:oleObj r:id="rId6" imgH="471144" imgW="4896544" progId="">
                  <p:embed/>
                  <p:pic>
                    <p:nvPicPr>
                      <p:cNvPr id="486" name="Google Shape;486;p24"/>
                      <p:cNvPicPr preferRelativeResize="0"/>
                      <p:nvPr/>
                    </p:nvPicPr>
                    <p:blipFill rotWithShape="1">
                      <a:blip r:embed="rId7">
                        <a:alphaModFix/>
                      </a:blip>
                      <a:srcRect b="0" l="0" r="0" t="0"/>
                      <a:stretch/>
                    </p:blipFill>
                    <p:spPr>
                      <a:xfrm>
                        <a:off x="2123729" y="1124744"/>
                        <a:ext cx="4896544" cy="471144"/>
                      </a:xfrm>
                      <a:prstGeom prst="rect">
                        <a:avLst/>
                      </a:prstGeom>
                      <a:noFill/>
                      <a:ln>
                        <a:noFill/>
                      </a:ln>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5"/>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8.3. Động học và động lực học ổ lăn</a:t>
            </a:r>
            <a:endParaRPr/>
          </a:p>
        </p:txBody>
      </p:sp>
      <p:sp>
        <p:nvSpPr>
          <p:cNvPr id="493" name="Google Shape;493;p25"/>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8.3.1. Động học ổ lăn</a:t>
            </a:r>
            <a:endParaRPr sz="2400">
              <a:solidFill>
                <a:srgbClr val="16A085"/>
              </a:solidFill>
              <a:latin typeface="Quattrocento Sans"/>
              <a:ea typeface="Quattrocento Sans"/>
              <a:cs typeface="Quattrocento Sans"/>
              <a:sym typeface="Quattrocento Sans"/>
            </a:endParaRPr>
          </a:p>
        </p:txBody>
      </p:sp>
      <p:cxnSp>
        <p:nvCxnSpPr>
          <p:cNvPr id="494" name="Google Shape;494;p25"/>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495" name="Google Shape;495;p25"/>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496" name="Google Shape;496;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25"/>
          <p:cNvSpPr txBox="1"/>
          <p:nvPr>
            <p:ph idx="1" type="body"/>
          </p:nvPr>
        </p:nvSpPr>
        <p:spPr>
          <a:xfrm>
            <a:off x="457199" y="1143000"/>
            <a:ext cx="4834881" cy="5105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20000"/>
              </a:lnSpc>
              <a:spcBef>
                <a:spcPts val="0"/>
              </a:spcBef>
              <a:spcAft>
                <a:spcPts val="0"/>
              </a:spcAft>
              <a:buSzPct val="100000"/>
              <a:buChar char="⮚"/>
            </a:pPr>
            <a:r>
              <a:rPr lang="en-US"/>
              <a:t>Trong ổ bi:</a:t>
            </a:r>
            <a:endParaRPr/>
          </a:p>
          <a:p>
            <a:pPr indent="-285750" lvl="1" marL="742950" rtl="0" algn="l">
              <a:lnSpc>
                <a:spcPct val="120000"/>
              </a:lnSpc>
              <a:spcBef>
                <a:spcPts val="600"/>
              </a:spcBef>
              <a:spcAft>
                <a:spcPts val="0"/>
              </a:spcAft>
              <a:buSzPct val="100000"/>
              <a:buChar char="▪"/>
            </a:pPr>
            <a:r>
              <a:rPr lang="en-US"/>
              <a:t>Bi tiếp xúc với ổ theo một cung, vận tốc tại C và D khác nhau</a:t>
            </a:r>
            <a:endParaRPr/>
          </a:p>
          <a:p>
            <a:pPr indent="-285750" lvl="1" marL="742950" rtl="0" algn="l">
              <a:lnSpc>
                <a:spcPct val="120000"/>
              </a:lnSpc>
              <a:spcBef>
                <a:spcPts val="600"/>
              </a:spcBef>
              <a:spcAft>
                <a:spcPts val="0"/>
              </a:spcAft>
              <a:buSzPct val="100000"/>
              <a:buChar char="▪"/>
            </a:pPr>
            <a:r>
              <a:rPr lang="en-US"/>
              <a:t>Nếu tại D không có trượt, trượt sẽ xảy ra tại C</a:t>
            </a:r>
            <a:endParaRPr/>
          </a:p>
          <a:p>
            <a:pPr indent="-285750" lvl="1" marL="742950" rtl="0" algn="l">
              <a:lnSpc>
                <a:spcPct val="120000"/>
              </a:lnSpc>
              <a:spcBef>
                <a:spcPts val="600"/>
              </a:spcBef>
              <a:spcAft>
                <a:spcPts val="0"/>
              </a:spcAft>
              <a:buSzPct val="100000"/>
              <a:buChar char="▪"/>
            </a:pPr>
            <a:r>
              <a:rPr lang="en-US"/>
              <a:t>Ma sát trượt gây mòn và tổn thất trong ổ</a:t>
            </a:r>
            <a:endParaRPr/>
          </a:p>
          <a:p>
            <a:pPr indent="-342900" lvl="0" marL="342900" rtl="0" algn="l">
              <a:lnSpc>
                <a:spcPct val="120000"/>
              </a:lnSpc>
              <a:spcBef>
                <a:spcPts val="600"/>
              </a:spcBef>
              <a:spcAft>
                <a:spcPts val="0"/>
              </a:spcAft>
              <a:buSzPct val="100000"/>
              <a:buChar char="⮚"/>
            </a:pPr>
            <a:r>
              <a:rPr lang="en-US"/>
              <a:t>Trong ổ đũa: </a:t>
            </a:r>
            <a:endParaRPr/>
          </a:p>
          <a:p>
            <a:pPr indent="-285750" lvl="1" marL="742950" rtl="0" algn="l">
              <a:lnSpc>
                <a:spcPct val="120000"/>
              </a:lnSpc>
              <a:spcBef>
                <a:spcPts val="600"/>
              </a:spcBef>
              <a:spcAft>
                <a:spcPts val="0"/>
              </a:spcAft>
              <a:buSzPct val="100000"/>
              <a:buChar char="▪"/>
            </a:pPr>
            <a:r>
              <a:rPr lang="en-US"/>
              <a:t>Các điểm tiếp xúc cách đều tâm con lăn, nên chỉ lăn thuần túy</a:t>
            </a:r>
            <a:endParaRPr/>
          </a:p>
          <a:p>
            <a:pPr indent="-285750" lvl="1" marL="742950" rtl="0" algn="l">
              <a:lnSpc>
                <a:spcPct val="120000"/>
              </a:lnSpc>
              <a:spcBef>
                <a:spcPts val="600"/>
              </a:spcBef>
              <a:spcAft>
                <a:spcPts val="0"/>
              </a:spcAft>
              <a:buSzPct val="100000"/>
              <a:buChar char="▪"/>
            </a:pPr>
            <a:r>
              <a:rPr lang="en-US"/>
              <a:t>Ma sát và mòn trong ổ đũa nhỏ hơn ổ bi</a:t>
            </a:r>
            <a:endParaRPr/>
          </a:p>
          <a:p>
            <a:pPr indent="-144780" lvl="1" marL="742950" rtl="0" algn="l">
              <a:lnSpc>
                <a:spcPct val="120000"/>
              </a:lnSpc>
              <a:spcBef>
                <a:spcPts val="600"/>
              </a:spcBef>
              <a:spcAft>
                <a:spcPts val="0"/>
              </a:spcAft>
              <a:buSzPct val="100000"/>
              <a:buNone/>
            </a:pPr>
            <a:r>
              <a:t/>
            </a:r>
            <a:endParaRPr/>
          </a:p>
          <a:p>
            <a:pPr indent="-144780" lvl="1" marL="742950" rtl="0" algn="l">
              <a:lnSpc>
                <a:spcPct val="120000"/>
              </a:lnSpc>
              <a:spcBef>
                <a:spcPts val="600"/>
              </a:spcBef>
              <a:spcAft>
                <a:spcPts val="0"/>
              </a:spcAft>
              <a:buSzPct val="100000"/>
              <a:buNone/>
            </a:pPr>
            <a:r>
              <a:t/>
            </a:r>
            <a:endParaRPr/>
          </a:p>
          <a:p>
            <a:pPr indent="-144780" lvl="1" marL="742950" rtl="0" algn="l">
              <a:lnSpc>
                <a:spcPct val="120000"/>
              </a:lnSpc>
              <a:spcBef>
                <a:spcPts val="600"/>
              </a:spcBef>
              <a:spcAft>
                <a:spcPts val="0"/>
              </a:spcAft>
              <a:buSzPct val="100000"/>
              <a:buNone/>
            </a:pPr>
            <a:r>
              <a:t/>
            </a:r>
            <a:endParaRPr/>
          </a:p>
          <a:p>
            <a:pPr indent="-168275" lvl="1" marL="742950" rtl="0" algn="l">
              <a:lnSpc>
                <a:spcPct val="120000"/>
              </a:lnSpc>
              <a:spcBef>
                <a:spcPts val="600"/>
              </a:spcBef>
              <a:spcAft>
                <a:spcPts val="0"/>
              </a:spcAft>
              <a:buSzPct val="100000"/>
              <a:buNone/>
            </a:pPr>
            <a:r>
              <a:t/>
            </a:r>
            <a:endParaRPr sz="2000"/>
          </a:p>
        </p:txBody>
      </p:sp>
      <p:sp>
        <p:nvSpPr>
          <p:cNvPr id="508" name="Google Shape;508;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2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13" name="Google Shape;513;p25"/>
          <p:cNvPicPr preferRelativeResize="0"/>
          <p:nvPr/>
        </p:nvPicPr>
        <p:blipFill rotWithShape="1">
          <a:blip r:embed="rId4">
            <a:alphaModFix/>
          </a:blip>
          <a:srcRect b="0" l="0" r="0" t="0"/>
          <a:stretch/>
        </p:blipFill>
        <p:spPr>
          <a:xfrm>
            <a:off x="5292080" y="2007495"/>
            <a:ext cx="3851920" cy="273554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6"/>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8.3. Động học và động lực học ổ lăn</a:t>
            </a:r>
            <a:endParaRPr/>
          </a:p>
        </p:txBody>
      </p:sp>
      <p:sp>
        <p:nvSpPr>
          <p:cNvPr id="520" name="Google Shape;520;p26"/>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8.3.2. Động lực học ổ lăn</a:t>
            </a:r>
            <a:endParaRPr sz="2400">
              <a:solidFill>
                <a:srgbClr val="16A085"/>
              </a:solidFill>
              <a:latin typeface="Quattrocento Sans"/>
              <a:ea typeface="Quattrocento Sans"/>
              <a:cs typeface="Quattrocento Sans"/>
              <a:sym typeface="Quattrocento Sans"/>
            </a:endParaRPr>
          </a:p>
        </p:txBody>
      </p:sp>
      <p:cxnSp>
        <p:nvCxnSpPr>
          <p:cNvPr id="521" name="Google Shape;521;p26"/>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522" name="Google Shape;522;p26"/>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523" name="Google Shape;523;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26"/>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200"/>
              <a:buChar char="⮚"/>
            </a:pPr>
            <a:r>
              <a:rPr lang="en-US" sz="2200"/>
              <a:t>Lực li tâm của con lăn lên vòng ngoài:</a:t>
            </a:r>
            <a:endParaRPr/>
          </a:p>
          <a:p>
            <a:pPr indent="-165100" lvl="0" marL="342900" rtl="0" algn="l">
              <a:lnSpc>
                <a:spcPct val="120000"/>
              </a:lnSpc>
              <a:spcBef>
                <a:spcPts val="600"/>
              </a:spcBef>
              <a:spcAft>
                <a:spcPts val="0"/>
              </a:spcAft>
              <a:buSzPts val="2800"/>
              <a:buNone/>
            </a:pPr>
            <a:r>
              <a:t/>
            </a:r>
            <a:endParaRPr sz="2800"/>
          </a:p>
          <a:p>
            <a:pPr indent="0" lvl="0" marL="339725" rtl="0" algn="l">
              <a:lnSpc>
                <a:spcPct val="120000"/>
              </a:lnSpc>
              <a:spcBef>
                <a:spcPts val="600"/>
              </a:spcBef>
              <a:spcAft>
                <a:spcPts val="0"/>
              </a:spcAft>
              <a:buSzPts val="2000"/>
              <a:buNone/>
            </a:pPr>
            <a:r>
              <a:rPr i="1" lang="en-US" sz="2000">
                <a:latin typeface="Calibri"/>
                <a:ea typeface="Calibri"/>
                <a:cs typeface="Calibri"/>
                <a:sym typeface="Calibri"/>
              </a:rPr>
              <a:t>m</a:t>
            </a:r>
            <a:r>
              <a:rPr lang="en-US" sz="2000"/>
              <a:t> – khối lượng của một viên bi hoặc đũa</a:t>
            </a:r>
            <a:endParaRPr sz="2000"/>
          </a:p>
          <a:p>
            <a:pPr indent="-342900" lvl="0" marL="342900" rtl="0" algn="l">
              <a:lnSpc>
                <a:spcPct val="120000"/>
              </a:lnSpc>
              <a:spcBef>
                <a:spcPts val="600"/>
              </a:spcBef>
              <a:spcAft>
                <a:spcPts val="0"/>
              </a:spcAft>
              <a:buSzPts val="2200"/>
              <a:buChar char="⮚"/>
            </a:pPr>
            <a:r>
              <a:rPr lang="en-US" sz="2200"/>
              <a:t>Lực li tâm này không ảnh hưởng đến khả năng làm việc của ổ</a:t>
            </a:r>
            <a:endParaRPr/>
          </a:p>
          <a:p>
            <a:pPr indent="-342900" lvl="0" marL="342900" rtl="0" algn="l">
              <a:lnSpc>
                <a:spcPct val="120000"/>
              </a:lnSpc>
              <a:spcBef>
                <a:spcPts val="600"/>
              </a:spcBef>
              <a:spcAft>
                <a:spcPts val="0"/>
              </a:spcAft>
              <a:buSzPts val="2200"/>
              <a:buChar char="⮚"/>
            </a:pPr>
            <a:r>
              <a:rPr lang="en-US" sz="2200"/>
              <a:t>Đối với ổ chặn, lực li tâm ảnh hưởng xấu vì khả năng làm việc của ổ chặn với  số vòng quay cao rất kém</a:t>
            </a:r>
            <a:endParaRPr/>
          </a:p>
          <a:p>
            <a:pPr indent="0" lvl="0" marL="339725" rtl="0" algn="l">
              <a:lnSpc>
                <a:spcPct val="120000"/>
              </a:lnSpc>
              <a:spcBef>
                <a:spcPts val="600"/>
              </a:spcBef>
              <a:spcAft>
                <a:spcPts val="0"/>
              </a:spcAft>
              <a:buSzPts val="2000"/>
              <a:buNone/>
            </a:pPr>
            <a:r>
              <a:rPr lang="en-US" sz="2000"/>
              <a:t>Muốn quay được:</a:t>
            </a:r>
            <a:endParaRPr/>
          </a:p>
          <a:p>
            <a:pPr indent="0" lvl="0" marL="339725" rtl="0" algn="l">
              <a:lnSpc>
                <a:spcPct val="120000"/>
              </a:lnSpc>
              <a:spcBef>
                <a:spcPts val="600"/>
              </a:spcBef>
              <a:spcAft>
                <a:spcPts val="0"/>
              </a:spcAft>
              <a:buSzPts val="2000"/>
              <a:buNone/>
            </a:pPr>
            <a:r>
              <a:rPr lang="en-US" sz="2000"/>
              <a:t>Với ổ chặn:                                                </a:t>
            </a:r>
            <a:r>
              <a:rPr lang="en-US" sz="1600"/>
              <a:t> (I – mômen quán tính của bi với trục)</a:t>
            </a:r>
            <a:endParaRPr sz="2000"/>
          </a:p>
          <a:p>
            <a:pPr indent="0" lvl="0" marL="339725" rtl="0" algn="l">
              <a:lnSpc>
                <a:spcPct val="120000"/>
              </a:lnSpc>
              <a:spcBef>
                <a:spcPts val="600"/>
              </a:spcBef>
              <a:spcAft>
                <a:spcPts val="0"/>
              </a:spcAft>
              <a:buSzPts val="2000"/>
              <a:buNone/>
            </a:pPr>
            <a:r>
              <a:rPr lang="en-US" sz="2000"/>
              <a:t>Với ổ đỡ chặn:                                            </a:t>
            </a:r>
            <a:r>
              <a:rPr lang="en-US" sz="1600"/>
              <a:t>(α – góc tiếp xúc)</a:t>
            </a:r>
            <a:endParaRPr/>
          </a:p>
          <a:p>
            <a:pPr indent="0" lvl="0" marL="339725" rtl="0" algn="l">
              <a:lnSpc>
                <a:spcPct val="120000"/>
              </a:lnSpc>
              <a:spcBef>
                <a:spcPts val="600"/>
              </a:spcBef>
              <a:spcAft>
                <a:spcPts val="0"/>
              </a:spcAft>
              <a:buSzPts val="2000"/>
              <a:buNone/>
            </a:pPr>
            <a:r>
              <a:rPr lang="en-US" sz="2000"/>
              <a:t>🡪 Khi làm việc với vận tốc cao, dùng ổ đỡ - chặn thay ổ chặn</a:t>
            </a:r>
            <a:endParaRPr sz="2000"/>
          </a:p>
        </p:txBody>
      </p:sp>
      <p:sp>
        <p:nvSpPr>
          <p:cNvPr id="540" name="Google Shape;540;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541" name="Google Shape;541;p26"/>
          <p:cNvGraphicFramePr/>
          <p:nvPr/>
        </p:nvGraphicFramePr>
        <p:xfrm>
          <a:off x="3419872" y="1700808"/>
          <a:ext cx="1997305" cy="521818"/>
        </p:xfrm>
        <a:graphic>
          <a:graphicData uri="http://schemas.openxmlformats.org/presentationml/2006/ole">
            <mc:AlternateContent>
              <mc:Choice Requires="v">
                <p:oleObj r:id="rId5" imgH="521818" imgW="1997305" progId="" spid="_x0000_s1">
                  <p:embed/>
                </p:oleObj>
              </mc:Choice>
              <mc:Fallback>
                <p:oleObj r:id="rId6" imgH="521818" imgW="1997305" progId="">
                  <p:embed/>
                  <p:pic>
                    <p:nvPicPr>
                      <p:cNvPr id="541" name="Google Shape;541;p26"/>
                      <p:cNvPicPr preferRelativeResize="0"/>
                      <p:nvPr/>
                    </p:nvPicPr>
                    <p:blipFill rotWithShape="1">
                      <a:blip r:embed="rId7">
                        <a:alphaModFix/>
                      </a:blip>
                      <a:srcRect b="0" l="0" r="0" t="0"/>
                      <a:stretch/>
                    </p:blipFill>
                    <p:spPr>
                      <a:xfrm>
                        <a:off x="3419872" y="1700808"/>
                        <a:ext cx="1997305" cy="521818"/>
                      </a:xfrm>
                      <a:prstGeom prst="rect">
                        <a:avLst/>
                      </a:prstGeom>
                      <a:noFill/>
                      <a:ln>
                        <a:noFill/>
                      </a:ln>
                    </p:spPr>
                  </p:pic>
                </p:oleObj>
              </mc:Fallback>
            </mc:AlternateContent>
          </a:graphicData>
        </a:graphic>
      </p:graphicFrame>
      <p:sp>
        <p:nvSpPr>
          <p:cNvPr id="542" name="Google Shape;542;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543" name="Google Shape;543;p26"/>
          <p:cNvGraphicFramePr/>
          <p:nvPr/>
        </p:nvGraphicFramePr>
        <p:xfrm>
          <a:off x="3553956" y="4077072"/>
          <a:ext cx="2026156" cy="432048"/>
        </p:xfrm>
        <a:graphic>
          <a:graphicData uri="http://schemas.openxmlformats.org/presentationml/2006/ole">
            <mc:AlternateContent>
              <mc:Choice Requires="v">
                <p:oleObj r:id="rId8" imgH="432048" imgW="2026156" progId="" spid="_x0000_s2">
                  <p:embed/>
                </p:oleObj>
              </mc:Choice>
              <mc:Fallback>
                <p:oleObj r:id="rId9" imgH="432048" imgW="2026156" progId="">
                  <p:embed/>
                  <p:pic>
                    <p:nvPicPr>
                      <p:cNvPr id="543" name="Google Shape;543;p26"/>
                      <p:cNvPicPr preferRelativeResize="0"/>
                      <p:nvPr/>
                    </p:nvPicPr>
                    <p:blipFill rotWithShape="1">
                      <a:blip r:embed="rId10">
                        <a:alphaModFix/>
                      </a:blip>
                      <a:srcRect b="0" l="0" r="0" t="0"/>
                      <a:stretch/>
                    </p:blipFill>
                    <p:spPr>
                      <a:xfrm>
                        <a:off x="3553956" y="4077072"/>
                        <a:ext cx="2026156" cy="432048"/>
                      </a:xfrm>
                      <a:prstGeom prst="rect">
                        <a:avLst/>
                      </a:prstGeom>
                      <a:noFill/>
                      <a:ln>
                        <a:noFill/>
                      </a:ln>
                    </p:spPr>
                  </p:pic>
                </p:oleObj>
              </mc:Fallback>
            </mc:AlternateContent>
          </a:graphicData>
        </a:graphic>
      </p:graphicFrame>
      <p:sp>
        <p:nvSpPr>
          <p:cNvPr id="544" name="Google Shape;544;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545" name="Google Shape;545;p26"/>
          <p:cNvGraphicFramePr/>
          <p:nvPr/>
        </p:nvGraphicFramePr>
        <p:xfrm>
          <a:off x="3566276" y="4509120"/>
          <a:ext cx="1266348" cy="432048"/>
        </p:xfrm>
        <a:graphic>
          <a:graphicData uri="http://schemas.openxmlformats.org/presentationml/2006/ole">
            <mc:AlternateContent>
              <mc:Choice Requires="v">
                <p:oleObj r:id="rId11" imgH="432048" imgW="1266348" progId="" spid="_x0000_s3">
                  <p:embed/>
                </p:oleObj>
              </mc:Choice>
              <mc:Fallback>
                <p:oleObj r:id="rId12" imgH="432048" imgW="1266348" progId="">
                  <p:embed/>
                  <p:pic>
                    <p:nvPicPr>
                      <p:cNvPr id="545" name="Google Shape;545;p26"/>
                      <p:cNvPicPr preferRelativeResize="0"/>
                      <p:nvPr/>
                    </p:nvPicPr>
                    <p:blipFill rotWithShape="1">
                      <a:blip r:embed="rId13">
                        <a:alphaModFix/>
                      </a:blip>
                      <a:srcRect b="0" l="0" r="0" t="0"/>
                      <a:stretch/>
                    </p:blipFill>
                    <p:spPr>
                      <a:xfrm>
                        <a:off x="3566276" y="4509120"/>
                        <a:ext cx="1266348" cy="432048"/>
                      </a:xfrm>
                      <a:prstGeom prst="rect">
                        <a:avLst/>
                      </a:prstGeom>
                      <a:noFill/>
                      <a:ln>
                        <a:noFill/>
                      </a:ln>
                    </p:spPr>
                  </p:pic>
                </p:oleObj>
              </mc:Fallback>
            </mc:AlternateContent>
          </a:graphicData>
        </a:graphic>
      </p:graphicFrame>
      <p:sp>
        <p:nvSpPr>
          <p:cNvPr id="546" name="Google Shape;546;p2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547" name="Google Shape;547;p26"/>
          <p:cNvGraphicFramePr/>
          <p:nvPr/>
        </p:nvGraphicFramePr>
        <p:xfrm>
          <a:off x="3563888" y="4941168"/>
          <a:ext cx="1832479" cy="432048"/>
        </p:xfrm>
        <a:graphic>
          <a:graphicData uri="http://schemas.openxmlformats.org/presentationml/2006/ole">
            <mc:AlternateContent>
              <mc:Choice Requires="v">
                <p:oleObj r:id="rId14" imgH="432048" imgW="1832479" progId="" spid="_x0000_s4">
                  <p:embed/>
                </p:oleObj>
              </mc:Choice>
              <mc:Fallback>
                <p:oleObj r:id="rId15" imgH="432048" imgW="1832479" progId="">
                  <p:embed/>
                  <p:pic>
                    <p:nvPicPr>
                      <p:cNvPr id="547" name="Google Shape;547;p26"/>
                      <p:cNvPicPr preferRelativeResize="0"/>
                      <p:nvPr/>
                    </p:nvPicPr>
                    <p:blipFill rotWithShape="1">
                      <a:blip r:embed="rId16">
                        <a:alphaModFix/>
                      </a:blip>
                      <a:srcRect b="0" l="0" r="0" t="0"/>
                      <a:stretch/>
                    </p:blipFill>
                    <p:spPr>
                      <a:xfrm>
                        <a:off x="3563888" y="4941168"/>
                        <a:ext cx="1832479" cy="432048"/>
                      </a:xfrm>
                      <a:prstGeom prst="rect">
                        <a:avLst/>
                      </a:prstGeom>
                      <a:noFill/>
                      <a:ln>
                        <a:noFill/>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7"/>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554" name="Google Shape;554;p27"/>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8.4.1. Các dạng hỏng</a:t>
            </a:r>
            <a:endParaRPr sz="2400">
              <a:solidFill>
                <a:srgbClr val="16A085"/>
              </a:solidFill>
              <a:latin typeface="Quattrocento Sans"/>
              <a:ea typeface="Quattrocento Sans"/>
              <a:cs typeface="Quattrocento Sans"/>
              <a:sym typeface="Quattrocento Sans"/>
            </a:endParaRPr>
          </a:p>
        </p:txBody>
      </p:sp>
      <p:cxnSp>
        <p:nvCxnSpPr>
          <p:cNvPr id="555" name="Google Shape;555;p27"/>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556" name="Google Shape;556;p27"/>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557" name="Google Shape;557;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27"/>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200"/>
              <a:buChar char="⮚"/>
            </a:pPr>
            <a:r>
              <a:rPr lang="en-US" sz="2200"/>
              <a:t>Tróc rỗ là dạng hỏng chủ yếu</a:t>
            </a:r>
            <a:endParaRPr sz="2200"/>
          </a:p>
          <a:p>
            <a:pPr indent="-342900" lvl="0" marL="342900" rtl="0" algn="l">
              <a:lnSpc>
                <a:spcPct val="120000"/>
              </a:lnSpc>
              <a:spcBef>
                <a:spcPts val="600"/>
              </a:spcBef>
              <a:spcAft>
                <a:spcPts val="0"/>
              </a:spcAft>
              <a:buSzPts val="2200"/>
              <a:buChar char="⮚"/>
            </a:pPr>
            <a:r>
              <a:rPr lang="en-US" sz="2200"/>
              <a:t>Biến dạng dư lớp bề mặt khi chịu tải trọng lớn</a:t>
            </a:r>
            <a:endParaRPr sz="2200"/>
          </a:p>
          <a:p>
            <a:pPr indent="-342900" lvl="0" marL="342900" rtl="0" algn="l">
              <a:lnSpc>
                <a:spcPct val="120000"/>
              </a:lnSpc>
              <a:spcBef>
                <a:spcPts val="600"/>
              </a:spcBef>
              <a:spcAft>
                <a:spcPts val="0"/>
              </a:spcAft>
              <a:buSzPts val="2200"/>
              <a:buChar char="⮚"/>
            </a:pPr>
            <a:r>
              <a:rPr lang="en-US" sz="2200"/>
              <a:t>Mòn các vòng ổ và con lăn</a:t>
            </a:r>
            <a:endParaRPr sz="2200"/>
          </a:p>
          <a:p>
            <a:pPr indent="-342900" lvl="0" marL="342900" rtl="0" algn="l">
              <a:lnSpc>
                <a:spcPct val="120000"/>
              </a:lnSpc>
              <a:spcBef>
                <a:spcPts val="600"/>
              </a:spcBef>
              <a:spcAft>
                <a:spcPts val="0"/>
              </a:spcAft>
              <a:buSzPts val="2200"/>
              <a:buChar char="⮚"/>
            </a:pPr>
            <a:r>
              <a:rPr lang="en-US" sz="2200"/>
              <a:t>Vỡ vòng cách</a:t>
            </a:r>
            <a:endParaRPr sz="2200"/>
          </a:p>
          <a:p>
            <a:pPr indent="-342900" lvl="0" marL="342900" rtl="0" algn="l">
              <a:lnSpc>
                <a:spcPct val="120000"/>
              </a:lnSpc>
              <a:spcBef>
                <a:spcPts val="600"/>
              </a:spcBef>
              <a:spcAft>
                <a:spcPts val="0"/>
              </a:spcAft>
              <a:buSzPts val="2200"/>
              <a:buChar char="⮚"/>
            </a:pPr>
            <a:r>
              <a:rPr lang="en-US" sz="2200"/>
              <a:t>Vỡ con lăn và các vòng ổ</a:t>
            </a:r>
            <a:endParaRPr sz="2200"/>
          </a:p>
          <a:p>
            <a:pPr indent="-273050" lvl="0" marL="342900" rtl="0" algn="l">
              <a:lnSpc>
                <a:spcPct val="120000"/>
              </a:lnSpc>
              <a:spcBef>
                <a:spcPts val="600"/>
              </a:spcBef>
              <a:spcAft>
                <a:spcPts val="0"/>
              </a:spcAft>
              <a:buSzPts val="1100"/>
              <a:buNone/>
            </a:pPr>
            <a:r>
              <a:t/>
            </a:r>
            <a:endParaRPr sz="1100"/>
          </a:p>
          <a:p>
            <a:pPr indent="0" lvl="0" marL="0" rtl="0" algn="l">
              <a:lnSpc>
                <a:spcPct val="120000"/>
              </a:lnSpc>
              <a:spcBef>
                <a:spcPts val="600"/>
              </a:spcBef>
              <a:spcAft>
                <a:spcPts val="0"/>
              </a:spcAft>
              <a:buSzPts val="2200"/>
              <a:buNone/>
            </a:pPr>
            <a:r>
              <a:rPr lang="en-US" sz="2200"/>
              <a:t>Xuất phát từ 2 dạng hỏng cơ bản: tróc rỗ và biến dạng dư</a:t>
            </a:r>
            <a:endParaRPr/>
          </a:p>
          <a:p>
            <a:pPr indent="-342900" lvl="0" marL="342900" rtl="0" algn="l">
              <a:lnSpc>
                <a:spcPct val="120000"/>
              </a:lnSpc>
              <a:spcBef>
                <a:spcPts val="600"/>
              </a:spcBef>
              <a:spcAft>
                <a:spcPts val="0"/>
              </a:spcAft>
              <a:buSzPts val="2200"/>
              <a:buFont typeface="Noto Sans Symbols"/>
              <a:buChar char="🡪"/>
            </a:pPr>
            <a:r>
              <a:rPr lang="en-US" sz="2200"/>
              <a:t>Xác định 2 đặc trưng cơ bản về khả năng làm việc của ổ:</a:t>
            </a:r>
            <a:endParaRPr/>
          </a:p>
          <a:p>
            <a:pPr indent="-342900" lvl="0" marL="917575" rtl="0" algn="l">
              <a:lnSpc>
                <a:spcPct val="120000"/>
              </a:lnSpc>
              <a:spcBef>
                <a:spcPts val="600"/>
              </a:spcBef>
              <a:spcAft>
                <a:spcPts val="0"/>
              </a:spcAft>
              <a:buSzPts val="2200"/>
              <a:buFont typeface="Arial"/>
              <a:buChar char="•"/>
            </a:pPr>
            <a:r>
              <a:rPr lang="en-US" sz="2200"/>
              <a:t>Khả năng tải động</a:t>
            </a:r>
            <a:endParaRPr/>
          </a:p>
          <a:p>
            <a:pPr indent="-342900" lvl="0" marL="917575" rtl="0" algn="l">
              <a:lnSpc>
                <a:spcPct val="120000"/>
              </a:lnSpc>
              <a:spcBef>
                <a:spcPts val="600"/>
              </a:spcBef>
              <a:spcAft>
                <a:spcPts val="0"/>
              </a:spcAft>
              <a:buSzPts val="2200"/>
              <a:buFont typeface="Arial"/>
              <a:buChar char="•"/>
            </a:pPr>
            <a:r>
              <a:rPr lang="en-US" sz="2200"/>
              <a:t>Khả năng tải tĩnh</a:t>
            </a:r>
            <a:endParaRPr sz="2200"/>
          </a:p>
          <a:p>
            <a:pPr indent="-203200" lvl="0" marL="342900" rtl="0" algn="l">
              <a:lnSpc>
                <a:spcPct val="120000"/>
              </a:lnSpc>
              <a:spcBef>
                <a:spcPts val="600"/>
              </a:spcBef>
              <a:spcAft>
                <a:spcPts val="0"/>
              </a:spcAft>
              <a:buSzPts val="2200"/>
              <a:buNone/>
            </a:pPr>
            <a:r>
              <a:t/>
            </a:r>
            <a:endParaRPr sz="2200"/>
          </a:p>
        </p:txBody>
      </p:sp>
      <p:sp>
        <p:nvSpPr>
          <p:cNvPr id="574" name="Google Shape;574;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8"/>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584" name="Google Shape;584;p28"/>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8.4.2. Khả năng tải của ổ</a:t>
            </a:r>
            <a:endParaRPr sz="2400">
              <a:solidFill>
                <a:srgbClr val="16A085"/>
              </a:solidFill>
              <a:latin typeface="Quattrocento Sans"/>
              <a:ea typeface="Quattrocento Sans"/>
              <a:cs typeface="Quattrocento Sans"/>
              <a:sym typeface="Quattrocento Sans"/>
            </a:endParaRPr>
          </a:p>
        </p:txBody>
      </p:sp>
      <p:cxnSp>
        <p:nvCxnSpPr>
          <p:cNvPr id="585" name="Google Shape;585;p28"/>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586" name="Google Shape;586;p28"/>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587" name="Google Shape;587;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28"/>
          <p:cNvSpPr txBox="1"/>
          <p:nvPr>
            <p:ph idx="1" type="body"/>
          </p:nvPr>
        </p:nvSpPr>
        <p:spPr>
          <a:xfrm>
            <a:off x="457200" y="1143000"/>
            <a:ext cx="8305800" cy="2502024"/>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SzPts val="2200"/>
              <a:buFont typeface="Calibri"/>
              <a:buAutoNum type="arabicPeriod"/>
            </a:pPr>
            <a:r>
              <a:rPr b="1" lang="en-US" sz="2200"/>
              <a:t>Khả năng tải động của ổ:</a:t>
            </a:r>
            <a:endParaRPr/>
          </a:p>
          <a:p>
            <a:pPr indent="-342900" lvl="0" marL="342900" rtl="0" algn="l">
              <a:lnSpc>
                <a:spcPct val="120000"/>
              </a:lnSpc>
              <a:spcBef>
                <a:spcPts val="600"/>
              </a:spcBef>
              <a:spcAft>
                <a:spcPts val="0"/>
              </a:spcAft>
              <a:buSzPts val="2200"/>
              <a:buChar char="⮚"/>
            </a:pPr>
            <a:r>
              <a:rPr lang="en-US" sz="2200"/>
              <a:t>Phương trình đường cong mỏi tiếp xúc:</a:t>
            </a:r>
            <a:endParaRPr/>
          </a:p>
          <a:p>
            <a:pPr indent="0" lvl="0" marL="339725"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N</a:t>
            </a:r>
            <a:r>
              <a:rPr lang="en-US" sz="2000"/>
              <a:t> – số chu kì chịu tải, </a:t>
            </a:r>
            <a:r>
              <a:rPr i="1" lang="en-US" sz="2000">
                <a:latin typeface="Times New Roman"/>
                <a:ea typeface="Times New Roman"/>
                <a:cs typeface="Times New Roman"/>
                <a:sym typeface="Times New Roman"/>
              </a:rPr>
              <a:t>m</a:t>
            </a:r>
            <a:r>
              <a:rPr lang="en-US" sz="2000"/>
              <a:t> – số mũ</a:t>
            </a:r>
            <a:endParaRPr sz="2000"/>
          </a:p>
          <a:p>
            <a:pPr indent="-342900" lvl="0" marL="342900" rtl="0" algn="l">
              <a:lnSpc>
                <a:spcPct val="120000"/>
              </a:lnSpc>
              <a:spcBef>
                <a:spcPts val="600"/>
              </a:spcBef>
              <a:spcAft>
                <a:spcPts val="0"/>
              </a:spcAft>
              <a:buSzPts val="2200"/>
              <a:buChar char="⮚"/>
            </a:pPr>
            <a:r>
              <a:rPr lang="en-US" sz="2200"/>
              <a:t>Thay </a:t>
            </a:r>
            <a:r>
              <a:rPr i="1" lang="en-US" sz="2200">
                <a:latin typeface="Times New Roman"/>
                <a:ea typeface="Times New Roman"/>
                <a:cs typeface="Times New Roman"/>
                <a:sym typeface="Times New Roman"/>
              </a:rPr>
              <a:t>N</a:t>
            </a:r>
            <a:r>
              <a:rPr lang="en-US" sz="2200"/>
              <a:t> bởi tuổi thọ </a:t>
            </a:r>
            <a:r>
              <a:rPr i="1" lang="en-US" sz="2200">
                <a:latin typeface="Times New Roman"/>
                <a:ea typeface="Times New Roman"/>
                <a:cs typeface="Times New Roman"/>
                <a:sym typeface="Times New Roman"/>
              </a:rPr>
              <a:t>L</a:t>
            </a:r>
            <a:r>
              <a:rPr lang="en-US" sz="2200"/>
              <a:t> (triệu vòng), </a:t>
            </a:r>
            <a:r>
              <a:rPr i="1" lang="en-US" sz="2200">
                <a:latin typeface="Times New Roman"/>
                <a:ea typeface="Times New Roman"/>
                <a:cs typeface="Times New Roman"/>
                <a:sym typeface="Times New Roman"/>
              </a:rPr>
              <a:t>σ</a:t>
            </a:r>
            <a:r>
              <a:rPr baseline="-25000" i="1" lang="en-US" sz="2200">
                <a:latin typeface="Times New Roman"/>
                <a:ea typeface="Times New Roman"/>
                <a:cs typeface="Times New Roman"/>
                <a:sym typeface="Times New Roman"/>
              </a:rPr>
              <a:t>H</a:t>
            </a:r>
            <a:r>
              <a:rPr lang="en-US" sz="2200"/>
              <a:t> bởi tải trọng </a:t>
            </a:r>
            <a:r>
              <a:rPr i="1" lang="en-US" sz="2200">
                <a:latin typeface="Times New Roman"/>
                <a:ea typeface="Times New Roman"/>
                <a:cs typeface="Times New Roman"/>
                <a:sym typeface="Times New Roman"/>
              </a:rPr>
              <a:t>Q</a:t>
            </a:r>
            <a:endParaRPr/>
          </a:p>
          <a:p>
            <a:pPr indent="-203200" lvl="0" marL="342900" rtl="0" algn="l">
              <a:lnSpc>
                <a:spcPct val="120000"/>
              </a:lnSpc>
              <a:spcBef>
                <a:spcPts val="600"/>
              </a:spcBef>
              <a:spcAft>
                <a:spcPts val="0"/>
              </a:spcAft>
              <a:buSzPts val="2200"/>
              <a:buNone/>
            </a:pPr>
            <a:r>
              <a:t/>
            </a:r>
            <a:endParaRPr i="1" sz="2200">
              <a:latin typeface="Times New Roman"/>
              <a:ea typeface="Times New Roman"/>
              <a:cs typeface="Times New Roman"/>
              <a:sym typeface="Times New Roman"/>
            </a:endParaRPr>
          </a:p>
          <a:p>
            <a:pPr indent="-203200" lvl="0" marL="342900" rtl="0" algn="l">
              <a:lnSpc>
                <a:spcPct val="120000"/>
              </a:lnSpc>
              <a:spcBef>
                <a:spcPts val="600"/>
              </a:spcBef>
              <a:spcAft>
                <a:spcPts val="0"/>
              </a:spcAft>
              <a:buSzPts val="2200"/>
              <a:buNone/>
            </a:pPr>
            <a:r>
              <a:t/>
            </a:r>
            <a:endParaRPr sz="2200"/>
          </a:p>
        </p:txBody>
      </p:sp>
      <p:sp>
        <p:nvSpPr>
          <p:cNvPr id="604" name="Google Shape;604;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09" name="Google Shape;609;p28"/>
          <p:cNvGraphicFramePr/>
          <p:nvPr/>
        </p:nvGraphicFramePr>
        <p:xfrm>
          <a:off x="5652120" y="1599690"/>
          <a:ext cx="1728192" cy="533166"/>
        </p:xfrm>
        <a:graphic>
          <a:graphicData uri="http://schemas.openxmlformats.org/presentationml/2006/ole">
            <mc:AlternateContent>
              <mc:Choice Requires="v">
                <p:oleObj r:id="rId5" imgH="533166" imgW="1728192" progId="" spid="_x0000_s1">
                  <p:embed/>
                </p:oleObj>
              </mc:Choice>
              <mc:Fallback>
                <p:oleObj r:id="rId6" imgH="533166" imgW="1728192" progId="">
                  <p:embed/>
                  <p:pic>
                    <p:nvPicPr>
                      <p:cNvPr id="609" name="Google Shape;609;p28"/>
                      <p:cNvPicPr preferRelativeResize="0"/>
                      <p:nvPr/>
                    </p:nvPicPr>
                    <p:blipFill rotWithShape="1">
                      <a:blip r:embed="rId7">
                        <a:alphaModFix/>
                      </a:blip>
                      <a:srcRect b="0" l="0" r="0" t="0"/>
                      <a:stretch/>
                    </p:blipFill>
                    <p:spPr>
                      <a:xfrm>
                        <a:off x="5652120" y="1599690"/>
                        <a:ext cx="1728192" cy="533166"/>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pic>
        <p:nvPicPr>
          <p:cNvPr id="610" name="Google Shape;610;p28"/>
          <p:cNvPicPr preferRelativeResize="0"/>
          <p:nvPr/>
        </p:nvPicPr>
        <p:blipFill rotWithShape="1">
          <a:blip r:embed="rId8">
            <a:alphaModFix/>
          </a:blip>
          <a:srcRect b="0" l="0" r="0" t="0"/>
          <a:stretch/>
        </p:blipFill>
        <p:spPr>
          <a:xfrm>
            <a:off x="5940152" y="3356992"/>
            <a:ext cx="3031701" cy="2808312"/>
          </a:xfrm>
          <a:prstGeom prst="rect">
            <a:avLst/>
          </a:prstGeom>
          <a:noFill/>
          <a:ln>
            <a:noFill/>
          </a:ln>
        </p:spPr>
      </p:pic>
      <p:sp>
        <p:nvSpPr>
          <p:cNvPr id="611" name="Google Shape;611;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12" name="Google Shape;612;p28"/>
          <p:cNvGraphicFramePr/>
          <p:nvPr/>
        </p:nvGraphicFramePr>
        <p:xfrm>
          <a:off x="2555776" y="3084388"/>
          <a:ext cx="1664955" cy="488628"/>
        </p:xfrm>
        <a:graphic>
          <a:graphicData uri="http://schemas.openxmlformats.org/presentationml/2006/ole">
            <mc:AlternateContent>
              <mc:Choice Requires="v">
                <p:oleObj r:id="rId9" imgH="488628" imgW="1664955" progId="" spid="_x0000_s2">
                  <p:embed/>
                </p:oleObj>
              </mc:Choice>
              <mc:Fallback>
                <p:oleObj r:id="rId10" imgH="488628" imgW="1664955" progId="">
                  <p:embed/>
                  <p:pic>
                    <p:nvPicPr>
                      <p:cNvPr id="612" name="Google Shape;612;p28"/>
                      <p:cNvPicPr preferRelativeResize="0"/>
                      <p:nvPr/>
                    </p:nvPicPr>
                    <p:blipFill rotWithShape="1">
                      <a:blip r:embed="rId11">
                        <a:alphaModFix/>
                      </a:blip>
                      <a:srcRect b="0" l="0" r="0" t="0"/>
                      <a:stretch/>
                    </p:blipFill>
                    <p:spPr>
                      <a:xfrm>
                        <a:off x="2555776" y="3084388"/>
                        <a:ext cx="1664955" cy="488628"/>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
        <p:nvSpPr>
          <p:cNvPr id="613" name="Google Shape;613;p28"/>
          <p:cNvSpPr txBox="1"/>
          <p:nvPr/>
        </p:nvSpPr>
        <p:spPr>
          <a:xfrm>
            <a:off x="457200" y="3717032"/>
            <a:ext cx="5482952" cy="2376264"/>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20000"/>
              </a:lnSpc>
              <a:spcBef>
                <a:spcPts val="0"/>
              </a:spcBef>
              <a:spcAft>
                <a:spcPts val="0"/>
              </a:spcAft>
              <a:buClr>
                <a:srgbClr val="009999"/>
              </a:buClr>
              <a:buSzPts val="2200"/>
              <a:buFont typeface="Noto Sans Symbols"/>
              <a:buChar char="⮚"/>
            </a:pPr>
            <a:r>
              <a:rPr lang="en-US" sz="2200">
                <a:solidFill>
                  <a:srgbClr val="34495E"/>
                </a:solidFill>
                <a:latin typeface="Quattrocento Sans"/>
                <a:ea typeface="Quattrocento Sans"/>
                <a:cs typeface="Quattrocento Sans"/>
                <a:sym typeface="Quattrocento Sans"/>
              </a:rPr>
              <a:t>Bằng thực nghiệm, với xác suất làm việc không hỏng là 90%, xác định được tải trọng C ứng với L = 1 triệu vòng quay</a:t>
            </a:r>
            <a:endParaRPr/>
          </a:p>
          <a:p>
            <a:pPr indent="-342900" lvl="0" marL="342900" marR="0" rtl="0" algn="l">
              <a:lnSpc>
                <a:spcPct val="120000"/>
              </a:lnSpc>
              <a:spcBef>
                <a:spcPts val="600"/>
              </a:spcBef>
              <a:spcAft>
                <a:spcPts val="0"/>
              </a:spcAft>
              <a:buClr>
                <a:srgbClr val="009999"/>
              </a:buClr>
              <a:buSzPts val="2200"/>
              <a:buFont typeface="Noto Sans Symbols"/>
              <a:buChar char="⮚"/>
            </a:pPr>
            <a:r>
              <a:rPr lang="en-US" sz="2200">
                <a:solidFill>
                  <a:srgbClr val="34495E"/>
                </a:solidFill>
                <a:latin typeface="Quattrocento Sans"/>
                <a:ea typeface="Quattrocento Sans"/>
                <a:cs typeface="Quattrocento Sans"/>
                <a:sym typeface="Quattrocento Sans"/>
              </a:rPr>
              <a:t>C được gọi là khả năng tải động</a:t>
            </a:r>
            <a:endParaRPr/>
          </a:p>
          <a:p>
            <a:pPr indent="0" lvl="0" marL="0" marR="0" rtl="0" algn="l">
              <a:lnSpc>
                <a:spcPct val="120000"/>
              </a:lnSpc>
              <a:spcBef>
                <a:spcPts val="600"/>
              </a:spcBef>
              <a:spcAft>
                <a:spcPts val="0"/>
              </a:spcAft>
              <a:buClr>
                <a:srgbClr val="009999"/>
              </a:buClr>
              <a:buSzPts val="2200"/>
              <a:buFont typeface="Noto Sans Symbols"/>
              <a:buNone/>
            </a:pPr>
            <a:r>
              <a:rPr lang="en-US" sz="2200">
                <a:solidFill>
                  <a:srgbClr val="34495E"/>
                </a:solidFill>
                <a:latin typeface="Quattrocento Sans"/>
                <a:ea typeface="Quattrocento Sans"/>
                <a:cs typeface="Quattrocento Sans"/>
                <a:sym typeface="Quattrocento Sans"/>
              </a:rPr>
              <a:t>                           hoặc</a:t>
            </a:r>
            <a:endParaRPr sz="2200">
              <a:solidFill>
                <a:srgbClr val="34495E"/>
              </a:solidFill>
              <a:latin typeface="Quattrocento Sans"/>
              <a:ea typeface="Quattrocento Sans"/>
              <a:cs typeface="Quattrocento Sans"/>
              <a:sym typeface="Quattrocento Sans"/>
            </a:endParaRPr>
          </a:p>
          <a:p>
            <a:pPr indent="-203200" lvl="0" marL="342900" marR="0" rtl="0" algn="l">
              <a:lnSpc>
                <a:spcPct val="120000"/>
              </a:lnSpc>
              <a:spcBef>
                <a:spcPts val="600"/>
              </a:spcBef>
              <a:spcAft>
                <a:spcPts val="0"/>
              </a:spcAft>
              <a:buClr>
                <a:srgbClr val="009999"/>
              </a:buClr>
              <a:buSzPts val="2200"/>
              <a:buFont typeface="Noto Sans Symbols"/>
              <a:buNone/>
            </a:pPr>
            <a:r>
              <a:t/>
            </a:r>
            <a:endParaRPr sz="2200">
              <a:solidFill>
                <a:srgbClr val="34495E"/>
              </a:solidFill>
              <a:latin typeface="Quattrocento Sans"/>
              <a:ea typeface="Quattrocento Sans"/>
              <a:cs typeface="Quattrocento Sans"/>
              <a:sym typeface="Quattrocento Sans"/>
            </a:endParaRPr>
          </a:p>
        </p:txBody>
      </p:sp>
      <p:sp>
        <p:nvSpPr>
          <p:cNvPr id="614" name="Google Shape;614;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15" name="Google Shape;615;p28"/>
          <p:cNvGraphicFramePr/>
          <p:nvPr/>
        </p:nvGraphicFramePr>
        <p:xfrm>
          <a:off x="1187624" y="5517232"/>
          <a:ext cx="1200133" cy="432048"/>
        </p:xfrm>
        <a:graphic>
          <a:graphicData uri="http://schemas.openxmlformats.org/presentationml/2006/ole">
            <mc:AlternateContent>
              <mc:Choice Requires="v">
                <p:oleObj r:id="rId12" imgH="432048" imgW="1200133" progId="" spid="_x0000_s3">
                  <p:embed/>
                </p:oleObj>
              </mc:Choice>
              <mc:Fallback>
                <p:oleObj r:id="rId13" imgH="432048" imgW="1200133" progId="">
                  <p:embed/>
                  <p:pic>
                    <p:nvPicPr>
                      <p:cNvPr id="615" name="Google Shape;615;p28"/>
                      <p:cNvPicPr preferRelativeResize="0"/>
                      <p:nvPr/>
                    </p:nvPicPr>
                    <p:blipFill rotWithShape="1">
                      <a:blip r:embed="rId14">
                        <a:alphaModFix/>
                      </a:blip>
                      <a:srcRect b="0" l="0" r="0" t="0"/>
                      <a:stretch/>
                    </p:blipFill>
                    <p:spPr>
                      <a:xfrm>
                        <a:off x="1187624" y="5517232"/>
                        <a:ext cx="1200133" cy="432048"/>
                      </a:xfrm>
                      <a:prstGeom prst="rect">
                        <a:avLst/>
                      </a:prstGeom>
                      <a:noFill/>
                      <a:ln>
                        <a:noFill/>
                      </a:ln>
                    </p:spPr>
                  </p:pic>
                </p:oleObj>
              </mc:Fallback>
            </mc:AlternateContent>
          </a:graphicData>
        </a:graphic>
      </p:graphicFrame>
      <p:sp>
        <p:nvSpPr>
          <p:cNvPr id="616" name="Google Shape;616;p28"/>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17" name="Google Shape;617;p28"/>
          <p:cNvGraphicFramePr/>
          <p:nvPr/>
        </p:nvGraphicFramePr>
        <p:xfrm>
          <a:off x="3347864" y="5517232"/>
          <a:ext cx="1136126" cy="432048"/>
        </p:xfrm>
        <a:graphic>
          <a:graphicData uri="http://schemas.openxmlformats.org/presentationml/2006/ole">
            <mc:AlternateContent>
              <mc:Choice Requires="v">
                <p:oleObj r:id="rId15" imgH="432048" imgW="1136126" progId="" spid="_x0000_s4">
                  <p:embed/>
                </p:oleObj>
              </mc:Choice>
              <mc:Fallback>
                <p:oleObj r:id="rId16" imgH="432048" imgW="1136126" progId="">
                  <p:embed/>
                  <p:pic>
                    <p:nvPicPr>
                      <p:cNvPr id="617" name="Google Shape;617;p28"/>
                      <p:cNvPicPr preferRelativeResize="0"/>
                      <p:nvPr/>
                    </p:nvPicPr>
                    <p:blipFill rotWithShape="1">
                      <a:blip r:embed="rId17">
                        <a:alphaModFix/>
                      </a:blip>
                      <a:srcRect b="0" l="0" r="0" t="0"/>
                      <a:stretch/>
                    </p:blipFill>
                    <p:spPr>
                      <a:xfrm>
                        <a:off x="3347864" y="5517232"/>
                        <a:ext cx="1136126" cy="432048"/>
                      </a:xfrm>
                      <a:prstGeom prst="rect">
                        <a:avLst/>
                      </a:prstGeom>
                      <a:noFill/>
                      <a:ln>
                        <a:noFill/>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29"/>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624" name="Google Shape;624;p29"/>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8.4.2. Khả năng tải của ổ</a:t>
            </a:r>
            <a:endParaRPr sz="2400">
              <a:solidFill>
                <a:srgbClr val="16A085"/>
              </a:solidFill>
              <a:latin typeface="Quattrocento Sans"/>
              <a:ea typeface="Quattrocento Sans"/>
              <a:cs typeface="Quattrocento Sans"/>
              <a:sym typeface="Quattrocento Sans"/>
            </a:endParaRPr>
          </a:p>
        </p:txBody>
      </p:sp>
      <p:cxnSp>
        <p:nvCxnSpPr>
          <p:cNvPr id="625" name="Google Shape;625;p29"/>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626" name="Google Shape;626;p29"/>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627" name="Google Shape;627;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29"/>
          <p:cNvSpPr txBox="1"/>
          <p:nvPr>
            <p:ph idx="1" type="body"/>
          </p:nvPr>
        </p:nvSpPr>
        <p:spPr>
          <a:xfrm>
            <a:off x="457200" y="1143000"/>
            <a:ext cx="8305800" cy="5094312"/>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SzPts val="2200"/>
              <a:buFont typeface="Calibri"/>
              <a:buAutoNum type="arabicPeriod"/>
            </a:pPr>
            <a:r>
              <a:rPr b="1" lang="en-US" sz="2200"/>
              <a:t>Khả năng tải động của ổ:</a:t>
            </a:r>
            <a:endParaRPr/>
          </a:p>
          <a:p>
            <a:pPr indent="-203200" lvl="0" marL="342900" rtl="0" algn="l">
              <a:lnSpc>
                <a:spcPct val="120000"/>
              </a:lnSpc>
              <a:spcBef>
                <a:spcPts val="600"/>
              </a:spcBef>
              <a:spcAft>
                <a:spcPts val="0"/>
              </a:spcAft>
              <a:buSzPts val="2200"/>
              <a:buNone/>
            </a:pPr>
            <a:r>
              <a:t/>
            </a:r>
            <a:endParaRPr sz="2200"/>
          </a:p>
          <a:p>
            <a:pPr indent="0" lvl="0" marL="339725"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Q </a:t>
            </a:r>
            <a:r>
              <a:rPr lang="en-US" sz="2000"/>
              <a:t>– tải trọng quy ước:</a:t>
            </a:r>
            <a:endParaRPr/>
          </a:p>
          <a:p>
            <a:pPr indent="0" lvl="0" marL="339725" rtl="0" algn="l">
              <a:lnSpc>
                <a:spcPct val="120000"/>
              </a:lnSpc>
              <a:spcBef>
                <a:spcPts val="600"/>
              </a:spcBef>
              <a:spcAft>
                <a:spcPts val="0"/>
              </a:spcAft>
              <a:buSzPts val="2000"/>
              <a:buNone/>
            </a:pPr>
            <a:r>
              <a:rPr lang="en-US" sz="2000"/>
              <a:t>	tải trọng hướng tâm đối với ổ đỡ và đỡ-chặn</a:t>
            </a:r>
            <a:endParaRPr/>
          </a:p>
          <a:p>
            <a:pPr indent="0" lvl="0" marL="339725" rtl="0" algn="l">
              <a:lnSpc>
                <a:spcPct val="120000"/>
              </a:lnSpc>
              <a:spcBef>
                <a:spcPts val="600"/>
              </a:spcBef>
              <a:spcAft>
                <a:spcPts val="0"/>
              </a:spcAft>
              <a:buSzPts val="2000"/>
              <a:buNone/>
            </a:pPr>
            <a:r>
              <a:rPr lang="en-US" sz="2000"/>
              <a:t>	tải trọng dọc trục đối với ổ chặn và chặn-đỡ</a:t>
            </a:r>
            <a:endParaRPr sz="2000"/>
          </a:p>
          <a:p>
            <a:pPr indent="0" lvl="0" marL="339725" rtl="0" algn="l">
              <a:lnSpc>
                <a:spcPct val="120000"/>
              </a:lnSpc>
              <a:spcBef>
                <a:spcPts val="600"/>
              </a:spcBef>
              <a:spcAft>
                <a:spcPts val="0"/>
              </a:spcAft>
              <a:buSzPts val="2000"/>
              <a:buNone/>
            </a:pPr>
            <a:r>
              <a:rPr i="1" lang="en-US" sz="2000">
                <a:latin typeface="Times New Roman"/>
                <a:ea typeface="Times New Roman"/>
                <a:cs typeface="Times New Roman"/>
                <a:sym typeface="Times New Roman"/>
              </a:rPr>
              <a:t>m = </a:t>
            </a:r>
            <a:r>
              <a:rPr lang="en-US" sz="2000">
                <a:latin typeface="Times New Roman"/>
                <a:ea typeface="Times New Roman"/>
                <a:cs typeface="Times New Roman"/>
                <a:sym typeface="Times New Roman"/>
              </a:rPr>
              <a:t>3</a:t>
            </a:r>
            <a:r>
              <a:rPr lang="en-US" sz="2000"/>
              <a:t> đối với ổ bi; </a:t>
            </a:r>
            <a:r>
              <a:rPr i="1" lang="en-US" sz="2000">
                <a:latin typeface="Times New Roman"/>
                <a:ea typeface="Times New Roman"/>
                <a:cs typeface="Times New Roman"/>
                <a:sym typeface="Times New Roman"/>
              </a:rPr>
              <a:t>m = </a:t>
            </a:r>
            <a:r>
              <a:rPr lang="en-US" sz="2000">
                <a:latin typeface="Times New Roman"/>
                <a:ea typeface="Times New Roman"/>
                <a:cs typeface="Times New Roman"/>
                <a:sym typeface="Times New Roman"/>
              </a:rPr>
              <a:t>10/3</a:t>
            </a:r>
            <a:r>
              <a:rPr lang="en-US" sz="2000"/>
              <a:t> đối với ổ đũa</a:t>
            </a:r>
            <a:endParaRPr/>
          </a:p>
          <a:p>
            <a:pPr indent="0" lvl="0" marL="339725" rtl="0" algn="l">
              <a:lnSpc>
                <a:spcPct val="120000"/>
              </a:lnSpc>
              <a:spcBef>
                <a:spcPts val="600"/>
              </a:spcBef>
              <a:spcAft>
                <a:spcPts val="0"/>
              </a:spcAft>
              <a:buSzPts val="2000"/>
              <a:buNone/>
            </a:pPr>
            <a:r>
              <a:rPr lang="en-US" sz="2000"/>
              <a:t>                          (</a:t>
            </a:r>
            <a:r>
              <a:rPr i="1" lang="en-US" sz="2000">
                <a:latin typeface="Times New Roman"/>
                <a:ea typeface="Times New Roman"/>
                <a:cs typeface="Times New Roman"/>
                <a:sym typeface="Times New Roman"/>
              </a:rPr>
              <a:t>L</a:t>
            </a:r>
            <a:r>
              <a:rPr baseline="-25000" i="1" lang="en-US" sz="2000">
                <a:latin typeface="Times New Roman"/>
                <a:ea typeface="Times New Roman"/>
                <a:cs typeface="Times New Roman"/>
                <a:sym typeface="Times New Roman"/>
              </a:rPr>
              <a:t>h</a:t>
            </a:r>
            <a:r>
              <a:rPr lang="en-US" sz="2000"/>
              <a:t> – tuổi thọ tính bằng giờ)</a:t>
            </a:r>
            <a:endParaRPr/>
          </a:p>
          <a:p>
            <a:pPr indent="-342900" lvl="0" marL="342900" rtl="0" algn="l">
              <a:lnSpc>
                <a:spcPct val="120000"/>
              </a:lnSpc>
              <a:spcBef>
                <a:spcPts val="600"/>
              </a:spcBef>
              <a:spcAft>
                <a:spcPts val="0"/>
              </a:spcAft>
              <a:buSzPts val="2200"/>
              <a:buChar char="⮚"/>
            </a:pPr>
            <a:r>
              <a:rPr b="1" lang="en-US" sz="2200"/>
              <a:t>Nhận xét:</a:t>
            </a:r>
            <a:endParaRPr/>
          </a:p>
          <a:p>
            <a:pPr indent="-285750" lvl="1" marL="742950" rtl="0" algn="l">
              <a:lnSpc>
                <a:spcPct val="120000"/>
              </a:lnSpc>
              <a:spcBef>
                <a:spcPts val="600"/>
              </a:spcBef>
              <a:spcAft>
                <a:spcPts val="0"/>
              </a:spcAft>
              <a:buSzPts val="2000"/>
              <a:buChar char="▪"/>
            </a:pPr>
            <a:r>
              <a:rPr lang="en-US" sz="2000"/>
              <a:t>Tính cho trường hợp n &gt; 10 vg/ph hoặc n &lt; n</a:t>
            </a:r>
            <a:r>
              <a:rPr baseline="-25000" lang="en-US" sz="2000"/>
              <a:t>gh</a:t>
            </a:r>
            <a:endParaRPr baseline="-25000" sz="2000"/>
          </a:p>
          <a:p>
            <a:pPr indent="-285750" lvl="1" marL="742950" rtl="0" algn="l">
              <a:lnSpc>
                <a:spcPct val="120000"/>
              </a:lnSpc>
              <a:spcBef>
                <a:spcPts val="600"/>
              </a:spcBef>
              <a:spcAft>
                <a:spcPts val="0"/>
              </a:spcAft>
              <a:buSzPts val="2000"/>
              <a:buChar char="▪"/>
            </a:pPr>
            <a:r>
              <a:rPr lang="en-US" sz="2000"/>
              <a:t>Chỉ có 90% số ổ có tuổi thọ bằng hoặc lớn hơn yêu cầu, 10% còn lại có thể hỏng trước thời hạn</a:t>
            </a:r>
            <a:endParaRPr sz="2000"/>
          </a:p>
          <a:p>
            <a:pPr indent="-203200" lvl="0" marL="342900" rtl="0" algn="l">
              <a:lnSpc>
                <a:spcPct val="120000"/>
              </a:lnSpc>
              <a:spcBef>
                <a:spcPts val="600"/>
              </a:spcBef>
              <a:spcAft>
                <a:spcPts val="0"/>
              </a:spcAft>
              <a:buSzPts val="2200"/>
              <a:buNone/>
            </a:pPr>
            <a:r>
              <a:t/>
            </a:r>
            <a:endParaRPr sz="2200"/>
          </a:p>
        </p:txBody>
      </p:sp>
      <p:sp>
        <p:nvSpPr>
          <p:cNvPr id="644" name="Google Shape;644;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52" name="Google Shape;652;p29"/>
          <p:cNvGraphicFramePr/>
          <p:nvPr/>
        </p:nvGraphicFramePr>
        <p:xfrm>
          <a:off x="4139952" y="1628800"/>
          <a:ext cx="1136126" cy="432048"/>
        </p:xfrm>
        <a:graphic>
          <a:graphicData uri="http://schemas.openxmlformats.org/presentationml/2006/ole">
            <mc:AlternateContent>
              <mc:Choice Requires="v">
                <p:oleObj r:id="rId5" imgH="432048" imgW="1136126" progId="" spid="_x0000_s1">
                  <p:embed/>
                </p:oleObj>
              </mc:Choice>
              <mc:Fallback>
                <p:oleObj r:id="rId6" imgH="432048" imgW="1136126" progId="">
                  <p:embed/>
                  <p:pic>
                    <p:nvPicPr>
                      <p:cNvPr id="652" name="Google Shape;652;p29"/>
                      <p:cNvPicPr preferRelativeResize="0"/>
                      <p:nvPr/>
                    </p:nvPicPr>
                    <p:blipFill rotWithShape="1">
                      <a:blip r:embed="rId7">
                        <a:alphaModFix/>
                      </a:blip>
                      <a:srcRect b="0" l="0" r="0" t="0"/>
                      <a:stretch/>
                    </p:blipFill>
                    <p:spPr>
                      <a:xfrm>
                        <a:off x="4139952" y="1628800"/>
                        <a:ext cx="1136126" cy="432048"/>
                      </a:xfrm>
                      <a:prstGeom prst="rect">
                        <a:avLst/>
                      </a:prstGeom>
                      <a:noFill/>
                      <a:ln>
                        <a:noFill/>
                      </a:ln>
                    </p:spPr>
                  </p:pic>
                </p:oleObj>
              </mc:Fallback>
            </mc:AlternateContent>
          </a:graphicData>
        </a:graphic>
      </p:graphicFrame>
      <p:sp>
        <p:nvSpPr>
          <p:cNvPr id="653" name="Google Shape;653;p29"/>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654" name="Google Shape;654;p29"/>
          <p:cNvGraphicFramePr/>
          <p:nvPr/>
        </p:nvGraphicFramePr>
        <p:xfrm>
          <a:off x="850623" y="3861048"/>
          <a:ext cx="1752774" cy="457932"/>
        </p:xfrm>
        <a:graphic>
          <a:graphicData uri="http://schemas.openxmlformats.org/presentationml/2006/ole">
            <mc:AlternateContent>
              <mc:Choice Requires="v">
                <p:oleObj r:id="rId8" imgH="457932" imgW="1752774" progId="" spid="_x0000_s2">
                  <p:embed/>
                </p:oleObj>
              </mc:Choice>
              <mc:Fallback>
                <p:oleObj r:id="rId9" imgH="457932" imgW="1752774" progId="">
                  <p:embed/>
                  <p:pic>
                    <p:nvPicPr>
                      <p:cNvPr id="654" name="Google Shape;654;p29"/>
                      <p:cNvPicPr preferRelativeResize="0"/>
                      <p:nvPr/>
                    </p:nvPicPr>
                    <p:blipFill rotWithShape="1">
                      <a:blip r:embed="rId10">
                        <a:alphaModFix/>
                      </a:blip>
                      <a:srcRect b="0" l="0" r="0" t="0"/>
                      <a:stretch/>
                    </p:blipFill>
                    <p:spPr>
                      <a:xfrm>
                        <a:off x="850623" y="3861048"/>
                        <a:ext cx="1752774" cy="457932"/>
                      </a:xfrm>
                      <a:prstGeom prst="rect">
                        <a:avLst/>
                      </a:prstGeom>
                      <a:noFill/>
                      <a:ln>
                        <a:noFill/>
                      </a:ln>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30"/>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661" name="Google Shape;661;p30"/>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8.4.2. Khả năng tải của ổ</a:t>
            </a:r>
            <a:endParaRPr sz="2400">
              <a:solidFill>
                <a:srgbClr val="16A085"/>
              </a:solidFill>
              <a:latin typeface="Quattrocento Sans"/>
              <a:ea typeface="Quattrocento Sans"/>
              <a:cs typeface="Quattrocento Sans"/>
              <a:sym typeface="Quattrocento Sans"/>
            </a:endParaRPr>
          </a:p>
        </p:txBody>
      </p:sp>
      <p:cxnSp>
        <p:nvCxnSpPr>
          <p:cNvPr id="662" name="Google Shape;662;p30"/>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663" name="Google Shape;663;p30"/>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664" name="Google Shape;664;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0"/>
          <p:cNvSpPr txBox="1"/>
          <p:nvPr>
            <p:ph idx="1" type="body"/>
          </p:nvPr>
        </p:nvSpPr>
        <p:spPr>
          <a:xfrm>
            <a:off x="457200" y="1143000"/>
            <a:ext cx="8305800" cy="5094312"/>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SzPts val="2200"/>
              <a:buFont typeface="Calibri"/>
              <a:buAutoNum type="arabicPeriod" startAt="2"/>
            </a:pPr>
            <a:r>
              <a:rPr b="1" lang="en-US" sz="2200"/>
              <a:t>Khả năng tải tĩnh của ổ:</a:t>
            </a:r>
            <a:endParaRPr/>
          </a:p>
          <a:p>
            <a:pPr indent="-342900" lvl="0" marL="342900" rtl="0" algn="l">
              <a:lnSpc>
                <a:spcPct val="120000"/>
              </a:lnSpc>
              <a:spcBef>
                <a:spcPts val="600"/>
              </a:spcBef>
              <a:spcAft>
                <a:spcPts val="0"/>
              </a:spcAft>
              <a:buSzPts val="2200"/>
              <a:buChar char="⮚"/>
            </a:pPr>
            <a:r>
              <a:rPr lang="en-US" sz="2200"/>
              <a:t>Dùng làm căn cứ chọn ổ lăn khi n &lt; 1 vg/ph, kiểm nghiệm ổ đã chọn theo khả năng tải động</a:t>
            </a:r>
            <a:endParaRPr/>
          </a:p>
          <a:p>
            <a:pPr indent="-342900" lvl="0" marL="342900" rtl="0" algn="l">
              <a:lnSpc>
                <a:spcPct val="120000"/>
              </a:lnSpc>
              <a:spcBef>
                <a:spcPts val="600"/>
              </a:spcBef>
              <a:spcAft>
                <a:spcPts val="0"/>
              </a:spcAft>
              <a:buSzPts val="2200"/>
              <a:buChar char="⮚"/>
            </a:pPr>
            <a:r>
              <a:rPr lang="en-US" sz="2200"/>
              <a:t>Nếu giảm </a:t>
            </a:r>
            <a:r>
              <a:rPr i="1" lang="en-US" sz="2200">
                <a:latin typeface="Times New Roman"/>
                <a:ea typeface="Times New Roman"/>
                <a:cs typeface="Times New Roman"/>
                <a:sym typeface="Times New Roman"/>
              </a:rPr>
              <a:t>L</a:t>
            </a:r>
            <a:r>
              <a:rPr lang="en-US" sz="2200"/>
              <a:t>: </a:t>
            </a:r>
            <a:r>
              <a:rPr i="1" lang="en-US" sz="2200">
                <a:latin typeface="Times New Roman"/>
                <a:ea typeface="Times New Roman"/>
                <a:cs typeface="Times New Roman"/>
                <a:sym typeface="Times New Roman"/>
              </a:rPr>
              <a:t>Q</a:t>
            </a:r>
            <a:r>
              <a:rPr lang="en-US" sz="2200"/>
              <a:t> tăng lên rất lớn và không hạn chế.</a:t>
            </a:r>
            <a:endParaRPr/>
          </a:p>
          <a:p>
            <a:pPr indent="0" lvl="0" marL="339725" rtl="0" algn="l">
              <a:lnSpc>
                <a:spcPct val="120000"/>
              </a:lnSpc>
              <a:spcBef>
                <a:spcPts val="0"/>
              </a:spcBef>
              <a:spcAft>
                <a:spcPts val="0"/>
              </a:spcAft>
              <a:buSzPts val="2200"/>
              <a:buNone/>
            </a:pPr>
            <a:r>
              <a:rPr lang="en-US" sz="2200"/>
              <a:t>Thực tế, </a:t>
            </a:r>
            <a:r>
              <a:rPr i="1" lang="en-US" sz="2200">
                <a:latin typeface="Times New Roman"/>
                <a:ea typeface="Times New Roman"/>
                <a:cs typeface="Times New Roman"/>
                <a:sym typeface="Times New Roman"/>
              </a:rPr>
              <a:t>Q</a:t>
            </a:r>
            <a:r>
              <a:rPr lang="en-US" sz="2200"/>
              <a:t> bị giới hạn bởi độ bền tĩnh hay khả năng tải tĩnh</a:t>
            </a:r>
            <a:endParaRPr/>
          </a:p>
          <a:p>
            <a:pPr indent="-342900" lvl="0" marL="342900" rtl="0" algn="l">
              <a:lnSpc>
                <a:spcPct val="120000"/>
              </a:lnSpc>
              <a:spcBef>
                <a:spcPts val="600"/>
              </a:spcBef>
              <a:spcAft>
                <a:spcPts val="0"/>
              </a:spcAft>
              <a:buSzPts val="2200"/>
              <a:buChar char="⮚"/>
            </a:pPr>
            <a:r>
              <a:rPr lang="en-US" sz="2200"/>
              <a:t>Khả năng tải tĩnh </a:t>
            </a:r>
            <a:r>
              <a:rPr i="1" lang="en-US" sz="2200">
                <a:latin typeface="Times New Roman"/>
                <a:ea typeface="Times New Roman"/>
                <a:cs typeface="Times New Roman"/>
                <a:sym typeface="Times New Roman"/>
              </a:rPr>
              <a:t>C</a:t>
            </a:r>
            <a:r>
              <a:rPr baseline="-25000" i="1" lang="en-US" sz="2200">
                <a:latin typeface="Times New Roman"/>
                <a:ea typeface="Times New Roman"/>
                <a:cs typeface="Times New Roman"/>
                <a:sym typeface="Times New Roman"/>
              </a:rPr>
              <a:t>o</a:t>
            </a:r>
            <a:r>
              <a:rPr lang="en-US" sz="2200"/>
              <a:t> là: tải trọng gây nên tại vùng tiếp xúc chịu tại lớn nhất, tổng biến dạng dư bằng 0,0001 đường kính con lăn</a:t>
            </a:r>
            <a:endParaRPr/>
          </a:p>
          <a:p>
            <a:pPr indent="-342900" lvl="0" marL="342900" rtl="0" algn="l">
              <a:lnSpc>
                <a:spcPct val="120000"/>
              </a:lnSpc>
              <a:spcBef>
                <a:spcPts val="600"/>
              </a:spcBef>
              <a:spcAft>
                <a:spcPts val="0"/>
              </a:spcAft>
              <a:buSzPts val="2200"/>
              <a:buChar char="⮚"/>
            </a:pPr>
            <a:r>
              <a:rPr i="1" lang="en-US" sz="2200">
                <a:latin typeface="Times New Roman"/>
                <a:ea typeface="Times New Roman"/>
                <a:cs typeface="Times New Roman"/>
                <a:sym typeface="Times New Roman"/>
              </a:rPr>
              <a:t>C</a:t>
            </a:r>
            <a:r>
              <a:rPr baseline="-25000" i="1" lang="en-US" sz="2200">
                <a:latin typeface="Times New Roman"/>
                <a:ea typeface="Times New Roman"/>
                <a:cs typeface="Times New Roman"/>
                <a:sym typeface="Times New Roman"/>
              </a:rPr>
              <a:t>o</a:t>
            </a:r>
            <a:r>
              <a:rPr lang="en-US" sz="2200"/>
              <a:t> cho trong các bảng ổ lăn, phụ thuộc loại và kích thước ổ</a:t>
            </a:r>
            <a:endParaRPr/>
          </a:p>
          <a:p>
            <a:pPr indent="-342900" lvl="0" marL="342900" rtl="0" algn="l">
              <a:lnSpc>
                <a:spcPct val="120000"/>
              </a:lnSpc>
              <a:spcBef>
                <a:spcPts val="600"/>
              </a:spcBef>
              <a:spcAft>
                <a:spcPts val="0"/>
              </a:spcAft>
              <a:buSzPts val="2200"/>
              <a:buChar char="⮚"/>
            </a:pPr>
            <a:r>
              <a:rPr lang="en-US" sz="2200"/>
              <a:t>Giá trị ứng suất tiếp xúc:</a:t>
            </a:r>
            <a:endParaRPr/>
          </a:p>
          <a:p>
            <a:pPr indent="-285750" lvl="1" marL="742950" rtl="0" algn="l">
              <a:lnSpc>
                <a:spcPct val="120000"/>
              </a:lnSpc>
              <a:spcBef>
                <a:spcPts val="600"/>
              </a:spcBef>
              <a:spcAft>
                <a:spcPts val="0"/>
              </a:spcAft>
              <a:buSzPts val="2000"/>
              <a:buChar char="▪"/>
            </a:pPr>
            <a:r>
              <a:rPr lang="en-US" sz="2000"/>
              <a:t>Ổ bi: 	3000MPa</a:t>
            </a:r>
            <a:endParaRPr/>
          </a:p>
          <a:p>
            <a:pPr indent="-285750" lvl="1" marL="742950" rtl="0" algn="l">
              <a:lnSpc>
                <a:spcPct val="120000"/>
              </a:lnSpc>
              <a:spcBef>
                <a:spcPts val="600"/>
              </a:spcBef>
              <a:spcAft>
                <a:spcPts val="0"/>
              </a:spcAft>
              <a:buSzPts val="2000"/>
              <a:buChar char="▪"/>
            </a:pPr>
            <a:r>
              <a:rPr lang="en-US" sz="2000"/>
              <a:t>Ổ đũa: 	5000MPa</a:t>
            </a:r>
            <a:endParaRPr sz="2000"/>
          </a:p>
        </p:txBody>
      </p:sp>
      <p:sp>
        <p:nvSpPr>
          <p:cNvPr id="681" name="Google Shape;681;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30"/>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1"/>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696" name="Google Shape;696;p31"/>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697" name="Google Shape;697;p31"/>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698" name="Google Shape;698;p31"/>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699" name="Google Shape;699;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31"/>
          <p:cNvSpPr txBox="1"/>
          <p:nvPr>
            <p:ph idx="1" type="body"/>
          </p:nvPr>
        </p:nvSpPr>
        <p:spPr>
          <a:xfrm>
            <a:off x="457200" y="1143000"/>
            <a:ext cx="8305800" cy="5094312"/>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SzPts val="2200"/>
              <a:buFont typeface="Calibri"/>
              <a:buAutoNum type="arabicPeriod"/>
            </a:pPr>
            <a:r>
              <a:rPr b="1" lang="en-US" sz="2200"/>
              <a:t>Số vòng quay n &lt; 1 vg/ph</a:t>
            </a:r>
            <a:endParaRPr b="1" sz="2200"/>
          </a:p>
          <a:p>
            <a:pPr indent="-342900" lvl="0" marL="342900" rtl="0" algn="l">
              <a:lnSpc>
                <a:spcPct val="120000"/>
              </a:lnSpc>
              <a:spcBef>
                <a:spcPts val="600"/>
              </a:spcBef>
              <a:spcAft>
                <a:spcPts val="0"/>
              </a:spcAft>
              <a:buSzPts val="2200"/>
              <a:buChar char="⮚"/>
            </a:pPr>
            <a:r>
              <a:rPr lang="en-US" sz="2200"/>
              <a:t>Ổ lăn được chọn theo khả năng tải tĩnh theo điều kiện</a:t>
            </a:r>
            <a:endParaRPr/>
          </a:p>
          <a:p>
            <a:pPr indent="0" lvl="0" marL="339725" rtl="0" algn="l">
              <a:lnSpc>
                <a:spcPct val="120000"/>
              </a:lnSpc>
              <a:spcBef>
                <a:spcPts val="600"/>
              </a:spcBef>
              <a:spcAft>
                <a:spcPts val="0"/>
              </a:spcAft>
              <a:buSzPts val="1800"/>
              <a:buNone/>
            </a:pPr>
            <a:r>
              <a:rPr i="1" lang="en-US" sz="1800"/>
              <a:t>C</a:t>
            </a:r>
            <a:r>
              <a:rPr baseline="-25000" i="1" lang="en-US" sz="1800"/>
              <a:t>o</a:t>
            </a:r>
            <a:r>
              <a:rPr lang="en-US" sz="1800"/>
              <a:t> – là khả năng tải tĩnh, kN; 	</a:t>
            </a:r>
            <a:endParaRPr/>
          </a:p>
          <a:p>
            <a:pPr indent="0" lvl="0" marL="339725" rtl="0" algn="l">
              <a:lnSpc>
                <a:spcPct val="120000"/>
              </a:lnSpc>
              <a:spcBef>
                <a:spcPts val="600"/>
              </a:spcBef>
              <a:spcAft>
                <a:spcPts val="0"/>
              </a:spcAft>
              <a:buSzPts val="1800"/>
              <a:buNone/>
            </a:pPr>
            <a:r>
              <a:rPr i="1" lang="en-US" sz="1800"/>
              <a:t>Q</a:t>
            </a:r>
            <a:r>
              <a:rPr baseline="-25000" i="1" lang="en-US" sz="1800"/>
              <a:t>t</a:t>
            </a:r>
            <a:r>
              <a:rPr lang="en-US" sz="1800"/>
              <a:t> – tải trọng quy ước</a:t>
            </a:r>
            <a:endParaRPr/>
          </a:p>
          <a:p>
            <a:pPr indent="0" lvl="0" marL="339725" rtl="0" algn="l">
              <a:lnSpc>
                <a:spcPct val="120000"/>
              </a:lnSpc>
              <a:spcBef>
                <a:spcPts val="600"/>
              </a:spcBef>
              <a:spcAft>
                <a:spcPts val="0"/>
              </a:spcAft>
              <a:buSzPts val="2200"/>
              <a:buNone/>
            </a:pPr>
            <a:r>
              <a:t/>
            </a:r>
            <a:endParaRPr sz="2200"/>
          </a:p>
          <a:p>
            <a:pPr indent="-342900" lvl="0" marL="342900" rtl="0" algn="l">
              <a:lnSpc>
                <a:spcPct val="120000"/>
              </a:lnSpc>
              <a:spcBef>
                <a:spcPts val="600"/>
              </a:spcBef>
              <a:spcAft>
                <a:spcPts val="0"/>
              </a:spcAft>
              <a:buSzPts val="2200"/>
              <a:buChar char="⮚"/>
            </a:pPr>
            <a:r>
              <a:rPr lang="en-US" sz="2200"/>
              <a:t>Ổ đỡ, đỡ-chặn:</a:t>
            </a:r>
            <a:endParaRPr/>
          </a:p>
          <a:p>
            <a:pPr indent="0" lvl="0" marL="0" rtl="0" algn="l">
              <a:lnSpc>
                <a:spcPct val="120000"/>
              </a:lnSpc>
              <a:spcBef>
                <a:spcPts val="600"/>
              </a:spcBef>
              <a:spcAft>
                <a:spcPts val="0"/>
              </a:spcAft>
              <a:buSzPts val="2200"/>
              <a:buNone/>
            </a:pPr>
            <a:r>
              <a:rPr lang="en-US" sz="2200"/>
              <a:t>                                                 khi góc tiếp xúc </a:t>
            </a:r>
            <a:r>
              <a:rPr i="1" lang="en-US" sz="2200">
                <a:latin typeface="Times New Roman"/>
                <a:ea typeface="Times New Roman"/>
                <a:cs typeface="Times New Roman"/>
                <a:sym typeface="Times New Roman"/>
              </a:rPr>
              <a:t>α</a:t>
            </a:r>
            <a:r>
              <a:rPr lang="en-US" sz="2200">
                <a:latin typeface="Times New Roman"/>
                <a:ea typeface="Times New Roman"/>
                <a:cs typeface="Times New Roman"/>
                <a:sym typeface="Times New Roman"/>
              </a:rPr>
              <a:t> = 90°</a:t>
            </a:r>
            <a:endParaRPr sz="2200">
              <a:latin typeface="Times New Roman"/>
              <a:ea typeface="Times New Roman"/>
              <a:cs typeface="Times New Roman"/>
              <a:sym typeface="Times New Roman"/>
            </a:endParaRPr>
          </a:p>
          <a:p>
            <a:pPr indent="-336550" lvl="0" marL="342900" rtl="0" algn="l">
              <a:lnSpc>
                <a:spcPct val="120000"/>
              </a:lnSpc>
              <a:spcBef>
                <a:spcPts val="600"/>
              </a:spcBef>
              <a:spcAft>
                <a:spcPts val="0"/>
              </a:spcAft>
              <a:buSzPts val="100"/>
              <a:buNone/>
            </a:pPr>
            <a:r>
              <a:t/>
            </a:r>
            <a:endParaRPr sz="100"/>
          </a:p>
          <a:p>
            <a:pPr indent="-342900" lvl="0" marL="342900" rtl="0" algn="l">
              <a:lnSpc>
                <a:spcPct val="120000"/>
              </a:lnSpc>
              <a:spcBef>
                <a:spcPts val="600"/>
              </a:spcBef>
              <a:spcAft>
                <a:spcPts val="0"/>
              </a:spcAft>
              <a:buSzPts val="2200"/>
              <a:buChar char="⮚"/>
            </a:pPr>
            <a:r>
              <a:rPr lang="en-US" sz="2200"/>
              <a:t>Ổ chặn, chặn-đỡ</a:t>
            </a:r>
            <a:endParaRPr/>
          </a:p>
          <a:p>
            <a:pPr indent="0" lvl="0" marL="0" rtl="0" algn="l">
              <a:lnSpc>
                <a:spcPct val="120000"/>
              </a:lnSpc>
              <a:spcBef>
                <a:spcPts val="600"/>
              </a:spcBef>
              <a:spcAft>
                <a:spcPts val="0"/>
              </a:spcAft>
              <a:buSzPts val="2200"/>
              <a:buNone/>
            </a:pPr>
            <a:r>
              <a:rPr lang="en-US" sz="2200"/>
              <a:t>                                                 khi </a:t>
            </a:r>
            <a:r>
              <a:rPr i="1" lang="en-US" sz="2200">
                <a:latin typeface="Times New Roman"/>
                <a:ea typeface="Times New Roman"/>
                <a:cs typeface="Times New Roman"/>
                <a:sym typeface="Times New Roman"/>
              </a:rPr>
              <a:t>α</a:t>
            </a:r>
            <a:r>
              <a:rPr lang="en-US" sz="2200">
                <a:latin typeface="Times New Roman"/>
                <a:ea typeface="Times New Roman"/>
                <a:cs typeface="Times New Roman"/>
                <a:sym typeface="Times New Roman"/>
              </a:rPr>
              <a:t> = 90°</a:t>
            </a:r>
            <a:endParaRPr/>
          </a:p>
          <a:p>
            <a:pPr indent="0" lvl="0" marL="0" rtl="0" algn="l">
              <a:lnSpc>
                <a:spcPct val="120000"/>
              </a:lnSpc>
              <a:spcBef>
                <a:spcPts val="600"/>
              </a:spcBef>
              <a:spcAft>
                <a:spcPts val="0"/>
              </a:spcAft>
              <a:buSzPts val="100"/>
              <a:buNone/>
            </a:pPr>
            <a:r>
              <a:t/>
            </a:r>
            <a:endParaRPr sz="100">
              <a:latin typeface="Times New Roman"/>
              <a:ea typeface="Times New Roman"/>
              <a:cs typeface="Times New Roman"/>
              <a:sym typeface="Times New Roman"/>
            </a:endParaRPr>
          </a:p>
          <a:p>
            <a:pPr indent="0" lvl="0" marL="339725" rtl="0" algn="l">
              <a:lnSpc>
                <a:spcPct val="120000"/>
              </a:lnSpc>
              <a:spcBef>
                <a:spcPts val="600"/>
              </a:spcBef>
              <a:spcAft>
                <a:spcPts val="0"/>
              </a:spcAft>
              <a:buSzPts val="1800"/>
              <a:buNone/>
            </a:pPr>
            <a:r>
              <a:rPr i="1" lang="en-US" sz="1800"/>
              <a:t>X</a:t>
            </a:r>
            <a:r>
              <a:rPr baseline="-25000" i="1" lang="en-US" sz="1800"/>
              <a:t>o</a:t>
            </a:r>
            <a:r>
              <a:rPr lang="en-US" sz="1800"/>
              <a:t>, </a:t>
            </a:r>
            <a:r>
              <a:rPr i="1" lang="en-US" sz="1800"/>
              <a:t>Y</a:t>
            </a:r>
            <a:r>
              <a:rPr baseline="-25000" i="1" lang="en-US" sz="1800"/>
              <a:t>o</a:t>
            </a:r>
            <a:r>
              <a:rPr lang="en-US" sz="1800"/>
              <a:t> – hệ số tải trọng hướng tâm và dọc trục tĩnh, tra bảng</a:t>
            </a:r>
            <a:endParaRPr/>
          </a:p>
        </p:txBody>
      </p:sp>
      <p:sp>
        <p:nvSpPr>
          <p:cNvPr id="716" name="Google Shape;716;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726" name="Google Shape;726;p31"/>
          <p:cNvGraphicFramePr/>
          <p:nvPr/>
        </p:nvGraphicFramePr>
        <p:xfrm>
          <a:off x="7452320" y="1628800"/>
          <a:ext cx="935677" cy="476345"/>
        </p:xfrm>
        <a:graphic>
          <a:graphicData uri="http://schemas.openxmlformats.org/presentationml/2006/ole">
            <mc:AlternateContent>
              <mc:Choice Requires="v">
                <p:oleObj r:id="rId5" imgH="476345" imgW="935677" progId="" spid="_x0000_s1">
                  <p:embed/>
                </p:oleObj>
              </mc:Choice>
              <mc:Fallback>
                <p:oleObj r:id="rId6" imgH="476345" imgW="935677" progId="">
                  <p:embed/>
                  <p:pic>
                    <p:nvPicPr>
                      <p:cNvPr id="726" name="Google Shape;726;p31"/>
                      <p:cNvPicPr preferRelativeResize="0"/>
                      <p:nvPr/>
                    </p:nvPicPr>
                    <p:blipFill rotWithShape="1">
                      <a:blip r:embed="rId7">
                        <a:alphaModFix/>
                      </a:blip>
                      <a:srcRect b="0" l="0" r="0" t="0"/>
                      <a:stretch/>
                    </p:blipFill>
                    <p:spPr>
                      <a:xfrm>
                        <a:off x="7452320" y="1628800"/>
                        <a:ext cx="935677" cy="476345"/>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
        <p:nvSpPr>
          <p:cNvPr id="727" name="Google Shape;727;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728" name="Google Shape;728;p31"/>
          <p:cNvGraphicFramePr/>
          <p:nvPr/>
        </p:nvGraphicFramePr>
        <p:xfrm>
          <a:off x="3105500" y="3386864"/>
          <a:ext cx="1898548" cy="462255"/>
        </p:xfrm>
        <a:graphic>
          <a:graphicData uri="http://schemas.openxmlformats.org/presentationml/2006/ole">
            <mc:AlternateContent>
              <mc:Choice Requires="v">
                <p:oleObj r:id="rId8" imgH="462255" imgW="1898548" progId="" spid="_x0000_s2">
                  <p:embed/>
                </p:oleObj>
              </mc:Choice>
              <mc:Fallback>
                <p:oleObj r:id="rId9" imgH="462255" imgW="1898548" progId="">
                  <p:embed/>
                  <p:pic>
                    <p:nvPicPr>
                      <p:cNvPr id="728" name="Google Shape;728;p31"/>
                      <p:cNvPicPr preferRelativeResize="0"/>
                      <p:nvPr/>
                    </p:nvPicPr>
                    <p:blipFill rotWithShape="1">
                      <a:blip r:embed="rId10">
                        <a:alphaModFix/>
                      </a:blip>
                      <a:srcRect b="0" l="0" r="0" t="0"/>
                      <a:stretch/>
                    </p:blipFill>
                    <p:spPr>
                      <a:xfrm>
                        <a:off x="3105500" y="3386864"/>
                        <a:ext cx="1898548" cy="462255"/>
                      </a:xfrm>
                      <a:prstGeom prst="rect">
                        <a:avLst/>
                      </a:prstGeom>
                      <a:noFill/>
                      <a:ln>
                        <a:noFill/>
                      </a:ln>
                    </p:spPr>
                  </p:pic>
                </p:oleObj>
              </mc:Fallback>
            </mc:AlternateContent>
          </a:graphicData>
        </a:graphic>
      </p:graphicFrame>
      <p:sp>
        <p:nvSpPr>
          <p:cNvPr id="729" name="Google Shape;729;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730" name="Google Shape;730;p31"/>
          <p:cNvGraphicFramePr/>
          <p:nvPr/>
        </p:nvGraphicFramePr>
        <p:xfrm>
          <a:off x="3131840" y="3890698"/>
          <a:ext cx="864096" cy="474406"/>
        </p:xfrm>
        <a:graphic>
          <a:graphicData uri="http://schemas.openxmlformats.org/presentationml/2006/ole">
            <mc:AlternateContent>
              <mc:Choice Requires="v">
                <p:oleObj r:id="rId11" imgH="474406" imgW="864096" progId="" spid="_x0000_s3">
                  <p:embed/>
                </p:oleObj>
              </mc:Choice>
              <mc:Fallback>
                <p:oleObj r:id="rId12" imgH="474406" imgW="864096" progId="">
                  <p:embed/>
                  <p:pic>
                    <p:nvPicPr>
                      <p:cNvPr id="730" name="Google Shape;730;p31"/>
                      <p:cNvPicPr preferRelativeResize="0"/>
                      <p:nvPr/>
                    </p:nvPicPr>
                    <p:blipFill rotWithShape="1">
                      <a:blip r:embed="rId13">
                        <a:alphaModFix/>
                      </a:blip>
                      <a:srcRect b="0" l="0" r="0" t="0"/>
                      <a:stretch/>
                    </p:blipFill>
                    <p:spPr>
                      <a:xfrm>
                        <a:off x="3131840" y="3890698"/>
                        <a:ext cx="864096" cy="474406"/>
                      </a:xfrm>
                      <a:prstGeom prst="rect">
                        <a:avLst/>
                      </a:prstGeom>
                      <a:noFill/>
                      <a:ln>
                        <a:noFill/>
                      </a:ln>
                    </p:spPr>
                  </p:pic>
                </p:oleObj>
              </mc:Fallback>
            </mc:AlternateContent>
          </a:graphicData>
        </a:graphic>
      </p:graphicFrame>
      <p:sp>
        <p:nvSpPr>
          <p:cNvPr id="731" name="Google Shape;731;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732" name="Google Shape;732;p31"/>
          <p:cNvGraphicFramePr/>
          <p:nvPr/>
        </p:nvGraphicFramePr>
        <p:xfrm>
          <a:off x="3131840" y="4457419"/>
          <a:ext cx="2280533" cy="483749"/>
        </p:xfrm>
        <a:graphic>
          <a:graphicData uri="http://schemas.openxmlformats.org/presentationml/2006/ole">
            <mc:AlternateContent>
              <mc:Choice Requires="v">
                <p:oleObj r:id="rId14" imgH="483749" imgW="2280533" progId="" spid="_x0000_s4">
                  <p:embed/>
                </p:oleObj>
              </mc:Choice>
              <mc:Fallback>
                <p:oleObj r:id="rId15" imgH="483749" imgW="2280533" progId="">
                  <p:embed/>
                  <p:pic>
                    <p:nvPicPr>
                      <p:cNvPr id="732" name="Google Shape;732;p31"/>
                      <p:cNvPicPr preferRelativeResize="0"/>
                      <p:nvPr/>
                    </p:nvPicPr>
                    <p:blipFill rotWithShape="1">
                      <a:blip r:embed="rId16">
                        <a:alphaModFix/>
                      </a:blip>
                      <a:srcRect b="0" l="0" r="0" t="0"/>
                      <a:stretch/>
                    </p:blipFill>
                    <p:spPr>
                      <a:xfrm>
                        <a:off x="3131840" y="4457419"/>
                        <a:ext cx="2280533" cy="483749"/>
                      </a:xfrm>
                      <a:prstGeom prst="rect">
                        <a:avLst/>
                      </a:prstGeom>
                      <a:noFill/>
                      <a:ln>
                        <a:noFill/>
                      </a:ln>
                    </p:spPr>
                  </p:pic>
                </p:oleObj>
              </mc:Fallback>
            </mc:AlternateContent>
          </a:graphicData>
        </a:graphic>
      </p:graphicFrame>
      <p:sp>
        <p:nvSpPr>
          <p:cNvPr id="733" name="Google Shape;733;p31"/>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734" name="Google Shape;734;p31"/>
          <p:cNvGraphicFramePr/>
          <p:nvPr/>
        </p:nvGraphicFramePr>
        <p:xfrm>
          <a:off x="3131840" y="4941168"/>
          <a:ext cx="864096" cy="456504"/>
        </p:xfrm>
        <a:graphic>
          <a:graphicData uri="http://schemas.openxmlformats.org/presentationml/2006/ole">
            <mc:AlternateContent>
              <mc:Choice Requires="v">
                <p:oleObj r:id="rId17" imgH="456504" imgW="864096" progId="" spid="_x0000_s5">
                  <p:embed/>
                </p:oleObj>
              </mc:Choice>
              <mc:Fallback>
                <p:oleObj r:id="rId18" imgH="456504" imgW="864096" progId="">
                  <p:embed/>
                  <p:pic>
                    <p:nvPicPr>
                      <p:cNvPr id="734" name="Google Shape;734;p31"/>
                      <p:cNvPicPr preferRelativeResize="0"/>
                      <p:nvPr/>
                    </p:nvPicPr>
                    <p:blipFill rotWithShape="1">
                      <a:blip r:embed="rId19">
                        <a:alphaModFix/>
                      </a:blip>
                      <a:srcRect b="0" l="0" r="0" t="0"/>
                      <a:stretch/>
                    </p:blipFill>
                    <p:spPr>
                      <a:xfrm>
                        <a:off x="3131840" y="4941168"/>
                        <a:ext cx="864096" cy="456504"/>
                      </a:xfrm>
                      <a:prstGeom prst="rect">
                        <a:avLst/>
                      </a:prstGeom>
                      <a:noFill/>
                      <a:ln>
                        <a:noFill/>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2"/>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741" name="Google Shape;741;p32"/>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742" name="Google Shape;742;p32"/>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743" name="Google Shape;743;p32"/>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744" name="Google Shape;744;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 name="Google Shape;757;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 name="Google Shape;759;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 name="Google Shape;760;p32"/>
          <p:cNvSpPr txBox="1"/>
          <p:nvPr>
            <p:ph idx="1" type="body"/>
          </p:nvPr>
        </p:nvSpPr>
        <p:spPr>
          <a:xfrm>
            <a:off x="457200" y="1143000"/>
            <a:ext cx="8305800" cy="5094312"/>
          </a:xfrm>
          <a:prstGeom prst="rect">
            <a:avLst/>
          </a:prstGeom>
          <a:noFill/>
          <a:ln>
            <a:noFill/>
          </a:ln>
        </p:spPr>
        <p:txBody>
          <a:bodyPr anchorCtr="0" anchor="t" bIns="45700" lIns="91425" spcFirstLastPara="1" rIns="91425" wrap="square" tIns="45700">
            <a:normAutofit/>
          </a:bodyPr>
          <a:lstStyle/>
          <a:p>
            <a:pPr indent="-457200" lvl="0" marL="457200" rtl="0" algn="l">
              <a:lnSpc>
                <a:spcPct val="120000"/>
              </a:lnSpc>
              <a:spcBef>
                <a:spcPts val="0"/>
              </a:spcBef>
              <a:spcAft>
                <a:spcPts val="0"/>
              </a:spcAft>
              <a:buSzPts val="2200"/>
              <a:buFont typeface="Calibri"/>
              <a:buAutoNum type="arabicPeriod" startAt="2"/>
            </a:pPr>
            <a:r>
              <a:rPr b="1" lang="en-US" sz="2200"/>
              <a:t>Số vòng quay n &gt; 10 vg/ph</a:t>
            </a:r>
            <a:endParaRPr b="1" sz="2200"/>
          </a:p>
          <a:p>
            <a:pPr indent="-342900" lvl="0" marL="342900" rtl="0" algn="l">
              <a:lnSpc>
                <a:spcPct val="120000"/>
              </a:lnSpc>
              <a:spcBef>
                <a:spcPts val="600"/>
              </a:spcBef>
              <a:spcAft>
                <a:spcPts val="0"/>
              </a:spcAft>
              <a:buSzPts val="2200"/>
              <a:buChar char="⮚"/>
            </a:pPr>
            <a:r>
              <a:rPr lang="en-US" sz="2200"/>
              <a:t>Nếu </a:t>
            </a:r>
            <a:r>
              <a:rPr lang="en-US" sz="2200">
                <a:latin typeface="Times New Roman"/>
                <a:ea typeface="Times New Roman"/>
                <a:cs typeface="Times New Roman"/>
                <a:sym typeface="Times New Roman"/>
              </a:rPr>
              <a:t>1</a:t>
            </a:r>
            <a:r>
              <a:rPr i="1" lang="en-US" sz="2200">
                <a:latin typeface="Times New Roman"/>
                <a:ea typeface="Times New Roman"/>
                <a:cs typeface="Times New Roman"/>
                <a:sym typeface="Times New Roman"/>
              </a:rPr>
              <a:t> &lt; n ≤ </a:t>
            </a:r>
            <a:r>
              <a:rPr lang="en-US" sz="2200">
                <a:latin typeface="Times New Roman"/>
                <a:ea typeface="Times New Roman"/>
                <a:cs typeface="Times New Roman"/>
                <a:sym typeface="Times New Roman"/>
              </a:rPr>
              <a:t>10</a:t>
            </a:r>
            <a:r>
              <a:rPr i="1" lang="en-US" sz="2200">
                <a:latin typeface="Times New Roman"/>
                <a:ea typeface="Times New Roman"/>
                <a:cs typeface="Times New Roman"/>
                <a:sym typeface="Times New Roman"/>
              </a:rPr>
              <a:t>vg/ph</a:t>
            </a:r>
            <a:r>
              <a:rPr lang="en-US" sz="2200"/>
              <a:t>: Tính theo khả năng tải động, lấy </a:t>
            </a:r>
            <a:r>
              <a:rPr i="1" lang="en-US" sz="2200">
                <a:latin typeface="Times New Roman"/>
                <a:ea typeface="Times New Roman"/>
                <a:cs typeface="Times New Roman"/>
                <a:sym typeface="Times New Roman"/>
              </a:rPr>
              <a:t>n = </a:t>
            </a:r>
            <a:r>
              <a:rPr lang="en-US" sz="2200">
                <a:latin typeface="Times New Roman"/>
                <a:ea typeface="Times New Roman"/>
                <a:cs typeface="Times New Roman"/>
                <a:sym typeface="Times New Roman"/>
              </a:rPr>
              <a:t>10</a:t>
            </a:r>
            <a:r>
              <a:rPr i="1" lang="en-US" sz="2200">
                <a:latin typeface="Times New Roman"/>
                <a:ea typeface="Times New Roman"/>
                <a:cs typeface="Times New Roman"/>
                <a:sym typeface="Times New Roman"/>
              </a:rPr>
              <a:t>vg/ph</a:t>
            </a:r>
            <a:endParaRPr i="1" sz="2200">
              <a:latin typeface="Times New Roman"/>
              <a:ea typeface="Times New Roman"/>
              <a:cs typeface="Times New Roman"/>
              <a:sym typeface="Times New Roman"/>
            </a:endParaRPr>
          </a:p>
          <a:p>
            <a:pPr indent="-342900" lvl="0" marL="342900" rtl="0" algn="l">
              <a:lnSpc>
                <a:spcPct val="120000"/>
              </a:lnSpc>
              <a:spcBef>
                <a:spcPts val="600"/>
              </a:spcBef>
              <a:spcAft>
                <a:spcPts val="0"/>
              </a:spcAft>
              <a:buSzPts val="2200"/>
              <a:buChar char="⮚"/>
            </a:pPr>
            <a:r>
              <a:rPr lang="en-US" sz="2200"/>
              <a:t>Vận tốc cao: kiểm tra </a:t>
            </a:r>
            <a:r>
              <a:rPr i="1" lang="en-US" sz="2200">
                <a:latin typeface="Times New Roman"/>
                <a:ea typeface="Times New Roman"/>
                <a:cs typeface="Times New Roman"/>
                <a:sym typeface="Times New Roman"/>
              </a:rPr>
              <a:t>n &lt; n</a:t>
            </a:r>
            <a:r>
              <a:rPr baseline="-25000" i="1" lang="en-US" sz="2200">
                <a:latin typeface="Times New Roman"/>
                <a:ea typeface="Times New Roman"/>
                <a:cs typeface="Times New Roman"/>
                <a:sym typeface="Times New Roman"/>
              </a:rPr>
              <a:t>gh</a:t>
            </a:r>
            <a:endParaRPr baseline="-25000" sz="2200">
              <a:latin typeface="Times New Roman"/>
              <a:ea typeface="Times New Roman"/>
              <a:cs typeface="Times New Roman"/>
              <a:sym typeface="Times New Roman"/>
            </a:endParaRPr>
          </a:p>
          <a:p>
            <a:pPr indent="-342900" lvl="0" marL="342900" rtl="0" algn="l">
              <a:lnSpc>
                <a:spcPct val="120000"/>
              </a:lnSpc>
              <a:spcBef>
                <a:spcPts val="600"/>
              </a:spcBef>
              <a:spcAft>
                <a:spcPts val="0"/>
              </a:spcAft>
              <a:buSzPts val="2200"/>
              <a:buChar char="⮚"/>
            </a:pPr>
            <a:r>
              <a:rPr lang="en-US" sz="2200"/>
              <a:t>Điều kiện tính chọn ổ lăn:</a:t>
            </a:r>
            <a:endParaRPr/>
          </a:p>
          <a:p>
            <a:pPr indent="-203200" lvl="0" marL="342900" rtl="0" algn="l">
              <a:lnSpc>
                <a:spcPct val="120000"/>
              </a:lnSpc>
              <a:spcBef>
                <a:spcPts val="600"/>
              </a:spcBef>
              <a:spcAft>
                <a:spcPts val="0"/>
              </a:spcAft>
              <a:buSzPts val="2200"/>
              <a:buNone/>
            </a:pPr>
            <a:r>
              <a:t/>
            </a:r>
            <a:endParaRPr sz="2200"/>
          </a:p>
          <a:p>
            <a:pPr indent="-266700" lvl="0" marL="342900" rtl="0" algn="l">
              <a:lnSpc>
                <a:spcPct val="120000"/>
              </a:lnSpc>
              <a:spcBef>
                <a:spcPts val="600"/>
              </a:spcBef>
              <a:spcAft>
                <a:spcPts val="0"/>
              </a:spcAft>
              <a:buSzPts val="1200"/>
              <a:buNone/>
            </a:pPr>
            <a:r>
              <a:t/>
            </a:r>
            <a:endParaRPr sz="1200"/>
          </a:p>
          <a:p>
            <a:pPr indent="0" lvl="0" marL="0" rtl="0" algn="l">
              <a:lnSpc>
                <a:spcPct val="120000"/>
              </a:lnSpc>
              <a:spcBef>
                <a:spcPts val="600"/>
              </a:spcBef>
              <a:spcAft>
                <a:spcPts val="0"/>
              </a:spcAft>
              <a:buSzPts val="2200"/>
              <a:buNone/>
            </a:pPr>
            <a:r>
              <a:rPr lang="en-US" sz="2200"/>
              <a:t>Như vậy, muốn xác định khả năng tải động tính toán, cần xác định tải trọng quy ước </a:t>
            </a:r>
            <a:r>
              <a:rPr i="1" lang="en-US" sz="2200">
                <a:latin typeface="Times New Roman"/>
                <a:ea typeface="Times New Roman"/>
                <a:cs typeface="Times New Roman"/>
                <a:sym typeface="Times New Roman"/>
              </a:rPr>
              <a:t>Q</a:t>
            </a:r>
            <a:endParaRPr i="1" sz="2200">
              <a:latin typeface="Times New Roman"/>
              <a:ea typeface="Times New Roman"/>
              <a:cs typeface="Times New Roman"/>
              <a:sym typeface="Times New Roman"/>
            </a:endParaRPr>
          </a:p>
        </p:txBody>
      </p:sp>
      <p:sp>
        <p:nvSpPr>
          <p:cNvPr id="761" name="Google Shape;761;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 name="Google Shape;775;p32"/>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776" name="Google Shape;776;p32"/>
          <p:cNvGraphicFramePr/>
          <p:nvPr/>
        </p:nvGraphicFramePr>
        <p:xfrm>
          <a:off x="3543300" y="3140968"/>
          <a:ext cx="1877174" cy="504056"/>
        </p:xfrm>
        <a:graphic>
          <a:graphicData uri="http://schemas.openxmlformats.org/presentationml/2006/ole">
            <mc:AlternateContent>
              <mc:Choice Requires="v">
                <p:oleObj r:id="rId5" imgH="504056" imgW="1877174" progId="" spid="_x0000_s1">
                  <p:embed/>
                </p:oleObj>
              </mc:Choice>
              <mc:Fallback>
                <p:oleObj r:id="rId6" imgH="504056" imgW="1877174" progId="">
                  <p:embed/>
                  <p:pic>
                    <p:nvPicPr>
                      <p:cNvPr id="776" name="Google Shape;776;p32"/>
                      <p:cNvPicPr preferRelativeResize="0"/>
                      <p:nvPr/>
                    </p:nvPicPr>
                    <p:blipFill rotWithShape="1">
                      <a:blip r:embed="rId7">
                        <a:alphaModFix/>
                      </a:blip>
                      <a:srcRect b="0" l="0" r="0" t="0"/>
                      <a:stretch/>
                    </p:blipFill>
                    <p:spPr>
                      <a:xfrm>
                        <a:off x="3543300" y="3140968"/>
                        <a:ext cx="1877174" cy="504056"/>
                      </a:xfrm>
                      <a:prstGeom prst="rect">
                        <a:avLst/>
                      </a:prstGeom>
                      <a:noFill/>
                      <a:ln cap="flat" cmpd="sng" w="9525">
                        <a:solidFill>
                          <a:srgbClr val="FF0000"/>
                        </a:solidFill>
                        <a:prstDash val="solid"/>
                        <a:miter lim="800000"/>
                        <a:headEnd len="sm" w="sm" type="none"/>
                        <a:tailEnd len="sm" w="sm" type="none"/>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33"/>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783" name="Google Shape;783;p33"/>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784" name="Google Shape;784;p33"/>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785" name="Google Shape;785;p33"/>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786" name="Google Shape;786;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6" name="Google Shape;806;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 name="Google Shape;807;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33"/>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200"/>
              <a:buChar char="⮚"/>
            </a:pPr>
            <a:r>
              <a:rPr lang="en-US" sz="2200"/>
              <a:t>Xác định tải trọng quy ước Q:</a:t>
            </a:r>
            <a:endParaRPr/>
          </a:p>
          <a:p>
            <a:pPr indent="-285750" lvl="1" marL="742950" rtl="0" algn="l">
              <a:lnSpc>
                <a:spcPct val="130000"/>
              </a:lnSpc>
              <a:spcBef>
                <a:spcPts val="600"/>
              </a:spcBef>
              <a:spcAft>
                <a:spcPts val="0"/>
              </a:spcAft>
              <a:buSzPts val="2000"/>
              <a:buChar char="▪"/>
            </a:pPr>
            <a:r>
              <a:rPr lang="en-US" sz="2000"/>
              <a:t>Ổ bi đỡ, đỡ-chặn, ổ côn:</a:t>
            </a:r>
            <a:endParaRPr/>
          </a:p>
          <a:p>
            <a:pPr indent="-285750" lvl="1" marL="742950" rtl="0" algn="l">
              <a:lnSpc>
                <a:spcPct val="130000"/>
              </a:lnSpc>
              <a:spcBef>
                <a:spcPts val="600"/>
              </a:spcBef>
              <a:spcAft>
                <a:spcPts val="0"/>
              </a:spcAft>
              <a:buSzPts val="2000"/>
              <a:buChar char="▪"/>
            </a:pPr>
            <a:r>
              <a:rPr lang="en-US" sz="2000"/>
              <a:t>Ổ chặn-đỡ:</a:t>
            </a:r>
            <a:endParaRPr/>
          </a:p>
          <a:p>
            <a:pPr indent="-285750" lvl="1" marL="742950" rtl="0" algn="l">
              <a:lnSpc>
                <a:spcPct val="130000"/>
              </a:lnSpc>
              <a:spcBef>
                <a:spcPts val="600"/>
              </a:spcBef>
              <a:spcAft>
                <a:spcPts val="0"/>
              </a:spcAft>
              <a:buSzPts val="2000"/>
              <a:buChar char="▪"/>
            </a:pPr>
            <a:r>
              <a:rPr lang="en-US" sz="2000"/>
              <a:t>Ổ chặn:</a:t>
            </a:r>
            <a:endParaRPr/>
          </a:p>
          <a:p>
            <a:pPr indent="-285750" lvl="1" marL="742950" rtl="0" algn="l">
              <a:lnSpc>
                <a:spcPct val="130000"/>
              </a:lnSpc>
              <a:spcBef>
                <a:spcPts val="600"/>
              </a:spcBef>
              <a:spcAft>
                <a:spcPts val="0"/>
              </a:spcAft>
              <a:buSzPts val="2000"/>
              <a:buChar char="▪"/>
            </a:pPr>
            <a:r>
              <a:rPr lang="en-US" sz="2000"/>
              <a:t>Ổ đũa trụ ngắn đỡ:</a:t>
            </a:r>
            <a:endParaRPr/>
          </a:p>
          <a:p>
            <a:pPr indent="-184150" lvl="1" marL="742950" rtl="0" algn="l">
              <a:lnSpc>
                <a:spcPct val="120000"/>
              </a:lnSpc>
              <a:spcBef>
                <a:spcPts val="600"/>
              </a:spcBef>
              <a:spcAft>
                <a:spcPts val="0"/>
              </a:spcAft>
              <a:buSzPts val="1600"/>
              <a:buNone/>
            </a:pPr>
            <a:r>
              <a:t/>
            </a:r>
            <a:endParaRPr sz="1600"/>
          </a:p>
          <a:p>
            <a:pPr indent="0" lvl="0" marL="0" rtl="0" algn="l">
              <a:lnSpc>
                <a:spcPct val="120000"/>
              </a:lnSpc>
              <a:spcBef>
                <a:spcPts val="600"/>
              </a:spcBef>
              <a:spcAft>
                <a:spcPts val="0"/>
              </a:spcAft>
              <a:buSzPts val="1800"/>
              <a:buNone/>
            </a:pPr>
            <a:r>
              <a:rPr i="1" lang="en-US" sz="1800">
                <a:latin typeface="Times New Roman"/>
                <a:ea typeface="Times New Roman"/>
                <a:cs typeface="Times New Roman"/>
                <a:sym typeface="Times New Roman"/>
              </a:rPr>
              <a:t>V</a:t>
            </a:r>
            <a:r>
              <a:rPr lang="en-US" sz="1800"/>
              <a:t> - hệ số ảnh hưởng của vòng nào quay:  vòng trong </a:t>
            </a:r>
            <a:r>
              <a:rPr i="1" lang="en-US" sz="1800">
                <a:latin typeface="Times New Roman"/>
                <a:ea typeface="Times New Roman"/>
                <a:cs typeface="Times New Roman"/>
                <a:sym typeface="Times New Roman"/>
              </a:rPr>
              <a:t>V</a:t>
            </a:r>
            <a:r>
              <a:rPr lang="en-US" sz="1800"/>
              <a:t> = </a:t>
            </a:r>
            <a:r>
              <a:rPr lang="en-US" sz="1800">
                <a:latin typeface="Times New Roman"/>
                <a:ea typeface="Times New Roman"/>
                <a:cs typeface="Times New Roman"/>
                <a:sym typeface="Times New Roman"/>
              </a:rPr>
              <a:t>1</a:t>
            </a:r>
            <a:r>
              <a:rPr lang="en-US" sz="1800"/>
              <a:t>; vòng ngoài </a:t>
            </a:r>
            <a:r>
              <a:rPr i="1" lang="en-US" sz="1800">
                <a:latin typeface="Times New Roman"/>
                <a:ea typeface="Times New Roman"/>
                <a:cs typeface="Times New Roman"/>
                <a:sym typeface="Times New Roman"/>
              </a:rPr>
              <a:t>V </a:t>
            </a:r>
            <a:r>
              <a:rPr lang="en-US" sz="1800"/>
              <a:t>= </a:t>
            </a:r>
            <a:r>
              <a:rPr lang="en-US" sz="1800">
                <a:latin typeface="Times New Roman"/>
                <a:ea typeface="Times New Roman"/>
                <a:cs typeface="Times New Roman"/>
                <a:sym typeface="Times New Roman"/>
              </a:rPr>
              <a:t>1,2</a:t>
            </a:r>
            <a:r>
              <a:rPr lang="en-US" sz="1800"/>
              <a:t>;</a:t>
            </a:r>
            <a:endParaRPr/>
          </a:p>
          <a:p>
            <a:pPr indent="0" lvl="0" marL="0" rtl="0" algn="l">
              <a:lnSpc>
                <a:spcPct val="120000"/>
              </a:lnSpc>
              <a:spcBef>
                <a:spcPts val="600"/>
              </a:spcBef>
              <a:spcAft>
                <a:spcPts val="0"/>
              </a:spcAft>
              <a:buSzPts val="1800"/>
              <a:buNone/>
            </a:pPr>
            <a:r>
              <a:rPr i="1" lang="en-US" sz="1800">
                <a:latin typeface="Times New Roman"/>
                <a:ea typeface="Times New Roman"/>
                <a:cs typeface="Times New Roman"/>
                <a:sym typeface="Times New Roman"/>
              </a:rPr>
              <a:t>K</a:t>
            </a:r>
            <a:r>
              <a:rPr baseline="-25000" i="1" lang="en-US" sz="1800">
                <a:latin typeface="Times New Roman"/>
                <a:ea typeface="Times New Roman"/>
                <a:cs typeface="Times New Roman"/>
                <a:sym typeface="Times New Roman"/>
              </a:rPr>
              <a:t>đ</a:t>
            </a:r>
            <a:r>
              <a:rPr lang="en-US" sz="1800"/>
              <a:t> – hệ số ảnh hưởng của đặc tính tải trọng: tĩnh, động, va đập…, tra bảng</a:t>
            </a:r>
            <a:endParaRPr sz="1800"/>
          </a:p>
          <a:p>
            <a:pPr indent="0" lvl="0" marL="0" rtl="0" algn="l">
              <a:lnSpc>
                <a:spcPct val="120000"/>
              </a:lnSpc>
              <a:spcBef>
                <a:spcPts val="600"/>
              </a:spcBef>
              <a:spcAft>
                <a:spcPts val="0"/>
              </a:spcAft>
              <a:buSzPts val="1800"/>
              <a:buNone/>
            </a:pPr>
            <a:r>
              <a:rPr i="1" lang="en-US" sz="1800">
                <a:latin typeface="Times New Roman"/>
                <a:ea typeface="Times New Roman"/>
                <a:cs typeface="Times New Roman"/>
                <a:sym typeface="Times New Roman"/>
              </a:rPr>
              <a:t>K</a:t>
            </a:r>
            <a:r>
              <a:rPr baseline="-25000" i="1" lang="en-US" sz="1800">
                <a:latin typeface="Times New Roman"/>
                <a:ea typeface="Times New Roman"/>
                <a:cs typeface="Times New Roman"/>
                <a:sym typeface="Times New Roman"/>
              </a:rPr>
              <a:t>t</a:t>
            </a:r>
            <a:r>
              <a:rPr lang="en-US" sz="1800"/>
              <a:t> – hệ số kể đến ảnh hưởng của nhiệt độ</a:t>
            </a:r>
            <a:endParaRPr/>
          </a:p>
          <a:p>
            <a:pPr indent="0" lvl="0" marL="0" rtl="0" algn="l">
              <a:lnSpc>
                <a:spcPct val="120000"/>
              </a:lnSpc>
              <a:spcBef>
                <a:spcPts val="600"/>
              </a:spcBef>
              <a:spcAft>
                <a:spcPts val="0"/>
              </a:spcAft>
              <a:buSzPts val="1800"/>
              <a:buNone/>
            </a:pPr>
            <a:r>
              <a:rPr lang="en-US" sz="1800"/>
              <a:t>	</a:t>
            </a:r>
            <a:r>
              <a:rPr i="1" lang="en-US" sz="1800">
                <a:latin typeface="Times New Roman"/>
                <a:ea typeface="Times New Roman"/>
                <a:cs typeface="Times New Roman"/>
                <a:sym typeface="Times New Roman"/>
              </a:rPr>
              <a:t>K</a:t>
            </a:r>
            <a:r>
              <a:rPr baseline="-25000" i="1" lang="en-US" sz="1800">
                <a:latin typeface="Times New Roman"/>
                <a:ea typeface="Times New Roman"/>
                <a:cs typeface="Times New Roman"/>
                <a:sym typeface="Times New Roman"/>
              </a:rPr>
              <a:t>t</a:t>
            </a:r>
            <a:r>
              <a:rPr i="1" lang="en-US" sz="1800">
                <a:latin typeface="Times New Roman"/>
                <a:ea typeface="Times New Roman"/>
                <a:cs typeface="Times New Roman"/>
                <a:sym typeface="Times New Roman"/>
              </a:rPr>
              <a:t> = </a:t>
            </a:r>
            <a:r>
              <a:rPr lang="en-US" sz="1800">
                <a:latin typeface="Times New Roman"/>
                <a:ea typeface="Times New Roman"/>
                <a:cs typeface="Times New Roman"/>
                <a:sym typeface="Times New Roman"/>
              </a:rPr>
              <a:t>1</a:t>
            </a:r>
            <a:r>
              <a:rPr i="1" lang="en-US" sz="1800">
                <a:latin typeface="Times New Roman"/>
                <a:ea typeface="Times New Roman"/>
                <a:cs typeface="Times New Roman"/>
                <a:sym typeface="Times New Roman"/>
              </a:rPr>
              <a:t> </a:t>
            </a:r>
            <a:r>
              <a:rPr lang="en-US" sz="1800"/>
              <a:t>nếu </a:t>
            </a:r>
            <a:r>
              <a:rPr i="1" lang="en-US" sz="1800">
                <a:latin typeface="Times New Roman"/>
                <a:ea typeface="Times New Roman"/>
                <a:cs typeface="Times New Roman"/>
                <a:sym typeface="Times New Roman"/>
              </a:rPr>
              <a:t>t ≤ </a:t>
            </a:r>
            <a:r>
              <a:rPr lang="en-US" sz="1800">
                <a:latin typeface="Times New Roman"/>
                <a:ea typeface="Times New Roman"/>
                <a:cs typeface="Times New Roman"/>
                <a:sym typeface="Times New Roman"/>
              </a:rPr>
              <a:t>105</a:t>
            </a:r>
            <a:r>
              <a:rPr i="1" lang="en-US" sz="1800">
                <a:latin typeface="Times New Roman"/>
                <a:ea typeface="Times New Roman"/>
                <a:cs typeface="Times New Roman"/>
                <a:sym typeface="Times New Roman"/>
              </a:rPr>
              <a:t>°C</a:t>
            </a:r>
            <a:r>
              <a:rPr lang="en-US" sz="1800"/>
              <a:t>;  	               	khi </a:t>
            </a:r>
            <a:r>
              <a:rPr i="1" lang="en-US" sz="1800">
                <a:latin typeface="Times New Roman"/>
                <a:ea typeface="Times New Roman"/>
                <a:cs typeface="Times New Roman"/>
                <a:sym typeface="Times New Roman"/>
              </a:rPr>
              <a:t>t &gt; </a:t>
            </a:r>
            <a:r>
              <a:rPr lang="en-US" sz="1800">
                <a:latin typeface="Times New Roman"/>
                <a:ea typeface="Times New Roman"/>
                <a:cs typeface="Times New Roman"/>
                <a:sym typeface="Times New Roman"/>
              </a:rPr>
              <a:t>105</a:t>
            </a:r>
            <a:r>
              <a:rPr i="1" lang="en-US" sz="1800">
                <a:latin typeface="Times New Roman"/>
                <a:ea typeface="Times New Roman"/>
                <a:cs typeface="Times New Roman"/>
                <a:sym typeface="Times New Roman"/>
              </a:rPr>
              <a:t>°C</a:t>
            </a:r>
            <a:r>
              <a:rPr lang="en-US" sz="1800"/>
              <a:t>;</a:t>
            </a:r>
            <a:endParaRPr/>
          </a:p>
          <a:p>
            <a:pPr indent="0" lvl="0" marL="0" rtl="0" algn="l">
              <a:lnSpc>
                <a:spcPct val="120000"/>
              </a:lnSpc>
              <a:spcBef>
                <a:spcPts val="600"/>
              </a:spcBef>
              <a:spcAft>
                <a:spcPts val="0"/>
              </a:spcAft>
              <a:buSzPts val="1800"/>
              <a:buNone/>
            </a:pPr>
            <a:r>
              <a:rPr i="1" lang="en-US" sz="1800">
                <a:latin typeface="Times New Roman"/>
                <a:ea typeface="Times New Roman"/>
                <a:cs typeface="Times New Roman"/>
                <a:sym typeface="Times New Roman"/>
              </a:rPr>
              <a:t>X, Y</a:t>
            </a:r>
            <a:r>
              <a:rPr lang="en-US" sz="1800"/>
              <a:t> – hệ số tải trọng hướng tâm và dọc trục, tra bảng</a:t>
            </a:r>
            <a:endParaRPr sz="1800"/>
          </a:p>
          <a:p>
            <a:pPr indent="-158750" lvl="1" marL="742950" rtl="0" algn="l">
              <a:lnSpc>
                <a:spcPct val="120000"/>
              </a:lnSpc>
              <a:spcBef>
                <a:spcPts val="600"/>
              </a:spcBef>
              <a:spcAft>
                <a:spcPts val="0"/>
              </a:spcAft>
              <a:buSzPts val="2000"/>
              <a:buNone/>
            </a:pPr>
            <a:r>
              <a:t/>
            </a:r>
            <a:endParaRPr sz="2000"/>
          </a:p>
        </p:txBody>
      </p:sp>
      <p:sp>
        <p:nvSpPr>
          <p:cNvPr id="818" name="Google Shape;818;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19" name="Google Shape;819;p33"/>
          <p:cNvGraphicFramePr/>
          <p:nvPr/>
        </p:nvGraphicFramePr>
        <p:xfrm>
          <a:off x="4283968" y="1645919"/>
          <a:ext cx="2448306" cy="432054"/>
        </p:xfrm>
        <a:graphic>
          <a:graphicData uri="http://schemas.openxmlformats.org/presentationml/2006/ole">
            <mc:AlternateContent>
              <mc:Choice Requires="v">
                <p:oleObj r:id="rId5" imgH="432054" imgW="2448306" progId="" spid="_x0000_s1">
                  <p:embed/>
                </p:oleObj>
              </mc:Choice>
              <mc:Fallback>
                <p:oleObj r:id="rId6" imgH="432054" imgW="2448306" progId="">
                  <p:embed/>
                  <p:pic>
                    <p:nvPicPr>
                      <p:cNvPr id="819" name="Google Shape;819;p33"/>
                      <p:cNvPicPr preferRelativeResize="0"/>
                      <p:nvPr/>
                    </p:nvPicPr>
                    <p:blipFill rotWithShape="1">
                      <a:blip r:embed="rId7">
                        <a:alphaModFix/>
                      </a:blip>
                      <a:srcRect b="0" l="0" r="0" t="0"/>
                      <a:stretch/>
                    </p:blipFill>
                    <p:spPr>
                      <a:xfrm>
                        <a:off x="4283968" y="1645919"/>
                        <a:ext cx="2448306" cy="432054"/>
                      </a:xfrm>
                      <a:prstGeom prst="rect">
                        <a:avLst/>
                      </a:prstGeom>
                      <a:noFill/>
                      <a:ln>
                        <a:noFill/>
                      </a:ln>
                    </p:spPr>
                  </p:pic>
                </p:oleObj>
              </mc:Fallback>
            </mc:AlternateContent>
          </a:graphicData>
        </a:graphic>
      </p:graphicFrame>
      <p:sp>
        <p:nvSpPr>
          <p:cNvPr id="820" name="Google Shape;820;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21" name="Google Shape;821;p33"/>
          <p:cNvGraphicFramePr/>
          <p:nvPr/>
        </p:nvGraphicFramePr>
        <p:xfrm>
          <a:off x="4289111" y="2132856"/>
          <a:ext cx="2299113" cy="432048"/>
        </p:xfrm>
        <a:graphic>
          <a:graphicData uri="http://schemas.openxmlformats.org/presentationml/2006/ole">
            <mc:AlternateContent>
              <mc:Choice Requires="v">
                <p:oleObj r:id="rId8" imgH="432048" imgW="2299113" progId="" spid="_x0000_s2">
                  <p:embed/>
                </p:oleObj>
              </mc:Choice>
              <mc:Fallback>
                <p:oleObj r:id="rId9" imgH="432048" imgW="2299113" progId="">
                  <p:embed/>
                  <p:pic>
                    <p:nvPicPr>
                      <p:cNvPr id="821" name="Google Shape;821;p33"/>
                      <p:cNvPicPr preferRelativeResize="0"/>
                      <p:nvPr/>
                    </p:nvPicPr>
                    <p:blipFill rotWithShape="1">
                      <a:blip r:embed="rId10">
                        <a:alphaModFix/>
                      </a:blip>
                      <a:srcRect b="0" l="0" r="0" t="0"/>
                      <a:stretch/>
                    </p:blipFill>
                    <p:spPr>
                      <a:xfrm>
                        <a:off x="4289111" y="2132856"/>
                        <a:ext cx="2299113" cy="432048"/>
                      </a:xfrm>
                      <a:prstGeom prst="rect">
                        <a:avLst/>
                      </a:prstGeom>
                      <a:noFill/>
                      <a:ln>
                        <a:noFill/>
                      </a:ln>
                    </p:spPr>
                  </p:pic>
                </p:oleObj>
              </mc:Fallback>
            </mc:AlternateContent>
          </a:graphicData>
        </a:graphic>
      </p:graphicFrame>
      <p:sp>
        <p:nvSpPr>
          <p:cNvPr id="822" name="Google Shape;822;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23" name="Google Shape;823;p33"/>
          <p:cNvGraphicFramePr/>
          <p:nvPr/>
        </p:nvGraphicFramePr>
        <p:xfrm>
          <a:off x="4283967" y="2606040"/>
          <a:ext cx="1316164" cy="431866"/>
        </p:xfrm>
        <a:graphic>
          <a:graphicData uri="http://schemas.openxmlformats.org/presentationml/2006/ole">
            <mc:AlternateContent>
              <mc:Choice Requires="v">
                <p:oleObj r:id="rId11" imgH="431866" imgW="1316164" progId="" spid="_x0000_s3">
                  <p:embed/>
                </p:oleObj>
              </mc:Choice>
              <mc:Fallback>
                <p:oleObj r:id="rId12" imgH="431866" imgW="1316164" progId="">
                  <p:embed/>
                  <p:pic>
                    <p:nvPicPr>
                      <p:cNvPr id="823" name="Google Shape;823;p33"/>
                      <p:cNvPicPr preferRelativeResize="0"/>
                      <p:nvPr/>
                    </p:nvPicPr>
                    <p:blipFill rotWithShape="1">
                      <a:blip r:embed="rId13">
                        <a:alphaModFix/>
                      </a:blip>
                      <a:srcRect b="0" l="0" r="0" t="0"/>
                      <a:stretch/>
                    </p:blipFill>
                    <p:spPr>
                      <a:xfrm>
                        <a:off x="4283967" y="2606040"/>
                        <a:ext cx="1316164" cy="431866"/>
                      </a:xfrm>
                      <a:prstGeom prst="rect">
                        <a:avLst/>
                      </a:prstGeom>
                      <a:noFill/>
                      <a:ln>
                        <a:noFill/>
                      </a:ln>
                    </p:spPr>
                  </p:pic>
                </p:oleObj>
              </mc:Fallback>
            </mc:AlternateContent>
          </a:graphicData>
        </a:graphic>
      </p:graphicFrame>
      <p:sp>
        <p:nvSpPr>
          <p:cNvPr id="824" name="Google Shape;824;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25" name="Google Shape;825;p33"/>
          <p:cNvGraphicFramePr/>
          <p:nvPr/>
        </p:nvGraphicFramePr>
        <p:xfrm>
          <a:off x="4284573" y="3108960"/>
          <a:ext cx="1439555" cy="431866"/>
        </p:xfrm>
        <a:graphic>
          <a:graphicData uri="http://schemas.openxmlformats.org/presentationml/2006/ole">
            <mc:AlternateContent>
              <mc:Choice Requires="v">
                <p:oleObj r:id="rId14" imgH="431866" imgW="1439555" progId="" spid="_x0000_s4">
                  <p:embed/>
                </p:oleObj>
              </mc:Choice>
              <mc:Fallback>
                <p:oleObj r:id="rId15" imgH="431866" imgW="1439555" progId="">
                  <p:embed/>
                  <p:pic>
                    <p:nvPicPr>
                      <p:cNvPr id="825" name="Google Shape;825;p33"/>
                      <p:cNvPicPr preferRelativeResize="0"/>
                      <p:nvPr/>
                    </p:nvPicPr>
                    <p:blipFill rotWithShape="1">
                      <a:blip r:embed="rId16">
                        <a:alphaModFix/>
                      </a:blip>
                      <a:srcRect b="0" l="0" r="0" t="0"/>
                      <a:stretch/>
                    </p:blipFill>
                    <p:spPr>
                      <a:xfrm>
                        <a:off x="4284573" y="3108960"/>
                        <a:ext cx="1439555" cy="431866"/>
                      </a:xfrm>
                      <a:prstGeom prst="rect">
                        <a:avLst/>
                      </a:prstGeom>
                      <a:noFill/>
                      <a:ln>
                        <a:noFill/>
                      </a:ln>
                    </p:spPr>
                  </p:pic>
                </p:oleObj>
              </mc:Fallback>
            </mc:AlternateContent>
          </a:graphicData>
        </a:graphic>
      </p:graphicFrame>
      <p:sp>
        <p:nvSpPr>
          <p:cNvPr id="826" name="Google Shape;826;p33"/>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27" name="Google Shape;827;p33"/>
          <p:cNvGraphicFramePr/>
          <p:nvPr/>
        </p:nvGraphicFramePr>
        <p:xfrm>
          <a:off x="3824332" y="5143852"/>
          <a:ext cx="2115820" cy="373380"/>
        </p:xfrm>
        <a:graphic>
          <a:graphicData uri="http://schemas.openxmlformats.org/presentationml/2006/ole">
            <mc:AlternateContent>
              <mc:Choice Requires="v">
                <p:oleObj r:id="rId17" imgH="373380" imgW="2115820" progId="" spid="_x0000_s5">
                  <p:embed/>
                </p:oleObj>
              </mc:Choice>
              <mc:Fallback>
                <p:oleObj r:id="rId18" imgH="373380" imgW="2115820" progId="">
                  <p:embed/>
                  <p:pic>
                    <p:nvPicPr>
                      <p:cNvPr id="827" name="Google Shape;827;p33"/>
                      <p:cNvPicPr preferRelativeResize="0"/>
                      <p:nvPr/>
                    </p:nvPicPr>
                    <p:blipFill rotWithShape="1">
                      <a:blip r:embed="rId19">
                        <a:alphaModFix/>
                      </a:blip>
                      <a:srcRect b="0" l="0" r="0" t="0"/>
                      <a:stretch/>
                    </p:blipFill>
                    <p:spPr>
                      <a:xfrm>
                        <a:off x="3824332" y="5143852"/>
                        <a:ext cx="2115820" cy="373380"/>
                      </a:xfrm>
                      <a:prstGeom prst="rect">
                        <a:avLst/>
                      </a:prstGeom>
                      <a:noFill/>
                      <a:ln>
                        <a:noFill/>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34"/>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834" name="Google Shape;834;p34"/>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835" name="Google Shape;835;p34"/>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836" name="Google Shape;836;p34"/>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837" name="Google Shape;837;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8" name="Google Shape;838;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9" name="Google Shape;839;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1" name="Google Shape;841;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3" name="Google Shape;843;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5" name="Google Shape;845;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6" name="Google Shape;846;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7" name="Google Shape;847;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9" name="Google Shape;849;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0" name="Google Shape;850;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1" name="Google Shape;851;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2" name="Google Shape;852;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3" name="Google Shape;853;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4" name="Google Shape;854;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5" name="Google Shape;855;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6" name="Google Shape;856;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8" name="Google Shape;858;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0" name="Google Shape;860;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2" name="Google Shape;862;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3" name="Google Shape;863;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7" name="Google Shape;867;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34"/>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200"/>
              <a:buChar char="⮚"/>
            </a:pPr>
            <a:r>
              <a:rPr lang="en-US" sz="2200"/>
              <a:t>Cách xác định lực dọc trục:</a:t>
            </a:r>
            <a:endParaRPr/>
          </a:p>
          <a:p>
            <a:pPr indent="-285750" lvl="1" marL="742950" rtl="0" algn="l">
              <a:lnSpc>
                <a:spcPct val="120000"/>
              </a:lnSpc>
              <a:spcBef>
                <a:spcPts val="600"/>
              </a:spcBef>
              <a:spcAft>
                <a:spcPts val="0"/>
              </a:spcAft>
              <a:buSzPts val="2000"/>
              <a:buChar char="▪"/>
            </a:pPr>
            <a:r>
              <a:rPr lang="en-US" sz="2000"/>
              <a:t>Đối với ổ bi đỡ, ổ bi đỡ lòng cầu hai dãy, ổ đũa đỡ lòng cầu hai dãy, lực dọc trục là </a:t>
            </a:r>
            <a:r>
              <a:rPr i="1" lang="en-US" sz="2000">
                <a:latin typeface="Times New Roman"/>
                <a:ea typeface="Times New Roman"/>
                <a:cs typeface="Times New Roman"/>
                <a:sym typeface="Times New Roman"/>
              </a:rPr>
              <a:t>F</a:t>
            </a:r>
            <a:r>
              <a:rPr baseline="-25000" i="1" lang="en-US" sz="2000">
                <a:latin typeface="Times New Roman"/>
                <a:ea typeface="Times New Roman"/>
                <a:cs typeface="Times New Roman"/>
                <a:sym typeface="Times New Roman"/>
              </a:rPr>
              <a:t>a</a:t>
            </a:r>
            <a:endParaRPr baseline="-25000" i="1" sz="2000">
              <a:latin typeface="Times New Roman"/>
              <a:ea typeface="Times New Roman"/>
              <a:cs typeface="Times New Roman"/>
              <a:sym typeface="Times New Roman"/>
            </a:endParaRPr>
          </a:p>
          <a:p>
            <a:pPr indent="-285750" lvl="1" marL="742950" rtl="0" algn="l">
              <a:lnSpc>
                <a:spcPct val="120000"/>
              </a:lnSpc>
              <a:spcBef>
                <a:spcPts val="600"/>
              </a:spcBef>
              <a:spcAft>
                <a:spcPts val="0"/>
              </a:spcAft>
              <a:buSzPts val="2000"/>
              <a:buChar char="▪"/>
            </a:pPr>
            <a:r>
              <a:rPr lang="en-US" sz="2000"/>
              <a:t>Đối với ổ đỡ-chặn: </a:t>
            </a:r>
            <a:r>
              <a:rPr i="1" lang="en-US" sz="2000">
                <a:latin typeface="Times New Roman"/>
                <a:ea typeface="Times New Roman"/>
                <a:cs typeface="Times New Roman"/>
                <a:sym typeface="Times New Roman"/>
              </a:rPr>
              <a:t>F</a:t>
            </a:r>
            <a:r>
              <a:rPr baseline="-25000" i="1" lang="en-US" sz="2000">
                <a:latin typeface="Times New Roman"/>
                <a:ea typeface="Times New Roman"/>
                <a:cs typeface="Times New Roman"/>
                <a:sym typeface="Times New Roman"/>
              </a:rPr>
              <a:t>r</a:t>
            </a:r>
            <a:r>
              <a:rPr lang="en-US" sz="2000"/>
              <a:t> sinh ra lực dọc trục phụ </a:t>
            </a:r>
            <a:r>
              <a:rPr i="1" lang="en-US" sz="2000">
                <a:latin typeface="Times New Roman"/>
                <a:ea typeface="Times New Roman"/>
                <a:cs typeface="Times New Roman"/>
                <a:sym typeface="Times New Roman"/>
              </a:rPr>
              <a:t>F</a:t>
            </a:r>
            <a:r>
              <a:rPr baseline="-25000" i="1" lang="en-US" sz="2000">
                <a:latin typeface="Times New Roman"/>
                <a:ea typeface="Times New Roman"/>
                <a:cs typeface="Times New Roman"/>
                <a:sym typeface="Times New Roman"/>
              </a:rPr>
              <a:t>s</a:t>
            </a:r>
            <a:endParaRPr baseline="-25000" i="1" sz="2000">
              <a:latin typeface="Times New Roman"/>
              <a:ea typeface="Times New Roman"/>
              <a:cs typeface="Times New Roman"/>
              <a:sym typeface="Times New Roman"/>
            </a:endParaRPr>
          </a:p>
          <a:p>
            <a:pPr indent="-228600" lvl="2" marL="1143000" rtl="0" algn="l">
              <a:lnSpc>
                <a:spcPct val="120000"/>
              </a:lnSpc>
              <a:spcBef>
                <a:spcPts val="600"/>
              </a:spcBef>
              <a:spcAft>
                <a:spcPts val="0"/>
              </a:spcAft>
              <a:buClr>
                <a:srgbClr val="34495E"/>
              </a:buClr>
              <a:buSzPts val="1800"/>
              <a:buChar char="•"/>
            </a:pPr>
            <a:r>
              <a:rPr lang="en-US" sz="1800"/>
              <a:t>Ổ đũa côn:                              với                      - hệ số</a:t>
            </a:r>
            <a:endParaRPr/>
          </a:p>
          <a:p>
            <a:pPr indent="-228600" lvl="2" marL="1143000" rtl="0" algn="l">
              <a:lnSpc>
                <a:spcPct val="120000"/>
              </a:lnSpc>
              <a:spcBef>
                <a:spcPts val="600"/>
              </a:spcBef>
              <a:spcAft>
                <a:spcPts val="0"/>
              </a:spcAft>
              <a:buClr>
                <a:srgbClr val="34495E"/>
              </a:buClr>
              <a:buSzPts val="1800"/>
              <a:buChar char="•"/>
            </a:pPr>
            <a:r>
              <a:rPr lang="en-US" sz="1800"/>
              <a:t>Ổ bi đỡ-chặn:                          trong đó </a:t>
            </a:r>
            <a:r>
              <a:rPr i="1" lang="en-US" sz="1800">
                <a:latin typeface="Times New Roman"/>
                <a:ea typeface="Times New Roman"/>
                <a:cs typeface="Times New Roman"/>
                <a:sym typeface="Times New Roman"/>
              </a:rPr>
              <a:t>e</a:t>
            </a:r>
            <a:r>
              <a:rPr lang="en-US" sz="1800"/>
              <a:t> phụ thuộc góc </a:t>
            </a:r>
            <a:r>
              <a:rPr i="1" lang="en-US" sz="1800">
                <a:latin typeface="Times New Roman"/>
                <a:ea typeface="Times New Roman"/>
                <a:cs typeface="Times New Roman"/>
                <a:sym typeface="Times New Roman"/>
              </a:rPr>
              <a:t>α</a:t>
            </a:r>
            <a:endParaRPr i="1" sz="1800">
              <a:latin typeface="Times New Roman"/>
              <a:ea typeface="Times New Roman"/>
              <a:cs typeface="Times New Roman"/>
              <a:sym typeface="Times New Roman"/>
            </a:endParaRPr>
          </a:p>
          <a:p>
            <a:pPr indent="-114300" lvl="2" marL="1143000" rtl="0" algn="l">
              <a:lnSpc>
                <a:spcPct val="120000"/>
              </a:lnSpc>
              <a:spcBef>
                <a:spcPts val="600"/>
              </a:spcBef>
              <a:spcAft>
                <a:spcPts val="0"/>
              </a:spcAft>
              <a:buClr>
                <a:srgbClr val="34495E"/>
              </a:buClr>
              <a:buSzPts val="1800"/>
              <a:buNone/>
            </a:pPr>
            <a:r>
              <a:t/>
            </a:r>
            <a:endParaRPr sz="1800"/>
          </a:p>
          <a:p>
            <a:pPr indent="-114300" lvl="2" marL="1143000" rtl="0" algn="l">
              <a:lnSpc>
                <a:spcPct val="120000"/>
              </a:lnSpc>
              <a:spcBef>
                <a:spcPts val="600"/>
              </a:spcBef>
              <a:spcAft>
                <a:spcPts val="0"/>
              </a:spcAft>
              <a:buClr>
                <a:srgbClr val="34495E"/>
              </a:buClr>
              <a:buSzPts val="1800"/>
              <a:buNone/>
            </a:pPr>
            <a:r>
              <a:t/>
            </a:r>
            <a:endParaRPr sz="1800"/>
          </a:p>
          <a:p>
            <a:pPr indent="-114300" lvl="2" marL="1143000" rtl="0" algn="l">
              <a:lnSpc>
                <a:spcPct val="120000"/>
              </a:lnSpc>
              <a:spcBef>
                <a:spcPts val="600"/>
              </a:spcBef>
              <a:spcAft>
                <a:spcPts val="0"/>
              </a:spcAft>
              <a:buClr>
                <a:srgbClr val="34495E"/>
              </a:buClr>
              <a:buSzPts val="1800"/>
              <a:buNone/>
            </a:pPr>
            <a:r>
              <a:t/>
            </a:r>
            <a:endParaRPr sz="1800"/>
          </a:p>
          <a:p>
            <a:pPr indent="0" lvl="2" marL="1150938" rtl="0" algn="l">
              <a:lnSpc>
                <a:spcPct val="120000"/>
              </a:lnSpc>
              <a:spcBef>
                <a:spcPts val="600"/>
              </a:spcBef>
              <a:spcAft>
                <a:spcPts val="0"/>
              </a:spcAft>
              <a:buClr>
                <a:srgbClr val="34495E"/>
              </a:buClr>
              <a:buSzPts val="1800"/>
              <a:buNone/>
            </a:pPr>
            <a:r>
              <a:rPr i="1" lang="en-US" sz="1800">
                <a:latin typeface="Times New Roman"/>
                <a:ea typeface="Times New Roman"/>
                <a:cs typeface="Times New Roman"/>
                <a:sym typeface="Times New Roman"/>
              </a:rPr>
              <a:t>C</a:t>
            </a:r>
            <a:r>
              <a:rPr baseline="-25000" i="1" lang="en-US" sz="1800">
                <a:latin typeface="Times New Roman"/>
                <a:ea typeface="Times New Roman"/>
                <a:cs typeface="Times New Roman"/>
                <a:sym typeface="Times New Roman"/>
              </a:rPr>
              <a:t>o</a:t>
            </a:r>
            <a:r>
              <a:rPr lang="en-US" sz="1800"/>
              <a:t> – khả năng tải tĩnh của ổ</a:t>
            </a:r>
            <a:endParaRPr/>
          </a:p>
        </p:txBody>
      </p:sp>
      <p:sp>
        <p:nvSpPr>
          <p:cNvPr id="869" name="Google Shape;869;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3" name="Google Shape;873;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75" name="Google Shape;875;p34"/>
          <p:cNvGraphicFramePr/>
          <p:nvPr/>
        </p:nvGraphicFramePr>
        <p:xfrm>
          <a:off x="3122706" y="2898437"/>
          <a:ext cx="1233270" cy="386547"/>
        </p:xfrm>
        <a:graphic>
          <a:graphicData uri="http://schemas.openxmlformats.org/presentationml/2006/ole">
            <mc:AlternateContent>
              <mc:Choice Requires="v">
                <p:oleObj r:id="rId5" imgH="386547" imgW="1233270" progId="" spid="_x0000_s1">
                  <p:embed/>
                </p:oleObj>
              </mc:Choice>
              <mc:Fallback>
                <p:oleObj r:id="rId6" imgH="386547" imgW="1233270" progId="">
                  <p:embed/>
                  <p:pic>
                    <p:nvPicPr>
                      <p:cNvPr id="875" name="Google Shape;875;p34"/>
                      <p:cNvPicPr preferRelativeResize="0"/>
                      <p:nvPr/>
                    </p:nvPicPr>
                    <p:blipFill rotWithShape="1">
                      <a:blip r:embed="rId7">
                        <a:alphaModFix/>
                      </a:blip>
                      <a:srcRect b="0" l="0" r="0" t="0"/>
                      <a:stretch/>
                    </p:blipFill>
                    <p:spPr>
                      <a:xfrm>
                        <a:off x="3122706" y="2898437"/>
                        <a:ext cx="1233270" cy="386547"/>
                      </a:xfrm>
                      <a:prstGeom prst="rect">
                        <a:avLst/>
                      </a:prstGeom>
                      <a:noFill/>
                      <a:ln>
                        <a:noFill/>
                      </a:ln>
                    </p:spPr>
                  </p:pic>
                </p:oleObj>
              </mc:Fallback>
            </mc:AlternateContent>
          </a:graphicData>
        </a:graphic>
      </p:graphicFrame>
      <p:sp>
        <p:nvSpPr>
          <p:cNvPr id="876" name="Google Shape;876;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77" name="Google Shape;877;p34"/>
          <p:cNvGraphicFramePr/>
          <p:nvPr/>
        </p:nvGraphicFramePr>
        <p:xfrm>
          <a:off x="5076056" y="2944368"/>
          <a:ext cx="1030792" cy="294512"/>
        </p:xfrm>
        <a:graphic>
          <a:graphicData uri="http://schemas.openxmlformats.org/presentationml/2006/ole">
            <mc:AlternateContent>
              <mc:Choice Requires="v">
                <p:oleObj r:id="rId8" imgH="294512" imgW="1030792" progId="" spid="_x0000_s2">
                  <p:embed/>
                </p:oleObj>
              </mc:Choice>
              <mc:Fallback>
                <p:oleObj r:id="rId9" imgH="294512" imgW="1030792" progId="">
                  <p:embed/>
                  <p:pic>
                    <p:nvPicPr>
                      <p:cNvPr id="877" name="Google Shape;877;p34"/>
                      <p:cNvPicPr preferRelativeResize="0"/>
                      <p:nvPr/>
                    </p:nvPicPr>
                    <p:blipFill rotWithShape="1">
                      <a:blip r:embed="rId10">
                        <a:alphaModFix/>
                      </a:blip>
                      <a:srcRect b="0" l="0" r="0" t="0"/>
                      <a:stretch/>
                    </p:blipFill>
                    <p:spPr>
                      <a:xfrm>
                        <a:off x="5076056" y="2944368"/>
                        <a:ext cx="1030792" cy="294512"/>
                      </a:xfrm>
                      <a:prstGeom prst="rect">
                        <a:avLst/>
                      </a:prstGeom>
                      <a:noFill/>
                      <a:ln>
                        <a:noFill/>
                      </a:ln>
                    </p:spPr>
                  </p:pic>
                </p:oleObj>
              </mc:Fallback>
            </mc:AlternateContent>
          </a:graphicData>
        </a:graphic>
      </p:graphicFrame>
      <p:sp>
        <p:nvSpPr>
          <p:cNvPr id="878" name="Google Shape;878;p34"/>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879" name="Google Shape;879;p34"/>
          <p:cNvGraphicFramePr/>
          <p:nvPr/>
        </p:nvGraphicFramePr>
        <p:xfrm>
          <a:off x="3131840" y="3300984"/>
          <a:ext cx="791158" cy="386380"/>
        </p:xfrm>
        <a:graphic>
          <a:graphicData uri="http://schemas.openxmlformats.org/presentationml/2006/ole">
            <mc:AlternateContent>
              <mc:Choice Requires="v">
                <p:oleObj r:id="rId11" imgH="386380" imgW="791158" progId="" spid="_x0000_s3">
                  <p:embed/>
                </p:oleObj>
              </mc:Choice>
              <mc:Fallback>
                <p:oleObj r:id="rId12" imgH="386380" imgW="791158" progId="">
                  <p:embed/>
                  <p:pic>
                    <p:nvPicPr>
                      <p:cNvPr id="879" name="Google Shape;879;p34"/>
                      <p:cNvPicPr preferRelativeResize="0"/>
                      <p:nvPr/>
                    </p:nvPicPr>
                    <p:blipFill rotWithShape="1">
                      <a:blip r:embed="rId13">
                        <a:alphaModFix/>
                      </a:blip>
                      <a:srcRect b="0" l="0" r="0" t="0"/>
                      <a:stretch/>
                    </p:blipFill>
                    <p:spPr>
                      <a:xfrm>
                        <a:off x="3131840" y="3300984"/>
                        <a:ext cx="791158" cy="386380"/>
                      </a:xfrm>
                      <a:prstGeom prst="rect">
                        <a:avLst/>
                      </a:prstGeom>
                      <a:noFill/>
                      <a:ln>
                        <a:noFill/>
                      </a:ln>
                    </p:spPr>
                  </p:pic>
                </p:oleObj>
              </mc:Fallback>
            </mc:AlternateContent>
          </a:graphicData>
        </a:graphic>
      </p:graphicFrame>
      <p:pic>
        <p:nvPicPr>
          <p:cNvPr id="880" name="Google Shape;880;p34"/>
          <p:cNvPicPr preferRelativeResize="0"/>
          <p:nvPr/>
        </p:nvPicPr>
        <p:blipFill rotWithShape="1">
          <a:blip r:embed="rId14">
            <a:alphaModFix/>
          </a:blip>
          <a:srcRect b="0" l="0" r="0" t="0"/>
          <a:stretch/>
        </p:blipFill>
        <p:spPr>
          <a:xfrm>
            <a:off x="2101300" y="3717032"/>
            <a:ext cx="5279012" cy="115212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35"/>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887" name="Google Shape;887;p35"/>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888" name="Google Shape;888;p35"/>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889" name="Google Shape;889;p35"/>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890" name="Google Shape;890;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1" name="Google Shape;891;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3" name="Google Shape;893;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4" name="Google Shape;894;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 name="Google Shape;898;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9" name="Google Shape;899;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0" name="Google Shape;900;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Google Shape;904;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 name="Google Shape;906;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0" name="Google Shape;910;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1" name="Google Shape;911;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Google Shape;912;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3" name="Google Shape;913;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 name="Google Shape;916;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9" name="Google Shape;919;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p35"/>
          <p:cNvSpPr txBox="1"/>
          <p:nvPr>
            <p:ph idx="1" type="body"/>
          </p:nvPr>
        </p:nvSpPr>
        <p:spPr>
          <a:xfrm>
            <a:off x="457199" y="1143000"/>
            <a:ext cx="8229607"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200"/>
              <a:buChar char="⮚"/>
            </a:pPr>
            <a:r>
              <a:rPr lang="en-US" sz="2200"/>
              <a:t>Xác định lực dọc trục với ổ bi đỡ-chặn</a:t>
            </a:r>
            <a:endParaRPr/>
          </a:p>
          <a:p>
            <a:pPr indent="-285750" lvl="1" marL="742950" rtl="0" algn="l">
              <a:lnSpc>
                <a:spcPct val="120000"/>
              </a:lnSpc>
              <a:spcBef>
                <a:spcPts val="600"/>
              </a:spcBef>
              <a:spcAft>
                <a:spcPts val="0"/>
              </a:spcAft>
              <a:buSzPts val="2000"/>
              <a:buChar char="▪"/>
            </a:pPr>
            <a:r>
              <a:rPr lang="en-US" sz="2000"/>
              <a:t>Lực dọc trục Fs trên ổ này sẽ tác động lên ổ kia</a:t>
            </a:r>
            <a:endParaRPr/>
          </a:p>
          <a:p>
            <a:pPr indent="-285750" lvl="1" marL="742950" rtl="0" algn="l">
              <a:lnSpc>
                <a:spcPct val="120000"/>
              </a:lnSpc>
              <a:spcBef>
                <a:spcPts val="600"/>
              </a:spcBef>
              <a:spcAft>
                <a:spcPts val="0"/>
              </a:spcAft>
              <a:buSzPts val="2000"/>
              <a:buChar char="▪"/>
            </a:pPr>
            <a:r>
              <a:rPr lang="en-US" sz="2000"/>
              <a:t>Gọi </a:t>
            </a:r>
            <a:r>
              <a:rPr i="1" lang="en-US" sz="2000"/>
              <a:t>F</a:t>
            </a:r>
            <a:r>
              <a:rPr baseline="-25000" i="1" lang="en-US" sz="2000"/>
              <a:t>aj</a:t>
            </a:r>
            <a:r>
              <a:rPr lang="en-US" sz="2000"/>
              <a:t> là tổng lực dọc trục tác dụng vào ổ đang xét </a:t>
            </a:r>
            <a:r>
              <a:rPr i="1" lang="en-US" sz="2000"/>
              <a:t>j</a:t>
            </a:r>
            <a:r>
              <a:rPr lang="en-US" sz="2000"/>
              <a:t>, gồm:</a:t>
            </a:r>
            <a:endParaRPr/>
          </a:p>
          <a:p>
            <a:pPr indent="-228600" lvl="2" marL="1143000" rtl="0" algn="l">
              <a:lnSpc>
                <a:spcPct val="120000"/>
              </a:lnSpc>
              <a:spcBef>
                <a:spcPts val="600"/>
              </a:spcBef>
              <a:spcAft>
                <a:spcPts val="0"/>
              </a:spcAft>
              <a:buClr>
                <a:srgbClr val="34495E"/>
              </a:buClr>
              <a:buSzPts val="1800"/>
              <a:buChar char="•"/>
            </a:pPr>
            <a:r>
              <a:rPr lang="en-US" sz="1800"/>
              <a:t>Lực dọc trục ngoài </a:t>
            </a:r>
            <a:r>
              <a:rPr i="1" lang="en-US" sz="1800"/>
              <a:t>F</a:t>
            </a:r>
            <a:r>
              <a:rPr baseline="-25000" i="1" lang="en-US" sz="1800"/>
              <a:t>at</a:t>
            </a:r>
            <a:r>
              <a:rPr lang="en-US" sz="1800"/>
              <a:t> (từ các chi tiết máy quay) </a:t>
            </a:r>
            <a:endParaRPr sz="1800"/>
          </a:p>
          <a:p>
            <a:pPr indent="-228600" lvl="2" marL="1143000" rtl="0" algn="l">
              <a:lnSpc>
                <a:spcPct val="120000"/>
              </a:lnSpc>
              <a:spcBef>
                <a:spcPts val="600"/>
              </a:spcBef>
              <a:spcAft>
                <a:spcPts val="0"/>
              </a:spcAft>
              <a:buClr>
                <a:srgbClr val="34495E"/>
              </a:buClr>
              <a:buSzPts val="1800"/>
              <a:buChar char="•"/>
            </a:pPr>
            <a:r>
              <a:rPr lang="en-US" sz="1800"/>
              <a:t>Lực dọc trục phụ </a:t>
            </a:r>
            <a:r>
              <a:rPr i="1" lang="en-US" sz="1800"/>
              <a:t>F</a:t>
            </a:r>
            <a:r>
              <a:rPr baseline="-25000" i="1" lang="en-US" sz="1800"/>
              <a:t>sk</a:t>
            </a:r>
            <a:r>
              <a:rPr lang="en-US" sz="1800"/>
              <a:t> từ ổ kia </a:t>
            </a:r>
            <a:endParaRPr sz="1800"/>
          </a:p>
        </p:txBody>
      </p:sp>
      <p:sp>
        <p:nvSpPr>
          <p:cNvPr id="922" name="Google Shape;922;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5" name="Google Shape;925;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6" name="Google Shape;926;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7" name="Google Shape;927;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8" name="Google Shape;928;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9" name="Google Shape;929;p35"/>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30" name="Google Shape;930;p35"/>
          <p:cNvPicPr preferRelativeResize="0"/>
          <p:nvPr/>
        </p:nvPicPr>
        <p:blipFill rotWithShape="1">
          <a:blip r:embed="rId4">
            <a:alphaModFix/>
          </a:blip>
          <a:srcRect b="0" l="0" r="0" t="0"/>
          <a:stretch/>
        </p:blipFill>
        <p:spPr>
          <a:xfrm>
            <a:off x="1371600" y="2508920"/>
            <a:ext cx="5836192" cy="373948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36"/>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937" name="Google Shape;937;p36"/>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938" name="Google Shape;938;p36"/>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939" name="Google Shape;939;p36"/>
          <p:cNvPicPr preferRelativeResize="0"/>
          <p:nvPr/>
        </p:nvPicPr>
        <p:blipFill rotWithShape="1">
          <a:blip r:embed="rId3">
            <a:alphaModFix/>
          </a:blip>
          <a:srcRect b="0" l="0" r="0" t="0"/>
          <a:stretch/>
        </p:blipFill>
        <p:spPr>
          <a:xfrm>
            <a:off x="152400" y="152400"/>
            <a:ext cx="726843" cy="725169"/>
          </a:xfrm>
          <a:prstGeom prst="rect">
            <a:avLst/>
          </a:prstGeom>
          <a:noFill/>
          <a:ln>
            <a:noFill/>
          </a:ln>
        </p:spPr>
      </p:pic>
      <p:sp>
        <p:nvSpPr>
          <p:cNvPr id="940" name="Google Shape;940;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1" name="Google Shape;941;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3" name="Google Shape;943;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4" name="Google Shape;944;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5" name="Google Shape;945;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6" name="Google Shape;946;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7" name="Google Shape;947;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 name="Google Shape;949;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0" name="Google Shape;950;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 name="Google Shape;951;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2" name="Google Shape;952;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3" name="Google Shape;953;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 name="Google Shape;954;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5" name="Google Shape;955;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7" name="Google Shape;957;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8" name="Google Shape;958;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9" name="Google Shape;959;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 name="Google Shape;960;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1" name="Google Shape;961;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 name="Google Shape;962;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 name="Google Shape;963;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 name="Google Shape;964;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 name="Google Shape;965;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 name="Google Shape;966;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7" name="Google Shape;967;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8" name="Google Shape;968;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9" name="Google Shape;969;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 name="Google Shape;970;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1" name="Google Shape;971;p36"/>
          <p:cNvSpPr txBox="1"/>
          <p:nvPr>
            <p:ph idx="1" type="body"/>
          </p:nvPr>
        </p:nvSpPr>
        <p:spPr>
          <a:xfrm>
            <a:off x="457199" y="1143000"/>
            <a:ext cx="8305801" cy="523832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20000"/>
              </a:lnSpc>
              <a:spcBef>
                <a:spcPts val="0"/>
              </a:spcBef>
              <a:spcAft>
                <a:spcPts val="0"/>
              </a:spcAft>
              <a:buSzPct val="100000"/>
              <a:buChar char="⮚"/>
            </a:pPr>
            <a:r>
              <a:rPr lang="en-US" sz="2200"/>
              <a:t>Xác định lực dọc trục với ổ bi đỡ-chặn</a:t>
            </a:r>
            <a:endParaRPr/>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213677" lvl="0" marL="342900" rtl="0" algn="l">
              <a:lnSpc>
                <a:spcPct val="120000"/>
              </a:lnSpc>
              <a:spcBef>
                <a:spcPts val="600"/>
              </a:spcBef>
              <a:spcAft>
                <a:spcPts val="0"/>
              </a:spcAft>
              <a:buSzPct val="100000"/>
              <a:buNone/>
            </a:pPr>
            <a:r>
              <a:t/>
            </a:r>
            <a:endParaRPr sz="2200"/>
          </a:p>
          <a:p>
            <a:pPr indent="-137350" lvl="0" marL="342900" rtl="0" algn="l">
              <a:lnSpc>
                <a:spcPct val="120000"/>
              </a:lnSpc>
              <a:spcBef>
                <a:spcPts val="600"/>
              </a:spcBef>
              <a:spcAft>
                <a:spcPts val="0"/>
              </a:spcAft>
              <a:buSzPct val="100000"/>
              <a:buNone/>
            </a:pPr>
            <a:r>
              <a:t/>
            </a:r>
            <a:endParaRPr sz="3500"/>
          </a:p>
          <a:p>
            <a:pPr indent="-285750" lvl="1" marL="742950" rtl="0" algn="l">
              <a:lnSpc>
                <a:spcPct val="120000"/>
              </a:lnSpc>
              <a:spcBef>
                <a:spcPts val="600"/>
              </a:spcBef>
              <a:spcAft>
                <a:spcPts val="0"/>
              </a:spcAft>
              <a:buSzPct val="100000"/>
              <a:buChar char="▪"/>
            </a:pPr>
            <a:r>
              <a:rPr lang="en-US" sz="2000"/>
              <a:t>Trường hợp 1 gối lắp 2 ổ ngược chiều, xem như ổ có 2 dãy con lăn</a:t>
            </a:r>
            <a:endParaRPr/>
          </a:p>
        </p:txBody>
      </p:sp>
      <p:sp>
        <p:nvSpPr>
          <p:cNvPr id="972" name="Google Shape;972;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3" name="Google Shape;973;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4" name="Google Shape;974;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5" name="Google Shape;975;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8" name="Google Shape;978;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 name="Google Shape;979;p36"/>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80" name="Google Shape;980;p36"/>
          <p:cNvPicPr preferRelativeResize="0"/>
          <p:nvPr/>
        </p:nvPicPr>
        <p:blipFill rotWithShape="1">
          <a:blip r:embed="rId4">
            <a:alphaModFix/>
          </a:blip>
          <a:srcRect b="0" l="0" r="0" t="0"/>
          <a:stretch/>
        </p:blipFill>
        <p:spPr>
          <a:xfrm>
            <a:off x="1547663" y="3928330"/>
            <a:ext cx="6624737" cy="1839076"/>
          </a:xfrm>
          <a:prstGeom prst="rect">
            <a:avLst/>
          </a:prstGeom>
          <a:noFill/>
          <a:ln>
            <a:noFill/>
          </a:ln>
        </p:spPr>
      </p:pic>
      <p:pic>
        <p:nvPicPr>
          <p:cNvPr id="981" name="Google Shape;981;p36"/>
          <p:cNvPicPr preferRelativeResize="0"/>
          <p:nvPr/>
        </p:nvPicPr>
        <p:blipFill rotWithShape="1">
          <a:blip r:embed="rId5">
            <a:alphaModFix/>
          </a:blip>
          <a:srcRect b="0" l="0" r="0" t="0"/>
          <a:stretch/>
        </p:blipFill>
        <p:spPr>
          <a:xfrm>
            <a:off x="1907704" y="1641217"/>
            <a:ext cx="5706380" cy="221983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37"/>
          <p:cNvSpPr txBox="1"/>
          <p:nvPr>
            <p:ph type="title"/>
          </p:nvPr>
        </p:nvSpPr>
        <p:spPr>
          <a:xfrm>
            <a:off x="990601" y="0"/>
            <a:ext cx="77724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4495E"/>
              </a:buClr>
              <a:buSzPts val="3000"/>
              <a:buFont typeface="Quattrocento Sans"/>
              <a:buNone/>
            </a:pPr>
            <a:r>
              <a:rPr lang="en-US"/>
              <a:t>8.4. Tính toán ổ lăn</a:t>
            </a:r>
            <a:endParaRPr/>
          </a:p>
        </p:txBody>
      </p:sp>
      <p:sp>
        <p:nvSpPr>
          <p:cNvPr id="988" name="Google Shape;988;p37"/>
          <p:cNvSpPr txBox="1"/>
          <p:nvPr/>
        </p:nvSpPr>
        <p:spPr>
          <a:xfrm>
            <a:off x="990600" y="533400"/>
            <a:ext cx="76962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16A085"/>
                </a:solidFill>
                <a:latin typeface="Quattrocento Sans"/>
                <a:ea typeface="Quattrocento Sans"/>
                <a:cs typeface="Quattrocento Sans"/>
                <a:sym typeface="Quattrocento Sans"/>
              </a:rPr>
              <a:t>8.4.3. Tính và chọn ổ lăn</a:t>
            </a:r>
            <a:endParaRPr sz="2400">
              <a:solidFill>
                <a:srgbClr val="16A085"/>
              </a:solidFill>
              <a:latin typeface="Quattrocento Sans"/>
              <a:ea typeface="Quattrocento Sans"/>
              <a:cs typeface="Quattrocento Sans"/>
              <a:sym typeface="Quattrocento Sans"/>
            </a:endParaRPr>
          </a:p>
        </p:txBody>
      </p:sp>
      <p:cxnSp>
        <p:nvCxnSpPr>
          <p:cNvPr id="989" name="Google Shape;989;p37"/>
          <p:cNvCxnSpPr/>
          <p:nvPr/>
        </p:nvCxnSpPr>
        <p:spPr>
          <a:xfrm>
            <a:off x="1066797" y="533400"/>
            <a:ext cx="7696203" cy="0"/>
          </a:xfrm>
          <a:prstGeom prst="straightConnector1">
            <a:avLst/>
          </a:prstGeom>
          <a:noFill/>
          <a:ln cap="flat" cmpd="sng" w="9525">
            <a:solidFill>
              <a:srgbClr val="D8D8D8"/>
            </a:solidFill>
            <a:prstDash val="solid"/>
            <a:round/>
            <a:headEnd len="sm" w="sm" type="none"/>
            <a:tailEnd len="sm" w="sm" type="none"/>
          </a:ln>
        </p:spPr>
      </p:cxnSp>
      <p:pic>
        <p:nvPicPr>
          <p:cNvPr id="990" name="Google Shape;990;p37"/>
          <p:cNvPicPr preferRelativeResize="0"/>
          <p:nvPr/>
        </p:nvPicPr>
        <p:blipFill rotWithShape="1">
          <a:blip r:embed="rId4">
            <a:alphaModFix/>
          </a:blip>
          <a:srcRect b="0" l="0" r="0" t="0"/>
          <a:stretch/>
        </p:blipFill>
        <p:spPr>
          <a:xfrm>
            <a:off x="152400" y="152400"/>
            <a:ext cx="726843" cy="725169"/>
          </a:xfrm>
          <a:prstGeom prst="rect">
            <a:avLst/>
          </a:prstGeom>
          <a:noFill/>
          <a:ln>
            <a:noFill/>
          </a:ln>
        </p:spPr>
      </p:pic>
      <p:sp>
        <p:nvSpPr>
          <p:cNvPr id="991" name="Google Shape;991;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2" name="Google Shape;992;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6" name="Google Shape;996;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0" name="Google Shape;1000;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2" name="Google Shape;1002;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3" name="Google Shape;1003;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4" name="Google Shape;1004;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5" name="Google Shape;1005;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6" name="Google Shape;1006;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 name="Google Shape;1007;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8" name="Google Shape;1008;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 name="Google Shape;1009;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0" name="Google Shape;1010;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 name="Google Shape;1011;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 name="Google Shape;1013;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 name="Google Shape;1014;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 name="Google Shape;1017;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 name="Google Shape;1018;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 name="Google Shape;1020;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 name="Google Shape;1021;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2" name="Google Shape;1022;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 name="Google Shape;1023;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4" name="Google Shape;1024;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 name="Google Shape;1026;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37"/>
          <p:cNvSpPr txBox="1"/>
          <p:nvPr>
            <p:ph idx="1" type="body"/>
          </p:nvPr>
        </p:nvSpPr>
        <p:spPr>
          <a:xfrm>
            <a:off x="457200" y="1143000"/>
            <a:ext cx="8305800" cy="5105400"/>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200"/>
              <a:buChar char="⮚"/>
            </a:pPr>
            <a:r>
              <a:rPr lang="en-US" sz="2200"/>
              <a:t>Trường hợp chịu tải trọng thay đổi:</a:t>
            </a:r>
            <a:endParaRPr/>
          </a:p>
          <a:p>
            <a:pPr indent="0" lvl="0" marL="339725" rtl="0" algn="l">
              <a:lnSpc>
                <a:spcPct val="120000"/>
              </a:lnSpc>
              <a:spcBef>
                <a:spcPts val="0"/>
              </a:spcBef>
              <a:spcAft>
                <a:spcPts val="0"/>
              </a:spcAft>
              <a:buSzPts val="2200"/>
              <a:buNone/>
            </a:pPr>
            <a:r>
              <a:rPr lang="en-US" sz="2200"/>
              <a:t>Tải trọng quy ước được thay bởi tải trọng tương đương</a:t>
            </a:r>
            <a:endParaRPr/>
          </a:p>
          <a:p>
            <a:pPr indent="-203200" lvl="0" marL="342900" rtl="0" algn="l">
              <a:lnSpc>
                <a:spcPct val="120000"/>
              </a:lnSpc>
              <a:spcBef>
                <a:spcPts val="600"/>
              </a:spcBef>
              <a:spcAft>
                <a:spcPts val="0"/>
              </a:spcAft>
              <a:buSzPts val="2200"/>
              <a:buNone/>
            </a:pPr>
            <a:r>
              <a:t/>
            </a:r>
            <a:endParaRPr sz="2200"/>
          </a:p>
          <a:p>
            <a:pPr indent="-203200" lvl="0" marL="342900" rtl="0" algn="l">
              <a:lnSpc>
                <a:spcPct val="120000"/>
              </a:lnSpc>
              <a:spcBef>
                <a:spcPts val="600"/>
              </a:spcBef>
              <a:spcAft>
                <a:spcPts val="0"/>
              </a:spcAft>
              <a:buSzPts val="2200"/>
              <a:buNone/>
            </a:pPr>
            <a:r>
              <a:t/>
            </a:r>
            <a:endParaRPr sz="2200"/>
          </a:p>
          <a:p>
            <a:pPr indent="-254000" lvl="0" marL="342900" rtl="0" algn="l">
              <a:lnSpc>
                <a:spcPct val="120000"/>
              </a:lnSpc>
              <a:spcBef>
                <a:spcPts val="600"/>
              </a:spcBef>
              <a:spcAft>
                <a:spcPts val="0"/>
              </a:spcAft>
              <a:buSzPts val="1400"/>
              <a:buNone/>
            </a:pPr>
            <a:r>
              <a:t/>
            </a:r>
            <a:endParaRPr sz="1400"/>
          </a:p>
          <a:p>
            <a:pPr indent="0" lvl="0" marL="339725" rtl="0" algn="l">
              <a:lnSpc>
                <a:spcPct val="120000"/>
              </a:lnSpc>
              <a:spcBef>
                <a:spcPts val="600"/>
              </a:spcBef>
              <a:spcAft>
                <a:spcPts val="0"/>
              </a:spcAft>
              <a:buSzPts val="1800"/>
              <a:buNone/>
            </a:pPr>
            <a:r>
              <a:rPr i="1" lang="en-US" sz="1800"/>
              <a:t>m =</a:t>
            </a:r>
            <a:r>
              <a:rPr lang="en-US" sz="1800"/>
              <a:t> 3 đối với ổ bi và </a:t>
            </a:r>
            <a:r>
              <a:rPr i="1" lang="en-US" sz="1800"/>
              <a:t>m</a:t>
            </a:r>
            <a:r>
              <a:rPr lang="en-US" sz="1800"/>
              <a:t> = 10/3 đối với ổ đũa; </a:t>
            </a:r>
            <a:endParaRPr sz="1800"/>
          </a:p>
          <a:p>
            <a:pPr indent="0" lvl="0" marL="339725" rtl="0" algn="l">
              <a:lnSpc>
                <a:spcPct val="120000"/>
              </a:lnSpc>
              <a:spcBef>
                <a:spcPts val="600"/>
              </a:spcBef>
              <a:spcAft>
                <a:spcPts val="0"/>
              </a:spcAft>
              <a:buSzPts val="1800"/>
              <a:buNone/>
            </a:pPr>
            <a:r>
              <a:rPr i="1" lang="en-US" sz="1800"/>
              <a:t>Q</a:t>
            </a:r>
            <a:r>
              <a:rPr baseline="-25000" i="1" lang="en-US" sz="1800"/>
              <a:t>i</a:t>
            </a:r>
            <a:r>
              <a:rPr lang="en-US" sz="1800"/>
              <a:t> – tải trọng quy ước tùy thuộc từng loại ổ khi chịu tải trọng tĩnh; </a:t>
            </a:r>
            <a:endParaRPr sz="1800"/>
          </a:p>
          <a:p>
            <a:pPr indent="0" lvl="0" marL="339725" rtl="0" algn="l">
              <a:lnSpc>
                <a:spcPct val="120000"/>
              </a:lnSpc>
              <a:spcBef>
                <a:spcPts val="600"/>
              </a:spcBef>
              <a:spcAft>
                <a:spcPts val="0"/>
              </a:spcAft>
              <a:buSzPts val="1800"/>
              <a:buNone/>
            </a:pPr>
            <a:r>
              <a:rPr i="1" lang="en-US" sz="1800"/>
              <a:t>L</a:t>
            </a:r>
            <a:r>
              <a:rPr baseline="-25000" i="1" lang="en-US" sz="1800"/>
              <a:t>i</a:t>
            </a:r>
            <a:r>
              <a:rPr lang="en-US" sz="1800"/>
              <a:t> – thời hạn tương ứng với tải trọng </a:t>
            </a:r>
            <a:r>
              <a:rPr i="1" lang="en-US" sz="1800"/>
              <a:t>Q</a:t>
            </a:r>
            <a:r>
              <a:rPr baseline="-25000" i="1" lang="en-US" sz="1800"/>
              <a:t>i</a:t>
            </a:r>
            <a:r>
              <a:rPr lang="en-US" sz="1800"/>
              <a:t>, triệu vòng quay</a:t>
            </a:r>
            <a:endParaRPr/>
          </a:p>
        </p:txBody>
      </p:sp>
      <p:sp>
        <p:nvSpPr>
          <p:cNvPr id="1031" name="Google Shape;1031;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032" name="Google Shape;1032;p37"/>
          <p:cNvGraphicFramePr/>
          <p:nvPr/>
        </p:nvGraphicFramePr>
        <p:xfrm>
          <a:off x="3431874" y="2132856"/>
          <a:ext cx="1932214" cy="1008112"/>
        </p:xfrm>
        <a:graphic>
          <a:graphicData uri="http://schemas.openxmlformats.org/presentationml/2006/ole">
            <mc:AlternateContent>
              <mc:Choice Requires="v">
                <p:oleObj r:id="rId5" imgH="1008112" imgW="1932214" progId="" spid="_x0000_s1">
                  <p:embed/>
                </p:oleObj>
              </mc:Choice>
              <mc:Fallback>
                <p:oleObj r:id="rId6" imgH="1008112" imgW="1932214" progId="">
                  <p:embed/>
                  <p:pic>
                    <p:nvPicPr>
                      <p:cNvPr id="1032" name="Google Shape;1032;p37"/>
                      <p:cNvPicPr preferRelativeResize="0"/>
                      <p:nvPr/>
                    </p:nvPicPr>
                    <p:blipFill rotWithShape="1">
                      <a:blip r:embed="rId7">
                        <a:alphaModFix/>
                      </a:blip>
                      <a:srcRect b="0" l="0" r="0" t="0"/>
                      <a:stretch/>
                    </p:blipFill>
                    <p:spPr>
                      <a:xfrm>
                        <a:off x="3431874" y="2132856"/>
                        <a:ext cx="1932214" cy="1008112"/>
                      </a:xfrm>
                      <a:prstGeom prst="rect">
                        <a:avLst/>
                      </a:prstGeom>
                      <a:noFill/>
                      <a:ln>
                        <a:noFill/>
                      </a:ln>
                    </p:spPr>
                  </p:pic>
                </p:oleObj>
              </mc:Fallback>
            </mc:AlternateContent>
          </a:graphicData>
        </a:graphic>
      </p:graphicFrame>
      <p:sp>
        <p:nvSpPr>
          <p:cNvPr id="1033" name="Google Shape;1033;p3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034" name="Google Shape;1034;p37"/>
          <p:cNvGraphicFramePr/>
          <p:nvPr/>
        </p:nvGraphicFramePr>
        <p:xfrm>
          <a:off x="3491880" y="4653136"/>
          <a:ext cx="1920247" cy="475959"/>
        </p:xfrm>
        <a:graphic>
          <a:graphicData uri="http://schemas.openxmlformats.org/presentationml/2006/ole">
            <mc:AlternateContent>
              <mc:Choice Requires="v">
                <p:oleObj r:id="rId8" imgH="475959" imgW="1920247" progId="" spid="_x0000_s2">
                  <p:embed/>
                </p:oleObj>
              </mc:Choice>
              <mc:Fallback>
                <p:oleObj r:id="rId9" imgH="475959" imgW="1920247" progId="">
                  <p:embed/>
                  <p:pic>
                    <p:nvPicPr>
                      <p:cNvPr id="1034" name="Google Shape;1034;p37"/>
                      <p:cNvPicPr preferRelativeResize="0"/>
                      <p:nvPr/>
                    </p:nvPicPr>
                    <p:blipFill rotWithShape="1">
                      <a:blip r:embed="rId10">
                        <a:alphaModFix/>
                      </a:blip>
                      <a:srcRect b="0" l="0" r="0" t="0"/>
                      <a:stretch/>
                    </p:blipFill>
                    <p:spPr>
                      <a:xfrm>
                        <a:off x="3491880" y="4653136"/>
                        <a:ext cx="1920247" cy="475959"/>
                      </a:xfrm>
                      <a:prstGeom prst="rect">
                        <a:avLst/>
                      </a:prstGeom>
                      <a:noFill/>
                      <a:ln>
                        <a:noFill/>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pic>
        <p:nvPicPr>
          <p:cNvPr id="1039" name="Google Shape;1039;p38"/>
          <p:cNvPicPr preferRelativeResize="0"/>
          <p:nvPr/>
        </p:nvPicPr>
        <p:blipFill rotWithShape="1">
          <a:blip r:embed="rId3">
            <a:alphaModFix/>
          </a:blip>
          <a:srcRect b="0" l="7547" r="0" t="0"/>
          <a:stretch/>
        </p:blipFill>
        <p:spPr>
          <a:xfrm>
            <a:off x="1066800" y="304800"/>
            <a:ext cx="7467600" cy="6208358"/>
          </a:xfrm>
          <a:prstGeom prst="rect">
            <a:avLst/>
          </a:prstGeom>
          <a:noFill/>
          <a:ln>
            <a:noFill/>
          </a:ln>
        </p:spPr>
      </p:pic>
      <p:cxnSp>
        <p:nvCxnSpPr>
          <p:cNvPr id="1040" name="Google Shape;1040;p38"/>
          <p:cNvCxnSpPr/>
          <p:nvPr/>
        </p:nvCxnSpPr>
        <p:spPr>
          <a:xfrm>
            <a:off x="3352800" y="3657600"/>
            <a:ext cx="0" cy="1066800"/>
          </a:xfrm>
          <a:prstGeom prst="straightConnector1">
            <a:avLst/>
          </a:prstGeom>
          <a:noFill/>
          <a:ln cap="flat" cmpd="sng" w="9525">
            <a:solidFill>
              <a:srgbClr val="4A7DBA"/>
            </a:solidFill>
            <a:prstDash val="solid"/>
            <a:round/>
            <a:headEnd len="sm" w="sm"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pic>
        <p:nvPicPr>
          <p:cNvPr id="1045" name="Google Shape;1045;p39"/>
          <p:cNvPicPr preferRelativeResize="0"/>
          <p:nvPr/>
        </p:nvPicPr>
        <p:blipFill rotWithShape="1">
          <a:blip r:embed="rId3">
            <a:alphaModFix/>
          </a:blip>
          <a:srcRect b="0" l="0" r="0" t="0"/>
          <a:stretch/>
        </p:blipFill>
        <p:spPr>
          <a:xfrm>
            <a:off x="457200" y="304800"/>
            <a:ext cx="8534400" cy="2133600"/>
          </a:xfrm>
          <a:prstGeom prst="rect">
            <a:avLst/>
          </a:prstGeom>
          <a:noFill/>
          <a:ln>
            <a:noFill/>
          </a:ln>
        </p:spPr>
      </p:pic>
      <p:pic>
        <p:nvPicPr>
          <p:cNvPr id="1046" name="Google Shape;1046;p39"/>
          <p:cNvPicPr preferRelativeResize="0"/>
          <p:nvPr/>
        </p:nvPicPr>
        <p:blipFill rotWithShape="1">
          <a:blip r:embed="rId4">
            <a:alphaModFix/>
          </a:blip>
          <a:srcRect b="0" l="0" r="0" t="0"/>
          <a:stretch/>
        </p:blipFill>
        <p:spPr>
          <a:xfrm>
            <a:off x="990600" y="2209800"/>
            <a:ext cx="6715788" cy="426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2014-06-18T23:30:15Z</dcterms:created>
  <dc:creator>Hoai Son</dc:creator>
</cp:coreProperties>
</file>